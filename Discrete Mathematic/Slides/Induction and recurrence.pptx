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1"/>
  </p:notesMasterIdLst>
  <p:sldIdLst>
    <p:sldId id="256" r:id="rId2"/>
    <p:sldId id="258" r:id="rId3"/>
    <p:sldId id="259" r:id="rId4"/>
    <p:sldId id="287" r:id="rId5"/>
    <p:sldId id="288" r:id="rId6"/>
    <p:sldId id="306" r:id="rId7"/>
    <p:sldId id="345" r:id="rId8"/>
    <p:sldId id="338" r:id="rId9"/>
    <p:sldId id="314" r:id="rId10"/>
    <p:sldId id="315" r:id="rId11"/>
    <p:sldId id="290" r:id="rId12"/>
    <p:sldId id="341" r:id="rId13"/>
    <p:sldId id="301" r:id="rId14"/>
    <p:sldId id="292" r:id="rId15"/>
    <p:sldId id="342" r:id="rId16"/>
    <p:sldId id="346" r:id="rId17"/>
    <p:sldId id="347" r:id="rId18"/>
    <p:sldId id="332" r:id="rId19"/>
    <p:sldId id="294" r:id="rId20"/>
    <p:sldId id="293" r:id="rId21"/>
    <p:sldId id="295" r:id="rId22"/>
    <p:sldId id="296" r:id="rId23"/>
    <p:sldId id="297" r:id="rId24"/>
    <p:sldId id="298" r:id="rId25"/>
    <p:sldId id="299" r:id="rId26"/>
    <p:sldId id="339" r:id="rId27"/>
    <p:sldId id="300" r:id="rId28"/>
    <p:sldId id="321" r:id="rId29"/>
    <p:sldId id="322" r:id="rId30"/>
    <p:sldId id="318" r:id="rId31"/>
    <p:sldId id="319" r:id="rId32"/>
    <p:sldId id="320" r:id="rId33"/>
    <p:sldId id="323" r:id="rId34"/>
    <p:sldId id="302" r:id="rId35"/>
    <p:sldId id="303" r:id="rId36"/>
    <p:sldId id="324" r:id="rId37"/>
    <p:sldId id="340" r:id="rId38"/>
    <p:sldId id="325" r:id="rId39"/>
    <p:sldId id="326" r:id="rId40"/>
    <p:sldId id="327" r:id="rId41"/>
    <p:sldId id="328" r:id="rId42"/>
    <p:sldId id="329" r:id="rId43"/>
    <p:sldId id="330" r:id="rId44"/>
    <p:sldId id="331" r:id="rId45"/>
    <p:sldId id="333" r:id="rId46"/>
    <p:sldId id="334" r:id="rId47"/>
    <p:sldId id="316" r:id="rId48"/>
    <p:sldId id="335" r:id="rId49"/>
    <p:sldId id="336" r:id="rId5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CC404B-79E1-B847-B2CF-050D71C911D4}" v="1" dt="2024-05-13T04:07:22.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0" autoAdjust="0"/>
    <p:restoredTop sz="94653"/>
  </p:normalViewPr>
  <p:slideViewPr>
    <p:cSldViewPr>
      <p:cViewPr varScale="1">
        <p:scale>
          <a:sx n="113" d="100"/>
          <a:sy n="113" d="100"/>
        </p:scale>
        <p:origin x="17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9439C3-66DE-5E9A-BE78-59840896FFF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en-US"/>
          </a:p>
        </p:txBody>
      </p:sp>
      <p:sp>
        <p:nvSpPr>
          <p:cNvPr id="3" name="Date Placeholder 2">
            <a:extLst>
              <a:ext uri="{FF2B5EF4-FFF2-40B4-BE49-F238E27FC236}">
                <a16:creationId xmlns:a16="http://schemas.microsoft.com/office/drawing/2014/main" id="{6B33A038-44CB-DC06-E2C9-CE50A0729B9C}"/>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5ABA84EA-C5F1-0E4E-993E-508F7F8D909B}" type="datetimeFigureOut">
              <a:rPr lang="en-US"/>
              <a:pPr>
                <a:defRPr/>
              </a:pPr>
              <a:t>5/13/24</a:t>
            </a:fld>
            <a:endParaRPr lang="en-US"/>
          </a:p>
        </p:txBody>
      </p:sp>
      <p:sp>
        <p:nvSpPr>
          <p:cNvPr id="4" name="Slide Image Placeholder 3">
            <a:extLst>
              <a:ext uri="{FF2B5EF4-FFF2-40B4-BE49-F238E27FC236}">
                <a16:creationId xmlns:a16="http://schemas.microsoft.com/office/drawing/2014/main" id="{3A2DF0CA-B578-0D9D-FF04-DAC8834F8A7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009A1C8-3053-D408-343E-87703D406A3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171DA64-8016-D61A-3F22-339597E86B0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49F9AF7E-ADE9-084A-DEEE-83D3292C112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3A499-55A8-F74A-9E0F-638A6BB298D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C2F3044F-AF49-FBD2-1843-DFFED1BDCD4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9D26F2DB-666E-65B5-427E-50EAE7DC2D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Algorithms textbooks traditionally claim that sorting is an important, fundamental</a:t>
            </a:r>
          </a:p>
          <a:p>
            <a:pPr eaLnBrk="1" hangingPunct="1">
              <a:spcBef>
                <a:spcPct val="0"/>
              </a:spcBef>
            </a:pPr>
            <a:r>
              <a:rPr lang="en-US" altLang="en-US"/>
              <a:t>problem in computer science. Here, we’ll cover just one</a:t>
            </a:r>
          </a:p>
          <a:p>
            <a:pPr eaLnBrk="1" hangingPunct="1">
              <a:spcBef>
                <a:spcPct val="0"/>
              </a:spcBef>
            </a:pPr>
            <a:r>
              <a:rPr lang="en-US" altLang="en-US"/>
              <a:t>well-known sorting algorithm, Merge Sort. The analysis introduces another kind of</a:t>
            </a:r>
          </a:p>
          <a:p>
            <a:pPr eaLnBrk="1" hangingPunct="1">
              <a:spcBef>
                <a:spcPct val="0"/>
              </a:spcBef>
            </a:pPr>
            <a:r>
              <a:rPr lang="en-US" altLang="en-US"/>
              <a:t>recurrence.</a:t>
            </a:r>
          </a:p>
          <a:p>
            <a:pPr eaLnBrk="1" hangingPunct="1">
              <a:spcBef>
                <a:spcPct val="0"/>
              </a:spcBef>
            </a:pPr>
            <a:r>
              <a:rPr lang="en-US" altLang="en-US"/>
              <a:t>Here is how Merge Sort works. The input is a list of n numbers, and the output</a:t>
            </a:r>
          </a:p>
          <a:p>
            <a:pPr eaLnBrk="1" hangingPunct="1">
              <a:spcBef>
                <a:spcPct val="0"/>
              </a:spcBef>
            </a:pPr>
            <a:r>
              <a:rPr lang="en-US" altLang="en-US"/>
              <a:t>is those same numbers in nondecreasing order.</a:t>
            </a:r>
          </a:p>
        </p:txBody>
      </p:sp>
      <p:sp>
        <p:nvSpPr>
          <p:cNvPr id="54276" name="Slide Number Placeholder 3">
            <a:extLst>
              <a:ext uri="{FF2B5EF4-FFF2-40B4-BE49-F238E27FC236}">
                <a16:creationId xmlns:a16="http://schemas.microsoft.com/office/drawing/2014/main" id="{F4ECB824-7947-02A0-3DE4-EB64116E94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fld id="{375A1EAE-B33F-294E-A236-770128090FA3}" type="slidenum">
              <a:rPr lang="en-US" altLang="en-US"/>
              <a:pPr eaLnBrk="1" hangingPunct="1"/>
              <a:t>30</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082DECE6-27BD-1DA1-9429-853C7158C0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CE1B55B3-2B08-997C-80D7-90A0BBF12EA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log n = log</a:t>
            </a:r>
            <a:r>
              <a:rPr lang="en-US" altLang="en-US" baseline="-25000"/>
              <a:t>2</a:t>
            </a:r>
            <a:r>
              <a:rPr lang="en-US" altLang="en-US"/>
              <a:t> n</a:t>
            </a:r>
          </a:p>
        </p:txBody>
      </p:sp>
      <p:sp>
        <p:nvSpPr>
          <p:cNvPr id="55300" name="Slide Number Placeholder 3">
            <a:extLst>
              <a:ext uri="{FF2B5EF4-FFF2-40B4-BE49-F238E27FC236}">
                <a16:creationId xmlns:a16="http://schemas.microsoft.com/office/drawing/2014/main" id="{BF0216A1-9714-E976-605C-B415D52412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fld id="{611B2F00-36F1-E947-A6F5-789A54793D08}" type="slidenum">
              <a:rPr lang="en-US" altLang="en-US"/>
              <a:pPr eaLnBrk="1" hangingPunct="1"/>
              <a:t>33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57BEC5E-1A3F-4F9D-B878-7A9655C4FB48}"/>
              </a:ext>
            </a:extLst>
          </p:cNvPr>
          <p:cNvGrpSpPr>
            <a:grpSpLocks/>
          </p:cNvGrpSpPr>
          <p:nvPr/>
        </p:nvGrpSpPr>
        <p:grpSpPr bwMode="auto">
          <a:xfrm>
            <a:off x="0" y="0"/>
            <a:ext cx="9140825" cy="6850063"/>
            <a:chOff x="0" y="0"/>
            <a:chExt cx="5758" cy="4315"/>
          </a:xfrm>
        </p:grpSpPr>
        <p:grpSp>
          <p:nvGrpSpPr>
            <p:cNvPr id="3" name="Group 3">
              <a:extLst>
                <a:ext uri="{FF2B5EF4-FFF2-40B4-BE49-F238E27FC236}">
                  <a16:creationId xmlns:a16="http://schemas.microsoft.com/office/drawing/2014/main" id="{D9E1864E-AED3-C8BE-F212-FA46A190AC0F}"/>
                </a:ext>
              </a:extLst>
            </p:cNvPr>
            <p:cNvGrpSpPr>
              <a:grpSpLocks/>
            </p:cNvGrpSpPr>
            <p:nvPr userDrawn="1"/>
          </p:nvGrpSpPr>
          <p:grpSpPr bwMode="auto">
            <a:xfrm>
              <a:off x="1728" y="2230"/>
              <a:ext cx="4027" cy="2085"/>
              <a:chOff x="1728" y="2230"/>
              <a:chExt cx="4027" cy="2085"/>
            </a:xfrm>
          </p:grpSpPr>
          <p:sp>
            <p:nvSpPr>
              <p:cNvPr id="6" name="Freeform 4">
                <a:extLst>
                  <a:ext uri="{FF2B5EF4-FFF2-40B4-BE49-F238E27FC236}">
                    <a16:creationId xmlns:a16="http://schemas.microsoft.com/office/drawing/2014/main" id="{D5BD2C47-B8A7-7573-D9BC-10922C79113D}"/>
                  </a:ext>
                </a:extLst>
              </p:cNvPr>
              <p:cNvSpPr>
                <a:spLocks/>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7" name="Freeform 5">
                <a:extLst>
                  <a:ext uri="{FF2B5EF4-FFF2-40B4-BE49-F238E27FC236}">
                    <a16:creationId xmlns:a16="http://schemas.microsoft.com/office/drawing/2014/main" id="{2CA0BE56-5DB8-98CF-E699-88344B8BEFB9}"/>
                  </a:ext>
                </a:extLst>
              </p:cNvPr>
              <p:cNvSpPr>
                <a:spLocks/>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8" name="Freeform 6">
                <a:extLst>
                  <a:ext uri="{FF2B5EF4-FFF2-40B4-BE49-F238E27FC236}">
                    <a16:creationId xmlns:a16="http://schemas.microsoft.com/office/drawing/2014/main" id="{FC2CB52D-33F7-1019-90F9-49F91979B49A}"/>
                  </a:ext>
                </a:extLst>
              </p:cNvPr>
              <p:cNvSpPr>
                <a:spLocks/>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9" name="Freeform 7">
                <a:extLst>
                  <a:ext uri="{FF2B5EF4-FFF2-40B4-BE49-F238E27FC236}">
                    <a16:creationId xmlns:a16="http://schemas.microsoft.com/office/drawing/2014/main" id="{A956DAAF-711A-92E3-7DFA-5C1EC3586918}"/>
                  </a:ext>
                </a:extLst>
              </p:cNvPr>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8">
                <a:extLst>
                  <a:ext uri="{FF2B5EF4-FFF2-40B4-BE49-F238E27FC236}">
                    <a16:creationId xmlns:a16="http://schemas.microsoft.com/office/drawing/2014/main" id="{7193C643-A407-5CDE-9002-F298E3B05CF3}"/>
                  </a:ext>
                </a:extLst>
              </p:cNvPr>
              <p:cNvSpPr>
                <a:spLocks/>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grpSp>
        <p:sp>
          <p:nvSpPr>
            <p:cNvPr id="4" name="Freeform 9">
              <a:extLst>
                <a:ext uri="{FF2B5EF4-FFF2-40B4-BE49-F238E27FC236}">
                  <a16:creationId xmlns:a16="http://schemas.microsoft.com/office/drawing/2014/main" id="{93B04BA6-3DC1-2290-13B6-23D8733817C3}"/>
                </a:ext>
              </a:extLst>
            </p:cNvPr>
            <p:cNvSpPr>
              <a:spLocks/>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5" name="Freeform 10">
              <a:extLst>
                <a:ext uri="{FF2B5EF4-FFF2-40B4-BE49-F238E27FC236}">
                  <a16:creationId xmlns:a16="http://schemas.microsoft.com/office/drawing/2014/main" id="{8F0070D3-D168-B7A9-6CB4-DFB1B8EB1A80}"/>
                </a:ext>
              </a:extLst>
            </p:cNvPr>
            <p:cNvSpPr>
              <a:spLocks/>
            </p:cNvSpPr>
            <p:nvPr/>
          </p:nvSpPr>
          <p:spPr bwMode="hidden">
            <a:xfrm>
              <a:off x="0" y="0"/>
              <a:ext cx="5758" cy="1776"/>
            </a:xfrm>
            <a:custGeom>
              <a:avLst/>
              <a:gdLst>
                <a:gd name="T0" fmla="*/ 0 w 5740"/>
                <a:gd name="T1" fmla="*/ 0 h 1906"/>
                <a:gd name="T2" fmla="*/ 0 w 5740"/>
                <a:gd name="T3" fmla="*/ 709 h 1906"/>
                <a:gd name="T4" fmla="*/ 5997 w 5740"/>
                <a:gd name="T5" fmla="*/ 709 h 1906"/>
                <a:gd name="T6" fmla="*/ 5997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131" name="Rectangle 11"/>
          <p:cNvSpPr>
            <a:spLocks noGrp="1" noChangeArrowheads="1"/>
          </p:cNvSpPr>
          <p:nvPr>
            <p:ph type="ctrTitle" sz="quarter"/>
          </p:nvPr>
        </p:nvSpPr>
        <p:spPr>
          <a:xfrm>
            <a:off x="685800" y="1736725"/>
            <a:ext cx="7772400" cy="1920875"/>
          </a:xfrm>
        </p:spPr>
        <p:txBody>
          <a:bodyPr/>
          <a:lstStyle>
            <a:lvl1pPr>
              <a:defRPr sz="6000"/>
            </a:lvl1pPr>
          </a:lstStyle>
          <a:p>
            <a:pPr lvl="0"/>
            <a:r>
              <a:rPr lang="en-US" noProof="0"/>
              <a:t>Click to edit Master title style</a:t>
            </a:r>
          </a:p>
        </p:txBody>
      </p:sp>
      <p:sp>
        <p:nvSpPr>
          <p:cNvPr id="5132" name="Rectangle 12"/>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1" name="Rectangle 13">
            <a:extLst>
              <a:ext uri="{FF2B5EF4-FFF2-40B4-BE49-F238E27FC236}">
                <a16:creationId xmlns:a16="http://schemas.microsoft.com/office/drawing/2014/main" id="{804E1E31-FCF0-2FA7-C608-88CFF57DCFAE}"/>
              </a:ext>
            </a:extLst>
          </p:cNvPr>
          <p:cNvSpPr>
            <a:spLocks noGrp="1" noChangeArrowheads="1"/>
          </p:cNvSpPr>
          <p:nvPr>
            <p:ph type="dt" sz="quarter" idx="10"/>
          </p:nvPr>
        </p:nvSpPr>
        <p:spPr>
          <a:xfrm>
            <a:off x="457200" y="6248400"/>
            <a:ext cx="2133600" cy="476250"/>
          </a:xfrm>
        </p:spPr>
        <p:txBody>
          <a:bodyPr/>
          <a:lstStyle>
            <a:lvl1pPr>
              <a:defRPr/>
            </a:lvl1pPr>
          </a:lstStyle>
          <a:p>
            <a:pPr>
              <a:defRPr/>
            </a:pPr>
            <a:endParaRPr lang="en-US"/>
          </a:p>
        </p:txBody>
      </p:sp>
      <p:sp>
        <p:nvSpPr>
          <p:cNvPr id="12" name="Rectangle 14">
            <a:extLst>
              <a:ext uri="{FF2B5EF4-FFF2-40B4-BE49-F238E27FC236}">
                <a16:creationId xmlns:a16="http://schemas.microsoft.com/office/drawing/2014/main" id="{C8689E60-659E-6D6A-E465-946EB8BDDBD0}"/>
              </a:ext>
            </a:extLst>
          </p:cNvPr>
          <p:cNvSpPr>
            <a:spLocks noGrp="1" noChangeArrowheads="1"/>
          </p:cNvSpPr>
          <p:nvPr>
            <p:ph type="ftr" sz="quarter" idx="11"/>
          </p:nvPr>
        </p:nvSpPr>
        <p:spPr>
          <a:xfrm>
            <a:off x="3124200" y="6251575"/>
            <a:ext cx="2895600" cy="476250"/>
          </a:xfrm>
        </p:spPr>
        <p:txBody>
          <a:bodyPr/>
          <a:lstStyle>
            <a:lvl1pPr>
              <a:defRPr/>
            </a:lvl1pPr>
          </a:lstStyle>
          <a:p>
            <a:pPr>
              <a:defRPr/>
            </a:pPr>
            <a:endParaRPr lang="en-US"/>
          </a:p>
        </p:txBody>
      </p:sp>
      <p:sp>
        <p:nvSpPr>
          <p:cNvPr id="13" name="Rectangle 15">
            <a:extLst>
              <a:ext uri="{FF2B5EF4-FFF2-40B4-BE49-F238E27FC236}">
                <a16:creationId xmlns:a16="http://schemas.microsoft.com/office/drawing/2014/main" id="{880DB850-D394-91CF-F984-917E050839B2}"/>
              </a:ext>
            </a:extLst>
          </p:cNvPr>
          <p:cNvSpPr>
            <a:spLocks noGrp="1" noChangeArrowheads="1"/>
          </p:cNvSpPr>
          <p:nvPr>
            <p:ph type="sldNum" sz="quarter" idx="12"/>
          </p:nvPr>
        </p:nvSpPr>
        <p:spPr>
          <a:xfrm>
            <a:off x="6553200" y="6254750"/>
            <a:ext cx="2133600" cy="476250"/>
          </a:xfrm>
        </p:spPr>
        <p:txBody>
          <a:bodyPr/>
          <a:lstStyle>
            <a:lvl1pPr>
              <a:defRPr/>
            </a:lvl1pPr>
          </a:lstStyle>
          <a:p>
            <a:fld id="{4BDFA2AA-288B-104A-9920-ED8647BD4C31}" type="slidenum">
              <a:rPr lang="en-US" altLang="en-US"/>
              <a:pPr/>
              <a:t>‹#›</a:t>
            </a:fld>
            <a:endParaRPr lang="en-US" altLang="en-US"/>
          </a:p>
        </p:txBody>
      </p:sp>
    </p:spTree>
    <p:extLst>
      <p:ext uri="{BB962C8B-B14F-4D97-AF65-F5344CB8AC3E}">
        <p14:creationId xmlns:p14="http://schemas.microsoft.com/office/powerpoint/2010/main" val="2145591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7F2C2F09-F7F8-BC5A-4E44-6288436C08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9D0A9A45-ED7F-5096-F25A-E137DBDCDC28}"/>
              </a:ext>
            </a:extLst>
          </p:cNvPr>
          <p:cNvSpPr>
            <a:spLocks noGrp="1" noChangeArrowheads="1"/>
          </p:cNvSpPr>
          <p:nvPr>
            <p:ph type="sldNum" sz="quarter" idx="11"/>
          </p:nvPr>
        </p:nvSpPr>
        <p:spPr>
          <a:ln/>
        </p:spPr>
        <p:txBody>
          <a:bodyPr/>
          <a:lstStyle>
            <a:lvl1pPr>
              <a:defRPr/>
            </a:lvl1pPr>
          </a:lstStyle>
          <a:p>
            <a:fld id="{F32BA786-BA82-244A-ADBF-B5D40E8F6DF5}" type="slidenum">
              <a:rPr lang="en-US" altLang="en-US"/>
              <a:pPr/>
              <a:t>‹#›</a:t>
            </a:fld>
            <a:endParaRPr lang="en-US" altLang="en-US"/>
          </a:p>
        </p:txBody>
      </p:sp>
      <p:sp>
        <p:nvSpPr>
          <p:cNvPr id="6" name="Rectangle 14">
            <a:extLst>
              <a:ext uri="{FF2B5EF4-FFF2-40B4-BE49-F238E27FC236}">
                <a16:creationId xmlns:a16="http://schemas.microsoft.com/office/drawing/2014/main" id="{BDE6669F-BBFA-9EDE-1F05-4563838A82D2}"/>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431551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E00AF244-9B66-91FB-4802-88EA1C9216B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5CEB9BDF-5D2A-2160-DDCF-709FB17BFA6B}"/>
              </a:ext>
            </a:extLst>
          </p:cNvPr>
          <p:cNvSpPr>
            <a:spLocks noGrp="1" noChangeArrowheads="1"/>
          </p:cNvSpPr>
          <p:nvPr>
            <p:ph type="sldNum" sz="quarter" idx="11"/>
          </p:nvPr>
        </p:nvSpPr>
        <p:spPr>
          <a:ln/>
        </p:spPr>
        <p:txBody>
          <a:bodyPr/>
          <a:lstStyle>
            <a:lvl1pPr>
              <a:defRPr/>
            </a:lvl1pPr>
          </a:lstStyle>
          <a:p>
            <a:fld id="{90CE93BC-A5B2-874A-85D9-FC5D2004D561}" type="slidenum">
              <a:rPr lang="en-US" altLang="en-US"/>
              <a:pPr/>
              <a:t>‹#›</a:t>
            </a:fld>
            <a:endParaRPr lang="en-US" altLang="en-US"/>
          </a:p>
        </p:txBody>
      </p:sp>
      <p:sp>
        <p:nvSpPr>
          <p:cNvPr id="6" name="Rectangle 14">
            <a:extLst>
              <a:ext uri="{FF2B5EF4-FFF2-40B4-BE49-F238E27FC236}">
                <a16:creationId xmlns:a16="http://schemas.microsoft.com/office/drawing/2014/main" id="{CBA103ED-2C17-F8FA-1BC2-882B797DE62A}"/>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25917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092E5D68-CC0D-4E5B-3964-F218908D57A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72B76885-43E0-EFD4-5D96-A301F5EDDDA7}"/>
              </a:ext>
            </a:extLst>
          </p:cNvPr>
          <p:cNvSpPr>
            <a:spLocks noGrp="1" noChangeArrowheads="1"/>
          </p:cNvSpPr>
          <p:nvPr>
            <p:ph type="sldNum" sz="quarter" idx="11"/>
          </p:nvPr>
        </p:nvSpPr>
        <p:spPr>
          <a:ln/>
        </p:spPr>
        <p:txBody>
          <a:bodyPr/>
          <a:lstStyle>
            <a:lvl1pPr>
              <a:defRPr/>
            </a:lvl1pPr>
          </a:lstStyle>
          <a:p>
            <a:fld id="{3ED1BD81-BCC1-CD41-BD0E-867006691DAF}" type="slidenum">
              <a:rPr lang="en-US" altLang="en-US"/>
              <a:pPr/>
              <a:t>‹#›</a:t>
            </a:fld>
            <a:endParaRPr lang="en-US" altLang="en-US"/>
          </a:p>
        </p:txBody>
      </p:sp>
      <p:sp>
        <p:nvSpPr>
          <p:cNvPr id="7" name="Rectangle 14">
            <a:extLst>
              <a:ext uri="{FF2B5EF4-FFF2-40B4-BE49-F238E27FC236}">
                <a16:creationId xmlns:a16="http://schemas.microsoft.com/office/drawing/2014/main" id="{2C817B25-8AC8-371B-2E68-4FDD01E700D7}"/>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6995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EBB3FD8A-4D96-D9D7-252F-41B4D6FB521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DC851A8E-7133-B087-D9CB-14120E50FCDF}"/>
              </a:ext>
            </a:extLst>
          </p:cNvPr>
          <p:cNvSpPr>
            <a:spLocks noGrp="1" noChangeArrowheads="1"/>
          </p:cNvSpPr>
          <p:nvPr>
            <p:ph type="sldNum" sz="quarter" idx="11"/>
          </p:nvPr>
        </p:nvSpPr>
        <p:spPr>
          <a:ln/>
        </p:spPr>
        <p:txBody>
          <a:bodyPr/>
          <a:lstStyle>
            <a:lvl1pPr>
              <a:defRPr/>
            </a:lvl1pPr>
          </a:lstStyle>
          <a:p>
            <a:fld id="{958A2A63-2FB7-0A45-B74A-D6DB5FEDF934}" type="slidenum">
              <a:rPr lang="en-US" altLang="en-US"/>
              <a:pPr/>
              <a:t>‹#›</a:t>
            </a:fld>
            <a:endParaRPr lang="en-US" altLang="en-US"/>
          </a:p>
        </p:txBody>
      </p:sp>
      <p:sp>
        <p:nvSpPr>
          <p:cNvPr id="9" name="Rectangle 14">
            <a:extLst>
              <a:ext uri="{FF2B5EF4-FFF2-40B4-BE49-F238E27FC236}">
                <a16:creationId xmlns:a16="http://schemas.microsoft.com/office/drawing/2014/main" id="{0F3DB83D-C704-D10E-6A6C-F542F69431E1}"/>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8568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E9685FA8-FEC0-69CC-7055-9D35EEC2AA55}"/>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4F4C0539-D0C6-7226-6874-793EC7944B44}"/>
              </a:ext>
            </a:extLst>
          </p:cNvPr>
          <p:cNvSpPr>
            <a:spLocks noGrp="1" noChangeArrowheads="1"/>
          </p:cNvSpPr>
          <p:nvPr>
            <p:ph type="sldNum" sz="quarter" idx="11"/>
          </p:nvPr>
        </p:nvSpPr>
        <p:spPr>
          <a:ln/>
        </p:spPr>
        <p:txBody>
          <a:bodyPr/>
          <a:lstStyle>
            <a:lvl1pPr>
              <a:defRPr/>
            </a:lvl1pPr>
          </a:lstStyle>
          <a:p>
            <a:fld id="{B10D895C-7742-4847-8B7B-4ADA669495A7}" type="slidenum">
              <a:rPr lang="en-US" altLang="en-US"/>
              <a:pPr/>
              <a:t>‹#›</a:t>
            </a:fld>
            <a:endParaRPr lang="en-US" altLang="en-US"/>
          </a:p>
        </p:txBody>
      </p:sp>
      <p:sp>
        <p:nvSpPr>
          <p:cNvPr id="5" name="Rectangle 14">
            <a:extLst>
              <a:ext uri="{FF2B5EF4-FFF2-40B4-BE49-F238E27FC236}">
                <a16:creationId xmlns:a16="http://schemas.microsoft.com/office/drawing/2014/main" id="{77E6962D-3216-CF63-ABE3-B8D06FBBBBEB}"/>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49384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A20AE5A-71F3-BA10-4392-AB54471D068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64CD8A08-A850-6CE8-B563-C1ED015E5555}"/>
              </a:ext>
            </a:extLst>
          </p:cNvPr>
          <p:cNvSpPr>
            <a:spLocks noGrp="1" noChangeArrowheads="1"/>
          </p:cNvSpPr>
          <p:nvPr>
            <p:ph type="sldNum" sz="quarter" idx="11"/>
          </p:nvPr>
        </p:nvSpPr>
        <p:spPr>
          <a:ln/>
        </p:spPr>
        <p:txBody>
          <a:bodyPr/>
          <a:lstStyle>
            <a:lvl1pPr>
              <a:defRPr/>
            </a:lvl1pPr>
          </a:lstStyle>
          <a:p>
            <a:fld id="{16710358-33E0-FF4F-8C08-622BA677F083}" type="slidenum">
              <a:rPr lang="en-US" altLang="en-US"/>
              <a:pPr/>
              <a:t>‹#›</a:t>
            </a:fld>
            <a:endParaRPr lang="en-US" altLang="en-US"/>
          </a:p>
        </p:txBody>
      </p:sp>
      <p:sp>
        <p:nvSpPr>
          <p:cNvPr id="4" name="Rectangle 14">
            <a:extLst>
              <a:ext uri="{FF2B5EF4-FFF2-40B4-BE49-F238E27FC236}">
                <a16:creationId xmlns:a16="http://schemas.microsoft.com/office/drawing/2014/main" id="{E8B2754B-C8A3-EBA8-0B6B-F0DA6FA79864}"/>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237802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28C402E6-291D-B7A9-761A-4D27116CD33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2A5B87FD-CDE3-93C5-102F-74114E2888BD}"/>
              </a:ext>
            </a:extLst>
          </p:cNvPr>
          <p:cNvSpPr>
            <a:spLocks noGrp="1" noChangeArrowheads="1"/>
          </p:cNvSpPr>
          <p:nvPr>
            <p:ph type="sldNum" sz="quarter" idx="11"/>
          </p:nvPr>
        </p:nvSpPr>
        <p:spPr>
          <a:ln/>
        </p:spPr>
        <p:txBody>
          <a:bodyPr/>
          <a:lstStyle>
            <a:lvl1pPr>
              <a:defRPr/>
            </a:lvl1pPr>
          </a:lstStyle>
          <a:p>
            <a:fld id="{D860BF49-9215-1C44-A480-CD02A1DFBE1A}" type="slidenum">
              <a:rPr lang="en-US" altLang="en-US"/>
              <a:pPr/>
              <a:t>‹#›</a:t>
            </a:fld>
            <a:endParaRPr lang="en-US" altLang="en-US"/>
          </a:p>
        </p:txBody>
      </p:sp>
      <p:sp>
        <p:nvSpPr>
          <p:cNvPr id="7" name="Rectangle 14">
            <a:extLst>
              <a:ext uri="{FF2B5EF4-FFF2-40B4-BE49-F238E27FC236}">
                <a16:creationId xmlns:a16="http://schemas.microsoft.com/office/drawing/2014/main" id="{4F637362-40C1-38E4-DB16-C8478F2EC54D}"/>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236113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F948A597-5706-DBD6-AA79-8ED67643385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62ACAE57-5799-98E3-92D2-47C3CE699B07}"/>
              </a:ext>
            </a:extLst>
          </p:cNvPr>
          <p:cNvSpPr>
            <a:spLocks noGrp="1" noChangeArrowheads="1"/>
          </p:cNvSpPr>
          <p:nvPr>
            <p:ph type="sldNum" sz="quarter" idx="11"/>
          </p:nvPr>
        </p:nvSpPr>
        <p:spPr>
          <a:ln/>
        </p:spPr>
        <p:txBody>
          <a:bodyPr/>
          <a:lstStyle>
            <a:lvl1pPr>
              <a:defRPr/>
            </a:lvl1pPr>
          </a:lstStyle>
          <a:p>
            <a:fld id="{C8699A37-9D1F-EC47-9E0A-AE7B4792EDDF}" type="slidenum">
              <a:rPr lang="en-US" altLang="en-US"/>
              <a:pPr/>
              <a:t>‹#›</a:t>
            </a:fld>
            <a:endParaRPr lang="en-US" altLang="en-US"/>
          </a:p>
        </p:txBody>
      </p:sp>
      <p:sp>
        <p:nvSpPr>
          <p:cNvPr id="7" name="Rectangle 14">
            <a:extLst>
              <a:ext uri="{FF2B5EF4-FFF2-40B4-BE49-F238E27FC236}">
                <a16:creationId xmlns:a16="http://schemas.microsoft.com/office/drawing/2014/main" id="{CA0EDB19-C652-B9C6-A6B9-36CE96A261E4}"/>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9044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22285150-BD96-D991-7BE3-B6D546DEBD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78265A6E-8009-AA85-4638-04CA833362FE}"/>
              </a:ext>
            </a:extLst>
          </p:cNvPr>
          <p:cNvSpPr>
            <a:spLocks noGrp="1" noChangeArrowheads="1"/>
          </p:cNvSpPr>
          <p:nvPr>
            <p:ph type="sldNum" sz="quarter" idx="11"/>
          </p:nvPr>
        </p:nvSpPr>
        <p:spPr>
          <a:ln/>
        </p:spPr>
        <p:txBody>
          <a:bodyPr/>
          <a:lstStyle>
            <a:lvl1pPr>
              <a:defRPr/>
            </a:lvl1pPr>
          </a:lstStyle>
          <a:p>
            <a:fld id="{50EA3DE4-D3DA-DF4E-AB54-9EE4ED79215A}" type="slidenum">
              <a:rPr lang="en-US" altLang="en-US"/>
              <a:pPr/>
              <a:t>‹#›</a:t>
            </a:fld>
            <a:endParaRPr lang="en-US" altLang="en-US"/>
          </a:p>
        </p:txBody>
      </p:sp>
      <p:sp>
        <p:nvSpPr>
          <p:cNvPr id="6" name="Rectangle 14">
            <a:extLst>
              <a:ext uri="{FF2B5EF4-FFF2-40B4-BE49-F238E27FC236}">
                <a16:creationId xmlns:a16="http://schemas.microsoft.com/office/drawing/2014/main" id="{16D82DD9-2194-892C-DC94-BC6590B73319}"/>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34307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D4C1E420-3336-F6CE-39F7-F178D9A459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7AD67CBF-F323-D244-251D-5EC4CE371C29}"/>
              </a:ext>
            </a:extLst>
          </p:cNvPr>
          <p:cNvSpPr>
            <a:spLocks noGrp="1" noChangeArrowheads="1"/>
          </p:cNvSpPr>
          <p:nvPr>
            <p:ph type="sldNum" sz="quarter" idx="11"/>
          </p:nvPr>
        </p:nvSpPr>
        <p:spPr>
          <a:ln/>
        </p:spPr>
        <p:txBody>
          <a:bodyPr/>
          <a:lstStyle>
            <a:lvl1pPr>
              <a:defRPr/>
            </a:lvl1pPr>
          </a:lstStyle>
          <a:p>
            <a:fld id="{5C450F2A-576B-0346-A2C2-62BD53302B83}" type="slidenum">
              <a:rPr lang="en-US" altLang="en-US"/>
              <a:pPr/>
              <a:t>‹#›</a:t>
            </a:fld>
            <a:endParaRPr lang="en-US" altLang="en-US"/>
          </a:p>
        </p:txBody>
      </p:sp>
      <p:sp>
        <p:nvSpPr>
          <p:cNvPr id="6" name="Rectangle 14">
            <a:extLst>
              <a:ext uri="{FF2B5EF4-FFF2-40B4-BE49-F238E27FC236}">
                <a16:creationId xmlns:a16="http://schemas.microsoft.com/office/drawing/2014/main" id="{1006579B-4E31-CA98-EFD0-6CC42F8D681A}"/>
              </a:ext>
            </a:extLst>
          </p:cNvPr>
          <p:cNvSpPr>
            <a:spLocks noGrp="1" noChangeArrowheads="1"/>
          </p:cNvSpPr>
          <p:nvPr>
            <p:ph type="ftr" sz="quarter"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665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6B462E2-144C-E1EA-DE8A-366A01567B9A}"/>
              </a:ext>
            </a:extLst>
          </p:cNvPr>
          <p:cNvSpPr>
            <a:spLocks noGrp="1" noChangeArrowheads="1"/>
          </p:cNvSpPr>
          <p:nvPr>
            <p:ph type="dt" sz="half" idx="2"/>
          </p:nvPr>
        </p:nvSpPr>
        <p:spPr bwMode="auto">
          <a:xfrm>
            <a:off x="457200" y="625157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4099" name="Rectangle 3">
            <a:extLst>
              <a:ext uri="{FF2B5EF4-FFF2-40B4-BE49-F238E27FC236}">
                <a16:creationId xmlns:a16="http://schemas.microsoft.com/office/drawing/2014/main" id="{FC25C7C3-8334-CEB2-1793-2C897A4C0CFC}"/>
              </a:ext>
            </a:extLst>
          </p:cNvPr>
          <p:cNvSpPr>
            <a:spLocks noGrp="1" noChangeArrowheads="1"/>
          </p:cNvSpPr>
          <p:nvPr>
            <p:ph type="sldNum" sz="quarter" idx="4"/>
          </p:nvPr>
        </p:nvSpPr>
        <p:spPr bwMode="auto">
          <a:xfrm>
            <a:off x="6553200" y="62484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D10E6858-0013-1645-BB9D-2DB38B490EC0}" type="slidenum">
              <a:rPr lang="en-US" altLang="en-US"/>
              <a:pPr/>
              <a:t>‹#›</a:t>
            </a:fld>
            <a:endParaRPr lang="en-US" altLang="en-US"/>
          </a:p>
        </p:txBody>
      </p:sp>
      <p:grpSp>
        <p:nvGrpSpPr>
          <p:cNvPr id="1028" name="Group 4">
            <a:extLst>
              <a:ext uri="{FF2B5EF4-FFF2-40B4-BE49-F238E27FC236}">
                <a16:creationId xmlns:a16="http://schemas.microsoft.com/office/drawing/2014/main" id="{60B520F4-BFAD-A85C-4827-5A155D63B295}"/>
              </a:ext>
            </a:extLst>
          </p:cNvPr>
          <p:cNvGrpSpPr>
            <a:grpSpLocks/>
          </p:cNvGrpSpPr>
          <p:nvPr/>
        </p:nvGrpSpPr>
        <p:grpSpPr bwMode="auto">
          <a:xfrm>
            <a:off x="0" y="0"/>
            <a:ext cx="9140825" cy="6850063"/>
            <a:chOff x="0" y="0"/>
            <a:chExt cx="5758" cy="4315"/>
          </a:xfrm>
        </p:grpSpPr>
        <p:grpSp>
          <p:nvGrpSpPr>
            <p:cNvPr id="1032" name="Group 5">
              <a:extLst>
                <a:ext uri="{FF2B5EF4-FFF2-40B4-BE49-F238E27FC236}">
                  <a16:creationId xmlns:a16="http://schemas.microsoft.com/office/drawing/2014/main" id="{55CBFBBD-609C-A850-6BE7-9F1D06F6E255}"/>
                </a:ext>
              </a:extLst>
            </p:cNvPr>
            <p:cNvGrpSpPr>
              <a:grpSpLocks/>
            </p:cNvGrpSpPr>
            <p:nvPr userDrawn="1"/>
          </p:nvGrpSpPr>
          <p:grpSpPr bwMode="auto">
            <a:xfrm>
              <a:off x="1728" y="2230"/>
              <a:ext cx="4027" cy="2085"/>
              <a:chOff x="1728" y="2230"/>
              <a:chExt cx="4027" cy="2085"/>
            </a:xfrm>
          </p:grpSpPr>
          <p:sp>
            <p:nvSpPr>
              <p:cNvPr id="4102" name="Freeform 6">
                <a:extLst>
                  <a:ext uri="{FF2B5EF4-FFF2-40B4-BE49-F238E27FC236}">
                    <a16:creationId xmlns:a16="http://schemas.microsoft.com/office/drawing/2014/main" id="{B7415367-8442-BE57-ECD5-A66DB935627B}"/>
                  </a:ext>
                </a:extLst>
              </p:cNvPr>
              <p:cNvSpPr>
                <a:spLocks/>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4103" name="Freeform 7">
                <a:extLst>
                  <a:ext uri="{FF2B5EF4-FFF2-40B4-BE49-F238E27FC236}">
                    <a16:creationId xmlns:a16="http://schemas.microsoft.com/office/drawing/2014/main" id="{9360FAEF-73B4-C2B5-F5AC-6C526B8C460F}"/>
                  </a:ext>
                </a:extLst>
              </p:cNvPr>
              <p:cNvSpPr>
                <a:spLocks/>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4104" name="Freeform 8">
                <a:extLst>
                  <a:ext uri="{FF2B5EF4-FFF2-40B4-BE49-F238E27FC236}">
                    <a16:creationId xmlns:a16="http://schemas.microsoft.com/office/drawing/2014/main" id="{267AB84D-6B08-8C52-633E-BA29114E374B}"/>
                  </a:ext>
                </a:extLst>
              </p:cNvPr>
              <p:cNvSpPr>
                <a:spLocks/>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1038" name="Freeform 9">
                <a:extLst>
                  <a:ext uri="{FF2B5EF4-FFF2-40B4-BE49-F238E27FC236}">
                    <a16:creationId xmlns:a16="http://schemas.microsoft.com/office/drawing/2014/main" id="{37163C5C-214F-C4C5-A910-5989D7AB3714}"/>
                  </a:ext>
                </a:extLst>
              </p:cNvPr>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6" name="Freeform 10">
                <a:extLst>
                  <a:ext uri="{FF2B5EF4-FFF2-40B4-BE49-F238E27FC236}">
                    <a16:creationId xmlns:a16="http://schemas.microsoft.com/office/drawing/2014/main" id="{C5E6729F-D175-2609-E95E-48E9705574EF}"/>
                  </a:ext>
                </a:extLst>
              </p:cNvPr>
              <p:cNvSpPr>
                <a:spLocks/>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grpSp>
        <p:sp>
          <p:nvSpPr>
            <p:cNvPr id="4107" name="Freeform 11">
              <a:extLst>
                <a:ext uri="{FF2B5EF4-FFF2-40B4-BE49-F238E27FC236}">
                  <a16:creationId xmlns:a16="http://schemas.microsoft.com/office/drawing/2014/main" id="{3A417A00-0027-8740-5F62-27F1D887A094}"/>
                </a:ext>
              </a:extLst>
            </p:cNvPr>
            <p:cNvSpPr>
              <a:spLocks/>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a:cs typeface="Arial" charset="0"/>
              </a:endParaRPr>
            </a:p>
          </p:txBody>
        </p:sp>
        <p:sp>
          <p:nvSpPr>
            <p:cNvPr id="1034" name="Freeform 12">
              <a:extLst>
                <a:ext uri="{FF2B5EF4-FFF2-40B4-BE49-F238E27FC236}">
                  <a16:creationId xmlns:a16="http://schemas.microsoft.com/office/drawing/2014/main" id="{32F0DA4A-9C5F-40CB-41D2-709F22BD3BF7}"/>
                </a:ext>
              </a:extLst>
            </p:cNvPr>
            <p:cNvSpPr>
              <a:spLocks/>
            </p:cNvSpPr>
            <p:nvPr/>
          </p:nvSpPr>
          <p:spPr bwMode="hidden">
            <a:xfrm>
              <a:off x="0" y="0"/>
              <a:ext cx="5758" cy="1776"/>
            </a:xfrm>
            <a:custGeom>
              <a:avLst/>
              <a:gdLst>
                <a:gd name="T0" fmla="*/ 0 w 5740"/>
                <a:gd name="T1" fmla="*/ 0 h 1906"/>
                <a:gd name="T2" fmla="*/ 0 w 5740"/>
                <a:gd name="T3" fmla="*/ 709 h 1906"/>
                <a:gd name="T4" fmla="*/ 5997 w 5740"/>
                <a:gd name="T5" fmla="*/ 709 h 1906"/>
                <a:gd name="T6" fmla="*/ 5997 w 5740"/>
                <a:gd name="T7" fmla="*/ 0 h 1906"/>
                <a:gd name="T8" fmla="*/ 0 w 5740"/>
                <a:gd name="T9" fmla="*/ 0 h 1906"/>
                <a:gd name="T10" fmla="*/ 0 w 5740"/>
                <a:gd name="T11" fmla="*/ 0 h 19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109" name="Rectangle 13">
            <a:extLst>
              <a:ext uri="{FF2B5EF4-FFF2-40B4-BE49-F238E27FC236}">
                <a16:creationId xmlns:a16="http://schemas.microsoft.com/office/drawing/2014/main" id="{32B90426-077E-906F-B2F1-45BF62404E89}"/>
              </a:ext>
            </a:extLst>
          </p:cNvPr>
          <p:cNvSpPr>
            <a:spLocks noGrp="1" noRot="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110" name="Rectangle 14">
            <a:extLst>
              <a:ext uri="{FF2B5EF4-FFF2-40B4-BE49-F238E27FC236}">
                <a16:creationId xmlns:a16="http://schemas.microsoft.com/office/drawing/2014/main" id="{437CF261-6BE0-401B-CC30-346DDAF08113}"/>
              </a:ext>
            </a:extLst>
          </p:cNvPr>
          <p:cNvSpPr>
            <a:spLocks noGrp="1" noChangeArrowheads="1"/>
          </p:cNvSpPr>
          <p:nvPr>
            <p:ph type="ftr" sz="quarter" idx="3"/>
          </p:nvPr>
        </p:nvSpPr>
        <p:spPr bwMode="auto">
          <a:xfrm>
            <a:off x="3124200" y="62484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atin typeface="Arial" charset="0"/>
                <a:cs typeface="Arial" charset="0"/>
              </a:defRPr>
            </a:lvl1pPr>
          </a:lstStyle>
          <a:p>
            <a:pPr>
              <a:defRPr/>
            </a:pPr>
            <a:endParaRPr lang="en-US"/>
          </a:p>
        </p:txBody>
      </p:sp>
      <p:sp>
        <p:nvSpPr>
          <p:cNvPr id="4111" name="Rectangle 15">
            <a:extLst>
              <a:ext uri="{FF2B5EF4-FFF2-40B4-BE49-F238E27FC236}">
                <a16:creationId xmlns:a16="http://schemas.microsoft.com/office/drawing/2014/main" id="{6F6A015B-1A08-99EB-C7EC-EA7B99D424F2}"/>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828"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21.emf"/><Relationship Id="rId7" Type="http://schemas.openxmlformats.org/officeDocument/2006/relationships/image" Target="../media/image23.e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22.emf"/><Relationship Id="rId4" Type="http://schemas.openxmlformats.org/officeDocument/2006/relationships/oleObject" Target="../embeddings/oleObject9.bin"/><Relationship Id="rId9" Type="http://schemas.openxmlformats.org/officeDocument/2006/relationships/image" Target="../media/image24.emf"/></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6F075A-7A1C-384A-C117-44F5E6646A7F}"/>
              </a:ext>
            </a:extLst>
          </p:cNvPr>
          <p:cNvSpPr>
            <a:spLocks noGrp="1" noChangeArrowheads="1"/>
          </p:cNvSpPr>
          <p:nvPr>
            <p:ph type="ctrTitle"/>
          </p:nvPr>
        </p:nvSpPr>
        <p:spPr>
          <a:xfrm>
            <a:off x="762000" y="381000"/>
            <a:ext cx="7772400" cy="1920875"/>
          </a:xfrm>
        </p:spPr>
        <p:txBody>
          <a:bodyPr/>
          <a:lstStyle/>
          <a:p>
            <a:pPr eaLnBrk="1" hangingPunct="1">
              <a:defRPr/>
            </a:pPr>
            <a:r>
              <a:rPr lang="en-US" sz="5400" dirty="0"/>
              <a:t>CHAPTER 4</a:t>
            </a:r>
          </a:p>
        </p:txBody>
      </p:sp>
      <p:sp>
        <p:nvSpPr>
          <p:cNvPr id="2053" name="Rectangle 5">
            <a:extLst>
              <a:ext uri="{FF2B5EF4-FFF2-40B4-BE49-F238E27FC236}">
                <a16:creationId xmlns:a16="http://schemas.microsoft.com/office/drawing/2014/main" id="{9BBB18D4-1A41-7203-E0FE-31CFDF807773}"/>
              </a:ext>
            </a:extLst>
          </p:cNvPr>
          <p:cNvSpPr>
            <a:spLocks noChangeArrowheads="1"/>
          </p:cNvSpPr>
          <p:nvPr/>
        </p:nvSpPr>
        <p:spPr bwMode="auto">
          <a:xfrm>
            <a:off x="1447800" y="2895600"/>
            <a:ext cx="6400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defRPr/>
            </a:pPr>
            <a:r>
              <a:rPr lang="en-US" sz="6000" b="1" dirty="0">
                <a:solidFill>
                  <a:schemeClr val="tx2"/>
                </a:solidFill>
                <a:effectLst>
                  <a:outerShdw blurRad="38100" dist="38100" dir="2700000" algn="tl">
                    <a:srgbClr val="000000"/>
                  </a:outerShdw>
                </a:effectLst>
                <a:cs typeface="Arial" charset="0"/>
              </a:rPr>
              <a:t>INDUCTION       AND RECURRENCES</a:t>
            </a:r>
            <a:endParaRPr lang="en-US" sz="6000" dirty="0">
              <a:effectLst>
                <a:outerShdw blurRad="38100" dist="38100" dir="2700000" algn="tl">
                  <a:srgbClr val="000000"/>
                </a:outerShdw>
              </a:effectLst>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nodeType="after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 calcmode="lin" valueType="num">
                                      <p:cBhvr>
                                        <p:cTn id="7" dur="5000" fill="hold"/>
                                        <p:tgtEl>
                                          <p:spTgt spid="2053">
                                            <p:txEl>
                                              <p:pRg st="0" end="0"/>
                                            </p:txEl>
                                          </p:spTgt>
                                        </p:tgtEl>
                                        <p:attrNameLst>
                                          <p:attrName>ppt_w</p:attrName>
                                        </p:attrNameLst>
                                      </p:cBhvr>
                                      <p:tavLst>
                                        <p:tav tm="0" fmla="#ppt_w*sin(2.5*pi*$)">
                                          <p:val>
                                            <p:fltVal val="0"/>
                                          </p:val>
                                        </p:tav>
                                        <p:tav tm="100000">
                                          <p:val>
                                            <p:fltVal val="1"/>
                                          </p:val>
                                        </p:tav>
                                      </p:tavLst>
                                    </p:anim>
                                    <p:anim calcmode="lin" valueType="num">
                                      <p:cBhvr>
                                        <p:cTn id="8" dur="5000" fill="hold"/>
                                        <p:tgtEl>
                                          <p:spTgt spid="205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autoUpdateAnimBg="0"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482CE66-C77B-A5F1-A61B-EF395D31CA61}"/>
              </a:ext>
            </a:extLst>
          </p:cNvPr>
          <p:cNvSpPr>
            <a:spLocks noGrp="1" noRot="1" noChangeArrowheads="1"/>
          </p:cNvSpPr>
          <p:nvPr>
            <p:ph type="title"/>
          </p:nvPr>
        </p:nvSpPr>
        <p:spPr/>
        <p:txBody>
          <a:bodyPr/>
          <a:lstStyle/>
          <a:p>
            <a:pPr eaLnBrk="1" hangingPunct="1">
              <a:defRPr/>
            </a:pPr>
            <a:r>
              <a:rPr lang="en-US" sz="4800">
                <a:solidFill>
                  <a:schemeClr val="hlink"/>
                </a:solidFill>
              </a:rPr>
              <a:t>CONTENTS</a:t>
            </a:r>
          </a:p>
        </p:txBody>
      </p:sp>
      <p:sp>
        <p:nvSpPr>
          <p:cNvPr id="25603" name="Rectangle 3">
            <a:extLst>
              <a:ext uri="{FF2B5EF4-FFF2-40B4-BE49-F238E27FC236}">
                <a16:creationId xmlns:a16="http://schemas.microsoft.com/office/drawing/2014/main" id="{D43CAB40-CCE3-2A78-D6B6-609F7BF3D3C0}"/>
              </a:ext>
            </a:extLst>
          </p:cNvPr>
          <p:cNvSpPr>
            <a:spLocks noChangeArrowheads="1"/>
          </p:cNvSpPr>
          <p:nvPr/>
        </p:nvSpPr>
        <p:spPr bwMode="auto">
          <a:xfrm>
            <a:off x="1066800" y="1752600"/>
            <a:ext cx="70104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nSpc>
                <a:spcPct val="90000"/>
              </a:lnSpc>
            </a:pPr>
            <a:r>
              <a:rPr lang="en-US" altLang="en-US" sz="3600">
                <a:latin typeface="Times" pitchFamily="2" charset="0"/>
              </a:rPr>
              <a:t>4.1 </a:t>
            </a:r>
            <a:r>
              <a:rPr lang="en-US" altLang="en-US" sz="3600">
                <a:latin typeface="Times New Roman" panose="02020603050405020304" pitchFamily="18" charset="0"/>
                <a:cs typeface="Times New Roman" panose="02020603050405020304" pitchFamily="18" charset="0"/>
              </a:rPr>
              <a:t> </a:t>
            </a:r>
            <a:r>
              <a:rPr lang="en-US" altLang="en-US" sz="3600">
                <a:latin typeface="Times" pitchFamily="2" charset="0"/>
                <a:cs typeface="Times New Roman" panose="02020603050405020304" pitchFamily="18" charset="0"/>
              </a:rPr>
              <a:t>Induction</a:t>
            </a:r>
          </a:p>
          <a:p>
            <a:pPr>
              <a:lnSpc>
                <a:spcPct val="90000"/>
              </a:lnSpc>
            </a:pPr>
            <a:r>
              <a:rPr lang="en-US" altLang="en-US" sz="3600">
                <a:latin typeface="Times" pitchFamily="2" charset="0"/>
                <a:cs typeface="Times New Roman" panose="02020603050405020304" pitchFamily="18" charset="0"/>
              </a:rPr>
              <a:t>4.2</a:t>
            </a:r>
            <a:r>
              <a:rPr lang="en-US" altLang="en-US" sz="3600">
                <a:latin typeface="Times New Roman" panose="02020603050405020304" pitchFamily="18" charset="0"/>
                <a:cs typeface="Times New Roman" panose="02020603050405020304" pitchFamily="18" charset="0"/>
              </a:rPr>
              <a:t>  </a:t>
            </a:r>
            <a:r>
              <a:rPr lang="en-US" altLang="en-US" sz="3600">
                <a:latin typeface="Times" pitchFamily="2" charset="0"/>
                <a:cs typeface="Times New Roman" panose="02020603050405020304" pitchFamily="18" charset="0"/>
              </a:rPr>
              <a:t>Recursion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additive="base">
                                        <p:cTn id="7" dur="500" fill="hold"/>
                                        <p:tgtEl>
                                          <p:spTgt spid="25602"/>
                                        </p:tgtEl>
                                        <p:attrNameLst>
                                          <p:attrName>ppt_x</p:attrName>
                                        </p:attrNameLst>
                                      </p:cBhvr>
                                      <p:tavLst>
                                        <p:tav tm="0">
                                          <p:val>
                                            <p:strVal val="0-#ppt_w/2"/>
                                          </p:val>
                                        </p:tav>
                                        <p:tav tm="100000">
                                          <p:val>
                                            <p:strVal val="#ppt_x"/>
                                          </p:val>
                                        </p:tav>
                                      </p:tavLst>
                                    </p:anim>
                                    <p:anim calcmode="lin" valueType="num">
                                      <p:cBhvr additive="base">
                                        <p:cTn id="8" dur="500" fill="hold"/>
                                        <p:tgtEl>
                                          <p:spTgt spid="2560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 calcmode="lin" valueType="num">
                                      <p:cBhvr additive="base">
                                        <p:cTn id="12" dur="500" fill="hold"/>
                                        <p:tgtEl>
                                          <p:spTgt spid="2560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5603">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25603">
                                            <p:txEl>
                                              <p:pRg st="1" end="1"/>
                                            </p:txEl>
                                          </p:spTgt>
                                        </p:tgtEl>
                                        <p:attrNameLst>
                                          <p:attrName>style.visibility</p:attrName>
                                        </p:attrNameLst>
                                      </p:cBhvr>
                                      <p:to>
                                        <p:strVal val="visible"/>
                                      </p:to>
                                    </p:set>
                                    <p:anim calcmode="lin" valueType="num">
                                      <p:cBhvr additive="base">
                                        <p:cTn id="17" dur="500" fill="hold"/>
                                        <p:tgtEl>
                                          <p:spTgt spid="25603">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6B7CB71-07CC-1C2B-D539-253AE9CAD941}"/>
              </a:ext>
            </a:extLst>
          </p:cNvPr>
          <p:cNvSpPr>
            <a:spLocks noGrp="1" noRot="1" noChangeArrowheads="1"/>
          </p:cNvSpPr>
          <p:nvPr>
            <p:ph type="title"/>
          </p:nvPr>
        </p:nvSpPr>
        <p:spPr/>
        <p:txBody>
          <a:bodyPr/>
          <a:lstStyle/>
          <a:p>
            <a:pPr eaLnBrk="1" hangingPunct="1">
              <a:defRPr/>
            </a:pPr>
            <a:r>
              <a:rPr lang="en-US" dirty="0"/>
              <a:t>4.1 Induction</a:t>
            </a:r>
          </a:p>
        </p:txBody>
      </p:sp>
      <p:sp>
        <p:nvSpPr>
          <p:cNvPr id="26627" name="Rectangle 3">
            <a:extLst>
              <a:ext uri="{FF2B5EF4-FFF2-40B4-BE49-F238E27FC236}">
                <a16:creationId xmlns:a16="http://schemas.microsoft.com/office/drawing/2014/main" id="{B65A4DED-1B08-810B-E3DF-173C025A5D0E}"/>
              </a:ext>
            </a:extLst>
          </p:cNvPr>
          <p:cNvSpPr>
            <a:spLocks noChangeArrowheads="1"/>
          </p:cNvSpPr>
          <p:nvPr/>
        </p:nvSpPr>
        <p:spPr bwMode="auto">
          <a:xfrm>
            <a:off x="1066800" y="1828800"/>
            <a:ext cx="7467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nSpc>
                <a:spcPct val="90000"/>
              </a:lnSpc>
            </a:pPr>
            <a:r>
              <a:rPr lang="en-US" altLang="en-US" sz="3600">
                <a:latin typeface="Times" pitchFamily="2" charset="0"/>
              </a:rPr>
              <a:t>4.1.1 Ordinary </a:t>
            </a:r>
            <a:r>
              <a:rPr lang="en-US" altLang="en-US" sz="3600">
                <a:latin typeface="Times" pitchFamily="2" charset="0"/>
                <a:cs typeface="Times New Roman" panose="02020603050405020304" pitchFamily="18" charset="0"/>
              </a:rPr>
              <a:t>Induction</a:t>
            </a:r>
          </a:p>
          <a:p>
            <a:pPr>
              <a:lnSpc>
                <a:spcPct val="90000"/>
              </a:lnSpc>
            </a:pPr>
            <a:r>
              <a:rPr lang="en-US" altLang="en-US" sz="3600">
                <a:latin typeface="Times" pitchFamily="2" charset="0"/>
                <a:cs typeface="Times New Roman" panose="02020603050405020304" pitchFamily="18" charset="0"/>
              </a:rPr>
              <a:t>4.1.2 Strong Induction</a:t>
            </a:r>
          </a:p>
          <a:p>
            <a:pPr>
              <a:lnSpc>
                <a:spcPct val="90000"/>
              </a:lnSpc>
            </a:pPr>
            <a:r>
              <a:rPr lang="en-US" altLang="en-US" sz="3600">
                <a:latin typeface="Times" pitchFamily="2" charset="0"/>
              </a:rPr>
              <a:t>4.1.3 </a:t>
            </a:r>
            <a:r>
              <a:rPr lang="en-US" altLang="en-US" sz="3600">
                <a:latin typeface="Times" pitchFamily="2" charset="0"/>
                <a:cs typeface="Times New Roman" panose="02020603050405020304" pitchFamily="18" charset="0"/>
              </a:rPr>
              <a:t>Inductive Definitions</a:t>
            </a:r>
          </a:p>
          <a:p>
            <a:pPr>
              <a:lnSpc>
                <a:spcPct val="90000"/>
              </a:lnSpc>
            </a:pPr>
            <a:r>
              <a:rPr lang="en-US" altLang="en-US" sz="3600">
                <a:latin typeface="Times" pitchFamily="2"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0-#ppt_w/2"/>
                                          </p:val>
                                        </p:tav>
                                        <p:tav tm="100000">
                                          <p:val>
                                            <p:strVal val="#ppt_x"/>
                                          </p:val>
                                        </p:tav>
                                      </p:tavLst>
                                    </p:anim>
                                    <p:anim calcmode="lin" valueType="num">
                                      <p:cBhvr additive="base">
                                        <p:cTn id="8" dur="500" fill="hold"/>
                                        <p:tgtEl>
                                          <p:spTgt spid="2662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 calcmode="lin" valueType="num">
                                      <p:cBhvr additive="base">
                                        <p:cTn id="12" dur="500" fill="hold"/>
                                        <p:tgtEl>
                                          <p:spTgt spid="2662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6627">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26627">
                                            <p:txEl>
                                              <p:pRg st="1" end="1"/>
                                            </p:txEl>
                                          </p:spTgt>
                                        </p:tgtEl>
                                        <p:attrNameLst>
                                          <p:attrName>style.visibility</p:attrName>
                                        </p:attrNameLst>
                                      </p:cBhvr>
                                      <p:to>
                                        <p:strVal val="visible"/>
                                      </p:to>
                                    </p:set>
                                    <p:anim calcmode="lin" valueType="num">
                                      <p:cBhvr additive="base">
                                        <p:cTn id="17" dur="500" fill="hold"/>
                                        <p:tgtEl>
                                          <p:spTgt spid="26627">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6627">
                                            <p:txEl>
                                              <p:pRg st="1" end="1"/>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nodeType="afterEffect">
                                  <p:stCondLst>
                                    <p:cond delay="0"/>
                                  </p:stCondLst>
                                  <p:childTnLst>
                                    <p:set>
                                      <p:cBhvr>
                                        <p:cTn id="21" dur="1" fill="hold">
                                          <p:stCondLst>
                                            <p:cond delay="0"/>
                                          </p:stCondLst>
                                        </p:cTn>
                                        <p:tgtEl>
                                          <p:spTgt spid="26627">
                                            <p:txEl>
                                              <p:pRg st="2" end="2"/>
                                            </p:txEl>
                                          </p:spTgt>
                                        </p:tgtEl>
                                        <p:attrNameLst>
                                          <p:attrName>style.visibility</p:attrName>
                                        </p:attrNameLst>
                                      </p:cBhvr>
                                      <p:to>
                                        <p:strVal val="visible"/>
                                      </p:to>
                                    </p:set>
                                    <p:anim calcmode="lin" valueType="num">
                                      <p:cBhvr additive="base">
                                        <p:cTn id="22" dur="500" fill="hold"/>
                                        <p:tgtEl>
                                          <p:spTgt spid="26627">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662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7FBC-C1D2-4E65-BE48-CC0E662F2704}"/>
              </a:ext>
            </a:extLst>
          </p:cNvPr>
          <p:cNvSpPr>
            <a:spLocks noGrp="1"/>
          </p:cNvSpPr>
          <p:nvPr>
            <p:ph type="title"/>
          </p:nvPr>
        </p:nvSpPr>
        <p:spPr/>
        <p:txBody>
          <a:bodyPr/>
          <a:lstStyle/>
          <a:p>
            <a:pPr eaLnBrk="1" hangingPunct="1">
              <a:defRPr/>
            </a:pPr>
            <a:r>
              <a:rPr lang="en-US" dirty="0"/>
              <a:t>4.1.1 Ordinary induction</a:t>
            </a:r>
          </a:p>
        </p:txBody>
      </p:sp>
      <p:pic>
        <p:nvPicPr>
          <p:cNvPr id="6147" name="Picture 2">
            <a:extLst>
              <a:ext uri="{FF2B5EF4-FFF2-40B4-BE49-F238E27FC236}">
                <a16:creationId xmlns:a16="http://schemas.microsoft.com/office/drawing/2014/main" id="{7DCDC490-3176-150E-A5E9-9AA7086524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78025"/>
            <a:ext cx="8763000" cy="411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13BDDA-AF5A-4CA7-3106-660A3145DAE9}"/>
              </a:ext>
            </a:extLst>
          </p:cNvPr>
          <p:cNvSpPr>
            <a:spLocks noGrp="1"/>
          </p:cNvSpPr>
          <p:nvPr>
            <p:ph idx="1"/>
          </p:nvPr>
        </p:nvSpPr>
        <p:spPr>
          <a:xfrm>
            <a:off x="228600" y="0"/>
            <a:ext cx="8839200" cy="5334000"/>
          </a:xfrm>
        </p:spPr>
        <p:txBody>
          <a:bodyPr/>
          <a:lstStyle/>
          <a:p>
            <a:pPr eaLnBrk="1" hangingPunct="1">
              <a:defRPr/>
            </a:pPr>
            <a:r>
              <a:rPr lang="en-US" sz="2800" dirty="0"/>
              <a:t>Example: Prove that for all n </a:t>
            </a:r>
            <a:r>
              <a:rPr lang="en-US" sz="2800" dirty="0">
                <a:sym typeface="Symbol"/>
              </a:rPr>
              <a:t>ℕ, we have</a:t>
            </a:r>
          </a:p>
          <a:p>
            <a:pPr marL="0" indent="0" eaLnBrk="1" hangingPunct="1">
              <a:buFont typeface="Wingdings" pitchFamily="2" charset="2"/>
              <a:buNone/>
              <a:defRPr/>
            </a:pPr>
            <a:r>
              <a:rPr lang="en-US" sz="2800" dirty="0">
                <a:sym typeface="Symbol"/>
              </a:rPr>
              <a:t>    </a:t>
            </a:r>
          </a:p>
          <a:p>
            <a:pPr eaLnBrk="1" hangingPunct="1">
              <a:defRPr/>
            </a:pPr>
            <a:endParaRPr lang="en-US" sz="2800" dirty="0">
              <a:sym typeface="Symbol"/>
            </a:endParaRPr>
          </a:p>
        </p:txBody>
      </p:sp>
      <p:graphicFrame>
        <p:nvGraphicFramePr>
          <p:cNvPr id="7171" name="Object 1">
            <a:extLst>
              <a:ext uri="{FF2B5EF4-FFF2-40B4-BE49-F238E27FC236}">
                <a16:creationId xmlns:a16="http://schemas.microsoft.com/office/drawing/2014/main" id="{88760AD0-CDF4-FD79-D43F-F9D7C6493045}"/>
              </a:ext>
            </a:extLst>
          </p:cNvPr>
          <p:cNvGraphicFramePr>
            <a:graphicFrameLocks noChangeAspect="1"/>
          </p:cNvGraphicFramePr>
          <p:nvPr/>
        </p:nvGraphicFramePr>
        <p:xfrm>
          <a:off x="838200" y="914400"/>
          <a:ext cx="5484813" cy="1819275"/>
        </p:xfrm>
        <a:graphic>
          <a:graphicData uri="http://schemas.openxmlformats.org/presentationml/2006/ole">
            <mc:AlternateContent xmlns:mc="http://schemas.openxmlformats.org/markup-compatibility/2006">
              <mc:Choice xmlns:v="urn:schemas-microsoft-com:vml" Requires="v">
                <p:oleObj name="Equation" r:id="rId2" imgW="56464200" imgH="18719800" progId="Equation.DSMT4">
                  <p:embed/>
                </p:oleObj>
              </mc:Choice>
              <mc:Fallback>
                <p:oleObj name="Equation" r:id="rId2" imgW="56464200" imgH="18719800" progId="Equation.DSMT4">
                  <p:embed/>
                  <p:pic>
                    <p:nvPicPr>
                      <p:cNvPr id="7171" name="Object 1">
                        <a:extLst>
                          <a:ext uri="{FF2B5EF4-FFF2-40B4-BE49-F238E27FC236}">
                            <a16:creationId xmlns:a16="http://schemas.microsoft.com/office/drawing/2014/main" id="{88760AD0-CDF4-FD79-D43F-F9D7C6493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914400"/>
                        <a:ext cx="5484813"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2" name="Object 3">
            <a:extLst>
              <a:ext uri="{FF2B5EF4-FFF2-40B4-BE49-F238E27FC236}">
                <a16:creationId xmlns:a16="http://schemas.microsoft.com/office/drawing/2014/main" id="{B4DF31A2-DE23-7C55-106A-298EAEEA7A40}"/>
              </a:ext>
            </a:extLst>
          </p:cNvPr>
          <p:cNvGraphicFramePr>
            <a:graphicFrameLocks noChangeAspect="1"/>
          </p:cNvGraphicFramePr>
          <p:nvPr/>
        </p:nvGraphicFramePr>
        <p:xfrm>
          <a:off x="4368800" y="2362200"/>
          <a:ext cx="914400" cy="198438"/>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7172" name="Object 3">
                        <a:extLst>
                          <a:ext uri="{FF2B5EF4-FFF2-40B4-BE49-F238E27FC236}">
                            <a16:creationId xmlns:a16="http://schemas.microsoft.com/office/drawing/2014/main" id="{B4DF31A2-DE23-7C55-106A-298EAEEA7A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8800" y="2362200"/>
                        <a:ext cx="914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4D9C680-299A-6B42-C3C5-6394A00B5E21}"/>
              </a:ext>
            </a:extLst>
          </p:cNvPr>
          <p:cNvSpPr>
            <a:spLocks noGrp="1" noRot="1" noChangeArrowheads="1"/>
          </p:cNvSpPr>
          <p:nvPr>
            <p:ph type="title"/>
          </p:nvPr>
        </p:nvSpPr>
        <p:spPr>
          <a:xfrm>
            <a:off x="-381000" y="304800"/>
            <a:ext cx="9982200" cy="838200"/>
          </a:xfrm>
        </p:spPr>
        <p:txBody>
          <a:bodyPr/>
          <a:lstStyle/>
          <a:p>
            <a:pPr eaLnBrk="1" hangingPunct="1">
              <a:defRPr/>
            </a:pPr>
            <a:r>
              <a:rPr lang="en-US" dirty="0"/>
              <a:t>4.1.2 Strong Mathematical Induction</a:t>
            </a:r>
          </a:p>
        </p:txBody>
      </p:sp>
      <p:sp>
        <p:nvSpPr>
          <p:cNvPr id="8195" name="Text Box 4">
            <a:extLst>
              <a:ext uri="{FF2B5EF4-FFF2-40B4-BE49-F238E27FC236}">
                <a16:creationId xmlns:a16="http://schemas.microsoft.com/office/drawing/2014/main" id="{4E3E5EE2-B9B3-5D3C-8B74-7011068F8CAB}"/>
              </a:ext>
            </a:extLst>
          </p:cNvPr>
          <p:cNvSpPr txBox="1">
            <a:spLocks noChangeArrowheads="1"/>
          </p:cNvSpPr>
          <p:nvPr/>
        </p:nvSpPr>
        <p:spPr bwMode="auto">
          <a:xfrm>
            <a:off x="1676400" y="4191000"/>
            <a:ext cx="9906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spcBef>
                <a:spcPct val="50000"/>
              </a:spcBef>
            </a:pPr>
            <a:endParaRPr lang="en-US" altLang="en-US" sz="2400">
              <a:latin typeface="Comic Sans MS" panose="030F0902030302020204" pitchFamily="66" charset="0"/>
            </a:endParaRPr>
          </a:p>
        </p:txBody>
      </p:sp>
      <p:grpSp>
        <p:nvGrpSpPr>
          <p:cNvPr id="39941" name="Group 5">
            <a:extLst>
              <a:ext uri="{FF2B5EF4-FFF2-40B4-BE49-F238E27FC236}">
                <a16:creationId xmlns:a16="http://schemas.microsoft.com/office/drawing/2014/main" id="{76126586-9A7F-1912-FA40-1AA958B03CC8}"/>
              </a:ext>
            </a:extLst>
          </p:cNvPr>
          <p:cNvGrpSpPr>
            <a:grpSpLocks/>
          </p:cNvGrpSpPr>
          <p:nvPr/>
        </p:nvGrpSpPr>
        <p:grpSpPr bwMode="auto">
          <a:xfrm>
            <a:off x="2438400" y="4324350"/>
            <a:ext cx="6172200" cy="2533650"/>
            <a:chOff x="286" y="3168"/>
            <a:chExt cx="4428" cy="768"/>
          </a:xfrm>
        </p:grpSpPr>
        <p:sp>
          <p:nvSpPr>
            <p:cNvPr id="8198" name="Oval 6">
              <a:extLst>
                <a:ext uri="{FF2B5EF4-FFF2-40B4-BE49-F238E27FC236}">
                  <a16:creationId xmlns:a16="http://schemas.microsoft.com/office/drawing/2014/main" id="{B8AC8A3E-159F-FE75-DBC9-14837A7491F3}"/>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8199" name="Text Box 7">
              <a:extLst>
                <a:ext uri="{FF2B5EF4-FFF2-40B4-BE49-F238E27FC236}">
                  <a16:creationId xmlns:a16="http://schemas.microsoft.com/office/drawing/2014/main" id="{DE694412-C0B4-57D5-5CEA-6BD842D67AEA}"/>
                </a:ext>
              </a:extLst>
            </p:cNvPr>
            <p:cNvSpPr txBox="1">
              <a:spLocks noChangeArrowheads="1"/>
            </p:cNvSpPr>
            <p:nvPr/>
          </p:nvSpPr>
          <p:spPr bwMode="auto">
            <a:xfrm>
              <a:off x="286" y="3264"/>
              <a:ext cx="4387"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400">
                  <a:solidFill>
                    <a:schemeClr val="bg2"/>
                  </a:solidFill>
                  <a:latin typeface="Comic Sans MS" panose="030F0902030302020204" pitchFamily="66" charset="0"/>
                  <a:sym typeface="Symbol" pitchFamily="2" charset="2"/>
                </a:rPr>
                <a:t>In our proofs, to show P(k+1), our inductive hypothesis assures that ALL of P(0), P(1), … P(k) are true, so we can use ANY of them to make the inference.</a:t>
              </a:r>
            </a:p>
          </p:txBody>
        </p:sp>
      </p:grpSp>
      <p:sp>
        <p:nvSpPr>
          <p:cNvPr id="39944" name="Rectangle 8">
            <a:extLst>
              <a:ext uri="{FF2B5EF4-FFF2-40B4-BE49-F238E27FC236}">
                <a16:creationId xmlns:a16="http://schemas.microsoft.com/office/drawing/2014/main" id="{18C8077F-C708-FBAB-BEEF-E1374A123B4F}"/>
              </a:ext>
            </a:extLst>
          </p:cNvPr>
          <p:cNvSpPr>
            <a:spLocks noChangeArrowheads="1"/>
          </p:cNvSpPr>
          <p:nvPr/>
        </p:nvSpPr>
        <p:spPr bwMode="auto">
          <a:xfrm>
            <a:off x="609600" y="1600200"/>
            <a:ext cx="8196263"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hlink"/>
              </a:buClr>
              <a:buSzPct val="70000"/>
              <a:buFont typeface="Wingdings" pitchFamily="2" charset="2"/>
              <a:buNone/>
              <a:defRPr/>
            </a:pPr>
            <a:r>
              <a:rPr lang="en-US" sz="2800" b="1" dirty="0">
                <a:solidFill>
                  <a:schemeClr val="tx2"/>
                </a:solidFill>
                <a:effectLst>
                  <a:outerShdw blurRad="38100" dist="38100" dir="2700000" algn="tl">
                    <a:srgbClr val="000000"/>
                  </a:outerShdw>
                </a:effectLst>
                <a:latin typeface="Times New Roman" pitchFamily="18" charset="0"/>
                <a:cs typeface="Arial" charset="0"/>
                <a:sym typeface="Symbol" pitchFamily="18" charset="2"/>
              </a:rPr>
              <a:t>Theorem.</a:t>
            </a:r>
            <a:r>
              <a:rPr lang="en-US" sz="2800" dirty="0">
                <a:effectLst>
                  <a:outerShdw blurRad="38100" dist="38100" dir="2700000" algn="tl">
                    <a:srgbClr val="000000"/>
                  </a:outerShdw>
                </a:effectLst>
                <a:latin typeface="Times New Roman" pitchFamily="18" charset="0"/>
                <a:cs typeface="Arial" charset="0"/>
                <a:sym typeface="Symbol" pitchFamily="18" charset="2"/>
              </a:rPr>
              <a:t> Let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 be a predicate with the universe of discourse </a:t>
            </a:r>
            <a:r>
              <a:rPr lang="en-US" sz="2800" b="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  Assume that</a:t>
            </a:r>
          </a:p>
          <a:p>
            <a:pPr marL="342900" indent="-342900">
              <a:spcBef>
                <a:spcPct val="20000"/>
              </a:spcBef>
              <a:buClr>
                <a:schemeClr val="hlink"/>
              </a:buClr>
              <a:buSzPct val="70000"/>
              <a:buFontTx/>
              <a:buChar char="-"/>
              <a:defRPr/>
            </a:pP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(0)</a:t>
            </a:r>
            <a:r>
              <a:rPr lang="en-US" sz="2800" i="1" dirty="0">
                <a:effectLst>
                  <a:outerShdw blurRad="38100" dist="38100" dir="2700000" algn="tl">
                    <a:srgbClr val="000000"/>
                  </a:outerShdw>
                </a:effectLst>
                <a:latin typeface="Times New Roman" pitchFamily="18" charset="0"/>
                <a:cs typeface="Arial" charset="0"/>
                <a:sym typeface="Symbol" pitchFamily="18" charset="2"/>
              </a:rPr>
              <a:t> </a:t>
            </a:r>
            <a:r>
              <a:rPr lang="en-US" sz="2800" dirty="0">
                <a:effectLst>
                  <a:outerShdw blurRad="38100" dist="38100" dir="2700000" algn="tl">
                    <a:srgbClr val="000000"/>
                  </a:outerShdw>
                </a:effectLst>
                <a:latin typeface="Times New Roman" pitchFamily="18" charset="0"/>
                <a:cs typeface="Arial" charset="0"/>
                <a:sym typeface="Symbol" pitchFamily="18" charset="2"/>
              </a:rPr>
              <a:t>is true</a:t>
            </a:r>
          </a:p>
          <a:p>
            <a:pPr marL="342900" indent="-342900">
              <a:spcBef>
                <a:spcPct val="20000"/>
              </a:spcBef>
              <a:buClr>
                <a:schemeClr val="hlink"/>
              </a:buClr>
              <a:buSzPct val="70000"/>
              <a:buFontTx/>
              <a:buChar char="-"/>
              <a:defRPr/>
            </a:pP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(0) 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(1)  … 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 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n </a:t>
            </a:r>
            <a:r>
              <a:rPr lang="en-US" sz="2800" dirty="0">
                <a:effectLst>
                  <a:outerShdw blurRad="38100" dist="38100" dir="2700000" algn="tl">
                    <a:srgbClr val="000000"/>
                  </a:outerShdw>
                </a:effectLst>
                <a:latin typeface="Times New Roman" pitchFamily="18" charset="0"/>
                <a:cs typeface="Arial" charset="0"/>
                <a:sym typeface="Symbol" pitchFamily="18" charset="2"/>
              </a:rPr>
              <a:t>+1)</a:t>
            </a:r>
          </a:p>
          <a:p>
            <a:pPr marL="342900" indent="-342900">
              <a:spcBef>
                <a:spcPct val="20000"/>
              </a:spcBef>
              <a:buClr>
                <a:schemeClr val="hlink"/>
              </a:buClr>
              <a:buSzPct val="70000"/>
              <a:buFont typeface="Wingdings" pitchFamily="2" charset="2"/>
              <a:buNone/>
              <a:defRPr/>
            </a:pPr>
            <a:r>
              <a:rPr lang="en-US" sz="2800" dirty="0">
                <a:effectLst>
                  <a:outerShdw blurRad="38100" dist="38100" dir="2700000" algn="tl">
                    <a:srgbClr val="000000"/>
                  </a:outerShdw>
                </a:effectLst>
                <a:latin typeface="Times New Roman" pitchFamily="18" charset="0"/>
                <a:cs typeface="Arial" charset="0"/>
                <a:sym typeface="Symbol" pitchFamily="18" charset="2"/>
              </a:rPr>
              <a:t>Then </a:t>
            </a:r>
            <a:r>
              <a:rPr lang="en-US" sz="2800" i="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 </a:t>
            </a:r>
            <a:r>
              <a:rPr lang="en-US" sz="2800" i="1" dirty="0">
                <a:effectLst>
                  <a:outerShdw blurRad="38100" dist="38100" dir="2700000" algn="tl">
                    <a:srgbClr val="000000"/>
                  </a:outerShdw>
                </a:effectLst>
                <a:latin typeface="Times New Roman" pitchFamily="18" charset="0"/>
                <a:cs typeface="Arial" charset="0"/>
                <a:sym typeface="Symbol" pitchFamily="18" charset="2"/>
              </a:rPr>
              <a:t>P</a:t>
            </a: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n</a:t>
            </a:r>
            <a:r>
              <a:rPr lang="en-US" sz="2800" dirty="0">
                <a:effectLst>
                  <a:outerShdw blurRad="38100" dist="38100" dir="2700000" algn="tl">
                    <a:srgbClr val="000000"/>
                  </a:outerShdw>
                </a:effectLst>
                <a:latin typeface="Times New Roman" pitchFamily="18" charset="0"/>
                <a:cs typeface="Arial" charset="0"/>
                <a:sym typeface="Symbol" pitchFamily="18" charset="2"/>
              </a:rPr>
              <a:t>)</a:t>
            </a:r>
            <a:r>
              <a:rPr lang="en-US" sz="2800" i="1" dirty="0">
                <a:effectLst>
                  <a:outerShdw blurRad="38100" dist="38100" dir="2700000" algn="tl">
                    <a:srgbClr val="000000"/>
                  </a:outerShdw>
                </a:effectLst>
                <a:latin typeface="Times New Roman" pitchFamily="18" charset="0"/>
                <a:cs typeface="Arial" charset="0"/>
                <a:sym typeface="Symbol" pitchFamily="18" charset="2"/>
              </a:rPr>
              <a:t> </a:t>
            </a:r>
            <a:r>
              <a:rPr lang="en-US" sz="2800" dirty="0">
                <a:effectLst>
                  <a:outerShdw blurRad="38100" dist="38100" dir="2700000" algn="tl">
                    <a:srgbClr val="000000"/>
                  </a:outerShdw>
                </a:effectLst>
                <a:latin typeface="Times New Roman" pitchFamily="18" charset="0"/>
                <a:cs typeface="Arial" charset="0"/>
                <a:sym typeface="Symbol" pitchFamily="18" charset="2"/>
              </a:rPr>
              <a:t>is true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0-#ppt_w/2"/>
                                          </p:val>
                                        </p:tav>
                                        <p:tav tm="100000">
                                          <p:val>
                                            <p:strVal val="#ppt_x"/>
                                          </p:val>
                                        </p:tav>
                                      </p:tavLst>
                                    </p:anim>
                                    <p:anim calcmode="lin" valueType="num">
                                      <p:cBhvr additive="base">
                                        <p:cTn id="8" dur="500" fill="hold"/>
                                        <p:tgtEl>
                                          <p:spTgt spid="399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9944">
                                            <p:txEl>
                                              <p:pRg st="0" end="0"/>
                                            </p:txEl>
                                          </p:spTgt>
                                        </p:tgtEl>
                                        <p:attrNameLst>
                                          <p:attrName>style.visibility</p:attrName>
                                        </p:attrNameLst>
                                      </p:cBhvr>
                                      <p:to>
                                        <p:strVal val="visible"/>
                                      </p:to>
                                    </p:set>
                                    <p:anim calcmode="lin" valueType="num">
                                      <p:cBhvr additive="base">
                                        <p:cTn id="13" dur="500" fill="hold"/>
                                        <p:tgtEl>
                                          <p:spTgt spid="3994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99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9944">
                                            <p:txEl>
                                              <p:pRg st="1" end="1"/>
                                            </p:txEl>
                                          </p:spTgt>
                                        </p:tgtEl>
                                        <p:attrNameLst>
                                          <p:attrName>style.visibility</p:attrName>
                                        </p:attrNameLst>
                                      </p:cBhvr>
                                      <p:to>
                                        <p:strVal val="visible"/>
                                      </p:to>
                                    </p:set>
                                    <p:anim calcmode="lin" valueType="num">
                                      <p:cBhvr additive="base">
                                        <p:cTn id="19" dur="500" fill="hold"/>
                                        <p:tgtEl>
                                          <p:spTgt spid="39944">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994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9944">
                                            <p:txEl>
                                              <p:pRg st="2" end="2"/>
                                            </p:txEl>
                                          </p:spTgt>
                                        </p:tgtEl>
                                        <p:attrNameLst>
                                          <p:attrName>style.visibility</p:attrName>
                                        </p:attrNameLst>
                                      </p:cBhvr>
                                      <p:to>
                                        <p:strVal val="visible"/>
                                      </p:to>
                                    </p:set>
                                    <p:anim calcmode="lin" valueType="num">
                                      <p:cBhvr additive="base">
                                        <p:cTn id="25" dur="500" fill="hold"/>
                                        <p:tgtEl>
                                          <p:spTgt spid="39944">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994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9944">
                                            <p:txEl>
                                              <p:pRg st="3" end="3"/>
                                            </p:txEl>
                                          </p:spTgt>
                                        </p:tgtEl>
                                        <p:attrNameLst>
                                          <p:attrName>style.visibility</p:attrName>
                                        </p:attrNameLst>
                                      </p:cBhvr>
                                      <p:to>
                                        <p:strVal val="visible"/>
                                      </p:to>
                                    </p:set>
                                    <p:anim calcmode="lin" valueType="num">
                                      <p:cBhvr additive="base">
                                        <p:cTn id="31" dur="500" fill="hold"/>
                                        <p:tgtEl>
                                          <p:spTgt spid="39944">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994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99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44"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C0CDAA-4FBF-7FD5-0392-0FC316E728CC}"/>
              </a:ext>
            </a:extLst>
          </p:cNvPr>
          <p:cNvSpPr>
            <a:spLocks noGrp="1"/>
          </p:cNvSpPr>
          <p:nvPr>
            <p:ph idx="1"/>
          </p:nvPr>
        </p:nvSpPr>
        <p:spPr>
          <a:xfrm>
            <a:off x="152400" y="228600"/>
            <a:ext cx="8229600" cy="4525963"/>
          </a:xfrm>
        </p:spPr>
        <p:txBody>
          <a:bodyPr/>
          <a:lstStyle/>
          <a:p>
            <a:pPr>
              <a:defRPr/>
            </a:pPr>
            <a:r>
              <a:rPr lang="en-US" dirty="0"/>
              <a:t>Prove that the Fibonacci sequence </a:t>
            </a:r>
          </a:p>
        </p:txBody>
      </p:sp>
      <p:sp>
        <p:nvSpPr>
          <p:cNvPr id="2" name="TextBox 1">
            <a:extLst>
              <a:ext uri="{FF2B5EF4-FFF2-40B4-BE49-F238E27FC236}">
                <a16:creationId xmlns:a16="http://schemas.microsoft.com/office/drawing/2014/main" id="{0B81CF73-F70C-589F-6F7F-3E926317F1E0}"/>
              </a:ext>
            </a:extLst>
          </p:cNvPr>
          <p:cNvSpPr txBox="1"/>
          <p:nvPr/>
        </p:nvSpPr>
        <p:spPr>
          <a:xfrm>
            <a:off x="533400" y="1066800"/>
            <a:ext cx="7010400" cy="2062163"/>
          </a:xfrm>
          <a:prstGeom prst="rect">
            <a:avLst/>
          </a:prstGeom>
          <a:noFill/>
        </p:spPr>
        <p:txBody>
          <a:bodyPr>
            <a:spAutoFit/>
          </a:bodyPr>
          <a:lstStyle/>
          <a:p>
            <a:pPr>
              <a:defRPr/>
            </a:pPr>
            <a:r>
              <a:rPr lang="en-US" sz="3200" dirty="0">
                <a:latin typeface="+mn-lt"/>
                <a:cs typeface="Arial" charset="0"/>
              </a:rPr>
              <a:t>	a</a:t>
            </a:r>
            <a:r>
              <a:rPr lang="en-US" sz="3200" baseline="-25000" dirty="0">
                <a:latin typeface="+mn-lt"/>
                <a:cs typeface="Arial" charset="0"/>
              </a:rPr>
              <a:t>0</a:t>
            </a:r>
            <a:r>
              <a:rPr lang="en-US" sz="3200" dirty="0">
                <a:latin typeface="+mn-lt"/>
                <a:cs typeface="Arial" charset="0"/>
              </a:rPr>
              <a:t> =1 , a</a:t>
            </a:r>
            <a:r>
              <a:rPr lang="en-US" sz="3200" baseline="-25000" dirty="0">
                <a:latin typeface="+mn-lt"/>
                <a:cs typeface="Arial" charset="0"/>
              </a:rPr>
              <a:t>1</a:t>
            </a:r>
            <a:r>
              <a:rPr lang="en-US" sz="3200" dirty="0">
                <a:latin typeface="+mn-lt"/>
                <a:cs typeface="Arial" charset="0"/>
              </a:rPr>
              <a:t>= 1,</a:t>
            </a:r>
          </a:p>
          <a:p>
            <a:pPr>
              <a:defRPr/>
            </a:pPr>
            <a:r>
              <a:rPr lang="en-US" sz="3200" dirty="0">
                <a:latin typeface="+mn-lt"/>
                <a:cs typeface="Arial" charset="0"/>
              </a:rPr>
              <a:t>	a</a:t>
            </a:r>
            <a:r>
              <a:rPr lang="en-US" sz="3200" baseline="-25000" dirty="0">
                <a:latin typeface="+mn-lt"/>
                <a:cs typeface="Arial" charset="0"/>
              </a:rPr>
              <a:t>k+1</a:t>
            </a:r>
            <a:r>
              <a:rPr lang="en-US" sz="3200" dirty="0">
                <a:latin typeface="+mn-lt"/>
                <a:cs typeface="Arial" charset="0"/>
              </a:rPr>
              <a:t> = </a:t>
            </a:r>
            <a:r>
              <a:rPr lang="en-US" sz="3200" dirty="0" err="1">
                <a:latin typeface="+mn-lt"/>
                <a:cs typeface="Arial" charset="0"/>
              </a:rPr>
              <a:t>a</a:t>
            </a:r>
            <a:r>
              <a:rPr lang="en-US" sz="3200" baseline="-25000" dirty="0" err="1">
                <a:latin typeface="+mn-lt"/>
                <a:cs typeface="Arial" charset="0"/>
              </a:rPr>
              <a:t>k</a:t>
            </a:r>
            <a:r>
              <a:rPr lang="en-US" sz="3200" dirty="0">
                <a:latin typeface="+mn-lt"/>
                <a:cs typeface="Arial" charset="0"/>
              </a:rPr>
              <a:t> + a</a:t>
            </a:r>
            <a:r>
              <a:rPr lang="en-US" sz="3200" baseline="-25000" dirty="0">
                <a:latin typeface="+mn-lt"/>
                <a:cs typeface="Arial" charset="0"/>
              </a:rPr>
              <a:t>k-1</a:t>
            </a:r>
            <a:r>
              <a:rPr lang="en-US" sz="3200" dirty="0">
                <a:latin typeface="+mn-lt"/>
                <a:cs typeface="Arial" charset="0"/>
              </a:rPr>
              <a:t>  for k </a:t>
            </a:r>
            <a:r>
              <a:rPr lang="en-US" sz="3200" dirty="0">
                <a:latin typeface="+mn-lt"/>
                <a:cs typeface="Arial" charset="0"/>
                <a:sym typeface="Symbol"/>
              </a:rPr>
              <a:t> 1</a:t>
            </a:r>
          </a:p>
          <a:p>
            <a:pPr>
              <a:defRPr/>
            </a:pPr>
            <a:endParaRPr lang="en-US" sz="3200" dirty="0">
              <a:latin typeface="+mn-lt"/>
              <a:cs typeface="Arial" charset="0"/>
              <a:sym typeface="Symbol"/>
            </a:endParaRPr>
          </a:p>
          <a:p>
            <a:pPr>
              <a:defRPr/>
            </a:pPr>
            <a:r>
              <a:rPr lang="en-US" sz="3200" dirty="0">
                <a:latin typeface="+mn-lt"/>
                <a:cs typeface="Arial" charset="0"/>
                <a:sym typeface="Symbol"/>
              </a:rPr>
              <a:t>satisfies </a:t>
            </a:r>
            <a:endParaRPr lang="en-US" sz="3200" dirty="0">
              <a:latin typeface="+mn-lt"/>
              <a:cs typeface="Arial" charset="0"/>
            </a:endParaRPr>
          </a:p>
        </p:txBody>
      </p:sp>
      <p:graphicFrame>
        <p:nvGraphicFramePr>
          <p:cNvPr id="9220" name="Object 3">
            <a:extLst>
              <a:ext uri="{FF2B5EF4-FFF2-40B4-BE49-F238E27FC236}">
                <a16:creationId xmlns:a16="http://schemas.microsoft.com/office/drawing/2014/main" id="{27CAFFB5-81B7-AEBB-7566-A14AEA82F6DA}"/>
              </a:ext>
            </a:extLst>
          </p:cNvPr>
          <p:cNvGraphicFramePr>
            <a:graphicFrameLocks noChangeAspect="1"/>
          </p:cNvGraphicFramePr>
          <p:nvPr/>
        </p:nvGraphicFramePr>
        <p:xfrm>
          <a:off x="1981200" y="3352800"/>
          <a:ext cx="4191000" cy="1476375"/>
        </p:xfrm>
        <a:graphic>
          <a:graphicData uri="http://schemas.openxmlformats.org/presentationml/2006/ole">
            <mc:AlternateContent xmlns:mc="http://schemas.openxmlformats.org/markup-compatibility/2006">
              <mc:Choice xmlns:v="urn:schemas-microsoft-com:vml" Requires="v">
                <p:oleObj name="Equation" r:id="rId2" imgW="30721300" imgH="10820400" progId="Equation.DSMT4">
                  <p:embed/>
                </p:oleObj>
              </mc:Choice>
              <mc:Fallback>
                <p:oleObj name="Equation" r:id="rId2" imgW="30721300" imgH="10820400" progId="Equation.DSMT4">
                  <p:embed/>
                  <p:pic>
                    <p:nvPicPr>
                      <p:cNvPr id="9220" name="Object 3">
                        <a:extLst>
                          <a:ext uri="{FF2B5EF4-FFF2-40B4-BE49-F238E27FC236}">
                            <a16:creationId xmlns:a16="http://schemas.microsoft.com/office/drawing/2014/main" id="{27CAFFB5-81B7-AEBB-7566-A14AEA82F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352800"/>
                        <a:ext cx="41910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EE59F6D7-B295-4253-D5B8-1445F85380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938" y="381000"/>
            <a:ext cx="9136062" cy="6122988"/>
          </a:xfr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8BD48F8-E782-C147-7971-5B84E825AE0D}"/>
              </a:ext>
            </a:extLst>
          </p:cNvPr>
          <p:cNvSpPr>
            <a:spLocks noGrp="1" noRot="1" noChangeArrowheads="1"/>
          </p:cNvSpPr>
          <p:nvPr>
            <p:ph type="title"/>
          </p:nvPr>
        </p:nvSpPr>
        <p:spPr>
          <a:xfrm>
            <a:off x="457200" y="274638"/>
            <a:ext cx="8229600" cy="1020762"/>
          </a:xfrm>
        </p:spPr>
        <p:txBody>
          <a:bodyPr/>
          <a:lstStyle/>
          <a:p>
            <a:pPr eaLnBrk="1" hangingPunct="1">
              <a:defRPr/>
            </a:pPr>
            <a:r>
              <a:rPr lang="en-US" dirty="0"/>
              <a:t>4.1.3 Inductive Definitions</a:t>
            </a:r>
          </a:p>
        </p:txBody>
      </p:sp>
      <p:sp>
        <p:nvSpPr>
          <p:cNvPr id="47107" name="Rectangle 3">
            <a:extLst>
              <a:ext uri="{FF2B5EF4-FFF2-40B4-BE49-F238E27FC236}">
                <a16:creationId xmlns:a16="http://schemas.microsoft.com/office/drawing/2014/main" id="{5ABF5849-307A-D6D9-625F-E4C6DD556B55}"/>
              </a:ext>
            </a:extLst>
          </p:cNvPr>
          <p:cNvSpPr>
            <a:spLocks noGrp="1" noChangeArrowheads="1"/>
          </p:cNvSpPr>
          <p:nvPr>
            <p:ph type="body" idx="1"/>
          </p:nvPr>
        </p:nvSpPr>
        <p:spPr>
          <a:xfrm>
            <a:off x="533400" y="1295400"/>
            <a:ext cx="8458200" cy="1066800"/>
          </a:xfrm>
        </p:spPr>
        <p:txBody>
          <a:bodyPr/>
          <a:lstStyle/>
          <a:p>
            <a:pPr eaLnBrk="1" hangingPunct="1">
              <a:buFont typeface="Wingdings" pitchFamily="2" charset="2"/>
              <a:buNone/>
              <a:defRPr/>
            </a:pPr>
            <a:r>
              <a:rPr lang="en-US" sz="2800">
                <a:latin typeface="Comic Sans MS" pitchFamily="66" charset="0"/>
              </a:rPr>
              <a:t>We completely understand the function  </a:t>
            </a:r>
            <a:r>
              <a:rPr lang="en-US" sz="2800" i="1"/>
              <a:t>f</a:t>
            </a:r>
            <a:r>
              <a:rPr lang="en-US" sz="2800"/>
              <a:t>(</a:t>
            </a:r>
            <a:r>
              <a:rPr lang="en-US" sz="2800" i="1"/>
              <a:t>n</a:t>
            </a:r>
            <a:r>
              <a:rPr lang="en-US" sz="2800"/>
              <a:t>) = </a:t>
            </a:r>
            <a:r>
              <a:rPr lang="en-US" sz="2800" i="1"/>
              <a:t>n </a:t>
            </a:r>
            <a:r>
              <a:rPr lang="en-US" sz="2800"/>
              <a:t>!,</a:t>
            </a:r>
            <a:r>
              <a:rPr lang="en-US" sz="2800">
                <a:latin typeface="Comic Sans MS" pitchFamily="66" charset="0"/>
              </a:rPr>
              <a:t> right?</a:t>
            </a:r>
          </a:p>
        </p:txBody>
      </p:sp>
      <p:sp>
        <p:nvSpPr>
          <p:cNvPr id="47108" name="Rectangle 4">
            <a:extLst>
              <a:ext uri="{FF2B5EF4-FFF2-40B4-BE49-F238E27FC236}">
                <a16:creationId xmlns:a16="http://schemas.microsoft.com/office/drawing/2014/main" id="{2420B4C0-28CA-5705-6441-B148FDFC51C6}"/>
              </a:ext>
            </a:extLst>
          </p:cNvPr>
          <p:cNvSpPr>
            <a:spLocks noChangeArrowheads="1"/>
          </p:cNvSpPr>
          <p:nvPr/>
        </p:nvSpPr>
        <p:spPr bwMode="auto">
          <a:xfrm>
            <a:off x="304800" y="4038600"/>
            <a:ext cx="7086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endParaRPr lang="en-US" altLang="en-US" sz="2400">
              <a:latin typeface="Comic Sans MS" panose="030F0902030302020204" pitchFamily="66" charset="0"/>
            </a:endParaRPr>
          </a:p>
        </p:txBody>
      </p:sp>
      <p:grpSp>
        <p:nvGrpSpPr>
          <p:cNvPr id="47109" name="Group 5">
            <a:extLst>
              <a:ext uri="{FF2B5EF4-FFF2-40B4-BE49-F238E27FC236}">
                <a16:creationId xmlns:a16="http://schemas.microsoft.com/office/drawing/2014/main" id="{7FB6646F-D930-6C09-23AD-C10170604965}"/>
              </a:ext>
            </a:extLst>
          </p:cNvPr>
          <p:cNvGrpSpPr>
            <a:grpSpLocks/>
          </p:cNvGrpSpPr>
          <p:nvPr/>
        </p:nvGrpSpPr>
        <p:grpSpPr bwMode="auto">
          <a:xfrm>
            <a:off x="1752600" y="5791200"/>
            <a:ext cx="5181600" cy="762000"/>
            <a:chOff x="286" y="3168"/>
            <a:chExt cx="4428" cy="768"/>
          </a:xfrm>
        </p:grpSpPr>
        <p:sp>
          <p:nvSpPr>
            <p:cNvPr id="11279" name="Oval 6">
              <a:extLst>
                <a:ext uri="{FF2B5EF4-FFF2-40B4-BE49-F238E27FC236}">
                  <a16:creationId xmlns:a16="http://schemas.microsoft.com/office/drawing/2014/main" id="{B7E3341B-7117-C24F-43F1-F2464E09E236}"/>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11280" name="Text Box 7">
              <a:extLst>
                <a:ext uri="{FF2B5EF4-FFF2-40B4-BE49-F238E27FC236}">
                  <a16:creationId xmlns:a16="http://schemas.microsoft.com/office/drawing/2014/main" id="{17995ADE-5827-6103-16E8-AD1FAA39DB5C}"/>
                </a:ext>
              </a:extLst>
            </p:cNvPr>
            <p:cNvSpPr txBox="1">
              <a:spLocks noChangeArrowheads="1"/>
            </p:cNvSpPr>
            <p:nvPr/>
          </p:nvSpPr>
          <p:spPr bwMode="auto">
            <a:xfrm>
              <a:off x="286" y="3264"/>
              <a:ext cx="4387" cy="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000">
                  <a:latin typeface="Comic Sans MS" panose="030F0902030302020204" pitchFamily="66" charset="0"/>
                  <a:sym typeface="Symbol" pitchFamily="2" charset="2"/>
                </a:rPr>
                <a:t>Inductive (Recursive) Definition</a:t>
              </a:r>
            </a:p>
          </p:txBody>
        </p:sp>
      </p:grpSp>
      <p:sp>
        <p:nvSpPr>
          <p:cNvPr id="47112" name="Rectangle 8">
            <a:extLst>
              <a:ext uri="{FF2B5EF4-FFF2-40B4-BE49-F238E27FC236}">
                <a16:creationId xmlns:a16="http://schemas.microsoft.com/office/drawing/2014/main" id="{C8207EDF-4F46-7C4D-CC22-D26B2D20EFCF}"/>
              </a:ext>
            </a:extLst>
          </p:cNvPr>
          <p:cNvSpPr>
            <a:spLocks noChangeArrowheads="1"/>
          </p:cNvSpPr>
          <p:nvPr/>
        </p:nvSpPr>
        <p:spPr bwMode="auto">
          <a:xfrm>
            <a:off x="457200" y="3581400"/>
            <a:ext cx="7204075"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r>
              <a:rPr lang="en-US" altLang="en-US" sz="2400">
                <a:latin typeface="Comic Sans MS" panose="030F0902030302020204" pitchFamily="66" charset="0"/>
              </a:rPr>
              <a:t>But equivalently, we could define it like this:</a:t>
            </a:r>
          </a:p>
          <a:p>
            <a:pPr algn="ctr"/>
            <a:endParaRPr lang="en-US" altLang="en-US" sz="2400">
              <a:latin typeface="Comic Sans MS" panose="030F0902030302020204" pitchFamily="66" charset="0"/>
            </a:endParaRPr>
          </a:p>
          <a:p>
            <a:endParaRPr lang="en-US" altLang="en-US" sz="2400">
              <a:latin typeface="Comic Sans MS" panose="030F0902030302020204" pitchFamily="66" charset="0"/>
            </a:endParaRPr>
          </a:p>
        </p:txBody>
      </p:sp>
      <p:graphicFrame>
        <p:nvGraphicFramePr>
          <p:cNvPr id="47113" name="Object 9">
            <a:extLst>
              <a:ext uri="{FF2B5EF4-FFF2-40B4-BE49-F238E27FC236}">
                <a16:creationId xmlns:a16="http://schemas.microsoft.com/office/drawing/2014/main" id="{B4C99BB5-8F02-19F9-0650-1E91E830FD93}"/>
              </a:ext>
            </a:extLst>
          </p:cNvPr>
          <p:cNvGraphicFramePr>
            <a:graphicFrameLocks noChangeAspect="1"/>
          </p:cNvGraphicFramePr>
          <p:nvPr/>
        </p:nvGraphicFramePr>
        <p:xfrm>
          <a:off x="533400" y="4267200"/>
          <a:ext cx="3733800" cy="1079500"/>
        </p:xfrm>
        <a:graphic>
          <a:graphicData uri="http://schemas.openxmlformats.org/presentationml/2006/ole">
            <mc:AlternateContent xmlns:mc="http://schemas.openxmlformats.org/markup-compatibility/2006">
              <mc:Choice xmlns:v="urn:schemas-microsoft-com:vml" Requires="v">
                <p:oleObj name="Equation" r:id="rId2" imgW="1054100" imgH="228600" progId="Equation.3">
                  <p:embed/>
                </p:oleObj>
              </mc:Choice>
              <mc:Fallback>
                <p:oleObj name="Equation" r:id="rId2" imgW="1054100" imgH="228600" progId="Equation.3">
                  <p:embed/>
                  <p:pic>
                    <p:nvPicPr>
                      <p:cNvPr id="47113" name="Object 9">
                        <a:extLst>
                          <a:ext uri="{FF2B5EF4-FFF2-40B4-BE49-F238E27FC236}">
                            <a16:creationId xmlns:a16="http://schemas.microsoft.com/office/drawing/2014/main" id="{B4C99BB5-8F02-19F9-0650-1E91E830FD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267200"/>
                        <a:ext cx="37338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7114" name="Group 10">
            <a:extLst>
              <a:ext uri="{FF2B5EF4-FFF2-40B4-BE49-F238E27FC236}">
                <a16:creationId xmlns:a16="http://schemas.microsoft.com/office/drawing/2014/main" id="{61F23A91-1BA5-611A-8657-8A28E9D0DEBC}"/>
              </a:ext>
            </a:extLst>
          </p:cNvPr>
          <p:cNvGrpSpPr>
            <a:grpSpLocks/>
          </p:cNvGrpSpPr>
          <p:nvPr/>
        </p:nvGrpSpPr>
        <p:grpSpPr bwMode="auto">
          <a:xfrm>
            <a:off x="4724400" y="4191000"/>
            <a:ext cx="2209800" cy="504825"/>
            <a:chOff x="286" y="3168"/>
            <a:chExt cx="4428" cy="768"/>
          </a:xfrm>
        </p:grpSpPr>
        <p:sp>
          <p:nvSpPr>
            <p:cNvPr id="11277" name="Oval 11">
              <a:extLst>
                <a:ext uri="{FF2B5EF4-FFF2-40B4-BE49-F238E27FC236}">
                  <a16:creationId xmlns:a16="http://schemas.microsoft.com/office/drawing/2014/main" id="{8F8C8919-B4E7-0643-BC14-9FD68830E6F1}"/>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11278" name="Text Box 12">
              <a:extLst>
                <a:ext uri="{FF2B5EF4-FFF2-40B4-BE49-F238E27FC236}">
                  <a16:creationId xmlns:a16="http://schemas.microsoft.com/office/drawing/2014/main" id="{4A79BEB0-A50C-51E8-0722-8E294D7CB315}"/>
                </a:ext>
              </a:extLst>
            </p:cNvPr>
            <p:cNvSpPr txBox="1">
              <a:spLocks noChangeArrowheads="1"/>
            </p:cNvSpPr>
            <p:nvPr/>
          </p:nvSpPr>
          <p:spPr bwMode="auto">
            <a:xfrm>
              <a:off x="286" y="3265"/>
              <a:ext cx="4387"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000">
                  <a:latin typeface="Comic Sans MS" panose="030F0902030302020204" pitchFamily="66" charset="0"/>
                  <a:sym typeface="Symbol" pitchFamily="2" charset="2"/>
                </a:rPr>
                <a:t>Recursive Case</a:t>
              </a:r>
            </a:p>
          </p:txBody>
        </p:sp>
      </p:grpSp>
      <p:grpSp>
        <p:nvGrpSpPr>
          <p:cNvPr id="47117" name="Group 13">
            <a:extLst>
              <a:ext uri="{FF2B5EF4-FFF2-40B4-BE49-F238E27FC236}">
                <a16:creationId xmlns:a16="http://schemas.microsoft.com/office/drawing/2014/main" id="{647595AB-4521-F887-1C5F-DF28EA6DEEDA}"/>
              </a:ext>
            </a:extLst>
          </p:cNvPr>
          <p:cNvGrpSpPr>
            <a:grpSpLocks/>
          </p:cNvGrpSpPr>
          <p:nvPr/>
        </p:nvGrpSpPr>
        <p:grpSpPr bwMode="auto">
          <a:xfrm>
            <a:off x="4800600" y="4800600"/>
            <a:ext cx="2209800" cy="504825"/>
            <a:chOff x="286" y="3168"/>
            <a:chExt cx="4428" cy="768"/>
          </a:xfrm>
        </p:grpSpPr>
        <p:sp>
          <p:nvSpPr>
            <p:cNvPr id="11275" name="Oval 14">
              <a:extLst>
                <a:ext uri="{FF2B5EF4-FFF2-40B4-BE49-F238E27FC236}">
                  <a16:creationId xmlns:a16="http://schemas.microsoft.com/office/drawing/2014/main" id="{853918A0-49B3-02BA-44EA-A39F3D29AB66}"/>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11276" name="Text Box 15">
              <a:extLst>
                <a:ext uri="{FF2B5EF4-FFF2-40B4-BE49-F238E27FC236}">
                  <a16:creationId xmlns:a16="http://schemas.microsoft.com/office/drawing/2014/main" id="{7304D99D-0B8C-9288-6D36-B0343C4F1C91}"/>
                </a:ext>
              </a:extLst>
            </p:cNvPr>
            <p:cNvSpPr txBox="1">
              <a:spLocks noChangeArrowheads="1"/>
            </p:cNvSpPr>
            <p:nvPr/>
          </p:nvSpPr>
          <p:spPr bwMode="auto">
            <a:xfrm>
              <a:off x="286" y="3265"/>
              <a:ext cx="4387"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000">
                  <a:latin typeface="Comic Sans MS" panose="030F0902030302020204" pitchFamily="66" charset="0"/>
                  <a:sym typeface="Symbol" pitchFamily="2" charset="2"/>
                </a:rPr>
                <a:t>Base Case</a:t>
              </a:r>
            </a:p>
          </p:txBody>
        </p:sp>
      </p:grpSp>
      <p:sp>
        <p:nvSpPr>
          <p:cNvPr id="47120" name="Rectangle 16">
            <a:extLst>
              <a:ext uri="{FF2B5EF4-FFF2-40B4-BE49-F238E27FC236}">
                <a16:creationId xmlns:a16="http://schemas.microsoft.com/office/drawing/2014/main" id="{F1C72A37-FC54-FEDF-06E5-EC08C15CFFBE}"/>
              </a:ext>
            </a:extLst>
          </p:cNvPr>
          <p:cNvSpPr>
            <a:spLocks noChangeArrowheads="1"/>
          </p:cNvSpPr>
          <p:nvPr/>
        </p:nvSpPr>
        <p:spPr bwMode="auto">
          <a:xfrm>
            <a:off x="762000" y="2362200"/>
            <a:ext cx="6553200" cy="107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hlink"/>
              </a:buClr>
              <a:buSzPct val="70000"/>
              <a:buFont typeface="Wingdings" pitchFamily="2" charset="2"/>
              <a:buNone/>
              <a:defRPr/>
            </a:pPr>
            <a:r>
              <a:rPr lang="en-US" sz="2800">
                <a:effectLst>
                  <a:outerShdw blurRad="38100" dist="38100" dir="2700000" algn="tl">
                    <a:srgbClr val="000000"/>
                  </a:outerShdw>
                </a:effectLst>
                <a:latin typeface="Comic Sans MS" pitchFamily="66" charset="0"/>
                <a:cs typeface="Arial" charset="0"/>
              </a:rPr>
              <a:t>As a reminder, here’s the definition:</a:t>
            </a:r>
          </a:p>
          <a:p>
            <a:pPr>
              <a:lnSpc>
                <a:spcPct val="90000"/>
              </a:lnSpc>
              <a:spcBef>
                <a:spcPct val="50000"/>
              </a:spcBef>
              <a:buClr>
                <a:schemeClr val="hlink"/>
              </a:buClr>
              <a:buSzPct val="70000"/>
              <a:buFont typeface="Wingdings" pitchFamily="2" charset="2"/>
              <a:buNone/>
              <a:defRPr/>
            </a:pPr>
            <a:r>
              <a:rPr lang="en-US" sz="2800">
                <a:effectLst>
                  <a:outerShdw blurRad="38100" dist="38100" dir="2700000" algn="tl">
                    <a:srgbClr val="000000"/>
                  </a:outerShdw>
                </a:effectLst>
                <a:latin typeface="Comic Sans MS" pitchFamily="66" charset="0"/>
                <a:cs typeface="Arial" charset="0"/>
              </a:rPr>
              <a:t>	</a:t>
            </a:r>
            <a:r>
              <a:rPr lang="en-US" sz="2800" i="1">
                <a:effectLst>
                  <a:outerShdw blurRad="38100" dist="38100" dir="2700000" algn="tl">
                    <a:srgbClr val="000000"/>
                  </a:outerShdw>
                </a:effectLst>
                <a:latin typeface="Times New Roman" pitchFamily="18" charset="0"/>
                <a:cs typeface="Arial" charset="0"/>
              </a:rPr>
              <a:t>n </a:t>
            </a:r>
            <a:r>
              <a:rPr lang="en-US" sz="2800">
                <a:effectLst>
                  <a:outerShdw blurRad="38100" dist="38100" dir="2700000" algn="tl">
                    <a:srgbClr val="000000"/>
                  </a:outerShdw>
                </a:effectLst>
                <a:latin typeface="Times New Roman" pitchFamily="18" charset="0"/>
                <a:cs typeface="Arial" charset="0"/>
              </a:rPr>
              <a:t>!</a:t>
            </a:r>
            <a:r>
              <a:rPr lang="en-US" sz="2800" i="1">
                <a:effectLst>
                  <a:outerShdw blurRad="38100" dist="38100" dir="2700000" algn="tl">
                    <a:srgbClr val="000000"/>
                  </a:outerShdw>
                </a:effectLst>
                <a:latin typeface="Times New Roman" pitchFamily="18" charset="0"/>
                <a:cs typeface="Arial" charset="0"/>
              </a:rPr>
              <a:t> </a:t>
            </a:r>
            <a:r>
              <a:rPr lang="en-US" sz="2800">
                <a:effectLst>
                  <a:outerShdw blurRad="38100" dist="38100" dir="2700000" algn="tl">
                    <a:srgbClr val="000000"/>
                  </a:outerShdw>
                </a:effectLst>
                <a:latin typeface="Times New Roman" pitchFamily="18" charset="0"/>
                <a:cs typeface="Arial" charset="0"/>
              </a:rPr>
              <a:t>= 1 · 2 · 3 · … · (</a:t>
            </a:r>
            <a:r>
              <a:rPr lang="en-US" sz="2800" i="1">
                <a:effectLst>
                  <a:outerShdw blurRad="38100" dist="38100" dir="2700000" algn="tl">
                    <a:srgbClr val="000000"/>
                  </a:outerShdw>
                </a:effectLst>
                <a:latin typeface="Times New Roman" pitchFamily="18" charset="0"/>
                <a:cs typeface="Arial" charset="0"/>
              </a:rPr>
              <a:t>n </a:t>
            </a:r>
            <a:r>
              <a:rPr lang="en-US" sz="2800">
                <a:effectLst>
                  <a:outerShdw blurRad="38100" dist="38100" dir="2700000" algn="tl">
                    <a:srgbClr val="000000"/>
                  </a:outerShdw>
                </a:effectLst>
                <a:latin typeface="Times New Roman" pitchFamily="18" charset="0"/>
                <a:cs typeface="Arial" charset="0"/>
              </a:rPr>
              <a:t>–1) · </a:t>
            </a:r>
            <a:r>
              <a:rPr lang="en-US" sz="2800" i="1">
                <a:effectLst>
                  <a:outerShdw blurRad="38100" dist="38100" dir="2700000" algn="tl">
                    <a:srgbClr val="000000"/>
                  </a:outerShdw>
                </a:effectLst>
                <a:latin typeface="Times New Roman" pitchFamily="18" charset="0"/>
                <a:cs typeface="Arial" charset="0"/>
              </a:rPr>
              <a:t>n</a:t>
            </a:r>
            <a:r>
              <a:rPr lang="en-US" sz="2800">
                <a:effectLst>
                  <a:outerShdw blurRad="38100" dist="38100" dir="2700000" algn="tl">
                    <a:srgbClr val="000000"/>
                  </a:outerShdw>
                </a:effectLst>
                <a:latin typeface="Times New Roman" pitchFamily="18" charset="0"/>
                <a:cs typeface="Arial" charset="0"/>
              </a:rPr>
              <a:t>, </a:t>
            </a:r>
            <a:r>
              <a:rPr lang="en-US" sz="2800" i="1">
                <a:effectLst>
                  <a:outerShdw blurRad="38100" dist="38100" dir="2700000" algn="tl">
                    <a:srgbClr val="000000"/>
                  </a:outerShdw>
                </a:effectLst>
                <a:latin typeface="Times New Roman" pitchFamily="18" charset="0"/>
                <a:cs typeface="Arial" charset="0"/>
              </a:rPr>
              <a:t>n</a:t>
            </a:r>
            <a:r>
              <a:rPr lang="en-US" sz="2800">
                <a:effectLst>
                  <a:outerShdw blurRad="38100" dist="38100" dir="2700000" algn="tl">
                    <a:srgbClr val="000000"/>
                  </a:outerShdw>
                </a:effectLst>
                <a:latin typeface="Times New Roman" pitchFamily="18" charset="0"/>
                <a:cs typeface="Arial" charset="0"/>
              </a:rPr>
              <a:t> </a:t>
            </a:r>
            <a:r>
              <a:rPr lang="en-US" sz="2800">
                <a:effectLst>
                  <a:outerShdw blurRad="38100" dist="38100" dir="2700000" algn="tl">
                    <a:srgbClr val="000000"/>
                  </a:outerShdw>
                </a:effectLst>
                <a:latin typeface="Times New Roman" pitchFamily="18" charset="0"/>
                <a:cs typeface="Arial" charset="0"/>
                <a:sym typeface="Symbol" pitchFamily="18" charset="2"/>
              </a:rPr>
              <a:t></a:t>
            </a:r>
            <a:r>
              <a:rPr lang="en-US" sz="2800">
                <a:effectLst>
                  <a:outerShdw blurRad="38100" dist="38100" dir="2700000" algn="tl">
                    <a:srgbClr val="000000"/>
                  </a:outerShdw>
                </a:effectLst>
                <a:latin typeface="Comic Sans MS" pitchFamily="66" charset="0"/>
                <a:cs typeface="Arial" charset="0"/>
                <a:sym typeface="Symbol" pitchFamily="18" charset="2"/>
              </a:rPr>
              <a:t>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0-#ppt_w/2"/>
                                          </p:val>
                                        </p:tav>
                                        <p:tav tm="100000">
                                          <p:val>
                                            <p:strVal val="#ppt_x"/>
                                          </p:val>
                                        </p:tav>
                                      </p:tavLst>
                                    </p:anim>
                                    <p:anim calcmode="lin" valueType="num">
                                      <p:cBhvr additive="base">
                                        <p:cTn id="8"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7107">
                                            <p:txEl>
                                              <p:pRg st="0" end="0"/>
                                            </p:txEl>
                                          </p:spTgt>
                                        </p:tgtEl>
                                        <p:attrNameLst>
                                          <p:attrName>style.visibility</p:attrName>
                                        </p:attrNameLst>
                                      </p:cBhvr>
                                      <p:to>
                                        <p:strVal val="visible"/>
                                      </p:to>
                                    </p:set>
                                    <p:anim calcmode="lin" valueType="num">
                                      <p:cBhvr additive="base">
                                        <p:cTn id="13" dur="500" fill="hold"/>
                                        <p:tgtEl>
                                          <p:spTgt spid="4710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710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47120"/>
                                        </p:tgtEl>
                                        <p:attrNameLst>
                                          <p:attrName>style.visibility</p:attrName>
                                        </p:attrNameLst>
                                      </p:cBhvr>
                                      <p:to>
                                        <p:strVal val="visible"/>
                                      </p:to>
                                    </p:set>
                                    <p:anim calcmode="lin" valueType="num">
                                      <p:cBhvr additive="base">
                                        <p:cTn id="23" dur="500" fill="hold"/>
                                        <p:tgtEl>
                                          <p:spTgt spid="47120"/>
                                        </p:tgtEl>
                                        <p:attrNameLst>
                                          <p:attrName>ppt_x</p:attrName>
                                        </p:attrNameLst>
                                      </p:cBhvr>
                                      <p:tavLst>
                                        <p:tav tm="0">
                                          <p:val>
                                            <p:strVal val="0-#ppt_w/2"/>
                                          </p:val>
                                        </p:tav>
                                        <p:tav tm="100000">
                                          <p:val>
                                            <p:strVal val="#ppt_x"/>
                                          </p:val>
                                        </p:tav>
                                      </p:tavLst>
                                    </p:anim>
                                    <p:anim calcmode="lin" valueType="num">
                                      <p:cBhvr additive="base">
                                        <p:cTn id="24" dur="500" fill="hold"/>
                                        <p:tgtEl>
                                          <p:spTgt spid="4712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47112"/>
                                        </p:tgtEl>
                                        <p:attrNameLst>
                                          <p:attrName>style.visibility</p:attrName>
                                        </p:attrNameLst>
                                      </p:cBhvr>
                                      <p:to>
                                        <p:strVal val="visible"/>
                                      </p:to>
                                    </p:set>
                                    <p:anim calcmode="lin" valueType="num">
                                      <p:cBhvr additive="base">
                                        <p:cTn id="29" dur="500" fill="hold"/>
                                        <p:tgtEl>
                                          <p:spTgt spid="47112"/>
                                        </p:tgtEl>
                                        <p:attrNameLst>
                                          <p:attrName>ppt_x</p:attrName>
                                        </p:attrNameLst>
                                      </p:cBhvr>
                                      <p:tavLst>
                                        <p:tav tm="0">
                                          <p:val>
                                            <p:strVal val="0-#ppt_w/2"/>
                                          </p:val>
                                        </p:tav>
                                        <p:tav tm="100000">
                                          <p:val>
                                            <p:strVal val="#ppt_x"/>
                                          </p:val>
                                        </p:tav>
                                      </p:tavLst>
                                    </p:anim>
                                    <p:anim calcmode="lin" valueType="num">
                                      <p:cBhvr additive="base">
                                        <p:cTn id="30" dur="500" fill="hold"/>
                                        <p:tgtEl>
                                          <p:spTgt spid="4711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47113"/>
                                        </p:tgtEl>
                                        <p:attrNameLst>
                                          <p:attrName>style.visibility</p:attrName>
                                        </p:attrNameLst>
                                      </p:cBhvr>
                                      <p:to>
                                        <p:strVal val="visible"/>
                                      </p:to>
                                    </p:set>
                                    <p:animEffect transition="in" filter="wipe(up)">
                                      <p:cBhvr>
                                        <p:cTn id="35" dur="500"/>
                                        <p:tgtEl>
                                          <p:spTgt spid="47113"/>
                                        </p:tgtEl>
                                      </p:cBhvr>
                                    </p:animEffec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47114"/>
                                        </p:tgtEl>
                                        <p:attrNameLst>
                                          <p:attrName>style.visibility</p:attrName>
                                        </p:attrNameLst>
                                      </p:cBhvr>
                                      <p:to>
                                        <p:strVal val="visible"/>
                                      </p:to>
                                    </p:set>
                                  </p:childTnLst>
                                </p:cTn>
                              </p:par>
                            </p:childTnLst>
                          </p:cTn>
                        </p:par>
                        <p:par>
                          <p:cTn id="39" fill="hold" nodeType="afterGroup">
                            <p:stCondLst>
                              <p:cond delay="1000"/>
                            </p:stCondLst>
                            <p:childTnLst>
                              <p:par>
                                <p:cTn id="40" presetID="1" presetClass="entr" presetSubtype="0" fill="hold" nodeType="afterEffect">
                                  <p:stCondLst>
                                    <p:cond delay="0"/>
                                  </p:stCondLst>
                                  <p:childTnLst>
                                    <p:set>
                                      <p:cBhvr>
                                        <p:cTn id="41" dur="1" fill="hold">
                                          <p:stCondLst>
                                            <p:cond delay="499"/>
                                          </p:stCondLst>
                                        </p:cTn>
                                        <p:tgtEl>
                                          <p:spTgt spid="47117"/>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499"/>
                                          </p:stCondLst>
                                        </p:cTn>
                                        <p:tgtEl>
                                          <p:spTgt spid="47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utoUpdateAnimBg="0"/>
      <p:bldP spid="47107" grpId="0" build="p" autoUpdateAnimBg="0"/>
      <p:bldP spid="47108" grpId="0" autoUpdateAnimBg="0"/>
      <p:bldP spid="47112" grpId="0" autoUpdateAnimBg="0"/>
      <p:bldP spid="4712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F6FC619-175D-E693-2BC1-05AB43A09DA2}"/>
              </a:ext>
            </a:extLst>
          </p:cNvPr>
          <p:cNvSpPr>
            <a:spLocks noGrp="1" noChangeArrowheads="1"/>
          </p:cNvSpPr>
          <p:nvPr>
            <p:ph type="body" idx="1"/>
          </p:nvPr>
        </p:nvSpPr>
        <p:spPr>
          <a:xfrm>
            <a:off x="457200" y="1295400"/>
            <a:ext cx="8026400" cy="1219200"/>
          </a:xfrm>
        </p:spPr>
        <p:txBody>
          <a:bodyPr/>
          <a:lstStyle/>
          <a:p>
            <a:pPr eaLnBrk="1" hangingPunct="1">
              <a:buFont typeface="Wingdings" pitchFamily="2" charset="2"/>
              <a:buNone/>
              <a:defRPr/>
            </a:pPr>
            <a:r>
              <a:rPr lang="en-US">
                <a:latin typeface="Comic Sans MS" pitchFamily="66" charset="0"/>
              </a:rPr>
              <a:t>Another VERY common example:</a:t>
            </a:r>
          </a:p>
          <a:p>
            <a:pPr eaLnBrk="1" hangingPunct="1">
              <a:buFont typeface="Wingdings" pitchFamily="2" charset="2"/>
              <a:buNone/>
              <a:defRPr/>
            </a:pPr>
            <a:r>
              <a:rPr lang="en-US">
                <a:solidFill>
                  <a:schemeClr val="hlink"/>
                </a:solidFill>
                <a:latin typeface="Comic Sans MS" pitchFamily="66" charset="0"/>
              </a:rPr>
              <a:t>Fibonacci Numbers</a:t>
            </a:r>
          </a:p>
        </p:txBody>
      </p:sp>
      <p:sp>
        <p:nvSpPr>
          <p:cNvPr id="12291" name="Rectangle 3">
            <a:extLst>
              <a:ext uri="{FF2B5EF4-FFF2-40B4-BE49-F238E27FC236}">
                <a16:creationId xmlns:a16="http://schemas.microsoft.com/office/drawing/2014/main" id="{8091199D-4CBD-DECE-48EA-576C36EA4809}"/>
              </a:ext>
            </a:extLst>
          </p:cNvPr>
          <p:cNvSpPr>
            <a:spLocks noChangeArrowheads="1"/>
          </p:cNvSpPr>
          <p:nvPr/>
        </p:nvSpPr>
        <p:spPr bwMode="auto">
          <a:xfrm>
            <a:off x="304800" y="4038600"/>
            <a:ext cx="7086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endParaRPr lang="en-US" altLang="en-US" sz="2400">
              <a:latin typeface="Comic Sans MS" panose="030F0902030302020204" pitchFamily="66" charset="0"/>
            </a:endParaRPr>
          </a:p>
        </p:txBody>
      </p:sp>
      <p:grpSp>
        <p:nvGrpSpPr>
          <p:cNvPr id="48132" name="Group 4">
            <a:extLst>
              <a:ext uri="{FF2B5EF4-FFF2-40B4-BE49-F238E27FC236}">
                <a16:creationId xmlns:a16="http://schemas.microsoft.com/office/drawing/2014/main" id="{B75CF67D-1A94-5324-425D-BE2E2CF692BE}"/>
              </a:ext>
            </a:extLst>
          </p:cNvPr>
          <p:cNvGrpSpPr>
            <a:grpSpLocks/>
          </p:cNvGrpSpPr>
          <p:nvPr/>
        </p:nvGrpSpPr>
        <p:grpSpPr bwMode="auto">
          <a:xfrm>
            <a:off x="6477000" y="3657600"/>
            <a:ext cx="2209800" cy="504825"/>
            <a:chOff x="286" y="3168"/>
            <a:chExt cx="4428" cy="768"/>
          </a:xfrm>
        </p:grpSpPr>
        <p:sp>
          <p:nvSpPr>
            <p:cNvPr id="12299" name="Oval 5">
              <a:extLst>
                <a:ext uri="{FF2B5EF4-FFF2-40B4-BE49-F238E27FC236}">
                  <a16:creationId xmlns:a16="http://schemas.microsoft.com/office/drawing/2014/main" id="{46B4F176-7579-0398-77F6-8D83C381A02C}"/>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12300" name="Text Box 6">
              <a:extLst>
                <a:ext uri="{FF2B5EF4-FFF2-40B4-BE49-F238E27FC236}">
                  <a16:creationId xmlns:a16="http://schemas.microsoft.com/office/drawing/2014/main" id="{15F3E815-792C-E3DE-CC94-3873171F274C}"/>
                </a:ext>
              </a:extLst>
            </p:cNvPr>
            <p:cNvSpPr txBox="1">
              <a:spLocks noChangeArrowheads="1"/>
            </p:cNvSpPr>
            <p:nvPr/>
          </p:nvSpPr>
          <p:spPr bwMode="auto">
            <a:xfrm>
              <a:off x="286" y="3265"/>
              <a:ext cx="4387"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000">
                  <a:latin typeface="Comic Sans MS" panose="030F0902030302020204" pitchFamily="66" charset="0"/>
                  <a:sym typeface="Symbol" pitchFamily="2" charset="2"/>
                </a:rPr>
                <a:t>Recursive Case</a:t>
              </a:r>
            </a:p>
          </p:txBody>
        </p:sp>
      </p:grpSp>
      <p:grpSp>
        <p:nvGrpSpPr>
          <p:cNvPr id="48135" name="Group 7">
            <a:extLst>
              <a:ext uri="{FF2B5EF4-FFF2-40B4-BE49-F238E27FC236}">
                <a16:creationId xmlns:a16="http://schemas.microsoft.com/office/drawing/2014/main" id="{006034A8-A6C6-4EA5-C4B3-95A91AF9D45B}"/>
              </a:ext>
            </a:extLst>
          </p:cNvPr>
          <p:cNvGrpSpPr>
            <a:grpSpLocks/>
          </p:cNvGrpSpPr>
          <p:nvPr/>
        </p:nvGrpSpPr>
        <p:grpSpPr bwMode="auto">
          <a:xfrm>
            <a:off x="6477000" y="2819400"/>
            <a:ext cx="2209800" cy="504825"/>
            <a:chOff x="286" y="3168"/>
            <a:chExt cx="4428" cy="768"/>
          </a:xfrm>
        </p:grpSpPr>
        <p:sp>
          <p:nvSpPr>
            <p:cNvPr id="12297" name="Oval 8">
              <a:extLst>
                <a:ext uri="{FF2B5EF4-FFF2-40B4-BE49-F238E27FC236}">
                  <a16:creationId xmlns:a16="http://schemas.microsoft.com/office/drawing/2014/main" id="{802682B2-5062-68B8-C8CC-320184176510}"/>
                </a:ext>
              </a:extLst>
            </p:cNvPr>
            <p:cNvSpPr>
              <a:spLocks noChangeArrowheads="1"/>
            </p:cNvSpPr>
            <p:nvPr/>
          </p:nvSpPr>
          <p:spPr bwMode="auto">
            <a:xfrm>
              <a:off x="286" y="3168"/>
              <a:ext cx="4428" cy="76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endParaRPr lang="en-US" altLang="en-US"/>
            </a:p>
          </p:txBody>
        </p:sp>
        <p:sp>
          <p:nvSpPr>
            <p:cNvPr id="12298" name="Text Box 9">
              <a:extLst>
                <a:ext uri="{FF2B5EF4-FFF2-40B4-BE49-F238E27FC236}">
                  <a16:creationId xmlns:a16="http://schemas.microsoft.com/office/drawing/2014/main" id="{45C83593-E07D-4DF1-EC33-C8536DE1B5C7}"/>
                </a:ext>
              </a:extLst>
            </p:cNvPr>
            <p:cNvSpPr txBox="1">
              <a:spLocks noChangeArrowheads="1"/>
            </p:cNvSpPr>
            <p:nvPr/>
          </p:nvSpPr>
          <p:spPr bwMode="auto">
            <a:xfrm>
              <a:off x="286" y="3265"/>
              <a:ext cx="4387" cy="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algn="ctr"/>
              <a:r>
                <a:rPr lang="en-US" altLang="en-US" sz="2000">
                  <a:latin typeface="Comic Sans MS" panose="030F0902030302020204" pitchFamily="66" charset="0"/>
                  <a:sym typeface="Symbol" pitchFamily="2" charset="2"/>
                </a:rPr>
                <a:t>Base Cases</a:t>
              </a:r>
            </a:p>
          </p:txBody>
        </p:sp>
      </p:grpSp>
      <p:graphicFrame>
        <p:nvGraphicFramePr>
          <p:cNvPr id="48138" name="Object 10">
            <a:extLst>
              <a:ext uri="{FF2B5EF4-FFF2-40B4-BE49-F238E27FC236}">
                <a16:creationId xmlns:a16="http://schemas.microsoft.com/office/drawing/2014/main" id="{DD3E6A99-3FE7-5767-36A5-38C2B8DFB188}"/>
              </a:ext>
            </a:extLst>
          </p:cNvPr>
          <p:cNvGraphicFramePr>
            <a:graphicFrameLocks noChangeAspect="1"/>
          </p:cNvGraphicFramePr>
          <p:nvPr/>
        </p:nvGraphicFramePr>
        <p:xfrm>
          <a:off x="685800" y="2611438"/>
          <a:ext cx="5486400" cy="1574800"/>
        </p:xfrm>
        <a:graphic>
          <a:graphicData uri="http://schemas.openxmlformats.org/presentationml/2006/ole">
            <mc:AlternateContent xmlns:mc="http://schemas.openxmlformats.org/markup-compatibility/2006">
              <mc:Choice xmlns:v="urn:schemas-microsoft-com:vml" Requires="v">
                <p:oleObj name="Equation" r:id="rId2" imgW="1651000" imgH="457200" progId="Equation.DSMT4">
                  <p:embed/>
                </p:oleObj>
              </mc:Choice>
              <mc:Fallback>
                <p:oleObj name="Equation" r:id="rId2" imgW="1651000" imgH="457200" progId="Equation.DSMT4">
                  <p:embed/>
                  <p:pic>
                    <p:nvPicPr>
                      <p:cNvPr id="48138" name="Object 10">
                        <a:extLst>
                          <a:ext uri="{FF2B5EF4-FFF2-40B4-BE49-F238E27FC236}">
                            <a16:creationId xmlns:a16="http://schemas.microsoft.com/office/drawing/2014/main" id="{DD3E6A99-3FE7-5767-36A5-38C2B8DFB1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11438"/>
                        <a:ext cx="5486400" cy="157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9" name="Text Box 11">
            <a:extLst>
              <a:ext uri="{FF2B5EF4-FFF2-40B4-BE49-F238E27FC236}">
                <a16:creationId xmlns:a16="http://schemas.microsoft.com/office/drawing/2014/main" id="{0AF0674A-F8E9-DBB2-1BE2-B52E727CC202}"/>
              </a:ext>
            </a:extLst>
          </p:cNvPr>
          <p:cNvSpPr txBox="1">
            <a:spLocks noChangeArrowheads="1"/>
          </p:cNvSpPr>
          <p:nvPr/>
        </p:nvSpPr>
        <p:spPr bwMode="auto">
          <a:xfrm>
            <a:off x="457200" y="4419600"/>
            <a:ext cx="80803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r>
              <a:rPr lang="en-US" altLang="en-US" sz="2800">
                <a:latin typeface="Comic Sans MS" panose="030F0902030302020204" pitchFamily="66" charset="0"/>
                <a:sym typeface="Symbol" pitchFamily="2" charset="2"/>
              </a:rPr>
              <a:t>Is there a non-recursive definition for the Fibonacci Numbers?</a:t>
            </a:r>
          </a:p>
        </p:txBody>
      </p:sp>
      <p:sp>
        <p:nvSpPr>
          <p:cNvPr id="48141" name="Rectangle 13">
            <a:extLst>
              <a:ext uri="{FF2B5EF4-FFF2-40B4-BE49-F238E27FC236}">
                <a16:creationId xmlns:a16="http://schemas.microsoft.com/office/drawing/2014/main" id="{8042106B-A5DA-DBE2-9652-D5BDFD0F598B}"/>
              </a:ext>
            </a:extLst>
          </p:cNvPr>
          <p:cNvSpPr>
            <a:spLocks noGrp="1" noRot="1" noChangeArrowheads="1"/>
          </p:cNvSpPr>
          <p:nvPr>
            <p:ph type="title"/>
          </p:nvPr>
        </p:nvSpPr>
        <p:spPr>
          <a:xfrm>
            <a:off x="457200" y="274638"/>
            <a:ext cx="8229600" cy="1020762"/>
          </a:xfrm>
        </p:spPr>
        <p:txBody>
          <a:bodyPr/>
          <a:lstStyle/>
          <a:p>
            <a:pPr eaLnBrk="1" hangingPunct="1">
              <a:defRPr/>
            </a:pPr>
            <a:r>
              <a:rPr lang="en-US" dirty="0"/>
              <a:t>4.1.3 Inductive Definitions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48141"/>
                                        </p:tgtEl>
                                        <p:attrNameLst>
                                          <p:attrName>style.visibility</p:attrName>
                                        </p:attrNameLst>
                                      </p:cBhvr>
                                      <p:to>
                                        <p:strVal val="visible"/>
                                      </p:to>
                                    </p:set>
                                    <p:anim calcmode="lin" valueType="num">
                                      <p:cBhvr additive="base">
                                        <p:cTn id="7" dur="500" fill="hold"/>
                                        <p:tgtEl>
                                          <p:spTgt spid="48141"/>
                                        </p:tgtEl>
                                        <p:attrNameLst>
                                          <p:attrName>ppt_x</p:attrName>
                                        </p:attrNameLst>
                                      </p:cBhvr>
                                      <p:tavLst>
                                        <p:tav tm="0">
                                          <p:val>
                                            <p:strVal val="0-#ppt_w/2"/>
                                          </p:val>
                                        </p:tav>
                                        <p:tav tm="100000">
                                          <p:val>
                                            <p:strVal val="#ppt_x"/>
                                          </p:val>
                                        </p:tav>
                                      </p:tavLst>
                                    </p:anim>
                                    <p:anim calcmode="lin" valueType="num">
                                      <p:cBhvr additive="base">
                                        <p:cTn id="8" dur="500" fill="hold"/>
                                        <p:tgtEl>
                                          <p:spTgt spid="481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8130">
                                            <p:txEl>
                                              <p:pRg st="0" end="0"/>
                                            </p:txEl>
                                          </p:spTgt>
                                        </p:tgtEl>
                                        <p:attrNameLst>
                                          <p:attrName>style.visibility</p:attrName>
                                        </p:attrNameLst>
                                      </p:cBhvr>
                                      <p:to>
                                        <p:strVal val="visible"/>
                                      </p:to>
                                    </p:set>
                                    <p:anim calcmode="lin" valueType="num">
                                      <p:cBhvr additive="base">
                                        <p:cTn id="13" dur="500" fill="hold"/>
                                        <p:tgtEl>
                                          <p:spTgt spid="4813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1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8130">
                                            <p:txEl>
                                              <p:pRg st="1" end="1"/>
                                            </p:txEl>
                                          </p:spTgt>
                                        </p:tgtEl>
                                        <p:attrNameLst>
                                          <p:attrName>style.visibility</p:attrName>
                                        </p:attrNameLst>
                                      </p:cBhvr>
                                      <p:to>
                                        <p:strVal val="visible"/>
                                      </p:to>
                                    </p:set>
                                    <p:anim calcmode="lin" valueType="num">
                                      <p:cBhvr additive="base">
                                        <p:cTn id="19" dur="500" fill="hold"/>
                                        <p:tgtEl>
                                          <p:spTgt spid="4813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13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8138"/>
                                        </p:tgtEl>
                                        <p:attrNameLst>
                                          <p:attrName>style.visibility</p:attrName>
                                        </p:attrNameLst>
                                      </p:cBhvr>
                                      <p:to>
                                        <p:strVal val="visible"/>
                                      </p:to>
                                    </p:set>
                                    <p:animEffect transition="in" filter="wipe(up)">
                                      <p:cBhvr>
                                        <p:cTn id="25" dur="500"/>
                                        <p:tgtEl>
                                          <p:spTgt spid="4813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4813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48132"/>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48139"/>
                                        </p:tgtEl>
                                        <p:attrNameLst>
                                          <p:attrName>style.visibility</p:attrName>
                                        </p:attrNameLst>
                                      </p:cBhvr>
                                      <p:to>
                                        <p:strVal val="visible"/>
                                      </p:to>
                                    </p:set>
                                    <p:anim calcmode="lin" valueType="num">
                                      <p:cBhvr additive="base">
                                        <p:cTn id="38" dur="500" fill="hold"/>
                                        <p:tgtEl>
                                          <p:spTgt spid="48139"/>
                                        </p:tgtEl>
                                        <p:attrNameLst>
                                          <p:attrName>ppt_x</p:attrName>
                                        </p:attrNameLst>
                                      </p:cBhvr>
                                      <p:tavLst>
                                        <p:tav tm="0">
                                          <p:val>
                                            <p:strVal val="0-#ppt_w/2"/>
                                          </p:val>
                                        </p:tav>
                                        <p:tav tm="100000">
                                          <p:val>
                                            <p:strVal val="#ppt_x"/>
                                          </p:val>
                                        </p:tav>
                                      </p:tavLst>
                                    </p:anim>
                                    <p:anim calcmode="lin" valueType="num">
                                      <p:cBhvr additive="base">
                                        <p:cTn id="39" dur="500" fill="hold"/>
                                        <p:tgtEl>
                                          <p:spTgt spid="481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P spid="48139" grpId="0"/>
      <p:bldP spid="481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BA6F6-024D-A3D0-89C0-A0534FF9E4AB}"/>
              </a:ext>
            </a:extLst>
          </p:cNvPr>
          <p:cNvSpPr>
            <a:spLocks noGrp="1"/>
          </p:cNvSpPr>
          <p:nvPr>
            <p:ph type="title"/>
          </p:nvPr>
        </p:nvSpPr>
        <p:spPr>
          <a:xfrm>
            <a:off x="304800" y="0"/>
            <a:ext cx="8229600" cy="1143000"/>
          </a:xfrm>
        </p:spPr>
        <p:txBody>
          <a:bodyPr/>
          <a:lstStyle/>
          <a:p>
            <a:pPr eaLnBrk="1" hangingPunct="1">
              <a:defRPr/>
            </a:pPr>
            <a:r>
              <a:rPr lang="en-US" dirty="0"/>
              <a:t>Fibonacci numbers</a:t>
            </a:r>
          </a:p>
        </p:txBody>
      </p:sp>
      <p:pic>
        <p:nvPicPr>
          <p:cNvPr id="13315" name="Picture 2">
            <a:extLst>
              <a:ext uri="{FF2B5EF4-FFF2-40B4-BE49-F238E27FC236}">
                <a16:creationId xmlns:a16="http://schemas.microsoft.com/office/drawing/2014/main" id="{5CC037B7-E398-749D-E1E5-52B8865EE6E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4419600"/>
            <a:ext cx="2647950" cy="990600"/>
          </a:xfrm>
          <a:noFill/>
        </p:spPr>
      </p:pic>
      <p:sp>
        <p:nvSpPr>
          <p:cNvPr id="13316" name="TextBox 3">
            <a:extLst>
              <a:ext uri="{FF2B5EF4-FFF2-40B4-BE49-F238E27FC236}">
                <a16:creationId xmlns:a16="http://schemas.microsoft.com/office/drawing/2014/main" id="{AED24FE3-A0D8-B7A4-7549-B4BE23678A74}"/>
              </a:ext>
            </a:extLst>
          </p:cNvPr>
          <p:cNvSpPr txBox="1">
            <a:spLocks noChangeArrowheads="1"/>
          </p:cNvSpPr>
          <p:nvPr/>
        </p:nvSpPr>
        <p:spPr bwMode="auto">
          <a:xfrm>
            <a:off x="381000" y="3048000"/>
            <a:ext cx="8610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4000" b="1">
                <a:solidFill>
                  <a:srgbClr val="FFC000"/>
                </a:solidFill>
              </a:rPr>
              <a:t>Exercise: </a:t>
            </a:r>
            <a:r>
              <a:rPr lang="en-US" altLang="en-US" sz="2800"/>
              <a:t>Prove, using strong induction, the following closed-form formula for the Fibonacci numbers</a:t>
            </a:r>
          </a:p>
        </p:txBody>
      </p:sp>
      <p:pic>
        <p:nvPicPr>
          <p:cNvPr id="13317" name="Picture 3">
            <a:extLst>
              <a:ext uri="{FF2B5EF4-FFF2-40B4-BE49-F238E27FC236}">
                <a16:creationId xmlns:a16="http://schemas.microsoft.com/office/drawing/2014/main" id="{0DB1C9DA-7B22-A9D6-3AD9-ACCA26CF3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4572000"/>
            <a:ext cx="48006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8" name="Picture 4">
            <a:extLst>
              <a:ext uri="{FF2B5EF4-FFF2-40B4-BE49-F238E27FC236}">
                <a16:creationId xmlns:a16="http://schemas.microsoft.com/office/drawing/2014/main" id="{F58D15EE-74B3-37BB-581A-83E9A30BAD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037263"/>
            <a:ext cx="9109075"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5">
            <a:extLst>
              <a:ext uri="{FF2B5EF4-FFF2-40B4-BE49-F238E27FC236}">
                <a16:creationId xmlns:a16="http://schemas.microsoft.com/office/drawing/2014/main" id="{4555446A-B34B-33B2-BECD-9FEB9E79CB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9988" y="1295400"/>
            <a:ext cx="7075487"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3">
            <a:extLst>
              <a:ext uri="{FF2B5EF4-FFF2-40B4-BE49-F238E27FC236}">
                <a16:creationId xmlns:a16="http://schemas.microsoft.com/office/drawing/2014/main" id="{0CC9DEB7-2F3E-C049-34B9-B96128E82145}"/>
              </a:ext>
            </a:extLst>
          </p:cNvPr>
          <p:cNvGraphicFramePr>
            <a:graphicFrameLocks noChangeAspect="1"/>
          </p:cNvGraphicFramePr>
          <p:nvPr/>
        </p:nvGraphicFramePr>
        <p:xfrm>
          <a:off x="76200" y="381000"/>
          <a:ext cx="9144000" cy="5959475"/>
        </p:xfrm>
        <a:graphic>
          <a:graphicData uri="http://schemas.openxmlformats.org/presentationml/2006/ole">
            <mc:AlternateContent xmlns:mc="http://schemas.openxmlformats.org/markup-compatibility/2006">
              <mc:Choice xmlns:v="urn:schemas-microsoft-com:vml" Requires="v">
                <p:oleObj name="Equation" r:id="rId2" imgW="118491000" imgH="77241400" progId="Equation.DSMT4">
                  <p:embed/>
                </p:oleObj>
              </mc:Choice>
              <mc:Fallback>
                <p:oleObj name="Equation" r:id="rId2" imgW="118491000" imgH="77241400" progId="Equation.DSMT4">
                  <p:embed/>
                  <p:pic>
                    <p:nvPicPr>
                      <p:cNvPr id="14338" name="Object 3">
                        <a:extLst>
                          <a:ext uri="{FF2B5EF4-FFF2-40B4-BE49-F238E27FC236}">
                            <a16:creationId xmlns:a16="http://schemas.microsoft.com/office/drawing/2014/main" id="{0CC9DEB7-2F3E-C049-34B9-B96128E82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81000"/>
                        <a:ext cx="9144000" cy="595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EA43E-FF62-74A0-DBEC-45F8FAA4B330}"/>
              </a:ext>
            </a:extLst>
          </p:cNvPr>
          <p:cNvSpPr>
            <a:spLocks noGrp="1"/>
          </p:cNvSpPr>
          <p:nvPr>
            <p:ph type="title"/>
          </p:nvPr>
        </p:nvSpPr>
        <p:spPr/>
        <p:txBody>
          <a:bodyPr/>
          <a:lstStyle/>
          <a:p>
            <a:pPr eaLnBrk="1" hangingPunct="1">
              <a:defRPr/>
            </a:pPr>
            <a:r>
              <a:rPr lang="en-US" dirty="0"/>
              <a:t>Fibonacci numbers</a:t>
            </a:r>
          </a:p>
        </p:txBody>
      </p:sp>
      <p:sp>
        <p:nvSpPr>
          <p:cNvPr id="3" name="Content Placeholder 2">
            <a:extLst>
              <a:ext uri="{FF2B5EF4-FFF2-40B4-BE49-F238E27FC236}">
                <a16:creationId xmlns:a16="http://schemas.microsoft.com/office/drawing/2014/main" id="{191ED4D5-4D6C-A50B-7B3C-4676C53FDE61}"/>
              </a:ext>
            </a:extLst>
          </p:cNvPr>
          <p:cNvSpPr>
            <a:spLocks noGrp="1"/>
          </p:cNvSpPr>
          <p:nvPr>
            <p:ph idx="1"/>
          </p:nvPr>
        </p:nvSpPr>
        <p:spPr>
          <a:xfrm>
            <a:off x="34925" y="1524000"/>
            <a:ext cx="9566275" cy="4525963"/>
          </a:xfrm>
        </p:spPr>
        <p:txBody>
          <a:bodyPr/>
          <a:lstStyle/>
          <a:p>
            <a:pPr eaLnBrk="1" hangingPunct="1">
              <a:defRPr/>
            </a:pPr>
            <a:r>
              <a:rPr lang="en-US" dirty="0"/>
              <a:t>Fibonacci numbers arise in all sorts of applications </a:t>
            </a:r>
          </a:p>
          <a:p>
            <a:pPr marL="0" indent="0" eaLnBrk="1" hangingPunct="1">
              <a:buFont typeface="Wingdings" pitchFamily="2" charset="2"/>
              <a:buNone/>
              <a:defRPr/>
            </a:pPr>
            <a:r>
              <a:rPr lang="en-US" dirty="0"/>
              <a:t>and in nature. For example,</a:t>
            </a:r>
          </a:p>
          <a:p>
            <a:pPr eaLnBrk="1" hangingPunct="1">
              <a:buFont typeface="Wingdings" pitchFamily="2" charset="2"/>
              <a:buChar char="Ø"/>
              <a:defRPr/>
            </a:pPr>
            <a:r>
              <a:rPr lang="en-US" dirty="0"/>
              <a:t> The recurrence was introduced by Fibonacci himself in thirteenth century to model rabbit reproduction.</a:t>
            </a:r>
          </a:p>
          <a:p>
            <a:pPr eaLnBrk="1" hangingPunct="1">
              <a:buFont typeface="Wingdings" pitchFamily="2" charset="2"/>
              <a:buChar char="Ø"/>
              <a:defRPr/>
            </a:pPr>
            <a:r>
              <a:rPr lang="en-US" dirty="0"/>
              <a:t> The sizes of the spiral patterns on the face of a sunflower grow in proportion to Fibonacci numbers.</a:t>
            </a:r>
          </a:p>
          <a:p>
            <a:pPr eaLnBrk="1" hangingPunct="1">
              <a:buFont typeface="Wingdings" pitchFamily="2" charset="2"/>
              <a:buChar char="Ø"/>
              <a:defRPr/>
            </a:pPr>
            <a:r>
              <a:rPr lang="en-US" dirty="0"/>
              <a:t> The input values on which Euclid’s </a:t>
            </a:r>
            <a:r>
              <a:rPr lang="en-US" dirty="0" err="1"/>
              <a:t>gcd</a:t>
            </a:r>
            <a:r>
              <a:rPr lang="en-US" dirty="0"/>
              <a:t> algorithm requires the greatest number of steps are consecutive Fibonacci numbers.</a:t>
            </a:r>
          </a:p>
          <a:p>
            <a:pPr eaLnBrk="1" hangingPunct="1">
              <a:buFont typeface="Wingdings" pitchFamily="2" charset="2"/>
              <a:buChar char="Ø"/>
              <a:defRPr/>
            </a:pPr>
            <a:endParaRPr lang="en-US"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91817-74E5-E623-D03B-1C66D712CFC8}"/>
              </a:ext>
            </a:extLst>
          </p:cNvPr>
          <p:cNvSpPr>
            <a:spLocks noGrp="1"/>
          </p:cNvSpPr>
          <p:nvPr>
            <p:ph type="title"/>
          </p:nvPr>
        </p:nvSpPr>
        <p:spPr>
          <a:xfrm>
            <a:off x="457200" y="-76200"/>
            <a:ext cx="8229600" cy="1143000"/>
          </a:xfrm>
        </p:spPr>
        <p:txBody>
          <a:bodyPr/>
          <a:lstStyle/>
          <a:p>
            <a:pPr eaLnBrk="1" hangingPunct="1">
              <a:defRPr/>
            </a:pPr>
            <a:r>
              <a:rPr lang="en-US" dirty="0"/>
              <a:t>4.2 Recurrences</a:t>
            </a:r>
          </a:p>
        </p:txBody>
      </p:sp>
      <p:sp>
        <p:nvSpPr>
          <p:cNvPr id="3" name="Content Placeholder 2">
            <a:extLst>
              <a:ext uri="{FF2B5EF4-FFF2-40B4-BE49-F238E27FC236}">
                <a16:creationId xmlns:a16="http://schemas.microsoft.com/office/drawing/2014/main" id="{A8FD9708-320F-3F65-BD3C-BD373DAC82D9}"/>
              </a:ext>
            </a:extLst>
          </p:cNvPr>
          <p:cNvSpPr>
            <a:spLocks noGrp="1"/>
          </p:cNvSpPr>
          <p:nvPr>
            <p:ph idx="1"/>
          </p:nvPr>
        </p:nvSpPr>
        <p:spPr>
          <a:xfrm>
            <a:off x="-49213" y="1219200"/>
            <a:ext cx="9269413" cy="4525963"/>
          </a:xfrm>
        </p:spPr>
        <p:txBody>
          <a:bodyPr/>
          <a:lstStyle/>
          <a:p>
            <a:pPr eaLnBrk="1" hangingPunct="1">
              <a:defRPr/>
            </a:pPr>
            <a:r>
              <a:rPr lang="en-US" sz="2800" dirty="0"/>
              <a:t>A recurrence describes a sequence of numbers. Early terms are specified explicitly, and later terms are expressed as a function of their predecessors.  </a:t>
            </a:r>
          </a:p>
          <a:p>
            <a:pPr eaLnBrk="1" hangingPunct="1">
              <a:defRPr/>
            </a:pPr>
            <a:endParaRPr lang="en-US" sz="2800" dirty="0"/>
          </a:p>
          <a:p>
            <a:pPr eaLnBrk="1" hangingPunct="1">
              <a:defRPr/>
            </a:pPr>
            <a:r>
              <a:rPr lang="en-US" sz="2800" dirty="0"/>
              <a:t>Example:  Fibonacci numbers</a:t>
            </a:r>
          </a:p>
        </p:txBody>
      </p:sp>
      <p:pic>
        <p:nvPicPr>
          <p:cNvPr id="16388" name="Picture 5">
            <a:extLst>
              <a:ext uri="{FF2B5EF4-FFF2-40B4-BE49-F238E27FC236}">
                <a16:creationId xmlns:a16="http://schemas.microsoft.com/office/drawing/2014/main" id="{3364E7BD-D898-0BA0-451C-D5B850497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886200"/>
            <a:ext cx="707548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116DCC19-9D3D-BD70-58B2-7232A7F2AC15}"/>
              </a:ext>
            </a:extLst>
          </p:cNvPr>
          <p:cNvSpPr>
            <a:spLocks noGrp="1" noChangeArrowheads="1"/>
          </p:cNvSpPr>
          <p:nvPr>
            <p:ph type="body" idx="1"/>
          </p:nvPr>
        </p:nvSpPr>
        <p:spPr>
          <a:xfrm>
            <a:off x="609600" y="1981200"/>
            <a:ext cx="8305800" cy="4876800"/>
          </a:xfrm>
        </p:spPr>
        <p:txBody>
          <a:bodyPr/>
          <a:lstStyle/>
          <a:p>
            <a:pPr marL="0" indent="0">
              <a:spcBef>
                <a:spcPct val="30000"/>
              </a:spcBef>
              <a:defRPr/>
            </a:pPr>
            <a:r>
              <a:rPr lang="en-US" sz="2800">
                <a:sym typeface="Symbol" pitchFamily="18" charset="2"/>
              </a:rPr>
              <a:t> Let </a:t>
            </a:r>
            <a:r>
              <a:rPr lang="en-US" sz="2800" i="1">
                <a:sym typeface="Symbol" pitchFamily="18" charset="2"/>
              </a:rPr>
              <a:t>a</a:t>
            </a:r>
            <a:r>
              <a:rPr lang="en-US" sz="2800" i="1" baseline="-25000">
                <a:sym typeface="Symbol" pitchFamily="18" charset="2"/>
              </a:rPr>
              <a:t>n</a:t>
            </a:r>
            <a:r>
              <a:rPr lang="en-US" sz="2800">
                <a:sym typeface="Symbol" pitchFamily="18" charset="2"/>
              </a:rPr>
              <a:t> be the number of such strings, and </a:t>
            </a:r>
            <a:r>
              <a:rPr lang="en-US" sz="2800" i="1">
                <a:sym typeface="Symbol" pitchFamily="18" charset="2"/>
              </a:rPr>
              <a:t>x</a:t>
            </a:r>
            <a:r>
              <a:rPr lang="en-US" sz="2800" baseline="-25000">
                <a:sym typeface="Symbol" pitchFamily="18" charset="2"/>
              </a:rPr>
              <a:t>1</a:t>
            </a:r>
            <a:r>
              <a:rPr lang="en-US" sz="2800" i="1">
                <a:sym typeface="Symbol" pitchFamily="18" charset="2"/>
              </a:rPr>
              <a:t>x</a:t>
            </a:r>
            <a:r>
              <a:rPr lang="en-US" sz="2800" baseline="-25000">
                <a:sym typeface="Symbol" pitchFamily="18" charset="2"/>
              </a:rPr>
              <a:t>2</a:t>
            </a:r>
            <a:r>
              <a:rPr lang="en-US" sz="2800">
                <a:sym typeface="Symbol" pitchFamily="18" charset="2"/>
              </a:rPr>
              <a:t> …</a:t>
            </a:r>
            <a:r>
              <a:rPr lang="en-US" sz="2800" i="1">
                <a:sym typeface="Symbol" pitchFamily="18" charset="2"/>
              </a:rPr>
              <a:t>x</a:t>
            </a:r>
            <a:r>
              <a:rPr lang="en-US" sz="2800" i="1" baseline="-25000">
                <a:sym typeface="Symbol" pitchFamily="18" charset="2"/>
              </a:rPr>
              <a:t>n</a:t>
            </a:r>
            <a:r>
              <a:rPr lang="en-US" sz="2800">
                <a:sym typeface="Symbol" pitchFamily="18" charset="2"/>
              </a:rPr>
              <a:t> be such a string:</a:t>
            </a:r>
          </a:p>
          <a:p>
            <a:pPr marL="0" indent="0">
              <a:spcBef>
                <a:spcPct val="30000"/>
              </a:spcBef>
              <a:buClr>
                <a:srgbClr val="66FF33"/>
              </a:buClr>
              <a:buFont typeface="Wingdings" pitchFamily="2" charset="2"/>
              <a:buChar char="Ø"/>
              <a:defRPr/>
            </a:pPr>
            <a:r>
              <a:rPr lang="en-US" sz="2800">
                <a:sym typeface="Symbol" pitchFamily="18" charset="2"/>
              </a:rPr>
              <a:t> if </a:t>
            </a:r>
            <a:r>
              <a:rPr lang="en-US" sz="2800" i="1">
                <a:sym typeface="Symbol" pitchFamily="18" charset="2"/>
              </a:rPr>
              <a:t>x</a:t>
            </a:r>
            <a:r>
              <a:rPr lang="en-US" sz="2800" i="1" baseline="-25000">
                <a:sym typeface="Symbol" pitchFamily="18" charset="2"/>
              </a:rPr>
              <a:t>n</a:t>
            </a:r>
            <a:r>
              <a:rPr lang="en-US" sz="2800">
                <a:sym typeface="Symbol" pitchFamily="18" charset="2"/>
              </a:rPr>
              <a:t> = 1 then the string is  </a:t>
            </a:r>
            <a:r>
              <a:rPr lang="en-US" sz="2800" i="1">
                <a:sym typeface="Symbol" pitchFamily="18" charset="2"/>
              </a:rPr>
              <a:t>x</a:t>
            </a:r>
            <a:r>
              <a:rPr lang="en-US" sz="2800" baseline="-25000">
                <a:sym typeface="Symbol" pitchFamily="18" charset="2"/>
              </a:rPr>
              <a:t>1</a:t>
            </a:r>
            <a:r>
              <a:rPr lang="en-US" sz="2800" i="1">
                <a:sym typeface="Symbol" pitchFamily="18" charset="2"/>
              </a:rPr>
              <a:t>x</a:t>
            </a:r>
            <a:r>
              <a:rPr lang="en-US" sz="2800" baseline="-25000">
                <a:sym typeface="Symbol" pitchFamily="18" charset="2"/>
              </a:rPr>
              <a:t>2</a:t>
            </a:r>
            <a:r>
              <a:rPr lang="en-US" sz="2800">
                <a:sym typeface="Symbol" pitchFamily="18" charset="2"/>
              </a:rPr>
              <a:t> …</a:t>
            </a:r>
            <a:r>
              <a:rPr lang="en-US" sz="2800" i="1">
                <a:sym typeface="Symbol" pitchFamily="18" charset="2"/>
              </a:rPr>
              <a:t>x</a:t>
            </a:r>
            <a:r>
              <a:rPr lang="en-US" sz="2800" i="1" baseline="-25000">
                <a:sym typeface="Symbol" pitchFamily="18" charset="2"/>
              </a:rPr>
              <a:t>n</a:t>
            </a:r>
            <a:r>
              <a:rPr lang="en-US" sz="2800" baseline="-25000">
                <a:sym typeface="Symbol" pitchFamily="18" charset="2"/>
              </a:rPr>
              <a:t> – 1</a:t>
            </a:r>
            <a:r>
              <a:rPr lang="en-US" sz="2800">
                <a:sym typeface="Symbol" pitchFamily="18" charset="2"/>
              </a:rPr>
              <a:t>1, where        </a:t>
            </a:r>
            <a:r>
              <a:rPr lang="en-US" sz="2800" i="1">
                <a:sym typeface="Symbol" pitchFamily="18" charset="2"/>
              </a:rPr>
              <a:t>x</a:t>
            </a:r>
            <a:r>
              <a:rPr lang="en-US" sz="2800" baseline="-25000">
                <a:sym typeface="Symbol" pitchFamily="18" charset="2"/>
              </a:rPr>
              <a:t>1</a:t>
            </a:r>
            <a:r>
              <a:rPr lang="en-US" sz="2800" i="1">
                <a:sym typeface="Symbol" pitchFamily="18" charset="2"/>
              </a:rPr>
              <a:t>x</a:t>
            </a:r>
            <a:r>
              <a:rPr lang="en-US" sz="2800" baseline="-25000">
                <a:sym typeface="Symbol" pitchFamily="18" charset="2"/>
              </a:rPr>
              <a:t>2</a:t>
            </a:r>
            <a:r>
              <a:rPr lang="en-US" sz="2800">
                <a:sym typeface="Symbol" pitchFamily="18" charset="2"/>
              </a:rPr>
              <a:t> …</a:t>
            </a:r>
            <a:r>
              <a:rPr lang="en-US" sz="2800" i="1">
                <a:sym typeface="Symbol" pitchFamily="18" charset="2"/>
              </a:rPr>
              <a:t>x</a:t>
            </a:r>
            <a:r>
              <a:rPr lang="en-US" sz="2800" i="1" baseline="-25000">
                <a:sym typeface="Symbol" pitchFamily="18" charset="2"/>
              </a:rPr>
              <a:t>n</a:t>
            </a:r>
            <a:r>
              <a:rPr lang="en-US" sz="2800" baseline="-25000">
                <a:sym typeface="Symbol" pitchFamily="18" charset="2"/>
              </a:rPr>
              <a:t> - 1 </a:t>
            </a:r>
            <a:r>
              <a:rPr lang="en-US" sz="2800">
                <a:sym typeface="Symbol" pitchFamily="18" charset="2"/>
              </a:rPr>
              <a:t>is an arbitrary string of length </a:t>
            </a:r>
            <a:r>
              <a:rPr lang="en-US" sz="2800" i="1">
                <a:sym typeface="Symbol" pitchFamily="18" charset="2"/>
              </a:rPr>
              <a:t>n</a:t>
            </a:r>
            <a:r>
              <a:rPr lang="en-US" sz="2800">
                <a:sym typeface="Symbol" pitchFamily="18" charset="2"/>
              </a:rPr>
              <a:t> – 1 without two consecutive bit 0: there are </a:t>
            </a:r>
            <a:r>
              <a:rPr lang="en-US" sz="2800" i="1">
                <a:solidFill>
                  <a:schemeClr val="hlink"/>
                </a:solidFill>
                <a:sym typeface="Symbol" pitchFamily="18" charset="2"/>
              </a:rPr>
              <a:t>a</a:t>
            </a:r>
            <a:r>
              <a:rPr lang="en-US" sz="2800" i="1" baseline="-25000">
                <a:solidFill>
                  <a:schemeClr val="hlink"/>
                </a:solidFill>
                <a:sym typeface="Symbol" pitchFamily="18" charset="2"/>
              </a:rPr>
              <a:t>n </a:t>
            </a:r>
            <a:r>
              <a:rPr lang="en-US" sz="2800" baseline="-25000">
                <a:solidFill>
                  <a:schemeClr val="hlink"/>
                </a:solidFill>
                <a:sym typeface="Symbol" pitchFamily="18" charset="2"/>
              </a:rPr>
              <a:t>- 1</a:t>
            </a:r>
            <a:r>
              <a:rPr lang="en-US" sz="2800">
                <a:sym typeface="Symbol" pitchFamily="18" charset="2"/>
              </a:rPr>
              <a:t> such strings</a:t>
            </a:r>
          </a:p>
          <a:p>
            <a:pPr marL="0" indent="0">
              <a:spcBef>
                <a:spcPct val="30000"/>
              </a:spcBef>
              <a:buClr>
                <a:srgbClr val="66FF33"/>
              </a:buClr>
              <a:buFont typeface="Wingdings" pitchFamily="2" charset="2"/>
              <a:buChar char="Ø"/>
              <a:defRPr/>
            </a:pPr>
            <a:r>
              <a:rPr lang="en-US" sz="2800">
                <a:sym typeface="Symbol" pitchFamily="18" charset="2"/>
              </a:rPr>
              <a:t> if </a:t>
            </a:r>
            <a:r>
              <a:rPr lang="en-US" sz="2800" i="1">
                <a:sym typeface="Symbol" pitchFamily="18" charset="2"/>
              </a:rPr>
              <a:t>x</a:t>
            </a:r>
            <a:r>
              <a:rPr lang="en-US" sz="2800" i="1" baseline="-25000">
                <a:sym typeface="Symbol" pitchFamily="18" charset="2"/>
              </a:rPr>
              <a:t>n</a:t>
            </a:r>
            <a:r>
              <a:rPr lang="en-US" sz="2800">
                <a:sym typeface="Symbol" pitchFamily="18" charset="2"/>
              </a:rPr>
              <a:t> = 0 then the string is </a:t>
            </a:r>
            <a:r>
              <a:rPr lang="en-US" sz="2800" i="1">
                <a:sym typeface="Symbol" pitchFamily="18" charset="2"/>
              </a:rPr>
              <a:t>x</a:t>
            </a:r>
            <a:r>
              <a:rPr lang="en-US" sz="2800" baseline="-25000">
                <a:sym typeface="Symbol" pitchFamily="18" charset="2"/>
              </a:rPr>
              <a:t>1</a:t>
            </a:r>
            <a:r>
              <a:rPr lang="en-US" sz="2800" i="1">
                <a:sym typeface="Symbol" pitchFamily="18" charset="2"/>
              </a:rPr>
              <a:t>x</a:t>
            </a:r>
            <a:r>
              <a:rPr lang="en-US" sz="2800" baseline="-25000">
                <a:sym typeface="Symbol" pitchFamily="18" charset="2"/>
              </a:rPr>
              <a:t>2</a:t>
            </a:r>
            <a:r>
              <a:rPr lang="en-US" sz="2800">
                <a:sym typeface="Symbol" pitchFamily="18" charset="2"/>
              </a:rPr>
              <a:t> …</a:t>
            </a:r>
            <a:r>
              <a:rPr lang="en-US" sz="2800" i="1">
                <a:sym typeface="Symbol" pitchFamily="18" charset="2"/>
              </a:rPr>
              <a:t>x</a:t>
            </a:r>
            <a:r>
              <a:rPr lang="en-US" sz="2800" i="1" baseline="-25000">
                <a:sym typeface="Symbol" pitchFamily="18" charset="2"/>
              </a:rPr>
              <a:t>n</a:t>
            </a:r>
            <a:r>
              <a:rPr lang="en-US" sz="2800" baseline="-25000">
                <a:sym typeface="Symbol" pitchFamily="18" charset="2"/>
              </a:rPr>
              <a:t> - 2</a:t>
            </a:r>
            <a:r>
              <a:rPr lang="en-US" sz="2800">
                <a:sym typeface="Symbol" pitchFamily="18" charset="2"/>
              </a:rPr>
              <a:t>10, where       </a:t>
            </a:r>
            <a:r>
              <a:rPr lang="en-US" sz="2800" i="1">
                <a:sym typeface="Symbol" pitchFamily="18" charset="2"/>
              </a:rPr>
              <a:t>x</a:t>
            </a:r>
            <a:r>
              <a:rPr lang="en-US" sz="2800" baseline="-25000">
                <a:sym typeface="Symbol" pitchFamily="18" charset="2"/>
              </a:rPr>
              <a:t>1</a:t>
            </a:r>
            <a:r>
              <a:rPr lang="en-US" sz="2800" i="1">
                <a:sym typeface="Symbol" pitchFamily="18" charset="2"/>
              </a:rPr>
              <a:t>x</a:t>
            </a:r>
            <a:r>
              <a:rPr lang="en-US" sz="2800" baseline="-25000">
                <a:sym typeface="Symbol" pitchFamily="18" charset="2"/>
              </a:rPr>
              <a:t>2</a:t>
            </a:r>
            <a:r>
              <a:rPr lang="en-US" sz="2800">
                <a:sym typeface="Symbol" pitchFamily="18" charset="2"/>
              </a:rPr>
              <a:t> …</a:t>
            </a:r>
            <a:r>
              <a:rPr lang="en-US" sz="2800" i="1">
                <a:sym typeface="Symbol" pitchFamily="18" charset="2"/>
              </a:rPr>
              <a:t>x</a:t>
            </a:r>
            <a:r>
              <a:rPr lang="en-US" sz="2800" i="1" baseline="-25000">
                <a:sym typeface="Symbol" pitchFamily="18" charset="2"/>
              </a:rPr>
              <a:t>n</a:t>
            </a:r>
            <a:r>
              <a:rPr lang="en-US" sz="2800" baseline="-25000">
                <a:sym typeface="Symbol" pitchFamily="18" charset="2"/>
              </a:rPr>
              <a:t> - 2 </a:t>
            </a:r>
            <a:r>
              <a:rPr lang="en-US" sz="2800">
                <a:sym typeface="Symbol" pitchFamily="18" charset="2"/>
              </a:rPr>
              <a:t>is an arbitrary string of length </a:t>
            </a:r>
            <a:r>
              <a:rPr lang="en-US" sz="2800" i="1">
                <a:sym typeface="Symbol" pitchFamily="18" charset="2"/>
              </a:rPr>
              <a:t>n</a:t>
            </a:r>
            <a:r>
              <a:rPr lang="en-US" sz="2800">
                <a:sym typeface="Symbol" pitchFamily="18" charset="2"/>
              </a:rPr>
              <a:t> – 2 without two consecutive bit 0: there are </a:t>
            </a:r>
            <a:r>
              <a:rPr lang="en-US" sz="2800" i="1">
                <a:solidFill>
                  <a:schemeClr val="hlink"/>
                </a:solidFill>
                <a:sym typeface="Symbol" pitchFamily="18" charset="2"/>
              </a:rPr>
              <a:t>a</a:t>
            </a:r>
            <a:r>
              <a:rPr lang="en-US" sz="2800" i="1" baseline="-25000">
                <a:solidFill>
                  <a:schemeClr val="hlink"/>
                </a:solidFill>
                <a:sym typeface="Symbol" pitchFamily="18" charset="2"/>
              </a:rPr>
              <a:t>n </a:t>
            </a:r>
            <a:r>
              <a:rPr lang="en-US" sz="2800" baseline="-25000">
                <a:solidFill>
                  <a:schemeClr val="hlink"/>
                </a:solidFill>
                <a:sym typeface="Symbol" pitchFamily="18" charset="2"/>
              </a:rPr>
              <a:t>- 2</a:t>
            </a:r>
            <a:r>
              <a:rPr lang="en-US" sz="2800">
                <a:sym typeface="Symbol" pitchFamily="18" charset="2"/>
              </a:rPr>
              <a:t> such strings </a:t>
            </a:r>
            <a:endParaRPr lang="en-US" sz="2800">
              <a:solidFill>
                <a:srgbClr val="FF3300"/>
              </a:solidFill>
              <a:sym typeface="Symbol" pitchFamily="18" charset="2"/>
            </a:endParaRPr>
          </a:p>
          <a:p>
            <a:pPr marL="0" indent="0">
              <a:spcBef>
                <a:spcPct val="30000"/>
              </a:spcBef>
              <a:buFont typeface="Wingdings" pitchFamily="2" charset="2"/>
              <a:buNone/>
              <a:defRPr/>
            </a:pPr>
            <a:r>
              <a:rPr lang="en-US" sz="2800">
                <a:sym typeface="Symbol" pitchFamily="18" charset="2"/>
              </a:rPr>
              <a:t>Thus 		</a:t>
            </a:r>
            <a:r>
              <a:rPr lang="en-US" sz="2800" i="1">
                <a:solidFill>
                  <a:schemeClr val="hlink"/>
                </a:solidFill>
                <a:effectLst/>
                <a:sym typeface="Symbol" pitchFamily="18" charset="2"/>
              </a:rPr>
              <a:t>a</a:t>
            </a:r>
            <a:r>
              <a:rPr lang="en-US" sz="2800" i="1" baseline="-25000">
                <a:solidFill>
                  <a:schemeClr val="hlink"/>
                </a:solidFill>
                <a:effectLst/>
                <a:sym typeface="Symbol" pitchFamily="18" charset="2"/>
              </a:rPr>
              <a:t>n </a:t>
            </a:r>
            <a:r>
              <a:rPr lang="en-US" sz="2800">
                <a:solidFill>
                  <a:schemeClr val="hlink"/>
                </a:solidFill>
                <a:effectLst/>
                <a:sym typeface="Symbol" pitchFamily="18" charset="2"/>
              </a:rPr>
              <a:t>= </a:t>
            </a:r>
            <a:r>
              <a:rPr lang="en-US" sz="2800" i="1">
                <a:solidFill>
                  <a:schemeClr val="hlink"/>
                </a:solidFill>
                <a:effectLst/>
                <a:sym typeface="Symbol" pitchFamily="18" charset="2"/>
              </a:rPr>
              <a:t>a</a:t>
            </a:r>
            <a:r>
              <a:rPr lang="en-US" sz="2800" i="1" baseline="-25000">
                <a:solidFill>
                  <a:schemeClr val="hlink"/>
                </a:solidFill>
                <a:effectLst/>
                <a:sym typeface="Symbol" pitchFamily="18" charset="2"/>
              </a:rPr>
              <a:t>n </a:t>
            </a:r>
            <a:r>
              <a:rPr lang="en-US" sz="2800" baseline="-25000">
                <a:solidFill>
                  <a:schemeClr val="hlink"/>
                </a:solidFill>
                <a:effectLst/>
                <a:sym typeface="Symbol" pitchFamily="18" charset="2"/>
              </a:rPr>
              <a:t>- 1</a:t>
            </a:r>
            <a:r>
              <a:rPr lang="en-US" sz="2800">
                <a:solidFill>
                  <a:schemeClr val="hlink"/>
                </a:solidFill>
                <a:effectLst/>
                <a:sym typeface="Symbol" pitchFamily="18" charset="2"/>
              </a:rPr>
              <a:t> + </a:t>
            </a:r>
            <a:r>
              <a:rPr lang="en-US" sz="2800" i="1">
                <a:solidFill>
                  <a:schemeClr val="hlink"/>
                </a:solidFill>
                <a:effectLst/>
                <a:sym typeface="Symbol" pitchFamily="18" charset="2"/>
              </a:rPr>
              <a:t>a</a:t>
            </a:r>
            <a:r>
              <a:rPr lang="en-US" sz="2800" i="1" baseline="-25000">
                <a:solidFill>
                  <a:schemeClr val="hlink"/>
                </a:solidFill>
                <a:effectLst/>
                <a:sym typeface="Symbol" pitchFamily="18" charset="2"/>
              </a:rPr>
              <a:t>n </a:t>
            </a:r>
            <a:r>
              <a:rPr lang="en-US" sz="2800" baseline="-25000">
                <a:solidFill>
                  <a:schemeClr val="hlink"/>
                </a:solidFill>
                <a:effectLst/>
                <a:sym typeface="Symbol" pitchFamily="18" charset="2"/>
              </a:rPr>
              <a:t>- 2</a:t>
            </a:r>
            <a:r>
              <a:rPr lang="en-US" sz="2800">
                <a:sym typeface="Symbol" pitchFamily="18" charset="2"/>
              </a:rPr>
              <a:t> </a:t>
            </a:r>
          </a:p>
          <a:p>
            <a:pPr marL="0" indent="0">
              <a:spcBef>
                <a:spcPct val="30000"/>
              </a:spcBef>
              <a:defRPr/>
            </a:pPr>
            <a:r>
              <a:rPr lang="en-US" sz="2800">
                <a:sym typeface="Symbol" pitchFamily="18" charset="2"/>
              </a:rPr>
              <a:t>This is an example of a </a:t>
            </a:r>
            <a:r>
              <a:rPr lang="en-US" sz="2800" b="1">
                <a:solidFill>
                  <a:schemeClr val="hlink"/>
                </a:solidFill>
                <a:sym typeface="Symbol" pitchFamily="18" charset="2"/>
              </a:rPr>
              <a:t>recurrence relation</a:t>
            </a:r>
          </a:p>
        </p:txBody>
      </p:sp>
      <p:sp>
        <p:nvSpPr>
          <p:cNvPr id="27652" name="Rectangle 4">
            <a:extLst>
              <a:ext uri="{FF2B5EF4-FFF2-40B4-BE49-F238E27FC236}">
                <a16:creationId xmlns:a16="http://schemas.microsoft.com/office/drawing/2014/main" id="{A47F91EB-1BF9-C198-CF97-66A9F96789F9}"/>
              </a:ext>
            </a:extLst>
          </p:cNvPr>
          <p:cNvSpPr>
            <a:spLocks noChangeArrowheads="1"/>
          </p:cNvSpPr>
          <p:nvPr/>
        </p:nvSpPr>
        <p:spPr bwMode="auto">
          <a:xfrm>
            <a:off x="609600" y="838200"/>
            <a:ext cx="8153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hlink"/>
              </a:buClr>
              <a:buSzPct val="150000"/>
              <a:buFont typeface="Wingdings" pitchFamily="2" charset="2"/>
              <a:buNone/>
              <a:defRPr/>
            </a:pPr>
            <a:r>
              <a:rPr lang="en-US" sz="2800" b="1">
                <a:solidFill>
                  <a:schemeClr val="hlink"/>
                </a:solidFill>
                <a:effectLst>
                  <a:outerShdw blurRad="38100" dist="38100" dir="2700000" algn="tl">
                    <a:srgbClr val="000000"/>
                  </a:outerShdw>
                </a:effectLst>
                <a:latin typeface="Times New Roman" pitchFamily="18" charset="0"/>
                <a:cs typeface="Arial" charset="0"/>
                <a:sym typeface="Symbol" pitchFamily="18" charset="2"/>
              </a:rPr>
              <a:t>Example. </a:t>
            </a:r>
            <a:r>
              <a:rPr lang="en-US" sz="2800">
                <a:effectLst>
                  <a:outerShdw blurRad="38100" dist="38100" dir="2700000" algn="tl">
                    <a:srgbClr val="000000"/>
                  </a:outerShdw>
                </a:effectLst>
                <a:latin typeface="Times New Roman" pitchFamily="18" charset="0"/>
                <a:cs typeface="Arial" charset="0"/>
                <a:sym typeface="Symbol" pitchFamily="18" charset="2"/>
              </a:rPr>
              <a:t>How many bit strings of length </a:t>
            </a:r>
            <a:r>
              <a:rPr lang="en-US" sz="2800" i="1">
                <a:effectLst>
                  <a:outerShdw blurRad="38100" dist="38100" dir="2700000" algn="tl">
                    <a:srgbClr val="000000"/>
                  </a:outerShdw>
                </a:effectLst>
                <a:latin typeface="Times New Roman" pitchFamily="18" charset="0"/>
                <a:cs typeface="Arial" charset="0"/>
                <a:sym typeface="Symbol" pitchFamily="18" charset="2"/>
              </a:rPr>
              <a:t>n</a:t>
            </a:r>
            <a:r>
              <a:rPr lang="en-US" sz="2800">
                <a:effectLst>
                  <a:outerShdw blurRad="38100" dist="38100" dir="2700000" algn="tl">
                    <a:srgbClr val="000000"/>
                  </a:outerShdw>
                </a:effectLst>
                <a:latin typeface="Times New Roman" pitchFamily="18" charset="0"/>
                <a:cs typeface="Arial" charset="0"/>
                <a:sym typeface="Symbol" pitchFamily="18" charset="2"/>
              </a:rPr>
              <a:t> do not contain two consecutive bit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7651">
                                            <p:txEl>
                                              <p:pRg st="0" end="0"/>
                                            </p:txEl>
                                          </p:spTgt>
                                        </p:tgtEl>
                                        <p:attrNameLst>
                                          <p:attrName>style.visibility</p:attrName>
                                        </p:attrNameLst>
                                      </p:cBhvr>
                                      <p:to>
                                        <p:strVal val="visible"/>
                                      </p:to>
                                    </p:set>
                                    <p:anim calcmode="lin" valueType="num">
                                      <p:cBhvr additive="base">
                                        <p:cTn id="13" dur="500" fill="hold"/>
                                        <p:tgtEl>
                                          <p:spTgt spid="276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7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7651">
                                            <p:txEl>
                                              <p:pRg st="1" end="1"/>
                                            </p:txEl>
                                          </p:spTgt>
                                        </p:tgtEl>
                                        <p:attrNameLst>
                                          <p:attrName>style.visibility</p:attrName>
                                        </p:attrNameLst>
                                      </p:cBhvr>
                                      <p:to>
                                        <p:strVal val="visible"/>
                                      </p:to>
                                    </p:set>
                                    <p:anim calcmode="lin" valueType="num">
                                      <p:cBhvr additive="base">
                                        <p:cTn id="19" dur="500" fill="hold"/>
                                        <p:tgtEl>
                                          <p:spTgt spid="2765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76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7651">
                                            <p:txEl>
                                              <p:pRg st="2" end="2"/>
                                            </p:txEl>
                                          </p:spTgt>
                                        </p:tgtEl>
                                        <p:attrNameLst>
                                          <p:attrName>style.visibility</p:attrName>
                                        </p:attrNameLst>
                                      </p:cBhvr>
                                      <p:to>
                                        <p:strVal val="visible"/>
                                      </p:to>
                                    </p:set>
                                    <p:anim calcmode="lin" valueType="num">
                                      <p:cBhvr additive="base">
                                        <p:cTn id="25" dur="500" fill="hold"/>
                                        <p:tgtEl>
                                          <p:spTgt spid="2765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7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7651">
                                            <p:txEl>
                                              <p:pRg st="3" end="3"/>
                                            </p:txEl>
                                          </p:spTgt>
                                        </p:tgtEl>
                                        <p:attrNameLst>
                                          <p:attrName>style.visibility</p:attrName>
                                        </p:attrNameLst>
                                      </p:cBhvr>
                                      <p:to>
                                        <p:strVal val="visible"/>
                                      </p:to>
                                    </p:set>
                                    <p:anim calcmode="lin" valueType="num">
                                      <p:cBhvr additive="base">
                                        <p:cTn id="31" dur="500" fill="hold"/>
                                        <p:tgtEl>
                                          <p:spTgt spid="27651">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76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7651">
                                            <p:txEl>
                                              <p:pRg st="4" end="4"/>
                                            </p:txEl>
                                          </p:spTgt>
                                        </p:tgtEl>
                                        <p:attrNameLst>
                                          <p:attrName>style.visibility</p:attrName>
                                        </p:attrNameLst>
                                      </p:cBhvr>
                                      <p:to>
                                        <p:strVal val="visible"/>
                                      </p:to>
                                    </p:set>
                                    <p:anim calcmode="lin" valueType="num">
                                      <p:cBhvr additive="base">
                                        <p:cTn id="37" dur="500" fill="hold"/>
                                        <p:tgtEl>
                                          <p:spTgt spid="27651">
                                            <p:txEl>
                                              <p:pRg st="4" end="4"/>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76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3" autoUpdateAnimBg="0"/>
      <p:bldP spid="2765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A290822-E7A3-B5D4-BC27-E4A7D77E98A0}"/>
              </a:ext>
            </a:extLst>
          </p:cNvPr>
          <p:cNvSpPr>
            <a:spLocks noGrp="1" noChangeArrowheads="1"/>
          </p:cNvSpPr>
          <p:nvPr>
            <p:ph type="body" idx="1"/>
          </p:nvPr>
        </p:nvSpPr>
        <p:spPr>
          <a:xfrm>
            <a:off x="381000" y="1981200"/>
            <a:ext cx="8534400" cy="1524000"/>
          </a:xfrm>
        </p:spPr>
        <p:txBody>
          <a:bodyPr/>
          <a:lstStyle/>
          <a:p>
            <a:pPr marL="0" indent="0">
              <a:spcBef>
                <a:spcPct val="0"/>
              </a:spcBef>
              <a:buFont typeface="Wingdings" pitchFamily="2" charset="2"/>
              <a:buNone/>
            </a:pPr>
            <a:r>
              <a:rPr lang="en-US" altLang="en-US" sz="2800" b="1">
                <a:solidFill>
                  <a:schemeClr val="hlink"/>
                </a:solidFill>
                <a:effectLst/>
                <a:sym typeface="Symbol" pitchFamily="2" charset="2"/>
              </a:rPr>
              <a:t>Example:</a:t>
            </a:r>
            <a:r>
              <a:rPr lang="en-US" altLang="en-US" sz="2800">
                <a:effectLst/>
                <a:sym typeface="Symbol" pitchFamily="2" charset="2"/>
              </a:rPr>
              <a:t> A sum of </a:t>
            </a:r>
            <a:r>
              <a:rPr lang="en-US" altLang="en-US" sz="2800" i="1">
                <a:effectLst/>
                <a:sym typeface="Symbol" pitchFamily="2" charset="2"/>
              </a:rPr>
              <a:t>P</a:t>
            </a:r>
            <a:r>
              <a:rPr lang="en-US" altLang="en-US" sz="2800" baseline="-25000">
                <a:effectLst/>
                <a:sym typeface="Symbol" pitchFamily="2" charset="2"/>
              </a:rPr>
              <a:t>0</a:t>
            </a:r>
            <a:r>
              <a:rPr lang="en-US" altLang="en-US" sz="2800">
                <a:effectLst/>
                <a:sym typeface="Symbol" pitchFamily="2" charset="2"/>
              </a:rPr>
              <a:t> is deposited in the saving account with the interest rate of </a:t>
            </a:r>
            <a:r>
              <a:rPr lang="en-US" altLang="en-US" sz="2800" i="1">
                <a:effectLst/>
                <a:sym typeface="Symbol" pitchFamily="2" charset="2"/>
              </a:rPr>
              <a:t>r </a:t>
            </a:r>
            <a:r>
              <a:rPr lang="en-US" altLang="en-US" sz="2800">
                <a:effectLst/>
                <a:sym typeface="Symbol" pitchFamily="2" charset="2"/>
              </a:rPr>
              <a:t> </a:t>
            </a:r>
            <a:r>
              <a:rPr lang="en-US" altLang="en-US" sz="2800" i="1">
                <a:solidFill>
                  <a:schemeClr val="hlink"/>
                </a:solidFill>
                <a:effectLst/>
                <a:sym typeface="Symbol" pitchFamily="2" charset="2"/>
              </a:rPr>
              <a:t>compounded</a:t>
            </a:r>
            <a:r>
              <a:rPr lang="en-US" altLang="en-US" sz="2800">
                <a:effectLst/>
                <a:sym typeface="Symbol" pitchFamily="2" charset="2"/>
              </a:rPr>
              <a:t> annually. How much will be in the account after </a:t>
            </a:r>
            <a:r>
              <a:rPr lang="en-US" altLang="en-US" sz="2800" i="1">
                <a:effectLst/>
                <a:sym typeface="Symbol" pitchFamily="2" charset="2"/>
              </a:rPr>
              <a:t>n</a:t>
            </a:r>
            <a:r>
              <a:rPr lang="en-US" altLang="en-US" sz="2800">
                <a:effectLst/>
                <a:sym typeface="Symbol" pitchFamily="2" charset="2"/>
              </a:rPr>
              <a:t> years?</a:t>
            </a:r>
          </a:p>
        </p:txBody>
      </p:sp>
      <p:sp>
        <p:nvSpPr>
          <p:cNvPr id="30723" name="Rectangle 3">
            <a:extLst>
              <a:ext uri="{FF2B5EF4-FFF2-40B4-BE49-F238E27FC236}">
                <a16:creationId xmlns:a16="http://schemas.microsoft.com/office/drawing/2014/main" id="{04EBB3BA-86DD-FE2E-92A4-19AB1245B620}"/>
              </a:ext>
            </a:extLst>
          </p:cNvPr>
          <p:cNvSpPr>
            <a:spLocks noChangeArrowheads="1"/>
          </p:cNvSpPr>
          <p:nvPr/>
        </p:nvSpPr>
        <p:spPr bwMode="auto">
          <a:xfrm>
            <a:off x="457200" y="3733800"/>
            <a:ext cx="2438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chemeClr val="hlink"/>
              </a:buClr>
              <a:buSzPct val="70000"/>
              <a:buFont typeface="Wingdings" pitchFamily="2" charset="2"/>
              <a:buNone/>
              <a:defRPr/>
            </a:pPr>
            <a:r>
              <a:rPr lang="en-US" sz="3200" b="1">
                <a:solidFill>
                  <a:schemeClr val="hlink"/>
                </a:solidFill>
                <a:effectLst>
                  <a:outerShdw blurRad="38100" dist="38100" dir="2700000" algn="tl">
                    <a:srgbClr val="000000"/>
                  </a:outerShdw>
                </a:effectLst>
                <a:cs typeface="Arial" charset="0"/>
                <a:sym typeface="Symbol" pitchFamily="18" charset="2"/>
              </a:rPr>
              <a:t>Solution:</a:t>
            </a:r>
            <a:endParaRPr lang="en-US" sz="3200" b="1">
              <a:solidFill>
                <a:srgbClr val="00FFFF"/>
              </a:solidFill>
              <a:effectLst>
                <a:outerShdw blurRad="38100" dist="38100" dir="2700000" algn="tl">
                  <a:srgbClr val="000000"/>
                </a:outerShdw>
              </a:effectLst>
              <a:cs typeface="Arial" charset="0"/>
              <a:sym typeface="Symbol" pitchFamily="18" charset="2"/>
            </a:endParaRPr>
          </a:p>
        </p:txBody>
      </p:sp>
      <p:sp>
        <p:nvSpPr>
          <p:cNvPr id="30724" name="Rectangle 4">
            <a:extLst>
              <a:ext uri="{FF2B5EF4-FFF2-40B4-BE49-F238E27FC236}">
                <a16:creationId xmlns:a16="http://schemas.microsoft.com/office/drawing/2014/main" id="{F91480E5-2FE4-5F90-CF17-A4AE4BABC154}"/>
              </a:ext>
            </a:extLst>
          </p:cNvPr>
          <p:cNvSpPr>
            <a:spLocks noChangeArrowheads="1"/>
          </p:cNvSpPr>
          <p:nvPr/>
        </p:nvSpPr>
        <p:spPr bwMode="auto">
          <a:xfrm>
            <a:off x="457200" y="4495800"/>
            <a:ext cx="85344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r>
              <a:rPr lang="en-US" altLang="en-US" sz="3200">
                <a:sym typeface="Symbol" pitchFamily="2" charset="2"/>
              </a:rPr>
              <a:t>Let </a:t>
            </a:r>
            <a:r>
              <a:rPr lang="en-US" altLang="en-US" sz="3200" i="1">
                <a:sym typeface="Symbol" pitchFamily="2" charset="2"/>
              </a:rPr>
              <a:t>P</a:t>
            </a:r>
            <a:r>
              <a:rPr lang="en-US" altLang="en-US" sz="3200" i="1" baseline="-25000">
                <a:sym typeface="Symbol" pitchFamily="2" charset="2"/>
              </a:rPr>
              <a:t>n</a:t>
            </a:r>
            <a:r>
              <a:rPr lang="en-US" altLang="en-US" sz="3200">
                <a:sym typeface="Symbol" pitchFamily="2" charset="2"/>
              </a:rPr>
              <a:t> be the amount after </a:t>
            </a:r>
            <a:r>
              <a:rPr lang="en-US" altLang="en-US" sz="3200" i="1">
                <a:sym typeface="Symbol" pitchFamily="2" charset="2"/>
              </a:rPr>
              <a:t>n</a:t>
            </a:r>
            <a:r>
              <a:rPr lang="en-US" altLang="en-US" sz="3200">
                <a:sym typeface="Symbol" pitchFamily="2" charset="2"/>
              </a:rPr>
              <a:t> years, then </a:t>
            </a:r>
            <a:r>
              <a:rPr lang="en-US" altLang="en-US" sz="3200" i="1">
                <a:sym typeface="Symbol" pitchFamily="2" charset="2"/>
              </a:rPr>
              <a:t>P</a:t>
            </a:r>
            <a:r>
              <a:rPr lang="en-US" altLang="en-US" sz="3200" i="1" baseline="-25000">
                <a:sym typeface="Symbol" pitchFamily="2" charset="2"/>
              </a:rPr>
              <a:t>n</a:t>
            </a:r>
            <a:r>
              <a:rPr lang="en-US" altLang="en-US" sz="3200">
                <a:sym typeface="Symbol" pitchFamily="2" charset="2"/>
              </a:rPr>
              <a:t> is obtained from </a:t>
            </a:r>
            <a:r>
              <a:rPr lang="en-US" altLang="en-US" sz="3200" i="1">
                <a:sym typeface="Symbol" pitchFamily="2" charset="2"/>
              </a:rPr>
              <a:t>P</a:t>
            </a:r>
            <a:r>
              <a:rPr lang="en-US" altLang="en-US" sz="3200" i="1" baseline="-25000">
                <a:sym typeface="Symbol" pitchFamily="2" charset="2"/>
              </a:rPr>
              <a:t>n </a:t>
            </a:r>
            <a:r>
              <a:rPr lang="en-US" altLang="en-US" sz="3200" baseline="-25000">
                <a:sym typeface="Symbol" pitchFamily="2" charset="2"/>
              </a:rPr>
              <a:t>– 1</a:t>
            </a:r>
            <a:r>
              <a:rPr lang="en-US" altLang="en-US" sz="3200" i="1" baseline="-25000">
                <a:sym typeface="Symbol" pitchFamily="2" charset="2"/>
              </a:rPr>
              <a:t> </a:t>
            </a:r>
            <a:r>
              <a:rPr lang="en-US" altLang="en-US" sz="3200">
                <a:sym typeface="Symbol" pitchFamily="2" charset="2"/>
              </a:rPr>
              <a:t> and the interest yielded from that amount in one year: </a:t>
            </a:r>
          </a:p>
          <a:p>
            <a:pPr algn="ctr"/>
            <a:r>
              <a:rPr lang="en-US" altLang="en-US" sz="3200" i="1">
                <a:sym typeface="Symbol" pitchFamily="2" charset="2"/>
              </a:rPr>
              <a:t>P</a:t>
            </a:r>
            <a:r>
              <a:rPr lang="en-US" altLang="en-US" sz="3200" i="1" baseline="-25000">
                <a:sym typeface="Symbol" pitchFamily="2" charset="2"/>
              </a:rPr>
              <a:t>n </a:t>
            </a:r>
            <a:r>
              <a:rPr lang="en-US" altLang="en-US" sz="3200" baseline="-25000">
                <a:sym typeface="Symbol" pitchFamily="2" charset="2"/>
              </a:rPr>
              <a:t> </a:t>
            </a:r>
            <a:r>
              <a:rPr lang="en-US" altLang="en-US" sz="3200">
                <a:sym typeface="Symbol" pitchFamily="2" charset="2"/>
              </a:rPr>
              <a:t>= </a:t>
            </a:r>
            <a:r>
              <a:rPr lang="en-US" altLang="en-US" sz="3200" i="1">
                <a:sym typeface="Symbol" pitchFamily="2" charset="2"/>
              </a:rPr>
              <a:t>P</a:t>
            </a:r>
            <a:r>
              <a:rPr lang="en-US" altLang="en-US" sz="3200" i="1" baseline="-25000">
                <a:sym typeface="Symbol" pitchFamily="2" charset="2"/>
              </a:rPr>
              <a:t>n </a:t>
            </a:r>
            <a:r>
              <a:rPr lang="en-US" altLang="en-US" sz="3200" baseline="-25000">
                <a:sym typeface="Symbol" pitchFamily="2" charset="2"/>
              </a:rPr>
              <a:t>– 1</a:t>
            </a:r>
            <a:r>
              <a:rPr lang="en-US" altLang="en-US" sz="3200" i="1" baseline="-25000">
                <a:sym typeface="Symbol" pitchFamily="2" charset="2"/>
              </a:rPr>
              <a:t> </a:t>
            </a:r>
            <a:r>
              <a:rPr lang="en-US" altLang="en-US" sz="3200">
                <a:sym typeface="Symbol" pitchFamily="2" charset="2"/>
              </a:rPr>
              <a:t>+ </a:t>
            </a:r>
            <a:r>
              <a:rPr lang="en-US" altLang="en-US" sz="3200" i="1">
                <a:sym typeface="Symbol" pitchFamily="2" charset="2"/>
              </a:rPr>
              <a:t>r P</a:t>
            </a:r>
            <a:r>
              <a:rPr lang="en-US" altLang="en-US" sz="3200" i="1" baseline="-25000">
                <a:sym typeface="Symbol" pitchFamily="2" charset="2"/>
              </a:rPr>
              <a:t>n </a:t>
            </a:r>
            <a:r>
              <a:rPr lang="en-US" altLang="en-US" sz="3200" baseline="-25000">
                <a:sym typeface="Symbol" pitchFamily="2" charset="2"/>
              </a:rPr>
              <a:t>– 1</a:t>
            </a:r>
            <a:r>
              <a:rPr lang="en-US" altLang="en-US" sz="3200" i="1" baseline="-25000">
                <a:sym typeface="Symbol" pitchFamily="2" charset="2"/>
              </a:rPr>
              <a:t> </a:t>
            </a:r>
            <a:r>
              <a:rPr lang="en-US" altLang="en-US" sz="3200">
                <a:sym typeface="Symbol" pitchFamily="2" charset="2"/>
              </a:rPr>
              <a:t> = (1+</a:t>
            </a:r>
            <a:r>
              <a:rPr lang="en-US" altLang="en-US" sz="3200" i="1">
                <a:sym typeface="Symbol" pitchFamily="2" charset="2"/>
              </a:rPr>
              <a:t>r</a:t>
            </a:r>
            <a:r>
              <a:rPr lang="en-US" altLang="en-US" sz="3200">
                <a:sym typeface="Symbol" pitchFamily="2" charset="2"/>
              </a:rPr>
              <a:t>) </a:t>
            </a:r>
            <a:r>
              <a:rPr lang="en-US" altLang="en-US" sz="3200" i="1">
                <a:sym typeface="Symbol" pitchFamily="2" charset="2"/>
              </a:rPr>
              <a:t>P</a:t>
            </a:r>
            <a:r>
              <a:rPr lang="en-US" altLang="en-US" sz="3200" i="1" baseline="-25000">
                <a:sym typeface="Symbol" pitchFamily="2" charset="2"/>
              </a:rPr>
              <a:t>n </a:t>
            </a:r>
            <a:r>
              <a:rPr lang="en-US" altLang="en-US" sz="3200" baseline="-25000">
                <a:sym typeface="Symbol" pitchFamily="2" charset="2"/>
              </a:rPr>
              <a:t>– 1</a:t>
            </a:r>
            <a:r>
              <a:rPr lang="en-US" altLang="en-US" sz="3200" i="1" baseline="-25000">
                <a:sym typeface="Symbol" pitchFamily="2" charset="2"/>
              </a:rPr>
              <a:t> </a:t>
            </a:r>
          </a:p>
        </p:txBody>
      </p:sp>
      <p:sp>
        <p:nvSpPr>
          <p:cNvPr id="30725" name="Rectangle 5">
            <a:extLst>
              <a:ext uri="{FF2B5EF4-FFF2-40B4-BE49-F238E27FC236}">
                <a16:creationId xmlns:a16="http://schemas.microsoft.com/office/drawing/2014/main" id="{858BBC6A-70FF-2880-0002-70218598B438}"/>
              </a:ext>
            </a:extLst>
          </p:cNvPr>
          <p:cNvSpPr>
            <a:spLocks noGrp="1" noRot="1" noChangeArrowheads="1"/>
          </p:cNvSpPr>
          <p:nvPr>
            <p:ph type="title"/>
          </p:nvPr>
        </p:nvSpPr>
        <p:spPr>
          <a:xfrm>
            <a:off x="0" y="381000"/>
            <a:ext cx="9525000" cy="1066800"/>
          </a:xfrm>
        </p:spPr>
        <p:txBody>
          <a:bodyPr/>
          <a:lstStyle/>
          <a:p>
            <a:pPr algn="l">
              <a:defRPr/>
            </a:pPr>
            <a:r>
              <a:rPr lang="en-US" dirty="0"/>
              <a:t>Modeling with Recurrence Relations</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0-#ppt_w/2"/>
                                          </p:val>
                                        </p:tav>
                                        <p:tav tm="100000">
                                          <p:val>
                                            <p:strVal val="#ppt_x"/>
                                          </p:val>
                                        </p:tav>
                                      </p:tavLst>
                                    </p:anim>
                                    <p:anim calcmode="lin" valueType="num">
                                      <p:cBhvr additive="base">
                                        <p:cTn id="8" dur="500" fill="hold"/>
                                        <p:tgtEl>
                                          <p:spTgt spid="307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722">
                                            <p:txEl>
                                              <p:pRg st="0" end="0"/>
                                            </p:txEl>
                                          </p:spTgt>
                                        </p:tgtEl>
                                        <p:attrNameLst>
                                          <p:attrName>style.visibility</p:attrName>
                                        </p:attrNameLst>
                                      </p:cBhvr>
                                      <p:to>
                                        <p:strVal val="visible"/>
                                      </p:to>
                                    </p:set>
                                    <p:anim calcmode="lin" valueType="num">
                                      <p:cBhvr additive="base">
                                        <p:cTn id="13" dur="500" fill="hold"/>
                                        <p:tgtEl>
                                          <p:spTgt spid="3072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0723"/>
                                        </p:tgtEl>
                                        <p:attrNameLst>
                                          <p:attrName>style.visibility</p:attrName>
                                        </p:attrNameLst>
                                      </p:cBhvr>
                                      <p:to>
                                        <p:strVal val="visible"/>
                                      </p:to>
                                    </p:set>
                                    <p:anim calcmode="lin" valueType="num">
                                      <p:cBhvr additive="base">
                                        <p:cTn id="19" dur="500" fill="hold"/>
                                        <p:tgtEl>
                                          <p:spTgt spid="30723"/>
                                        </p:tgtEl>
                                        <p:attrNameLst>
                                          <p:attrName>ppt_x</p:attrName>
                                        </p:attrNameLst>
                                      </p:cBhvr>
                                      <p:tavLst>
                                        <p:tav tm="0">
                                          <p:val>
                                            <p:strVal val="0-#ppt_w/2"/>
                                          </p:val>
                                        </p:tav>
                                        <p:tav tm="100000">
                                          <p:val>
                                            <p:strVal val="#ppt_x"/>
                                          </p:val>
                                        </p:tav>
                                      </p:tavLst>
                                    </p:anim>
                                    <p:anim calcmode="lin" valueType="num">
                                      <p:cBhvr additive="base">
                                        <p:cTn id="20" dur="500" fill="hold"/>
                                        <p:tgtEl>
                                          <p:spTgt spid="307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0724">
                                            <p:txEl>
                                              <p:pRg st="0" end="0"/>
                                            </p:txEl>
                                          </p:spTgt>
                                        </p:tgtEl>
                                        <p:attrNameLst>
                                          <p:attrName>style.visibility</p:attrName>
                                        </p:attrNameLst>
                                      </p:cBhvr>
                                      <p:to>
                                        <p:strVal val="visible"/>
                                      </p:to>
                                    </p:set>
                                    <p:animEffect transition="in" filter="wipe(up)">
                                      <p:cBhvr>
                                        <p:cTn id="25" dur="500"/>
                                        <p:tgtEl>
                                          <p:spTgt spid="30724">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30724">
                                            <p:txEl>
                                              <p:pRg st="1" end="1"/>
                                            </p:txEl>
                                          </p:spTgt>
                                        </p:tgtEl>
                                        <p:attrNameLst>
                                          <p:attrName>style.visibility</p:attrName>
                                        </p:attrNameLst>
                                      </p:cBhvr>
                                      <p:to>
                                        <p:strVal val="visible"/>
                                      </p:to>
                                    </p:set>
                                    <p:animEffect transition="in" filter="wipe(up)">
                                      <p:cBhvr>
                                        <p:cTn id="30" dur="500"/>
                                        <p:tgtEl>
                                          <p:spTgt spid="307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autoUpdateAnimBg="0"/>
      <p:bldP spid="30723" grpId="0"/>
      <p:bldP spid="3072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FFAD188-CCEA-5E51-55E7-0C0369D6AB80}"/>
              </a:ext>
            </a:extLst>
          </p:cNvPr>
          <p:cNvSpPr>
            <a:spLocks noChangeArrowheads="1"/>
          </p:cNvSpPr>
          <p:nvPr/>
        </p:nvSpPr>
        <p:spPr bwMode="auto">
          <a:xfrm>
            <a:off x="533400" y="1752600"/>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chemeClr val="hlink"/>
              </a:buClr>
              <a:buSzPct val="70000"/>
              <a:buFont typeface="Wingdings" pitchFamily="2" charset="2"/>
              <a:buNone/>
              <a:defRPr/>
            </a:pPr>
            <a:r>
              <a:rPr lang="en-US" sz="2800" b="1">
                <a:solidFill>
                  <a:schemeClr val="hlink"/>
                </a:solidFill>
                <a:effectLst>
                  <a:outerShdw blurRad="38100" dist="38100" dir="2700000" algn="tl">
                    <a:srgbClr val="000000"/>
                  </a:outerShdw>
                </a:effectLst>
                <a:cs typeface="Arial" charset="0"/>
                <a:sym typeface="Symbol" pitchFamily="18" charset="2"/>
              </a:rPr>
              <a:t>Solution:</a:t>
            </a:r>
            <a:endParaRPr lang="en-US" sz="900" b="1">
              <a:solidFill>
                <a:srgbClr val="00FFFF"/>
              </a:solidFill>
              <a:effectLst>
                <a:outerShdw blurRad="38100" dist="38100" dir="2700000" algn="tl">
                  <a:srgbClr val="000000"/>
                </a:outerShdw>
              </a:effectLst>
              <a:cs typeface="Arial" charset="0"/>
              <a:sym typeface="Symbol" pitchFamily="18" charset="2"/>
            </a:endParaRPr>
          </a:p>
        </p:txBody>
      </p:sp>
      <p:sp>
        <p:nvSpPr>
          <p:cNvPr id="31747" name="Rectangle 3">
            <a:extLst>
              <a:ext uri="{FF2B5EF4-FFF2-40B4-BE49-F238E27FC236}">
                <a16:creationId xmlns:a16="http://schemas.microsoft.com/office/drawing/2014/main" id="{A9AA88B7-1A2A-8235-0155-215EAB3DC1CC}"/>
              </a:ext>
            </a:extLst>
          </p:cNvPr>
          <p:cNvSpPr>
            <a:spLocks noChangeArrowheads="1"/>
          </p:cNvSpPr>
          <p:nvPr/>
        </p:nvSpPr>
        <p:spPr bwMode="auto">
          <a:xfrm>
            <a:off x="533400" y="3429000"/>
            <a:ext cx="7848600"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chemeClr val="hlink"/>
              </a:buClr>
              <a:buSzPct val="70000"/>
              <a:buFont typeface="Wingdings" pitchFamily="2" charset="2"/>
              <a:buNone/>
              <a:defRPr/>
            </a:pPr>
            <a:r>
              <a:rPr lang="en-US" sz="2800">
                <a:effectLst>
                  <a:outerShdw blurRad="38100" dist="38100" dir="2700000" algn="tl">
                    <a:srgbClr val="000000"/>
                  </a:outerShdw>
                </a:effectLst>
                <a:cs typeface="Arial" charset="0"/>
                <a:sym typeface="Symbol" pitchFamily="18" charset="2"/>
              </a:rPr>
              <a:t>This is a </a:t>
            </a:r>
            <a:r>
              <a:rPr lang="en-US" sz="2800" b="1" i="1">
                <a:solidFill>
                  <a:schemeClr val="hlink"/>
                </a:solidFill>
                <a:effectLst>
                  <a:outerShdw blurRad="38100" dist="38100" dir="2700000" algn="tl">
                    <a:srgbClr val="000000"/>
                  </a:outerShdw>
                </a:effectLst>
                <a:cs typeface="Arial" charset="0"/>
                <a:sym typeface="Symbol" pitchFamily="18" charset="2"/>
              </a:rPr>
              <a:t>geometric progression</a:t>
            </a:r>
            <a:r>
              <a:rPr lang="en-US" sz="2800">
                <a:effectLst>
                  <a:outerShdw blurRad="38100" dist="38100" dir="2700000" algn="tl">
                    <a:srgbClr val="000000"/>
                  </a:outerShdw>
                </a:effectLst>
                <a:cs typeface="Arial" charset="0"/>
                <a:sym typeface="Symbol" pitchFamily="18" charset="2"/>
              </a:rPr>
              <a:t>. </a:t>
            </a:r>
          </a:p>
          <a:p>
            <a:pPr eaLnBrk="0" hangingPunct="0">
              <a:spcBef>
                <a:spcPct val="50000"/>
              </a:spcBef>
              <a:buClr>
                <a:schemeClr val="hlink"/>
              </a:buClr>
              <a:buSzPct val="70000"/>
              <a:buFont typeface="Wingdings" pitchFamily="2" charset="2"/>
              <a:buNone/>
              <a:defRPr/>
            </a:pPr>
            <a:r>
              <a:rPr lang="en-US" sz="2800">
                <a:effectLst>
                  <a:outerShdw blurRad="38100" dist="38100" dir="2700000" algn="tl">
                    <a:srgbClr val="000000"/>
                  </a:outerShdw>
                </a:effectLst>
                <a:cs typeface="Arial" charset="0"/>
                <a:sym typeface="Symbol" pitchFamily="18" charset="2"/>
              </a:rPr>
              <a:t>The solution of this relation is obtained as follows: </a:t>
            </a:r>
          </a:p>
          <a:p>
            <a:pPr eaLnBrk="0" hangingPunct="0">
              <a:spcBef>
                <a:spcPct val="50000"/>
              </a:spcBef>
              <a:buClr>
                <a:schemeClr val="hlink"/>
              </a:buClr>
              <a:buSzPct val="70000"/>
              <a:buFont typeface="Wingdings" pitchFamily="2" charset="2"/>
              <a:buNone/>
              <a:defRPr/>
            </a:pPr>
            <a:r>
              <a:rPr lang="en-US" sz="2800" i="1">
                <a:cs typeface="Arial" charset="0"/>
                <a:sym typeface="Symbol" pitchFamily="18" charset="2"/>
              </a:rPr>
              <a:t>P</a:t>
            </a:r>
            <a:r>
              <a:rPr lang="en-US" sz="2800" i="1" baseline="-25000">
                <a:cs typeface="Arial" charset="0"/>
                <a:sym typeface="Symbol" pitchFamily="18" charset="2"/>
              </a:rPr>
              <a:t>n  </a:t>
            </a:r>
            <a:r>
              <a:rPr lang="en-US" sz="2800">
                <a:cs typeface="Arial" charset="0"/>
                <a:sym typeface="Symbol" pitchFamily="18" charset="2"/>
              </a:rPr>
              <a:t> = (1+</a:t>
            </a:r>
            <a:r>
              <a:rPr lang="en-US" sz="2800" i="1">
                <a:cs typeface="Arial" charset="0"/>
                <a:sym typeface="Symbol" pitchFamily="18" charset="2"/>
              </a:rPr>
              <a:t>r</a:t>
            </a:r>
            <a:r>
              <a:rPr lang="en-US" sz="2800">
                <a:cs typeface="Arial" charset="0"/>
                <a:sym typeface="Symbol" pitchFamily="18" charset="2"/>
              </a:rPr>
              <a:t>) </a:t>
            </a:r>
            <a:r>
              <a:rPr lang="en-US" sz="2800" i="1">
                <a:cs typeface="Arial" charset="0"/>
                <a:sym typeface="Symbol" pitchFamily="18" charset="2"/>
              </a:rPr>
              <a:t>P</a:t>
            </a:r>
            <a:r>
              <a:rPr lang="en-US" sz="2800" i="1" baseline="-25000">
                <a:cs typeface="Arial" charset="0"/>
                <a:sym typeface="Symbol" pitchFamily="18" charset="2"/>
              </a:rPr>
              <a:t>n </a:t>
            </a:r>
            <a:r>
              <a:rPr lang="en-US" sz="2800" baseline="-25000">
                <a:cs typeface="Arial" charset="0"/>
                <a:sym typeface="Symbol" pitchFamily="18" charset="2"/>
              </a:rPr>
              <a:t>– 1</a:t>
            </a:r>
            <a:r>
              <a:rPr lang="en-US" sz="2800" i="1" baseline="-25000">
                <a:cs typeface="Arial" charset="0"/>
                <a:sym typeface="Symbol" pitchFamily="18" charset="2"/>
              </a:rPr>
              <a:t> </a:t>
            </a:r>
            <a:r>
              <a:rPr lang="en-US" sz="2800">
                <a:cs typeface="Arial" charset="0"/>
                <a:sym typeface="Symbol" pitchFamily="18" charset="2"/>
              </a:rPr>
              <a:t>= (1+</a:t>
            </a:r>
            <a:r>
              <a:rPr lang="en-US" sz="2800" i="1">
                <a:cs typeface="Arial" charset="0"/>
                <a:sym typeface="Symbol" pitchFamily="18" charset="2"/>
              </a:rPr>
              <a:t>r</a:t>
            </a:r>
            <a:r>
              <a:rPr lang="en-US" sz="2800">
                <a:cs typeface="Arial" charset="0"/>
                <a:sym typeface="Symbol" pitchFamily="18" charset="2"/>
              </a:rPr>
              <a:t>)</a:t>
            </a:r>
            <a:r>
              <a:rPr lang="en-US" sz="2800" baseline="30000">
                <a:cs typeface="Arial" charset="0"/>
                <a:sym typeface="Symbol" pitchFamily="18" charset="2"/>
              </a:rPr>
              <a:t>2</a:t>
            </a:r>
            <a:r>
              <a:rPr lang="en-US" sz="2800">
                <a:cs typeface="Arial" charset="0"/>
                <a:sym typeface="Symbol" pitchFamily="18" charset="2"/>
              </a:rPr>
              <a:t> </a:t>
            </a:r>
            <a:r>
              <a:rPr lang="en-US" sz="2800" i="1">
                <a:cs typeface="Arial" charset="0"/>
                <a:sym typeface="Symbol" pitchFamily="18" charset="2"/>
              </a:rPr>
              <a:t>P</a:t>
            </a:r>
            <a:r>
              <a:rPr lang="en-US" sz="2800" i="1" baseline="-25000">
                <a:cs typeface="Arial" charset="0"/>
                <a:sym typeface="Symbol" pitchFamily="18" charset="2"/>
              </a:rPr>
              <a:t>n </a:t>
            </a:r>
            <a:r>
              <a:rPr lang="en-US" sz="2800" baseline="-25000">
                <a:cs typeface="Arial" charset="0"/>
                <a:sym typeface="Symbol" pitchFamily="18" charset="2"/>
              </a:rPr>
              <a:t>– 2 </a:t>
            </a:r>
            <a:r>
              <a:rPr lang="en-US" sz="2800">
                <a:cs typeface="Arial" charset="0"/>
                <a:sym typeface="Symbol" pitchFamily="18" charset="2"/>
              </a:rPr>
              <a:t>= … = (1+</a:t>
            </a:r>
            <a:r>
              <a:rPr lang="en-US" sz="2800" i="1">
                <a:cs typeface="Arial" charset="0"/>
                <a:sym typeface="Symbol" pitchFamily="18" charset="2"/>
              </a:rPr>
              <a:t>r</a:t>
            </a:r>
            <a:r>
              <a:rPr lang="en-US" sz="2800">
                <a:cs typeface="Arial" charset="0"/>
                <a:sym typeface="Symbol" pitchFamily="18" charset="2"/>
              </a:rPr>
              <a:t>)</a:t>
            </a:r>
            <a:r>
              <a:rPr lang="en-US" sz="2800" i="1" baseline="30000">
                <a:cs typeface="Arial" charset="0"/>
                <a:sym typeface="Symbol" pitchFamily="18" charset="2"/>
              </a:rPr>
              <a:t>n</a:t>
            </a:r>
            <a:r>
              <a:rPr lang="en-US" sz="2800">
                <a:cs typeface="Arial" charset="0"/>
                <a:sym typeface="Symbol" pitchFamily="18" charset="2"/>
              </a:rPr>
              <a:t> </a:t>
            </a:r>
            <a:r>
              <a:rPr lang="en-US" sz="2800" i="1">
                <a:cs typeface="Arial" charset="0"/>
                <a:sym typeface="Symbol" pitchFamily="18" charset="2"/>
              </a:rPr>
              <a:t>P</a:t>
            </a:r>
            <a:r>
              <a:rPr lang="en-US" sz="2800" baseline="-25000">
                <a:cs typeface="Arial" charset="0"/>
                <a:sym typeface="Symbol" pitchFamily="18" charset="2"/>
              </a:rPr>
              <a:t>0</a:t>
            </a:r>
            <a:r>
              <a:rPr lang="en-US" sz="2800" i="1" baseline="-25000">
                <a:cs typeface="Arial" charset="0"/>
                <a:sym typeface="Symbol" pitchFamily="18" charset="2"/>
              </a:rPr>
              <a:t> </a:t>
            </a:r>
          </a:p>
          <a:p>
            <a:pPr algn="ctr" eaLnBrk="0" hangingPunct="0">
              <a:spcBef>
                <a:spcPct val="50000"/>
              </a:spcBef>
              <a:buClr>
                <a:schemeClr val="hlink"/>
              </a:buClr>
              <a:buSzPct val="70000"/>
              <a:buFont typeface="Wingdings" pitchFamily="2" charset="2"/>
              <a:buNone/>
              <a:defRPr/>
            </a:pPr>
            <a:r>
              <a:rPr lang="en-US" sz="2800" b="1" i="1">
                <a:solidFill>
                  <a:schemeClr val="hlink"/>
                </a:solidFill>
                <a:cs typeface="Arial" charset="0"/>
                <a:sym typeface="Symbol" pitchFamily="18" charset="2"/>
              </a:rPr>
              <a:t>P</a:t>
            </a:r>
            <a:r>
              <a:rPr lang="en-US" sz="2800" b="1" i="1" baseline="-25000">
                <a:solidFill>
                  <a:schemeClr val="hlink"/>
                </a:solidFill>
                <a:cs typeface="Arial" charset="0"/>
                <a:sym typeface="Symbol" pitchFamily="18" charset="2"/>
              </a:rPr>
              <a:t>n  </a:t>
            </a:r>
            <a:r>
              <a:rPr lang="en-US" sz="2800" b="1">
                <a:solidFill>
                  <a:schemeClr val="hlink"/>
                </a:solidFill>
                <a:cs typeface="Arial" charset="0"/>
                <a:sym typeface="Symbol" pitchFamily="18" charset="2"/>
              </a:rPr>
              <a:t> = (1+</a:t>
            </a:r>
            <a:r>
              <a:rPr lang="en-US" sz="2800" b="1" i="1">
                <a:solidFill>
                  <a:schemeClr val="hlink"/>
                </a:solidFill>
                <a:cs typeface="Arial" charset="0"/>
                <a:sym typeface="Symbol" pitchFamily="18" charset="2"/>
              </a:rPr>
              <a:t>r</a:t>
            </a:r>
            <a:r>
              <a:rPr lang="en-US" sz="2800" b="1">
                <a:solidFill>
                  <a:schemeClr val="hlink"/>
                </a:solidFill>
                <a:cs typeface="Arial" charset="0"/>
                <a:sym typeface="Symbol" pitchFamily="18" charset="2"/>
              </a:rPr>
              <a:t>)</a:t>
            </a:r>
            <a:r>
              <a:rPr lang="en-US" sz="2800" b="1" i="1" baseline="30000">
                <a:solidFill>
                  <a:schemeClr val="hlink"/>
                </a:solidFill>
                <a:cs typeface="Arial" charset="0"/>
                <a:sym typeface="Symbol" pitchFamily="18" charset="2"/>
              </a:rPr>
              <a:t>n</a:t>
            </a:r>
            <a:r>
              <a:rPr lang="en-US" sz="2800" b="1">
                <a:solidFill>
                  <a:schemeClr val="hlink"/>
                </a:solidFill>
                <a:cs typeface="Arial" charset="0"/>
                <a:sym typeface="Symbol" pitchFamily="18" charset="2"/>
              </a:rPr>
              <a:t> </a:t>
            </a:r>
            <a:r>
              <a:rPr lang="en-US" sz="2800" b="1" i="1">
                <a:solidFill>
                  <a:schemeClr val="hlink"/>
                </a:solidFill>
                <a:cs typeface="Arial" charset="0"/>
                <a:sym typeface="Symbol" pitchFamily="18" charset="2"/>
              </a:rPr>
              <a:t>P</a:t>
            </a:r>
            <a:r>
              <a:rPr lang="en-US" sz="2800" b="1" baseline="-25000">
                <a:solidFill>
                  <a:schemeClr val="hlink"/>
                </a:solidFill>
                <a:cs typeface="Arial" charset="0"/>
                <a:sym typeface="Symbol" pitchFamily="18" charset="2"/>
              </a:rPr>
              <a:t>0</a:t>
            </a:r>
            <a:r>
              <a:rPr lang="en-US" sz="2800" i="1" baseline="-25000">
                <a:cs typeface="Arial" charset="0"/>
                <a:sym typeface="Symbol" pitchFamily="18" charset="2"/>
              </a:rPr>
              <a:t> </a:t>
            </a:r>
          </a:p>
          <a:p>
            <a:pPr algn="ctr" eaLnBrk="0" hangingPunct="0">
              <a:spcBef>
                <a:spcPct val="50000"/>
              </a:spcBef>
              <a:buClr>
                <a:schemeClr val="hlink"/>
              </a:buClr>
              <a:buSzPct val="70000"/>
              <a:buFont typeface="Wingdings" pitchFamily="2" charset="2"/>
              <a:buNone/>
              <a:defRPr/>
            </a:pPr>
            <a:endParaRPr lang="en-US" sz="2800" i="1" baseline="-25000">
              <a:cs typeface="Arial" charset="0"/>
              <a:sym typeface="Symbol" pitchFamily="18" charset="2"/>
            </a:endParaRPr>
          </a:p>
        </p:txBody>
      </p:sp>
      <p:sp>
        <p:nvSpPr>
          <p:cNvPr id="31748" name="Rectangle 4">
            <a:extLst>
              <a:ext uri="{FF2B5EF4-FFF2-40B4-BE49-F238E27FC236}">
                <a16:creationId xmlns:a16="http://schemas.microsoft.com/office/drawing/2014/main" id="{A1A0D9FD-8F54-CF4B-591B-7C39C91E65B7}"/>
              </a:ext>
            </a:extLst>
          </p:cNvPr>
          <p:cNvSpPr>
            <a:spLocks noChangeArrowheads="1"/>
          </p:cNvSpPr>
          <p:nvPr/>
        </p:nvSpPr>
        <p:spPr bwMode="auto">
          <a:xfrm>
            <a:off x="381000" y="22860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r>
              <a:rPr lang="en-US" altLang="en-US" sz="2800">
                <a:sym typeface="Symbol" pitchFamily="2" charset="2"/>
              </a:rPr>
              <a:t>Let </a:t>
            </a:r>
            <a:r>
              <a:rPr lang="en-US" altLang="en-US" sz="2800" i="1">
                <a:sym typeface="Symbol" pitchFamily="2" charset="2"/>
              </a:rPr>
              <a:t>P</a:t>
            </a:r>
            <a:r>
              <a:rPr lang="en-US" altLang="en-US" sz="2800" i="1" baseline="-25000">
                <a:sym typeface="Symbol" pitchFamily="2" charset="2"/>
              </a:rPr>
              <a:t>n</a:t>
            </a:r>
            <a:r>
              <a:rPr lang="en-US" altLang="en-US" sz="2800">
                <a:sym typeface="Symbol" pitchFamily="2" charset="2"/>
              </a:rPr>
              <a:t> be the amount after </a:t>
            </a:r>
            <a:r>
              <a:rPr lang="en-US" altLang="en-US" sz="2800" i="1">
                <a:sym typeface="Symbol" pitchFamily="2" charset="2"/>
              </a:rPr>
              <a:t>n</a:t>
            </a:r>
            <a:r>
              <a:rPr lang="en-US" altLang="en-US" sz="2800">
                <a:sym typeface="Symbol" pitchFamily="2" charset="2"/>
              </a:rPr>
              <a:t> years, then : </a:t>
            </a:r>
          </a:p>
          <a:p>
            <a:pPr algn="ctr"/>
            <a:r>
              <a:rPr lang="en-US" altLang="en-US" sz="2800" i="1">
                <a:sym typeface="Symbol" pitchFamily="2" charset="2"/>
              </a:rPr>
              <a:t>P</a:t>
            </a:r>
            <a:r>
              <a:rPr lang="en-US" altLang="en-US" sz="2800" i="1" baseline="-25000">
                <a:sym typeface="Symbol" pitchFamily="2" charset="2"/>
              </a:rPr>
              <a:t>n </a:t>
            </a:r>
            <a:r>
              <a:rPr lang="en-US" altLang="en-US" sz="2800" baseline="-25000">
                <a:sym typeface="Symbol" pitchFamily="2" charset="2"/>
              </a:rPr>
              <a:t> </a:t>
            </a:r>
            <a:r>
              <a:rPr lang="en-US" altLang="en-US" sz="2800">
                <a:sym typeface="Symbol" pitchFamily="2" charset="2"/>
              </a:rPr>
              <a:t>= </a:t>
            </a:r>
            <a:r>
              <a:rPr lang="en-US" altLang="en-US" sz="2800" i="1">
                <a:sym typeface="Symbol" pitchFamily="2" charset="2"/>
              </a:rPr>
              <a:t>P</a:t>
            </a:r>
            <a:r>
              <a:rPr lang="en-US" altLang="en-US" sz="2800" i="1" baseline="-25000">
                <a:sym typeface="Symbol" pitchFamily="2" charset="2"/>
              </a:rPr>
              <a:t>n </a:t>
            </a:r>
            <a:r>
              <a:rPr lang="en-US" altLang="en-US" sz="2800" baseline="-25000">
                <a:sym typeface="Symbol" pitchFamily="2" charset="2"/>
              </a:rPr>
              <a:t>– 1</a:t>
            </a:r>
            <a:r>
              <a:rPr lang="en-US" altLang="en-US" sz="2800" i="1" baseline="-25000">
                <a:sym typeface="Symbol" pitchFamily="2" charset="2"/>
              </a:rPr>
              <a:t> </a:t>
            </a:r>
            <a:r>
              <a:rPr lang="en-US" altLang="en-US" sz="2800">
                <a:sym typeface="Symbol" pitchFamily="2" charset="2"/>
              </a:rPr>
              <a:t>+ </a:t>
            </a:r>
            <a:r>
              <a:rPr lang="en-US" altLang="en-US" sz="2800" i="1">
                <a:sym typeface="Symbol" pitchFamily="2" charset="2"/>
              </a:rPr>
              <a:t>r P</a:t>
            </a:r>
            <a:r>
              <a:rPr lang="en-US" altLang="en-US" sz="2800" i="1" baseline="-25000">
                <a:sym typeface="Symbol" pitchFamily="2" charset="2"/>
              </a:rPr>
              <a:t>n </a:t>
            </a:r>
            <a:r>
              <a:rPr lang="en-US" altLang="en-US" sz="2800" baseline="-25000">
                <a:sym typeface="Symbol" pitchFamily="2" charset="2"/>
              </a:rPr>
              <a:t>– 1</a:t>
            </a:r>
            <a:r>
              <a:rPr lang="en-US" altLang="en-US" sz="2800" i="1" baseline="-25000">
                <a:sym typeface="Symbol" pitchFamily="2" charset="2"/>
              </a:rPr>
              <a:t> </a:t>
            </a:r>
            <a:r>
              <a:rPr lang="en-US" altLang="en-US" sz="2800">
                <a:sym typeface="Symbol" pitchFamily="2" charset="2"/>
              </a:rPr>
              <a:t> = (1+</a:t>
            </a:r>
            <a:r>
              <a:rPr lang="en-US" altLang="en-US" sz="2800" i="1">
                <a:sym typeface="Symbol" pitchFamily="2" charset="2"/>
              </a:rPr>
              <a:t>r</a:t>
            </a:r>
            <a:r>
              <a:rPr lang="en-US" altLang="en-US" sz="2800">
                <a:sym typeface="Symbol" pitchFamily="2" charset="2"/>
              </a:rPr>
              <a:t>) </a:t>
            </a:r>
            <a:r>
              <a:rPr lang="en-US" altLang="en-US" sz="2800" i="1">
                <a:sym typeface="Symbol" pitchFamily="2" charset="2"/>
              </a:rPr>
              <a:t>P</a:t>
            </a:r>
            <a:r>
              <a:rPr lang="en-US" altLang="en-US" sz="2800" i="1" baseline="-25000">
                <a:sym typeface="Symbol" pitchFamily="2" charset="2"/>
              </a:rPr>
              <a:t>n </a:t>
            </a:r>
            <a:r>
              <a:rPr lang="en-US" altLang="en-US" sz="2800" baseline="-25000">
                <a:sym typeface="Symbol" pitchFamily="2" charset="2"/>
              </a:rPr>
              <a:t>– 1</a:t>
            </a:r>
            <a:r>
              <a:rPr lang="en-US" altLang="en-US" sz="2800" i="1" baseline="-25000">
                <a:sym typeface="Symbol" pitchFamily="2" charset="2"/>
              </a:rPr>
              <a:t> </a:t>
            </a:r>
          </a:p>
        </p:txBody>
      </p:sp>
      <p:sp>
        <p:nvSpPr>
          <p:cNvPr id="31749" name="Rectangle 5">
            <a:extLst>
              <a:ext uri="{FF2B5EF4-FFF2-40B4-BE49-F238E27FC236}">
                <a16:creationId xmlns:a16="http://schemas.microsoft.com/office/drawing/2014/main" id="{E43734B5-506E-D2CE-187F-7F2ABE80B97E}"/>
              </a:ext>
            </a:extLst>
          </p:cNvPr>
          <p:cNvSpPr>
            <a:spLocks noGrp="1" noRot="1" noChangeArrowheads="1"/>
          </p:cNvSpPr>
          <p:nvPr>
            <p:ph type="title"/>
          </p:nvPr>
        </p:nvSpPr>
        <p:spPr>
          <a:xfrm>
            <a:off x="0" y="381000"/>
            <a:ext cx="9372600" cy="1066800"/>
          </a:xfrm>
        </p:spPr>
        <p:txBody>
          <a:bodyPr/>
          <a:lstStyle/>
          <a:p>
            <a:pPr algn="l">
              <a:defRPr/>
            </a:pPr>
            <a:r>
              <a:rPr lang="en-US" dirty="0"/>
              <a:t>Modeling with Recurrence Relations</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1749"/>
                                        </p:tgtEl>
                                        <p:attrNameLst>
                                          <p:attrName>style.visibility</p:attrName>
                                        </p:attrNameLst>
                                      </p:cBhvr>
                                      <p:to>
                                        <p:strVal val="visible"/>
                                      </p:to>
                                    </p:set>
                                    <p:anim calcmode="lin" valueType="num">
                                      <p:cBhvr additive="base">
                                        <p:cTn id="7" dur="500" fill="hold"/>
                                        <p:tgtEl>
                                          <p:spTgt spid="31749"/>
                                        </p:tgtEl>
                                        <p:attrNameLst>
                                          <p:attrName>ppt_x</p:attrName>
                                        </p:attrNameLst>
                                      </p:cBhvr>
                                      <p:tavLst>
                                        <p:tav tm="0">
                                          <p:val>
                                            <p:strVal val="0-#ppt_w/2"/>
                                          </p:val>
                                        </p:tav>
                                        <p:tav tm="100000">
                                          <p:val>
                                            <p:strVal val="#ppt_x"/>
                                          </p:val>
                                        </p:tav>
                                      </p:tavLst>
                                    </p:anim>
                                    <p:anim calcmode="lin" valueType="num">
                                      <p:cBhvr additive="base">
                                        <p:cTn id="8" dur="500" fill="hold"/>
                                        <p:tgtEl>
                                          <p:spTgt spid="3174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1746"/>
                                        </p:tgtEl>
                                        <p:attrNameLst>
                                          <p:attrName>style.visibility</p:attrName>
                                        </p:attrNameLst>
                                      </p:cBhvr>
                                      <p:to>
                                        <p:strVal val="visible"/>
                                      </p:to>
                                    </p:set>
                                    <p:anim calcmode="lin" valueType="num">
                                      <p:cBhvr additive="base">
                                        <p:cTn id="13" dur="500" fill="hold"/>
                                        <p:tgtEl>
                                          <p:spTgt spid="31746"/>
                                        </p:tgtEl>
                                        <p:attrNameLst>
                                          <p:attrName>ppt_x</p:attrName>
                                        </p:attrNameLst>
                                      </p:cBhvr>
                                      <p:tavLst>
                                        <p:tav tm="0">
                                          <p:val>
                                            <p:strVal val="0-#ppt_w/2"/>
                                          </p:val>
                                        </p:tav>
                                        <p:tav tm="100000">
                                          <p:val>
                                            <p:strVal val="#ppt_x"/>
                                          </p:val>
                                        </p:tav>
                                      </p:tavLst>
                                    </p:anim>
                                    <p:anim calcmode="lin" valueType="num">
                                      <p:cBhvr additive="base">
                                        <p:cTn id="14" dur="500" fill="hold"/>
                                        <p:tgtEl>
                                          <p:spTgt spid="317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31748"/>
                                        </p:tgtEl>
                                        <p:attrNameLst>
                                          <p:attrName>style.visibility</p:attrName>
                                        </p:attrNameLst>
                                      </p:cBhvr>
                                      <p:to>
                                        <p:strVal val="visible"/>
                                      </p:to>
                                    </p:set>
                                    <p:animEffect transition="in" filter="wipe(left)">
                                      <p:cBhvr>
                                        <p:cTn id="19" dur="500"/>
                                        <p:tgtEl>
                                          <p:spTgt spid="3174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31747">
                                            <p:txEl>
                                              <p:pRg st="0" end="0"/>
                                            </p:txEl>
                                          </p:spTgt>
                                        </p:tgtEl>
                                        <p:attrNameLst>
                                          <p:attrName>style.visibility</p:attrName>
                                        </p:attrNameLst>
                                      </p:cBhvr>
                                      <p:to>
                                        <p:strVal val="visible"/>
                                      </p:to>
                                    </p:set>
                                    <p:anim calcmode="lin" valueType="num">
                                      <p:cBhvr additive="base">
                                        <p:cTn id="24" dur="500" fill="hold"/>
                                        <p:tgtEl>
                                          <p:spTgt spid="31747">
                                            <p:txEl>
                                              <p:pRg st="0" end="0"/>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31747">
                                            <p:txEl>
                                              <p:pRg st="1" end="1"/>
                                            </p:txEl>
                                          </p:spTgt>
                                        </p:tgtEl>
                                        <p:attrNameLst>
                                          <p:attrName>style.visibility</p:attrName>
                                        </p:attrNameLst>
                                      </p:cBhvr>
                                      <p:to>
                                        <p:strVal val="visible"/>
                                      </p:to>
                                    </p:set>
                                    <p:anim calcmode="lin" valueType="num">
                                      <p:cBhvr additive="base">
                                        <p:cTn id="30" dur="500" fill="hold"/>
                                        <p:tgtEl>
                                          <p:spTgt spid="31747">
                                            <p:txEl>
                                              <p:pRg st="1" end="1"/>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31747">
                                            <p:txEl>
                                              <p:pRg st="2" end="2"/>
                                            </p:txEl>
                                          </p:spTgt>
                                        </p:tgtEl>
                                        <p:attrNameLst>
                                          <p:attrName>style.visibility</p:attrName>
                                        </p:attrNameLst>
                                      </p:cBhvr>
                                      <p:to>
                                        <p:strVal val="visible"/>
                                      </p:to>
                                    </p:set>
                                    <p:anim calcmode="lin" valueType="num">
                                      <p:cBhvr additive="base">
                                        <p:cTn id="36" dur="500" fill="hold"/>
                                        <p:tgtEl>
                                          <p:spTgt spid="31747">
                                            <p:txEl>
                                              <p:pRg st="2" end="2"/>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31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nodeType="clickEffect">
                                  <p:stCondLst>
                                    <p:cond delay="0"/>
                                  </p:stCondLst>
                                  <p:childTnLst>
                                    <p:set>
                                      <p:cBhvr>
                                        <p:cTn id="41" dur="1" fill="hold">
                                          <p:stCondLst>
                                            <p:cond delay="0"/>
                                          </p:stCondLst>
                                        </p:cTn>
                                        <p:tgtEl>
                                          <p:spTgt spid="31747">
                                            <p:txEl>
                                              <p:pRg st="3" end="3"/>
                                            </p:txEl>
                                          </p:spTgt>
                                        </p:tgtEl>
                                        <p:attrNameLst>
                                          <p:attrName>style.visibility</p:attrName>
                                        </p:attrNameLst>
                                      </p:cBhvr>
                                      <p:to>
                                        <p:strVal val="visible"/>
                                      </p:to>
                                    </p:set>
                                    <p:anim calcmode="lin" valueType="num">
                                      <p:cBhvr additive="base">
                                        <p:cTn id="42" dur="500" fill="hold"/>
                                        <p:tgtEl>
                                          <p:spTgt spid="31747">
                                            <p:txEl>
                                              <p:pRg st="3" end="3"/>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317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8" grpId="0"/>
      <p:bldP spid="3174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F1636-FB80-E0BD-B2FF-218CDC8D13E5}"/>
              </a:ext>
            </a:extLst>
          </p:cNvPr>
          <p:cNvSpPr>
            <a:spLocks noGrp="1"/>
          </p:cNvSpPr>
          <p:nvPr>
            <p:ph idx="1"/>
          </p:nvPr>
        </p:nvSpPr>
        <p:spPr>
          <a:xfrm>
            <a:off x="152400" y="1189038"/>
            <a:ext cx="8991600" cy="4525962"/>
          </a:xfrm>
        </p:spPr>
        <p:txBody>
          <a:bodyPr/>
          <a:lstStyle/>
          <a:p>
            <a:pPr eaLnBrk="1" hangingPunct="1">
              <a:defRPr/>
            </a:pPr>
            <a:r>
              <a:rPr lang="en-US" dirty="0"/>
              <a:t>In this section, we’ll emphasize using recurrences to analyze the performance of recursive algorithms.</a:t>
            </a:r>
          </a:p>
          <a:p>
            <a:pPr eaLnBrk="1" hangingPunct="1">
              <a:defRPr/>
            </a:pPr>
            <a:r>
              <a:rPr lang="en-US" dirty="0"/>
              <a:t>Recurrences are one aspect of a broad theme in computer science: reducing a big problem to progressively smaller problems until easy base cases are reached. This same idea underlies both induction proofs and recursive algorithms. As we’ll see, all three ideas snap together nicely. For example, the running time of a recursive algorithm could be described with a recurrence with induction used to verify the solution.</a:t>
            </a:r>
          </a:p>
          <a:p>
            <a:pPr>
              <a:defRPr/>
            </a:pPr>
            <a:endParaRPr lang="en-US" dirty="0"/>
          </a:p>
        </p:txBody>
      </p:sp>
      <p:sp>
        <p:nvSpPr>
          <p:cNvPr id="4" name="Rectangle 5">
            <a:extLst>
              <a:ext uri="{FF2B5EF4-FFF2-40B4-BE49-F238E27FC236}">
                <a16:creationId xmlns:a16="http://schemas.microsoft.com/office/drawing/2014/main" id="{5E870BAC-1D7C-300C-A012-AC691EDCD5AA}"/>
              </a:ext>
            </a:extLst>
          </p:cNvPr>
          <p:cNvSpPr>
            <a:spLocks noGrp="1" noRot="1" noChangeArrowheads="1"/>
          </p:cNvSpPr>
          <p:nvPr>
            <p:ph type="title"/>
          </p:nvPr>
        </p:nvSpPr>
        <p:spPr>
          <a:xfrm>
            <a:off x="152400" y="152400"/>
            <a:ext cx="9372600" cy="381000"/>
          </a:xfrm>
        </p:spPr>
        <p:txBody>
          <a:bodyPr/>
          <a:lstStyle/>
          <a:p>
            <a:pPr algn="l">
              <a:defRPr/>
            </a:pPr>
            <a:r>
              <a:rPr lang="en-US" dirty="0"/>
              <a:t>Modeling with Recurrence Relations</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266DF-188B-3A81-2BE3-5D85CB3AED6E}"/>
              </a:ext>
            </a:extLst>
          </p:cNvPr>
          <p:cNvSpPr>
            <a:spLocks noGrp="1"/>
          </p:cNvSpPr>
          <p:nvPr>
            <p:ph idx="1"/>
          </p:nvPr>
        </p:nvSpPr>
        <p:spPr/>
        <p:txBody>
          <a:bodyPr/>
          <a:lstStyle/>
          <a:p>
            <a:pPr eaLnBrk="1" hangingPunct="1">
              <a:defRPr/>
            </a:pPr>
            <a:r>
              <a:rPr lang="en-US" dirty="0"/>
              <a:t>There are several methods for solving recurrence equations.</a:t>
            </a:r>
          </a:p>
          <a:p>
            <a:pPr eaLnBrk="1" hangingPunct="1">
              <a:defRPr/>
            </a:pPr>
            <a:r>
              <a:rPr lang="en-US" dirty="0"/>
              <a:t> The simplest is to guess the solution and then verify that the guess is correct with an induction proof.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34AD-F3D9-8376-A32B-09DA75BCF721}"/>
              </a:ext>
            </a:extLst>
          </p:cNvPr>
          <p:cNvSpPr>
            <a:spLocks noGrp="1"/>
          </p:cNvSpPr>
          <p:nvPr>
            <p:ph type="title"/>
          </p:nvPr>
        </p:nvSpPr>
        <p:spPr>
          <a:xfrm>
            <a:off x="457200" y="-76200"/>
            <a:ext cx="8229600" cy="1143000"/>
          </a:xfrm>
        </p:spPr>
        <p:txBody>
          <a:bodyPr/>
          <a:lstStyle/>
          <a:p>
            <a:pPr eaLnBrk="1" hangingPunct="1">
              <a:defRPr/>
            </a:pPr>
            <a:r>
              <a:rPr lang="en-US" dirty="0"/>
              <a:t>The Towers of Hanoi Problem</a:t>
            </a:r>
          </a:p>
        </p:txBody>
      </p:sp>
      <p:sp>
        <p:nvSpPr>
          <p:cNvPr id="3" name="Content Placeholder 2">
            <a:extLst>
              <a:ext uri="{FF2B5EF4-FFF2-40B4-BE49-F238E27FC236}">
                <a16:creationId xmlns:a16="http://schemas.microsoft.com/office/drawing/2014/main" id="{93C9A478-0D94-B7F9-C559-864BF80E5D5E}"/>
              </a:ext>
            </a:extLst>
          </p:cNvPr>
          <p:cNvSpPr>
            <a:spLocks noGrp="1"/>
          </p:cNvSpPr>
          <p:nvPr>
            <p:ph idx="1"/>
          </p:nvPr>
        </p:nvSpPr>
        <p:spPr>
          <a:xfrm>
            <a:off x="457200" y="1143000"/>
            <a:ext cx="8229600" cy="4525963"/>
          </a:xfrm>
        </p:spPr>
        <p:txBody>
          <a:bodyPr/>
          <a:lstStyle/>
          <a:p>
            <a:pPr eaLnBrk="1" hangingPunct="1">
              <a:defRPr/>
            </a:pPr>
            <a:r>
              <a:rPr lang="en-US" dirty="0"/>
              <a:t>According to legend, there is a temple in Hanoi with three posts and 64 gold disks of different sizes. Each disk has a hole through the center so that it fits on a post.</a:t>
            </a:r>
          </a:p>
          <a:p>
            <a:pPr eaLnBrk="1" hangingPunct="1">
              <a:defRPr/>
            </a:pPr>
            <a:r>
              <a:rPr lang="en-US" dirty="0"/>
              <a:t>In the misty past, all the disks were on the first post, with the largest on the bottom and the smallest on top.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EA3793-8CCA-40F5-8596-204A74D86F92}"/>
              </a:ext>
            </a:extLst>
          </p:cNvPr>
          <p:cNvSpPr>
            <a:spLocks noGrp="1"/>
          </p:cNvSpPr>
          <p:nvPr>
            <p:ph idx="1"/>
          </p:nvPr>
        </p:nvSpPr>
        <p:spPr>
          <a:xfrm>
            <a:off x="457200" y="579438"/>
            <a:ext cx="8229600" cy="4525962"/>
          </a:xfrm>
        </p:spPr>
        <p:txBody>
          <a:bodyPr/>
          <a:lstStyle/>
          <a:p>
            <a:pPr eaLnBrk="1" hangingPunct="1">
              <a:defRPr/>
            </a:pPr>
            <a:r>
              <a:rPr lang="en-US" dirty="0"/>
              <a:t>Monks in the temple have labored through the years since to move all the disks to one of the other two posts according to the following rules:</a:t>
            </a:r>
          </a:p>
          <a:p>
            <a:pPr eaLnBrk="1" hangingPunct="1">
              <a:buFont typeface="Wingdings" pitchFamily="2" charset="2"/>
              <a:buChar char="Ø"/>
              <a:defRPr/>
            </a:pPr>
            <a:r>
              <a:rPr lang="en-US" dirty="0"/>
              <a:t> The only permitted action is removing the top disk from one post and dropping it onto another post.</a:t>
            </a:r>
          </a:p>
          <a:p>
            <a:pPr eaLnBrk="1" hangingPunct="1">
              <a:buFont typeface="Wingdings" pitchFamily="2" charset="2"/>
              <a:buChar char="Ø"/>
              <a:defRPr/>
            </a:pPr>
            <a:r>
              <a:rPr lang="en-US" dirty="0"/>
              <a:t> A larger disk can never lie above a smaller disk on any post.</a:t>
            </a:r>
          </a:p>
          <a:p>
            <a:pPr eaLnBrk="1" hangingPunct="1">
              <a:defRPr/>
            </a:pPr>
            <a:r>
              <a:rPr lang="en-US" dirty="0"/>
              <a:t>The legend says that when the monks complete the puzzle, the world will end!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4220-598D-DB32-74D0-7C06A8DA37EC}"/>
              </a:ext>
            </a:extLst>
          </p:cNvPr>
          <p:cNvSpPr>
            <a:spLocks noGrp="1"/>
          </p:cNvSpPr>
          <p:nvPr>
            <p:ph type="title"/>
          </p:nvPr>
        </p:nvSpPr>
        <p:spPr/>
        <p:txBody>
          <a:bodyPr/>
          <a:lstStyle/>
          <a:p>
            <a:pPr eaLnBrk="1" hangingPunct="1">
              <a:defRPr/>
            </a:pPr>
            <a:r>
              <a:rPr lang="en-US" dirty="0"/>
              <a:t>Question</a:t>
            </a:r>
          </a:p>
        </p:txBody>
      </p:sp>
      <p:sp>
        <p:nvSpPr>
          <p:cNvPr id="3" name="Content Placeholder 2">
            <a:extLst>
              <a:ext uri="{FF2B5EF4-FFF2-40B4-BE49-F238E27FC236}">
                <a16:creationId xmlns:a16="http://schemas.microsoft.com/office/drawing/2014/main" id="{A9BBD706-AA25-66FB-8C2C-BF9143E03531}"/>
              </a:ext>
            </a:extLst>
          </p:cNvPr>
          <p:cNvSpPr>
            <a:spLocks noGrp="1"/>
          </p:cNvSpPr>
          <p:nvPr>
            <p:ph idx="1"/>
          </p:nvPr>
        </p:nvSpPr>
        <p:spPr/>
        <p:txBody>
          <a:bodyPr/>
          <a:lstStyle/>
          <a:p>
            <a:pPr eaLnBrk="1" hangingPunct="1">
              <a:defRPr/>
            </a:pPr>
            <a:r>
              <a:rPr lang="en-US" dirty="0"/>
              <a:t>“Given sufficient time, can the monks succeed?”</a:t>
            </a:r>
          </a:p>
          <a:p>
            <a:pPr eaLnBrk="1" hangingPunct="1">
              <a:defRPr/>
            </a:pPr>
            <a:r>
              <a:rPr lang="en-US" dirty="0"/>
              <a:t>If so, “How long until the world ends?”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9E6F588D-6536-14F2-9FA7-A34AF79E1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6675"/>
            <a:ext cx="7162800" cy="671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2FC90EFF-66B1-F7EE-C956-4E3926C81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85800"/>
            <a:ext cx="9005888"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25C1-C552-4924-D40C-D7D937199EBF}"/>
              </a:ext>
            </a:extLst>
          </p:cNvPr>
          <p:cNvSpPr>
            <a:spLocks noGrp="1"/>
          </p:cNvSpPr>
          <p:nvPr>
            <p:ph type="title"/>
          </p:nvPr>
        </p:nvSpPr>
        <p:spPr>
          <a:xfrm>
            <a:off x="457200" y="-152400"/>
            <a:ext cx="8229600" cy="1143000"/>
          </a:xfrm>
        </p:spPr>
        <p:txBody>
          <a:bodyPr/>
          <a:lstStyle/>
          <a:p>
            <a:pPr eaLnBrk="1" hangingPunct="1">
              <a:defRPr/>
            </a:pPr>
            <a:r>
              <a:rPr lang="en-US" dirty="0"/>
              <a:t>A recursive solution</a:t>
            </a:r>
          </a:p>
        </p:txBody>
      </p:sp>
      <p:sp>
        <p:nvSpPr>
          <p:cNvPr id="3" name="Content Placeholder 2">
            <a:extLst>
              <a:ext uri="{FF2B5EF4-FFF2-40B4-BE49-F238E27FC236}">
                <a16:creationId xmlns:a16="http://schemas.microsoft.com/office/drawing/2014/main" id="{5214FF75-0E84-2C12-4A47-53D50DD3003A}"/>
              </a:ext>
            </a:extLst>
          </p:cNvPr>
          <p:cNvSpPr>
            <a:spLocks noGrp="1"/>
          </p:cNvSpPr>
          <p:nvPr>
            <p:ph idx="1"/>
          </p:nvPr>
        </p:nvSpPr>
        <p:spPr>
          <a:xfrm>
            <a:off x="457200" y="1036638"/>
            <a:ext cx="8229600" cy="4525962"/>
          </a:xfrm>
        </p:spPr>
        <p:txBody>
          <a:bodyPr/>
          <a:lstStyle/>
          <a:p>
            <a:pPr eaLnBrk="1" hangingPunct="1">
              <a:defRPr/>
            </a:pPr>
            <a:r>
              <a:rPr lang="en-US" sz="3000" b="1" dirty="0"/>
              <a:t>Stage 1.</a:t>
            </a:r>
            <a:r>
              <a:rPr lang="en-US" sz="3000" dirty="0"/>
              <a:t> Move the top n-1 disks from the first post to the second using the solution for n-1 disks. This can be done in t</a:t>
            </a:r>
            <a:r>
              <a:rPr lang="en-US" sz="3000" baseline="-25000" dirty="0"/>
              <a:t>n-1</a:t>
            </a:r>
            <a:r>
              <a:rPr lang="en-US" sz="3000" dirty="0"/>
              <a:t> steps.</a:t>
            </a:r>
          </a:p>
          <a:p>
            <a:pPr eaLnBrk="1" hangingPunct="1">
              <a:defRPr/>
            </a:pPr>
            <a:r>
              <a:rPr lang="en-US" sz="3000" dirty="0"/>
              <a:t>Stage 2. Move the largest disk from the first post to the third post. This takes just 1 step.</a:t>
            </a:r>
          </a:p>
          <a:p>
            <a:pPr eaLnBrk="1" hangingPunct="1">
              <a:defRPr/>
            </a:pPr>
            <a:r>
              <a:rPr lang="en-US" sz="3000" dirty="0"/>
              <a:t>Stage 3. Move the n-1 disks from the second post to the third post, again using the solution for n -1 disks. This can also be done in t</a:t>
            </a:r>
            <a:r>
              <a:rPr lang="en-US" sz="3000" baseline="-25000" dirty="0"/>
              <a:t>n-1</a:t>
            </a:r>
            <a:r>
              <a:rPr lang="en-US" sz="3000" dirty="0"/>
              <a:t> steps.</a:t>
            </a:r>
          </a:p>
          <a:p>
            <a:pPr eaLnBrk="1" hangingPunct="1">
              <a:defRPr/>
            </a:pPr>
            <a:r>
              <a:rPr lang="en-US" sz="3000" dirty="0"/>
              <a:t>This algorithm shows that </a:t>
            </a:r>
            <a:r>
              <a:rPr lang="en-US" sz="3000" dirty="0" err="1"/>
              <a:t>t</a:t>
            </a:r>
            <a:r>
              <a:rPr lang="en-US" sz="3000" baseline="-25000" dirty="0" err="1"/>
              <a:t>n</a:t>
            </a:r>
            <a:r>
              <a:rPr lang="en-US" sz="3000" dirty="0"/>
              <a:t>, the minimum number of steps required to move n disks to a different post, is at most t</a:t>
            </a:r>
            <a:r>
              <a:rPr lang="en-US" sz="3000" baseline="-25000" dirty="0"/>
              <a:t>n-1</a:t>
            </a:r>
            <a:r>
              <a:rPr lang="en-US" sz="3000" dirty="0"/>
              <a:t> + 1+ t</a:t>
            </a:r>
            <a:r>
              <a:rPr lang="en-US" sz="3000" baseline="-25000" dirty="0"/>
              <a:t>n-1</a:t>
            </a:r>
            <a:r>
              <a:rPr lang="en-US" sz="3000" dirty="0"/>
              <a:t> = 2t</a:t>
            </a:r>
            <a:r>
              <a:rPr lang="en-US" sz="3000" baseline="-25000" dirty="0"/>
              <a:t>n-1</a:t>
            </a:r>
            <a:r>
              <a:rPr lang="en-US" sz="3000" dirty="0"/>
              <a:t> + 1.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0CF6-E8E1-12BF-59ED-D37B6D39CC56}"/>
              </a:ext>
            </a:extLst>
          </p:cNvPr>
          <p:cNvSpPr>
            <a:spLocks noGrp="1"/>
          </p:cNvSpPr>
          <p:nvPr>
            <p:ph type="title"/>
          </p:nvPr>
        </p:nvSpPr>
        <p:spPr/>
        <p:txBody>
          <a:bodyPr/>
          <a:lstStyle/>
          <a:p>
            <a:pPr>
              <a:defRPr/>
            </a:pPr>
            <a:r>
              <a:rPr lang="en-US" dirty="0"/>
              <a:t>Find a closed formula for </a:t>
            </a:r>
            <a:r>
              <a:rPr lang="en-US" dirty="0" err="1"/>
              <a:t>T</a:t>
            </a:r>
            <a:r>
              <a:rPr lang="en-US" baseline="-25000" dirty="0" err="1"/>
              <a:t>n</a:t>
            </a:r>
            <a:endParaRPr lang="en-US" dirty="0"/>
          </a:p>
        </p:txBody>
      </p:sp>
      <p:sp>
        <p:nvSpPr>
          <p:cNvPr id="3" name="Content Placeholder 2">
            <a:extLst>
              <a:ext uri="{FF2B5EF4-FFF2-40B4-BE49-F238E27FC236}">
                <a16:creationId xmlns:a16="http://schemas.microsoft.com/office/drawing/2014/main" id="{525BC2E0-624E-2775-8C2C-9F04F6A0C978}"/>
              </a:ext>
            </a:extLst>
          </p:cNvPr>
          <p:cNvSpPr>
            <a:spLocks noGrp="1"/>
          </p:cNvSpPr>
          <p:nvPr>
            <p:ph idx="1"/>
          </p:nvPr>
        </p:nvSpPr>
        <p:spPr/>
        <p:txBody>
          <a:bodyPr/>
          <a:lstStyle/>
          <a:p>
            <a:pPr>
              <a:defRPr/>
            </a:pPr>
            <a:r>
              <a:rPr lang="en-US" dirty="0"/>
              <a:t>We have   </a:t>
            </a:r>
            <a:r>
              <a:rPr lang="en-US" dirty="0" err="1"/>
              <a:t>T</a:t>
            </a:r>
            <a:r>
              <a:rPr lang="en-US" baseline="-25000" dirty="0" err="1"/>
              <a:t>n</a:t>
            </a:r>
            <a:r>
              <a:rPr lang="en-US" dirty="0"/>
              <a:t> = 2 T</a:t>
            </a:r>
            <a:r>
              <a:rPr lang="en-US" baseline="-25000" dirty="0"/>
              <a:t>n-1</a:t>
            </a:r>
            <a:r>
              <a:rPr lang="en-US" dirty="0"/>
              <a:t> +1</a:t>
            </a:r>
          </a:p>
          <a:p>
            <a:pPr>
              <a:defRPr/>
            </a:pPr>
            <a:r>
              <a:rPr lang="en-US" dirty="0"/>
              <a:t>Let’s guess the formula</a:t>
            </a:r>
          </a:p>
          <a:p>
            <a:pPr marL="0" indent="0">
              <a:buFont typeface="Wingdings" pitchFamily="2" charset="2"/>
              <a:buNone/>
              <a:defRPr/>
            </a:pPr>
            <a:r>
              <a:rPr lang="en-US" dirty="0"/>
              <a:t>       T</a:t>
            </a:r>
            <a:r>
              <a:rPr lang="en-US" baseline="-25000" dirty="0"/>
              <a:t>1 </a:t>
            </a:r>
            <a:r>
              <a:rPr lang="en-US" dirty="0"/>
              <a:t>= 1</a:t>
            </a:r>
          </a:p>
          <a:p>
            <a:pPr marL="0" indent="0">
              <a:buFont typeface="Wingdings" pitchFamily="2" charset="2"/>
              <a:buNone/>
              <a:defRPr/>
            </a:pPr>
            <a:r>
              <a:rPr lang="en-US" dirty="0"/>
              <a:t>       T</a:t>
            </a:r>
            <a:r>
              <a:rPr lang="en-US" baseline="-25000" dirty="0"/>
              <a:t>2</a:t>
            </a:r>
            <a:r>
              <a:rPr lang="en-US" dirty="0"/>
              <a:t> = 3</a:t>
            </a:r>
          </a:p>
          <a:p>
            <a:pPr marL="0" indent="0">
              <a:buFont typeface="Wingdings" pitchFamily="2" charset="2"/>
              <a:buNone/>
              <a:defRPr/>
            </a:pPr>
            <a:r>
              <a:rPr lang="en-US" dirty="0"/>
              <a:t>       T</a:t>
            </a:r>
            <a:r>
              <a:rPr lang="en-US" baseline="-25000" dirty="0"/>
              <a:t>3</a:t>
            </a:r>
            <a:r>
              <a:rPr lang="en-US" dirty="0"/>
              <a:t> = 7</a:t>
            </a:r>
          </a:p>
          <a:p>
            <a:pPr marL="0" indent="0">
              <a:buFont typeface="Wingdings" pitchFamily="2" charset="2"/>
              <a:buNone/>
              <a:defRPr/>
            </a:pPr>
            <a:r>
              <a:rPr lang="en-US" dirty="0"/>
              <a:t>       T</a:t>
            </a:r>
            <a:r>
              <a:rPr lang="en-US" baseline="-25000" dirty="0"/>
              <a:t>4</a:t>
            </a:r>
            <a:r>
              <a:rPr lang="en-US" dirty="0"/>
              <a:t> = 15</a:t>
            </a:r>
          </a:p>
          <a:p>
            <a:pPr marL="0" indent="0">
              <a:buFont typeface="Wingdings" pitchFamily="2" charset="2"/>
              <a:buNone/>
              <a:defRPr/>
            </a:pPr>
            <a:r>
              <a:rPr lang="en-US" dirty="0"/>
              <a:t>       T</a:t>
            </a:r>
            <a:r>
              <a:rPr lang="en-US" baseline="-25000" dirty="0"/>
              <a:t>5</a:t>
            </a:r>
            <a:r>
              <a:rPr lang="en-US" dirty="0"/>
              <a:t> = 31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4365844B-DCD3-ED0D-74BE-9124AE201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685800"/>
            <a:ext cx="8609013" cy="165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699" name="Picture 3">
            <a:extLst>
              <a:ext uri="{FF2B5EF4-FFF2-40B4-BE49-F238E27FC236}">
                <a16:creationId xmlns:a16="http://schemas.microsoft.com/office/drawing/2014/main" id="{C5AEB357-7B9C-4EBD-7674-48FC8DF10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95600"/>
            <a:ext cx="9180513" cy="345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169E93-21A2-C435-FC8B-11773B99D42A}"/>
              </a:ext>
            </a:extLst>
          </p:cNvPr>
          <p:cNvSpPr txBox="1">
            <a:spLocks noGrp="1"/>
          </p:cNvSpPr>
          <p:nvPr>
            <p:ph type="title"/>
          </p:nvPr>
        </p:nvSpPr>
        <p:spPr>
          <a:xfrm>
            <a:off x="457200" y="296863"/>
            <a:ext cx="8229600" cy="769937"/>
          </a:xfrm>
        </p:spPr>
        <p:txBody>
          <a:bodyPr rtlCol="0">
            <a:spAutoFit/>
          </a:bodyPr>
          <a:lstStyle/>
          <a:p>
            <a:pPr>
              <a:defRPr/>
            </a:pPr>
            <a:r>
              <a:rPr lang="en-US" dirty="0">
                <a:solidFill>
                  <a:srgbClr val="FFC000"/>
                </a:solidFill>
              </a:rPr>
              <a:t>MERGE SORT ALGORITHM</a:t>
            </a:r>
          </a:p>
        </p:txBody>
      </p:sp>
      <p:pic>
        <p:nvPicPr>
          <p:cNvPr id="30723" name="Picture 3">
            <a:extLst>
              <a:ext uri="{FF2B5EF4-FFF2-40B4-BE49-F238E27FC236}">
                <a16:creationId xmlns:a16="http://schemas.microsoft.com/office/drawing/2014/main" id="{3283F0B9-2180-2FB1-452B-5F9C3B905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75" y="1371600"/>
            <a:ext cx="887412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4" name="Rectangle 1">
            <a:extLst>
              <a:ext uri="{FF2B5EF4-FFF2-40B4-BE49-F238E27FC236}">
                <a16:creationId xmlns:a16="http://schemas.microsoft.com/office/drawing/2014/main" id="{7D60351F-3F1C-8486-791E-ACBCD773F70E}"/>
              </a:ext>
            </a:extLst>
          </p:cNvPr>
          <p:cNvSpPr>
            <a:spLocks noChangeArrowheads="1"/>
          </p:cNvSpPr>
          <p:nvPr/>
        </p:nvSpPr>
        <p:spPr bwMode="auto">
          <a:xfrm>
            <a:off x="228600" y="53340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3600"/>
              <a:t>The input is a list of n numbers, and the output</a:t>
            </a:r>
          </a:p>
          <a:p>
            <a:pPr eaLnBrk="1" hangingPunct="1">
              <a:buFont typeface="Wingdings" pitchFamily="2" charset="2"/>
              <a:buNone/>
            </a:pPr>
            <a:r>
              <a:rPr lang="en-US" altLang="en-US" sz="3600"/>
              <a:t>is those same numbers in nondecreasing order.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B813-F93D-23D7-1C5A-315B36BFFFDB}"/>
              </a:ext>
            </a:extLst>
          </p:cNvPr>
          <p:cNvSpPr>
            <a:spLocks noGrp="1"/>
          </p:cNvSpPr>
          <p:nvPr>
            <p:ph type="title"/>
          </p:nvPr>
        </p:nvSpPr>
        <p:spPr>
          <a:xfrm>
            <a:off x="457200" y="0"/>
            <a:ext cx="8229600" cy="1143000"/>
          </a:xfrm>
        </p:spPr>
        <p:txBody>
          <a:bodyPr/>
          <a:lstStyle/>
          <a:p>
            <a:pPr>
              <a:defRPr/>
            </a:pPr>
            <a:r>
              <a:rPr lang="en-US" dirty="0"/>
              <a:t>Merging two lists</a:t>
            </a:r>
          </a:p>
        </p:txBody>
      </p:sp>
      <p:sp>
        <p:nvSpPr>
          <p:cNvPr id="3" name="Content Placeholder 2">
            <a:extLst>
              <a:ext uri="{FF2B5EF4-FFF2-40B4-BE49-F238E27FC236}">
                <a16:creationId xmlns:a16="http://schemas.microsoft.com/office/drawing/2014/main" id="{A2DAFB80-38D8-967A-B83D-EDD3137996E3}"/>
              </a:ext>
            </a:extLst>
          </p:cNvPr>
          <p:cNvSpPr>
            <a:spLocks noGrp="1"/>
          </p:cNvSpPr>
          <p:nvPr>
            <p:ph idx="1"/>
          </p:nvPr>
        </p:nvSpPr>
        <p:spPr>
          <a:xfrm>
            <a:off x="152400" y="1143000"/>
            <a:ext cx="9220200" cy="4525963"/>
          </a:xfrm>
        </p:spPr>
        <p:txBody>
          <a:bodyPr/>
          <a:lstStyle/>
          <a:p>
            <a:pPr marL="0" indent="0">
              <a:buFont typeface="Wingdings" pitchFamily="2" charset="2"/>
              <a:buNone/>
              <a:defRPr/>
            </a:pPr>
            <a:r>
              <a:rPr lang="en-US" b="1" dirty="0">
                <a:solidFill>
                  <a:srgbClr val="FFC000"/>
                </a:solidFill>
              </a:rPr>
              <a:t>procedure</a:t>
            </a:r>
            <a:r>
              <a:rPr lang="en-US" b="1" dirty="0"/>
              <a:t> </a:t>
            </a:r>
            <a:r>
              <a:rPr lang="en-US" i="1" dirty="0">
                <a:solidFill>
                  <a:srgbClr val="FFFF00"/>
                </a:solidFill>
              </a:rPr>
              <a:t>merge</a:t>
            </a:r>
            <a:r>
              <a:rPr lang="en-US" i="1" dirty="0"/>
              <a:t>(L</a:t>
            </a:r>
            <a:r>
              <a:rPr lang="en-US" dirty="0"/>
              <a:t>1</a:t>
            </a:r>
            <a:r>
              <a:rPr lang="en-US" i="1" dirty="0"/>
              <a:t>,L</a:t>
            </a:r>
            <a:r>
              <a:rPr lang="en-US" dirty="0"/>
              <a:t>2 : sorted lists</a:t>
            </a:r>
            <a:r>
              <a:rPr lang="en-US" i="1" dirty="0"/>
              <a:t>)</a:t>
            </a:r>
          </a:p>
          <a:p>
            <a:pPr>
              <a:defRPr/>
            </a:pPr>
            <a:r>
              <a:rPr lang="en-US" i="1" dirty="0"/>
              <a:t>L </a:t>
            </a:r>
            <a:r>
              <a:rPr lang="en-US" dirty="0"/>
              <a:t>:= empty list</a:t>
            </a:r>
          </a:p>
          <a:p>
            <a:pPr>
              <a:defRPr/>
            </a:pPr>
            <a:r>
              <a:rPr lang="en-US" b="1" dirty="0"/>
              <a:t>while </a:t>
            </a:r>
            <a:r>
              <a:rPr lang="en-US" i="1" dirty="0"/>
              <a:t>L</a:t>
            </a:r>
            <a:r>
              <a:rPr lang="en-US" dirty="0"/>
              <a:t>1 and </a:t>
            </a:r>
            <a:r>
              <a:rPr lang="en-US" i="1" dirty="0"/>
              <a:t>L</a:t>
            </a:r>
            <a:r>
              <a:rPr lang="en-US" dirty="0"/>
              <a:t>2 are both nonempty</a:t>
            </a:r>
          </a:p>
          <a:p>
            <a:pPr marL="0" indent="0">
              <a:buFont typeface="Wingdings" pitchFamily="2" charset="2"/>
              <a:buNone/>
              <a:defRPr/>
            </a:pPr>
            <a:r>
              <a:rPr lang="en-US" dirty="0"/>
              <a:t>        </a:t>
            </a:r>
            <a:r>
              <a:rPr lang="en-US" sz="2800" i="1" dirty="0"/>
              <a:t>Remove the smaller of first elements of L1 and  L2 from its list; put it at the right end of L</a:t>
            </a:r>
          </a:p>
          <a:p>
            <a:pPr marL="0" indent="0">
              <a:buFont typeface="Wingdings" pitchFamily="2" charset="2"/>
              <a:buNone/>
              <a:defRPr/>
            </a:pPr>
            <a:r>
              <a:rPr lang="en-US" sz="2800" b="1" i="1" dirty="0"/>
              <a:t>        If </a:t>
            </a:r>
            <a:r>
              <a:rPr lang="en-US" sz="2800" i="1" dirty="0"/>
              <a:t>this removal makes one list empty </a:t>
            </a:r>
            <a:r>
              <a:rPr lang="en-US" sz="2800" b="1" i="1" dirty="0"/>
              <a:t>then   </a:t>
            </a:r>
            <a:r>
              <a:rPr lang="en-US" sz="2800" i="1" dirty="0"/>
              <a:t>remove all elements from the other list and append them to L</a:t>
            </a:r>
          </a:p>
          <a:p>
            <a:pPr>
              <a:defRPr/>
            </a:pPr>
            <a:r>
              <a:rPr lang="en-US" b="1" dirty="0"/>
              <a:t>return </a:t>
            </a:r>
            <a:r>
              <a:rPr lang="en-US" i="1" dirty="0"/>
              <a:t>L</a:t>
            </a:r>
          </a:p>
          <a:p>
            <a:pPr marL="0" indent="0">
              <a:buFont typeface="Wingdings" pitchFamily="2" charset="2"/>
              <a:buNone/>
              <a:defRPr/>
            </a:pPr>
            <a:r>
              <a:rPr lang="en-US" i="1" dirty="0"/>
              <a:t>(L </a:t>
            </a:r>
            <a:r>
              <a:rPr lang="en-US" dirty="0"/>
              <a:t>is the merged list with elements in increasing order)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3">
            <a:extLst>
              <a:ext uri="{FF2B5EF4-FFF2-40B4-BE49-F238E27FC236}">
                <a16:creationId xmlns:a16="http://schemas.microsoft.com/office/drawing/2014/main" id="{62DD5063-F248-E89C-C810-56DF8C4D82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8" y="26988"/>
            <a:ext cx="7986712" cy="681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8D4E6-7CCD-7C17-1A5F-A65227C8969F}"/>
              </a:ext>
            </a:extLst>
          </p:cNvPr>
          <p:cNvSpPr>
            <a:spLocks noGrp="1"/>
          </p:cNvSpPr>
          <p:nvPr>
            <p:ph type="title"/>
          </p:nvPr>
        </p:nvSpPr>
        <p:spPr/>
        <p:txBody>
          <a:bodyPr/>
          <a:lstStyle/>
          <a:p>
            <a:pPr>
              <a:defRPr/>
            </a:pPr>
            <a:r>
              <a:rPr lang="en-US" dirty="0"/>
              <a:t>Merge sort</a:t>
            </a:r>
          </a:p>
        </p:txBody>
      </p:sp>
      <p:sp>
        <p:nvSpPr>
          <p:cNvPr id="3" name="Content Placeholder 2">
            <a:extLst>
              <a:ext uri="{FF2B5EF4-FFF2-40B4-BE49-F238E27FC236}">
                <a16:creationId xmlns:a16="http://schemas.microsoft.com/office/drawing/2014/main" id="{0624344F-8CA0-DE3B-A9DD-9647ABB6E17A}"/>
              </a:ext>
            </a:extLst>
          </p:cNvPr>
          <p:cNvSpPr>
            <a:spLocks noGrp="1"/>
          </p:cNvSpPr>
          <p:nvPr>
            <p:ph idx="1"/>
          </p:nvPr>
        </p:nvSpPr>
        <p:spPr/>
        <p:txBody>
          <a:bodyPr/>
          <a:lstStyle/>
          <a:p>
            <a:pPr>
              <a:defRPr/>
            </a:pPr>
            <a:r>
              <a:rPr lang="en-US" dirty="0"/>
              <a:t>What is the maximum number of comparisons used in sorting n items?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CB53-7BA6-CCDD-E6D7-C0D8AE5E08D0}"/>
              </a:ext>
            </a:extLst>
          </p:cNvPr>
          <p:cNvSpPr>
            <a:spLocks noGrp="1"/>
          </p:cNvSpPr>
          <p:nvPr>
            <p:ph type="title"/>
          </p:nvPr>
        </p:nvSpPr>
        <p:spPr>
          <a:xfrm>
            <a:off x="457200" y="-228600"/>
            <a:ext cx="8229600" cy="1143000"/>
          </a:xfrm>
        </p:spPr>
        <p:txBody>
          <a:bodyPr/>
          <a:lstStyle/>
          <a:p>
            <a:pPr>
              <a:defRPr/>
            </a:pPr>
            <a:r>
              <a:rPr lang="en-US" dirty="0"/>
              <a:t>Finding a recurrence</a:t>
            </a:r>
          </a:p>
        </p:txBody>
      </p:sp>
      <p:sp>
        <p:nvSpPr>
          <p:cNvPr id="3" name="Content Placeholder 2">
            <a:extLst>
              <a:ext uri="{FF2B5EF4-FFF2-40B4-BE49-F238E27FC236}">
                <a16:creationId xmlns:a16="http://schemas.microsoft.com/office/drawing/2014/main" id="{AA9FB170-B949-01FA-4E73-92D3BA2BE847}"/>
              </a:ext>
            </a:extLst>
          </p:cNvPr>
          <p:cNvSpPr>
            <a:spLocks noGrp="1"/>
          </p:cNvSpPr>
          <p:nvPr>
            <p:ph idx="1"/>
          </p:nvPr>
        </p:nvSpPr>
        <p:spPr>
          <a:xfrm>
            <a:off x="152400" y="914400"/>
            <a:ext cx="8991600" cy="4525963"/>
          </a:xfrm>
        </p:spPr>
        <p:txBody>
          <a:bodyPr/>
          <a:lstStyle/>
          <a:p>
            <a:pPr marL="0" indent="0">
              <a:buFont typeface="Wingdings" pitchFamily="2" charset="2"/>
              <a:buNone/>
              <a:defRPr/>
            </a:pPr>
            <a:r>
              <a:rPr lang="en-US" dirty="0"/>
              <a:t>Let </a:t>
            </a:r>
            <a:r>
              <a:rPr lang="en-US" dirty="0" err="1"/>
              <a:t>T</a:t>
            </a:r>
            <a:r>
              <a:rPr lang="en-US" baseline="-25000" dirty="0" err="1"/>
              <a:t>n</a:t>
            </a:r>
            <a:r>
              <a:rPr lang="en-US" dirty="0"/>
              <a:t> be the maximum number of comparisons used while Merge Sorting a list of n numbers.</a:t>
            </a:r>
          </a:p>
        </p:txBody>
      </p:sp>
      <p:sp>
        <p:nvSpPr>
          <p:cNvPr id="4" name="Content Placeholder 2">
            <a:extLst>
              <a:ext uri="{FF2B5EF4-FFF2-40B4-BE49-F238E27FC236}">
                <a16:creationId xmlns:a16="http://schemas.microsoft.com/office/drawing/2014/main" id="{34D3E752-61D2-E3B3-0E01-2FBC46F3BC41}"/>
              </a:ext>
            </a:extLst>
          </p:cNvPr>
          <p:cNvSpPr txBox="1">
            <a:spLocks/>
          </p:cNvSpPr>
          <p:nvPr/>
        </p:nvSpPr>
        <p:spPr bwMode="auto">
          <a:xfrm>
            <a:off x="152400" y="2103438"/>
            <a:ext cx="89154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hlink"/>
              </a:buClr>
              <a:buSzPct val="7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n"/>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2"/>
              </a:buClr>
              <a:buSzPct val="70000"/>
              <a:buFont typeface="Wingdings" pitchFamily="2" charset="2"/>
              <a:buChar char="n"/>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cs typeface="+mn-cs"/>
              </a:defRPr>
            </a:lvl9pPr>
          </a:lstStyle>
          <a:p>
            <a:pPr marL="0" indent="0">
              <a:buFont typeface="Wingdings" pitchFamily="2" charset="2"/>
              <a:buNone/>
              <a:defRPr/>
            </a:pPr>
            <a:r>
              <a:rPr lang="en-US"/>
              <a:t>Assume that n is a power of 2 (so the input can</a:t>
            </a:r>
          </a:p>
          <a:p>
            <a:pPr marL="0" indent="0">
              <a:buFont typeface="Wingdings" pitchFamily="2" charset="2"/>
              <a:buNone/>
              <a:defRPr/>
            </a:pPr>
            <a:r>
              <a:rPr lang="en-US"/>
              <a:t>be divided in half at every stage of the recursion).</a:t>
            </a:r>
          </a:p>
          <a:p>
            <a:pPr>
              <a:defRPr/>
            </a:pPr>
            <a:r>
              <a:rPr lang="en-US"/>
              <a:t> If there is only one number in the list, then no comparisons are required, so T</a:t>
            </a:r>
            <a:r>
              <a:rPr lang="en-US" baseline="-25000"/>
              <a:t>1</a:t>
            </a:r>
            <a:r>
              <a:rPr lang="en-US"/>
              <a:t> = 0.</a:t>
            </a:r>
          </a:p>
          <a:p>
            <a:pPr>
              <a:defRPr/>
            </a:pPr>
            <a:r>
              <a:rPr lang="en-US"/>
              <a:t> Otherwise, T</a:t>
            </a:r>
            <a:r>
              <a:rPr lang="en-US" baseline="-25000"/>
              <a:t>n</a:t>
            </a:r>
            <a:r>
              <a:rPr lang="en-US"/>
              <a:t>  includes comparisons used in sorting the first half (at most T</a:t>
            </a:r>
            <a:r>
              <a:rPr lang="en-US" baseline="-25000"/>
              <a:t>n/2</a:t>
            </a:r>
            <a:r>
              <a:rPr lang="en-US"/>
              <a:t>), in sorting the second half (also at most T</a:t>
            </a:r>
            <a:r>
              <a:rPr lang="en-US" baseline="-25000"/>
              <a:t>n/2</a:t>
            </a:r>
            <a:r>
              <a:rPr lang="en-US"/>
              <a:t>), and in merging the two halves. The number of comparisons in the merging step is at most n-1.</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C07847-B8D8-2BF4-09EB-99991361D8B0}"/>
              </a:ext>
            </a:extLst>
          </p:cNvPr>
          <p:cNvSpPr>
            <a:spLocks noGrp="1"/>
          </p:cNvSpPr>
          <p:nvPr>
            <p:ph idx="1"/>
          </p:nvPr>
        </p:nvSpPr>
        <p:spPr/>
        <p:txBody>
          <a:bodyPr/>
          <a:lstStyle/>
          <a:p>
            <a:pPr>
              <a:defRPr/>
            </a:pPr>
            <a:r>
              <a:rPr lang="en-US" dirty="0"/>
              <a:t>For n ≥ 2 and a power of 2</a:t>
            </a:r>
          </a:p>
          <a:p>
            <a:pPr>
              <a:defRPr/>
            </a:pPr>
            <a:endParaRPr lang="en-US" dirty="0"/>
          </a:p>
          <a:p>
            <a:pPr>
              <a:defRPr/>
            </a:pPr>
            <a:endParaRPr lang="en-US" dirty="0"/>
          </a:p>
          <a:p>
            <a:pPr>
              <a:defRPr/>
            </a:pPr>
            <a:endParaRPr lang="en-US" dirty="0"/>
          </a:p>
          <a:p>
            <a:pPr>
              <a:defRPr/>
            </a:pPr>
            <a:endParaRPr lang="en-US" dirty="0"/>
          </a:p>
          <a:p>
            <a:pPr>
              <a:defRPr/>
            </a:pPr>
            <a:r>
              <a:rPr lang="en-US" dirty="0"/>
              <a:t>The closed-form for </a:t>
            </a:r>
            <a:r>
              <a:rPr lang="en-US" dirty="0" err="1"/>
              <a:t>T</a:t>
            </a:r>
            <a:r>
              <a:rPr lang="en-US" baseline="-25000" dirty="0" err="1"/>
              <a:t>n</a:t>
            </a:r>
            <a:endParaRPr lang="en-US" baseline="-25000" dirty="0"/>
          </a:p>
          <a:p>
            <a:pPr>
              <a:defRPr/>
            </a:pPr>
            <a:endParaRPr lang="en-US" baseline="-25000" dirty="0"/>
          </a:p>
          <a:p>
            <a:pPr marL="0" indent="0">
              <a:buFont typeface="Wingdings" pitchFamily="2" charset="2"/>
              <a:buNone/>
              <a:defRPr/>
            </a:pPr>
            <a:r>
              <a:rPr lang="en-US" baseline="-25000" dirty="0"/>
              <a:t>            </a:t>
            </a:r>
            <a:r>
              <a:rPr lang="en-US" dirty="0"/>
              <a:t> </a:t>
            </a:r>
            <a:r>
              <a:rPr lang="en-US" dirty="0" err="1"/>
              <a:t>T</a:t>
            </a:r>
            <a:r>
              <a:rPr lang="en-US" baseline="-25000" dirty="0" err="1"/>
              <a:t>n</a:t>
            </a:r>
            <a:r>
              <a:rPr lang="en-US" dirty="0"/>
              <a:t> = n log n – n + 1</a:t>
            </a:r>
          </a:p>
          <a:p>
            <a:pPr marL="0" indent="0">
              <a:buFont typeface="Wingdings" pitchFamily="2" charset="2"/>
              <a:buNone/>
              <a:defRPr/>
            </a:pPr>
            <a:r>
              <a:rPr lang="en-US" dirty="0"/>
              <a:t>               </a:t>
            </a:r>
          </a:p>
        </p:txBody>
      </p:sp>
      <p:pic>
        <p:nvPicPr>
          <p:cNvPr id="35843" name="Picture 2">
            <a:extLst>
              <a:ext uri="{FF2B5EF4-FFF2-40B4-BE49-F238E27FC236}">
                <a16:creationId xmlns:a16="http://schemas.microsoft.com/office/drawing/2014/main" id="{9C63ED5D-F468-E0A5-36AD-E2F3FC6BE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438400"/>
            <a:ext cx="3733800" cy="128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60F8-DFA3-9EC8-40DA-B0F7C4CC8091}"/>
              </a:ext>
            </a:extLst>
          </p:cNvPr>
          <p:cNvSpPr>
            <a:spLocks noGrp="1"/>
          </p:cNvSpPr>
          <p:nvPr>
            <p:ph type="title"/>
          </p:nvPr>
        </p:nvSpPr>
        <p:spPr/>
        <p:txBody>
          <a:bodyPr/>
          <a:lstStyle/>
          <a:p>
            <a:pPr eaLnBrk="1" hangingPunct="1">
              <a:defRPr/>
            </a:pPr>
            <a:r>
              <a:rPr lang="en-US" dirty="0"/>
              <a:t>Solving linear recurrence</a:t>
            </a:r>
          </a:p>
        </p:txBody>
      </p:sp>
      <p:sp>
        <p:nvSpPr>
          <p:cNvPr id="3" name="Content Placeholder 2">
            <a:extLst>
              <a:ext uri="{FF2B5EF4-FFF2-40B4-BE49-F238E27FC236}">
                <a16:creationId xmlns:a16="http://schemas.microsoft.com/office/drawing/2014/main" id="{2B1407B4-CAC1-613B-D3A5-A274DA64FB9D}"/>
              </a:ext>
            </a:extLst>
          </p:cNvPr>
          <p:cNvSpPr>
            <a:spLocks noGrp="1"/>
          </p:cNvSpPr>
          <p:nvPr>
            <p:ph idx="1"/>
          </p:nvPr>
        </p:nvSpPr>
        <p:spPr/>
        <p:txBody>
          <a:bodyPr/>
          <a:lstStyle/>
          <a:p>
            <a:pPr marL="0" indent="0" eaLnBrk="1" hangingPunct="1">
              <a:buFont typeface="Wingdings" pitchFamily="2" charset="2"/>
              <a:buNone/>
              <a:defRPr/>
            </a:pPr>
            <a:r>
              <a:rPr lang="en-US" b="1" dirty="0">
                <a:solidFill>
                  <a:srgbClr val="FFC000"/>
                </a:solidFill>
              </a:rPr>
              <a:t>Definition:</a:t>
            </a:r>
            <a:r>
              <a:rPr lang="en-US" dirty="0"/>
              <a:t> A </a:t>
            </a:r>
            <a:r>
              <a:rPr lang="en-US" i="1" dirty="0">
                <a:solidFill>
                  <a:srgbClr val="FFC000"/>
                </a:solidFill>
              </a:rPr>
              <a:t>linear homogeneous recurrence relation of degree k </a:t>
            </a:r>
            <a:r>
              <a:rPr lang="en-US" dirty="0"/>
              <a:t>is a recurrence relation of the form</a:t>
            </a:r>
          </a:p>
          <a:p>
            <a:pPr eaLnBrk="1" hangingPunct="1">
              <a:defRPr/>
            </a:pPr>
            <a:endParaRPr lang="en-US" dirty="0"/>
          </a:p>
          <a:p>
            <a:pPr marL="0" indent="0" eaLnBrk="1" hangingPunct="1">
              <a:buFont typeface="Wingdings" pitchFamily="2" charset="2"/>
              <a:buNone/>
              <a:defRPr/>
            </a:pPr>
            <a:r>
              <a:rPr lang="en-US" dirty="0"/>
              <a:t>where c</a:t>
            </a:r>
            <a:r>
              <a:rPr lang="en-US" baseline="-25000" dirty="0"/>
              <a:t>1</a:t>
            </a:r>
            <a:r>
              <a:rPr lang="en-US" dirty="0"/>
              <a:t>, c</a:t>
            </a:r>
            <a:r>
              <a:rPr lang="en-US" baseline="-25000" dirty="0"/>
              <a:t>2</a:t>
            </a:r>
            <a:r>
              <a:rPr lang="en-US" dirty="0"/>
              <a:t>, …, </a:t>
            </a:r>
            <a:r>
              <a:rPr lang="en-US" dirty="0" err="1"/>
              <a:t>c</a:t>
            </a:r>
            <a:r>
              <a:rPr lang="en-US" baseline="-25000" dirty="0" err="1"/>
              <a:t>k</a:t>
            </a:r>
            <a:r>
              <a:rPr lang="en-US" dirty="0"/>
              <a:t> are real numbers, </a:t>
            </a:r>
            <a:r>
              <a:rPr lang="en-US" dirty="0" err="1"/>
              <a:t>c</a:t>
            </a:r>
            <a:r>
              <a:rPr lang="en-US" baseline="-25000" dirty="0" err="1"/>
              <a:t>k</a:t>
            </a:r>
            <a:r>
              <a:rPr lang="en-US" dirty="0"/>
              <a:t> ≠ 0.</a:t>
            </a:r>
          </a:p>
          <a:p>
            <a:pPr marL="0" indent="0" eaLnBrk="1" hangingPunct="1">
              <a:buFont typeface="Wingdings" pitchFamily="2" charset="2"/>
              <a:buNone/>
              <a:defRPr/>
            </a:pPr>
            <a:r>
              <a:rPr lang="en-US" dirty="0"/>
              <a:t>      </a:t>
            </a:r>
          </a:p>
          <a:p>
            <a:pPr marL="0" indent="0" eaLnBrk="1" hangingPunct="1">
              <a:buFont typeface="Wingdings" pitchFamily="2" charset="2"/>
              <a:buNone/>
              <a:defRPr/>
            </a:pPr>
            <a:r>
              <a:rPr lang="en-US" dirty="0"/>
              <a:t>Example: Fibonacci </a:t>
            </a:r>
          </a:p>
        </p:txBody>
      </p:sp>
      <p:graphicFrame>
        <p:nvGraphicFramePr>
          <p:cNvPr id="36868" name="Object 3">
            <a:extLst>
              <a:ext uri="{FF2B5EF4-FFF2-40B4-BE49-F238E27FC236}">
                <a16:creationId xmlns:a16="http://schemas.microsoft.com/office/drawing/2014/main" id="{5CE33C6D-AE21-A139-4D4A-AA3FF39D8772}"/>
              </a:ext>
            </a:extLst>
          </p:cNvPr>
          <p:cNvGraphicFramePr>
            <a:graphicFrameLocks noChangeAspect="1"/>
          </p:cNvGraphicFramePr>
          <p:nvPr/>
        </p:nvGraphicFramePr>
        <p:xfrm>
          <a:off x="990600" y="3200400"/>
          <a:ext cx="7586663" cy="609600"/>
        </p:xfrm>
        <a:graphic>
          <a:graphicData uri="http://schemas.openxmlformats.org/presentationml/2006/ole">
            <mc:AlternateContent xmlns:mc="http://schemas.openxmlformats.org/markup-compatibility/2006">
              <mc:Choice xmlns:v="urn:schemas-microsoft-com:vml" Requires="v">
                <p:oleObj name="Equation" r:id="rId2" imgW="65532000" imgH="5270500" progId="Equation.DSMT4">
                  <p:embed/>
                </p:oleObj>
              </mc:Choice>
              <mc:Fallback>
                <p:oleObj name="Equation" r:id="rId2" imgW="65532000" imgH="5270500" progId="Equation.DSMT4">
                  <p:embed/>
                  <p:pic>
                    <p:nvPicPr>
                      <p:cNvPr id="36868" name="Object 3">
                        <a:extLst>
                          <a:ext uri="{FF2B5EF4-FFF2-40B4-BE49-F238E27FC236}">
                            <a16:creationId xmlns:a16="http://schemas.microsoft.com/office/drawing/2014/main" id="{5CE33C6D-AE21-A139-4D4A-AA3FF39D8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00400"/>
                        <a:ext cx="75866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E5DD54-3161-A54C-836D-F600CC504A0B}"/>
              </a:ext>
            </a:extLst>
          </p:cNvPr>
          <p:cNvSpPr>
            <a:spLocks noGrp="1"/>
          </p:cNvSpPr>
          <p:nvPr>
            <p:ph idx="1"/>
          </p:nvPr>
        </p:nvSpPr>
        <p:spPr>
          <a:xfrm>
            <a:off x="304800" y="1066800"/>
            <a:ext cx="8229600" cy="4525963"/>
          </a:xfrm>
        </p:spPr>
        <p:txBody>
          <a:bodyPr/>
          <a:lstStyle/>
          <a:p>
            <a:pPr marL="0" indent="0" eaLnBrk="1" hangingPunct="1">
              <a:buFont typeface="Wingdings" pitchFamily="2" charset="2"/>
              <a:buNone/>
              <a:defRPr/>
            </a:pPr>
            <a:r>
              <a:rPr lang="en-US" dirty="0"/>
              <a:t>   Find the explicit formula for f(n)  </a:t>
            </a:r>
          </a:p>
          <a:p>
            <a:pPr marL="0" indent="0" eaLnBrk="1" hangingPunct="1">
              <a:buFont typeface="Wingdings" pitchFamily="2" charset="2"/>
              <a:buNone/>
              <a:defRPr/>
            </a:pPr>
            <a:r>
              <a:rPr lang="en-US" dirty="0"/>
              <a:t>      </a:t>
            </a:r>
          </a:p>
          <a:p>
            <a:pPr eaLnBrk="1" hangingPunct="1">
              <a:buFont typeface="Wingdings" pitchFamily="2" charset="2"/>
              <a:buChar char="Ø"/>
              <a:defRPr/>
            </a:pPr>
            <a:r>
              <a:rPr lang="en-US" dirty="0"/>
              <a:t>Solve the characteristic equation</a:t>
            </a:r>
          </a:p>
          <a:p>
            <a:pPr eaLnBrk="1" hangingPunct="1">
              <a:buFont typeface="Wingdings" pitchFamily="2" charset="2"/>
              <a:buChar char="Ø"/>
              <a:defRPr/>
            </a:pPr>
            <a:endParaRPr lang="en-US" dirty="0"/>
          </a:p>
          <a:p>
            <a:pPr eaLnBrk="1" hangingPunct="1">
              <a:buFont typeface="Wingdings" pitchFamily="2" charset="2"/>
              <a:buChar char="Ø"/>
              <a:defRPr/>
            </a:pPr>
            <a:r>
              <a:rPr lang="en-US" dirty="0"/>
              <a:t>Case 1: The characteristic equation has two distinct root r</a:t>
            </a:r>
            <a:r>
              <a:rPr lang="en-US" baseline="-25000" dirty="0"/>
              <a:t>1</a:t>
            </a:r>
            <a:r>
              <a:rPr lang="en-US" dirty="0"/>
              <a:t>, r</a:t>
            </a:r>
            <a:r>
              <a:rPr lang="en-US" baseline="-25000" dirty="0"/>
              <a:t>2</a:t>
            </a:r>
            <a:r>
              <a:rPr lang="en-US" dirty="0"/>
              <a:t>.</a:t>
            </a:r>
          </a:p>
          <a:p>
            <a:pPr eaLnBrk="1" hangingPunct="1">
              <a:buFont typeface="Wingdings" pitchFamily="2" charset="2"/>
              <a:buChar char="Ø"/>
              <a:defRPr/>
            </a:pPr>
            <a:endParaRPr lang="en-US" dirty="0"/>
          </a:p>
          <a:p>
            <a:pPr eaLnBrk="1" hangingPunct="1">
              <a:buFont typeface="Wingdings" pitchFamily="2" charset="2"/>
              <a:buChar char="Ø"/>
              <a:defRPr/>
            </a:pPr>
            <a:r>
              <a:rPr lang="en-US" dirty="0"/>
              <a:t>Case 2: The characteristic equation has only one root r</a:t>
            </a:r>
            <a:r>
              <a:rPr lang="en-US" baseline="-25000" dirty="0"/>
              <a:t>0</a:t>
            </a:r>
            <a:r>
              <a:rPr lang="en-US" dirty="0"/>
              <a:t>.</a:t>
            </a:r>
          </a:p>
          <a:p>
            <a:pPr marL="0" indent="0" eaLnBrk="1" hangingPunct="1">
              <a:buFont typeface="Wingdings" pitchFamily="2" charset="2"/>
              <a:buNone/>
              <a:defRPr/>
            </a:pPr>
            <a:r>
              <a:rPr lang="en-US" dirty="0"/>
              <a:t>      </a:t>
            </a:r>
          </a:p>
          <a:p>
            <a:pPr marL="0" indent="0" eaLnBrk="1" hangingPunct="1">
              <a:buFont typeface="Wingdings" pitchFamily="2" charset="2"/>
              <a:buNone/>
              <a:defRPr/>
            </a:pPr>
            <a:r>
              <a:rPr lang="en-US" dirty="0"/>
              <a:t>        </a:t>
            </a:r>
          </a:p>
        </p:txBody>
      </p:sp>
      <p:sp>
        <p:nvSpPr>
          <p:cNvPr id="4" name="Title 1">
            <a:extLst>
              <a:ext uri="{FF2B5EF4-FFF2-40B4-BE49-F238E27FC236}">
                <a16:creationId xmlns:a16="http://schemas.microsoft.com/office/drawing/2014/main" id="{49A39AC9-63F1-4F9B-19B2-7AB0EF22E6AF}"/>
              </a:ext>
            </a:extLst>
          </p:cNvPr>
          <p:cNvSpPr>
            <a:spLocks noGrp="1"/>
          </p:cNvSpPr>
          <p:nvPr>
            <p:ph type="title"/>
          </p:nvPr>
        </p:nvSpPr>
        <p:spPr>
          <a:xfrm>
            <a:off x="457200" y="-76200"/>
            <a:ext cx="8229600" cy="1143000"/>
          </a:xfrm>
        </p:spPr>
        <p:txBody>
          <a:bodyPr/>
          <a:lstStyle/>
          <a:p>
            <a:pPr eaLnBrk="1" hangingPunct="1">
              <a:defRPr/>
            </a:pPr>
            <a:r>
              <a:rPr lang="en-US" dirty="0"/>
              <a:t>Solving linear recurrence</a:t>
            </a:r>
          </a:p>
        </p:txBody>
      </p:sp>
      <p:graphicFrame>
        <p:nvGraphicFramePr>
          <p:cNvPr id="37892" name="Object 4">
            <a:extLst>
              <a:ext uri="{FF2B5EF4-FFF2-40B4-BE49-F238E27FC236}">
                <a16:creationId xmlns:a16="http://schemas.microsoft.com/office/drawing/2014/main" id="{AC722E91-D1E2-54F8-F48B-39C15AE771F2}"/>
              </a:ext>
            </a:extLst>
          </p:cNvPr>
          <p:cNvGraphicFramePr>
            <a:graphicFrameLocks noChangeAspect="1"/>
          </p:cNvGraphicFramePr>
          <p:nvPr/>
        </p:nvGraphicFramePr>
        <p:xfrm>
          <a:off x="1828800" y="1752600"/>
          <a:ext cx="4572000" cy="576263"/>
        </p:xfrm>
        <a:graphic>
          <a:graphicData uri="http://schemas.openxmlformats.org/presentationml/2006/ole">
            <mc:AlternateContent xmlns:mc="http://schemas.openxmlformats.org/markup-compatibility/2006">
              <mc:Choice xmlns:v="urn:schemas-microsoft-com:vml" Requires="v">
                <p:oleObj name="Equation" r:id="rId2" imgW="41833800" imgH="5270500" progId="Equation.DSMT4">
                  <p:embed/>
                </p:oleObj>
              </mc:Choice>
              <mc:Fallback>
                <p:oleObj name="Equation" r:id="rId2" imgW="41833800" imgH="5270500" progId="Equation.DSMT4">
                  <p:embed/>
                  <p:pic>
                    <p:nvPicPr>
                      <p:cNvPr id="37892" name="Object 4">
                        <a:extLst>
                          <a:ext uri="{FF2B5EF4-FFF2-40B4-BE49-F238E27FC236}">
                            <a16:creationId xmlns:a16="http://schemas.microsoft.com/office/drawing/2014/main" id="{AC722E91-D1E2-54F8-F48B-39C15AE77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752600"/>
                        <a:ext cx="45720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Object 5">
            <a:extLst>
              <a:ext uri="{FF2B5EF4-FFF2-40B4-BE49-F238E27FC236}">
                <a16:creationId xmlns:a16="http://schemas.microsoft.com/office/drawing/2014/main" id="{D39D5D3C-EE5C-8ECA-531C-35E0C6F98108}"/>
              </a:ext>
            </a:extLst>
          </p:cNvPr>
          <p:cNvGraphicFramePr>
            <a:graphicFrameLocks noChangeAspect="1"/>
          </p:cNvGraphicFramePr>
          <p:nvPr/>
        </p:nvGraphicFramePr>
        <p:xfrm>
          <a:off x="2667000" y="2819400"/>
          <a:ext cx="2667000" cy="666750"/>
        </p:xfrm>
        <a:graphic>
          <a:graphicData uri="http://schemas.openxmlformats.org/presentationml/2006/ole">
            <mc:AlternateContent xmlns:mc="http://schemas.openxmlformats.org/markup-compatibility/2006">
              <mc:Choice xmlns:v="urn:schemas-microsoft-com:vml" Requires="v">
                <p:oleObj name="Equation" r:id="rId4" imgW="22237700" imgH="5562600" progId="Equation.DSMT4">
                  <p:embed/>
                </p:oleObj>
              </mc:Choice>
              <mc:Fallback>
                <p:oleObj name="Equation" r:id="rId4" imgW="22237700" imgH="5562600" progId="Equation.DSMT4">
                  <p:embed/>
                  <p:pic>
                    <p:nvPicPr>
                      <p:cNvPr id="37893" name="Object 5">
                        <a:extLst>
                          <a:ext uri="{FF2B5EF4-FFF2-40B4-BE49-F238E27FC236}">
                            <a16:creationId xmlns:a16="http://schemas.microsoft.com/office/drawing/2014/main" id="{D39D5D3C-EE5C-8ECA-531C-35E0C6F981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819400"/>
                        <a:ext cx="2667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4" name="Object 6">
            <a:extLst>
              <a:ext uri="{FF2B5EF4-FFF2-40B4-BE49-F238E27FC236}">
                <a16:creationId xmlns:a16="http://schemas.microsoft.com/office/drawing/2014/main" id="{DBF97220-237A-0A88-FE53-AABCD58AC0F2}"/>
              </a:ext>
            </a:extLst>
          </p:cNvPr>
          <p:cNvGraphicFramePr>
            <a:graphicFrameLocks noChangeAspect="1"/>
          </p:cNvGraphicFramePr>
          <p:nvPr/>
        </p:nvGraphicFramePr>
        <p:xfrm>
          <a:off x="1962150" y="4419600"/>
          <a:ext cx="6254750" cy="609600"/>
        </p:xfrm>
        <a:graphic>
          <a:graphicData uri="http://schemas.openxmlformats.org/presentationml/2006/ole">
            <mc:AlternateContent xmlns:mc="http://schemas.openxmlformats.org/markup-compatibility/2006">
              <mc:Choice xmlns:v="urn:schemas-microsoft-com:vml" Requires="v">
                <p:oleObj name="Equation" r:id="rId6" imgW="57048400" imgH="5562600" progId="Equation.DSMT4">
                  <p:embed/>
                </p:oleObj>
              </mc:Choice>
              <mc:Fallback>
                <p:oleObj name="Equation" r:id="rId6" imgW="57048400" imgH="5562600" progId="Equation.DSMT4">
                  <p:embed/>
                  <p:pic>
                    <p:nvPicPr>
                      <p:cNvPr id="37894" name="Object 6">
                        <a:extLst>
                          <a:ext uri="{FF2B5EF4-FFF2-40B4-BE49-F238E27FC236}">
                            <a16:creationId xmlns:a16="http://schemas.microsoft.com/office/drawing/2014/main" id="{DBF97220-237A-0A88-FE53-AABCD58AC0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2150" y="4419600"/>
                        <a:ext cx="62547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Object 7">
            <a:extLst>
              <a:ext uri="{FF2B5EF4-FFF2-40B4-BE49-F238E27FC236}">
                <a16:creationId xmlns:a16="http://schemas.microsoft.com/office/drawing/2014/main" id="{6F2A5FDD-28AE-C02A-5B58-A5FD3FD328C6}"/>
              </a:ext>
            </a:extLst>
          </p:cNvPr>
          <p:cNvGraphicFramePr>
            <a:graphicFrameLocks noChangeAspect="1"/>
          </p:cNvGraphicFramePr>
          <p:nvPr/>
        </p:nvGraphicFramePr>
        <p:xfrm>
          <a:off x="1828800" y="6127750"/>
          <a:ext cx="6705600" cy="654050"/>
        </p:xfrm>
        <a:graphic>
          <a:graphicData uri="http://schemas.openxmlformats.org/presentationml/2006/ole">
            <mc:AlternateContent xmlns:mc="http://schemas.openxmlformats.org/markup-compatibility/2006">
              <mc:Choice xmlns:v="urn:schemas-microsoft-com:vml" Requires="v">
                <p:oleObj name="Equation" r:id="rId8" imgW="57048400" imgH="5562600" progId="Equation.DSMT4">
                  <p:embed/>
                </p:oleObj>
              </mc:Choice>
              <mc:Fallback>
                <p:oleObj name="Equation" r:id="rId8" imgW="57048400" imgH="5562600" progId="Equation.DSMT4">
                  <p:embed/>
                  <p:pic>
                    <p:nvPicPr>
                      <p:cNvPr id="37895" name="Object 7">
                        <a:extLst>
                          <a:ext uri="{FF2B5EF4-FFF2-40B4-BE49-F238E27FC236}">
                            <a16:creationId xmlns:a16="http://schemas.microsoft.com/office/drawing/2014/main" id="{6F2A5FDD-28AE-C02A-5B58-A5FD3FD328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8800" y="6127750"/>
                        <a:ext cx="670560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893C9-B23E-E5CE-55BA-4F1CCB8FA601}"/>
              </a:ext>
            </a:extLst>
          </p:cNvPr>
          <p:cNvSpPr>
            <a:spLocks noGrp="1"/>
          </p:cNvSpPr>
          <p:nvPr>
            <p:ph type="title"/>
          </p:nvPr>
        </p:nvSpPr>
        <p:spPr>
          <a:xfrm>
            <a:off x="0" y="-152400"/>
            <a:ext cx="2590800" cy="1143000"/>
          </a:xfrm>
        </p:spPr>
        <p:txBody>
          <a:bodyPr/>
          <a:lstStyle/>
          <a:p>
            <a:pPr>
              <a:defRPr/>
            </a:pPr>
            <a:r>
              <a:rPr lang="en-US" dirty="0"/>
              <a:t>Example</a:t>
            </a:r>
          </a:p>
        </p:txBody>
      </p:sp>
      <p:pic>
        <p:nvPicPr>
          <p:cNvPr id="38915" name="Picture 3">
            <a:extLst>
              <a:ext uri="{FF2B5EF4-FFF2-40B4-BE49-F238E27FC236}">
                <a16:creationId xmlns:a16="http://schemas.microsoft.com/office/drawing/2014/main" id="{45F36D3E-2625-1D3B-7F0C-E2E9BE2C6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76200"/>
            <a:ext cx="6262688" cy="186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6" name="TextBox 3">
            <a:extLst>
              <a:ext uri="{FF2B5EF4-FFF2-40B4-BE49-F238E27FC236}">
                <a16:creationId xmlns:a16="http://schemas.microsoft.com/office/drawing/2014/main" id="{FC7ACA98-47EE-CC65-AD79-2C0655ADA31A}"/>
              </a:ext>
            </a:extLst>
          </p:cNvPr>
          <p:cNvSpPr txBox="1">
            <a:spLocks noChangeArrowheads="1"/>
          </p:cNvSpPr>
          <p:nvPr/>
        </p:nvSpPr>
        <p:spPr bwMode="auto">
          <a:xfrm>
            <a:off x="152400" y="2057400"/>
            <a:ext cx="8763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3600" b="1"/>
              <a:t>Solution.</a:t>
            </a:r>
          </a:p>
          <a:p>
            <a:pPr eaLnBrk="1" hangingPunct="1"/>
            <a:r>
              <a:rPr lang="en-US" altLang="en-US" sz="2800"/>
              <a:t>      The characteristic equation :  r</a:t>
            </a:r>
            <a:r>
              <a:rPr lang="en-US" altLang="en-US" sz="2800" baseline="30000"/>
              <a:t>2</a:t>
            </a:r>
            <a:r>
              <a:rPr lang="en-US" altLang="en-US" sz="2800"/>
              <a:t> – r -2 = 0  has distinct roots r</a:t>
            </a:r>
            <a:r>
              <a:rPr lang="en-US" altLang="en-US" sz="2800" baseline="-25000"/>
              <a:t>1</a:t>
            </a:r>
            <a:r>
              <a:rPr lang="en-US" altLang="en-US" sz="2800"/>
              <a:t> = 2 and r</a:t>
            </a:r>
            <a:r>
              <a:rPr lang="en-US" altLang="en-US" sz="2800" baseline="-25000"/>
              <a:t>2</a:t>
            </a:r>
            <a:r>
              <a:rPr lang="en-US" altLang="en-US" sz="2800"/>
              <a:t> = -1.  Therefore, </a:t>
            </a:r>
          </a:p>
          <a:p>
            <a:pPr eaLnBrk="1" hangingPunct="1"/>
            <a:r>
              <a:rPr lang="en-US" altLang="en-US" sz="2800"/>
              <a:t>                    a</a:t>
            </a:r>
            <a:r>
              <a:rPr lang="en-US" altLang="en-US" sz="2800" baseline="-25000"/>
              <a:t>n</a:t>
            </a:r>
            <a:r>
              <a:rPr lang="en-US" altLang="en-US" sz="2800"/>
              <a:t> = c</a:t>
            </a:r>
            <a:r>
              <a:rPr lang="en-US" altLang="en-US" sz="2800" baseline="-25000"/>
              <a:t>1</a:t>
            </a:r>
            <a:r>
              <a:rPr lang="en-US" altLang="en-US" sz="2800"/>
              <a:t> 2</a:t>
            </a:r>
            <a:r>
              <a:rPr lang="en-US" altLang="en-US" sz="2800" baseline="30000"/>
              <a:t>n</a:t>
            </a:r>
            <a:r>
              <a:rPr lang="en-US" altLang="en-US" sz="2800"/>
              <a:t> + c</a:t>
            </a:r>
            <a:r>
              <a:rPr lang="en-US" altLang="en-US" sz="2800" baseline="-25000"/>
              <a:t>2</a:t>
            </a:r>
            <a:r>
              <a:rPr lang="en-US" altLang="en-US" sz="2800"/>
              <a:t> (-1)</a:t>
            </a:r>
            <a:r>
              <a:rPr lang="en-US" altLang="en-US" sz="2800" baseline="30000"/>
              <a:t>n</a:t>
            </a:r>
            <a:r>
              <a:rPr lang="en-US" altLang="en-US" sz="2800"/>
              <a:t> </a:t>
            </a:r>
          </a:p>
          <a:p>
            <a:pPr eaLnBrk="1" hangingPunct="1"/>
            <a:r>
              <a:rPr lang="en-US" altLang="en-US" sz="2800"/>
              <a:t>for some c</a:t>
            </a:r>
            <a:r>
              <a:rPr lang="en-US" altLang="en-US" sz="2800" baseline="-25000"/>
              <a:t>1</a:t>
            </a:r>
            <a:r>
              <a:rPr lang="en-US" altLang="en-US" sz="2800"/>
              <a:t>, c</a:t>
            </a:r>
            <a:r>
              <a:rPr lang="en-US" altLang="en-US" sz="2800" baseline="-25000"/>
              <a:t>2 </a:t>
            </a:r>
            <a:r>
              <a:rPr lang="en-US" altLang="en-US" sz="2800"/>
              <a:t>. From the initial conditions, it follows that</a:t>
            </a:r>
          </a:p>
          <a:p>
            <a:pPr eaLnBrk="1" hangingPunct="1"/>
            <a:r>
              <a:rPr lang="en-US" altLang="en-US" sz="2800"/>
              <a:t>         a</a:t>
            </a:r>
            <a:r>
              <a:rPr lang="en-US" altLang="en-US" sz="2800" baseline="-25000"/>
              <a:t>0</a:t>
            </a:r>
            <a:r>
              <a:rPr lang="en-US" altLang="en-US" sz="2800"/>
              <a:t> = 2 = c</a:t>
            </a:r>
            <a:r>
              <a:rPr lang="en-US" altLang="en-US" sz="2800" baseline="-25000"/>
              <a:t>1</a:t>
            </a:r>
            <a:r>
              <a:rPr lang="en-US" altLang="en-US" sz="2800"/>
              <a:t> 2</a:t>
            </a:r>
            <a:r>
              <a:rPr lang="en-US" altLang="en-US" sz="2800" baseline="30000"/>
              <a:t>0</a:t>
            </a:r>
            <a:r>
              <a:rPr lang="en-US" altLang="en-US" sz="2800"/>
              <a:t> + c</a:t>
            </a:r>
            <a:r>
              <a:rPr lang="en-US" altLang="en-US" sz="2800" baseline="-25000"/>
              <a:t>2</a:t>
            </a:r>
            <a:r>
              <a:rPr lang="en-US" altLang="en-US" sz="2800"/>
              <a:t> (-1)</a:t>
            </a:r>
            <a:r>
              <a:rPr lang="en-US" altLang="en-US" sz="2800" baseline="30000"/>
              <a:t>0</a:t>
            </a:r>
            <a:r>
              <a:rPr lang="en-US" altLang="en-US" sz="2800"/>
              <a:t> </a:t>
            </a:r>
          </a:p>
          <a:p>
            <a:pPr eaLnBrk="1" hangingPunct="1"/>
            <a:r>
              <a:rPr lang="en-US" altLang="en-US" sz="2800"/>
              <a:t>         a</a:t>
            </a:r>
            <a:r>
              <a:rPr lang="en-US" altLang="en-US" sz="2800" baseline="-25000"/>
              <a:t>1</a:t>
            </a:r>
            <a:r>
              <a:rPr lang="en-US" altLang="en-US" sz="2800"/>
              <a:t> = 7 = c</a:t>
            </a:r>
            <a:r>
              <a:rPr lang="en-US" altLang="en-US" sz="2800" baseline="-25000"/>
              <a:t>1</a:t>
            </a:r>
            <a:r>
              <a:rPr lang="en-US" altLang="en-US" sz="2800"/>
              <a:t> 2 + c</a:t>
            </a:r>
            <a:r>
              <a:rPr lang="en-US" altLang="en-US" sz="2800" baseline="-25000"/>
              <a:t>2</a:t>
            </a:r>
            <a:r>
              <a:rPr lang="en-US" altLang="en-US" sz="2800"/>
              <a:t> (-1)</a:t>
            </a:r>
          </a:p>
          <a:p>
            <a:pPr eaLnBrk="1" hangingPunct="1"/>
            <a:r>
              <a:rPr lang="en-US" altLang="en-US" sz="2800"/>
              <a:t>So we get c</a:t>
            </a:r>
            <a:r>
              <a:rPr lang="en-US" altLang="en-US" sz="2800" baseline="-25000"/>
              <a:t>1</a:t>
            </a:r>
            <a:r>
              <a:rPr lang="en-US" altLang="en-US" sz="2800"/>
              <a:t> = 3, c</a:t>
            </a:r>
            <a:r>
              <a:rPr lang="en-US" altLang="en-US" sz="2800" baseline="-25000"/>
              <a:t>2</a:t>
            </a:r>
            <a:r>
              <a:rPr lang="en-US" altLang="en-US" sz="2800"/>
              <a:t> = -1.  Hence, the solution of the recurrence relation is    </a:t>
            </a:r>
          </a:p>
          <a:p>
            <a:pPr eaLnBrk="1" hangingPunct="1"/>
            <a:r>
              <a:rPr lang="en-US" altLang="en-US" sz="2800"/>
              <a:t>                   a</a:t>
            </a:r>
            <a:r>
              <a:rPr lang="en-US" altLang="en-US" sz="2800" baseline="-25000"/>
              <a:t>n </a:t>
            </a:r>
            <a:r>
              <a:rPr lang="en-US" altLang="en-US" sz="2800"/>
              <a:t> = 3. 2</a:t>
            </a:r>
            <a:r>
              <a:rPr lang="en-US" altLang="en-US" sz="2800" baseline="30000"/>
              <a:t>n</a:t>
            </a:r>
            <a:r>
              <a:rPr lang="en-US" altLang="en-US" sz="2800"/>
              <a:t> – (-1)</a:t>
            </a:r>
            <a:r>
              <a:rPr lang="en-US" altLang="en-US" sz="2800" baseline="30000"/>
              <a:t>n</a:t>
            </a:r>
            <a:r>
              <a:rPr lang="en-US" altLang="en-US" sz="280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404B7-ED99-4756-5575-5041DCB9598B}"/>
              </a:ext>
            </a:extLst>
          </p:cNvPr>
          <p:cNvSpPr>
            <a:spLocks noGrp="1"/>
          </p:cNvSpPr>
          <p:nvPr>
            <p:ph idx="1"/>
          </p:nvPr>
        </p:nvSpPr>
        <p:spPr>
          <a:xfrm>
            <a:off x="381000" y="533400"/>
            <a:ext cx="8229600" cy="4525963"/>
          </a:xfrm>
        </p:spPr>
        <p:txBody>
          <a:bodyPr/>
          <a:lstStyle/>
          <a:p>
            <a:pPr>
              <a:defRPr/>
            </a:pPr>
            <a:r>
              <a:rPr lang="en-US" dirty="0"/>
              <a:t>Find the closed formula for Fibonacci numbers</a:t>
            </a:r>
          </a:p>
          <a:p>
            <a:pPr marL="0" indent="0">
              <a:buFont typeface="Wingdings" pitchFamily="2" charset="2"/>
              <a:buNone/>
              <a:defRPr/>
            </a:pPr>
            <a:r>
              <a:rPr lang="en-US" dirty="0"/>
              <a:t>   F(0) = 0</a:t>
            </a:r>
          </a:p>
          <a:p>
            <a:pPr marL="0" indent="0">
              <a:buFont typeface="Wingdings" pitchFamily="2" charset="2"/>
              <a:buNone/>
              <a:defRPr/>
            </a:pPr>
            <a:r>
              <a:rPr lang="en-US" dirty="0"/>
              <a:t>   F(1) = 1</a:t>
            </a:r>
          </a:p>
          <a:p>
            <a:pPr marL="0" indent="0">
              <a:buFont typeface="Wingdings" pitchFamily="2" charset="2"/>
              <a:buNone/>
              <a:defRPr/>
            </a:pPr>
            <a:r>
              <a:rPr lang="en-US" dirty="0"/>
              <a:t>   F(n) = F(n-1) + F(n-2)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CBC0B-D0D6-F2BF-53B6-CBD4ED4E841E}"/>
              </a:ext>
            </a:extLst>
          </p:cNvPr>
          <p:cNvSpPr>
            <a:spLocks noGrp="1"/>
          </p:cNvSpPr>
          <p:nvPr>
            <p:ph type="title"/>
          </p:nvPr>
        </p:nvSpPr>
        <p:spPr>
          <a:xfrm>
            <a:off x="-457200" y="274638"/>
            <a:ext cx="3505200" cy="1143000"/>
          </a:xfrm>
        </p:spPr>
        <p:txBody>
          <a:bodyPr/>
          <a:lstStyle/>
          <a:p>
            <a:pPr>
              <a:defRPr/>
            </a:pPr>
            <a:r>
              <a:rPr lang="en-US" dirty="0"/>
              <a:t>Example</a:t>
            </a:r>
          </a:p>
        </p:txBody>
      </p:sp>
      <p:pic>
        <p:nvPicPr>
          <p:cNvPr id="40963" name="Picture 2">
            <a:extLst>
              <a:ext uri="{FF2B5EF4-FFF2-40B4-BE49-F238E27FC236}">
                <a16:creationId xmlns:a16="http://schemas.microsoft.com/office/drawing/2014/main" id="{E600EA1F-6E89-F1EC-9EAD-2EF87F90D3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5588" y="76200"/>
            <a:ext cx="6272212"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B0F7-9841-97F2-4C95-98D66FF4A2DD}"/>
              </a:ext>
            </a:extLst>
          </p:cNvPr>
          <p:cNvSpPr>
            <a:spLocks noGrp="1"/>
          </p:cNvSpPr>
          <p:nvPr>
            <p:ph type="title"/>
          </p:nvPr>
        </p:nvSpPr>
        <p:spPr>
          <a:xfrm>
            <a:off x="457200" y="0"/>
            <a:ext cx="8229600" cy="1143000"/>
          </a:xfrm>
        </p:spPr>
        <p:txBody>
          <a:bodyPr/>
          <a:lstStyle/>
          <a:p>
            <a:pPr>
              <a:defRPr/>
            </a:pPr>
            <a:r>
              <a:rPr lang="en-US" dirty="0"/>
              <a:t>Solving general linear recurrence</a:t>
            </a:r>
          </a:p>
        </p:txBody>
      </p:sp>
      <p:sp>
        <p:nvSpPr>
          <p:cNvPr id="41987" name="TextBox 3">
            <a:extLst>
              <a:ext uri="{FF2B5EF4-FFF2-40B4-BE49-F238E27FC236}">
                <a16:creationId xmlns:a16="http://schemas.microsoft.com/office/drawing/2014/main" id="{205E1FA0-BBF9-3316-4B4F-57128BFE07B5}"/>
              </a:ext>
            </a:extLst>
          </p:cNvPr>
          <p:cNvSpPr txBox="1">
            <a:spLocks noChangeArrowheads="1"/>
          </p:cNvSpPr>
          <p:nvPr/>
        </p:nvSpPr>
        <p:spPr bwMode="auto">
          <a:xfrm>
            <a:off x="152400" y="1143000"/>
            <a:ext cx="87630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4000" b="1">
                <a:solidFill>
                  <a:srgbClr val="FFC000"/>
                </a:solidFill>
              </a:rPr>
              <a:t>Theorem.</a:t>
            </a:r>
            <a:r>
              <a:rPr lang="en-US" altLang="en-US" sz="3200"/>
              <a:t> Let c</a:t>
            </a:r>
            <a:r>
              <a:rPr lang="en-US" altLang="en-US" sz="3200" baseline="-25000"/>
              <a:t>1</a:t>
            </a:r>
            <a:r>
              <a:rPr lang="en-US" altLang="en-US" sz="3200"/>
              <a:t>, c</a:t>
            </a:r>
            <a:r>
              <a:rPr lang="en-US" altLang="en-US" sz="3200" baseline="-25000"/>
              <a:t>2</a:t>
            </a:r>
            <a:r>
              <a:rPr lang="en-US" altLang="en-US" sz="3200"/>
              <a:t>, …, c</a:t>
            </a:r>
            <a:r>
              <a:rPr lang="en-US" altLang="en-US" sz="3200" baseline="-25000"/>
              <a:t>k</a:t>
            </a:r>
            <a:r>
              <a:rPr lang="en-US" altLang="en-US" sz="3200"/>
              <a:t> be real numbers. Suppose that the characteristic equation </a:t>
            </a:r>
          </a:p>
          <a:p>
            <a:pPr eaLnBrk="1" hangingPunct="1"/>
            <a:endParaRPr lang="en-US" altLang="en-US" sz="3200"/>
          </a:p>
          <a:p>
            <a:pPr eaLnBrk="1" hangingPunct="1"/>
            <a:r>
              <a:rPr lang="en-US" altLang="en-US" sz="3200"/>
              <a:t>has k distinct roots r</a:t>
            </a:r>
            <a:r>
              <a:rPr lang="en-US" altLang="en-US" sz="3200" baseline="-25000"/>
              <a:t>1</a:t>
            </a:r>
            <a:r>
              <a:rPr lang="en-US" altLang="en-US" sz="3200"/>
              <a:t>, …, r</a:t>
            </a:r>
            <a:r>
              <a:rPr lang="en-US" altLang="en-US" sz="3200" baseline="-25000"/>
              <a:t>k</a:t>
            </a:r>
            <a:r>
              <a:rPr lang="en-US" altLang="en-US" sz="3200"/>
              <a:t>. Then a sequence {a</a:t>
            </a:r>
            <a:r>
              <a:rPr lang="en-US" altLang="en-US" sz="3200" baseline="-25000"/>
              <a:t>n</a:t>
            </a:r>
            <a:r>
              <a:rPr lang="en-US" altLang="en-US" sz="3200"/>
              <a:t>} is a solution of the recurrence relation </a:t>
            </a:r>
          </a:p>
          <a:p>
            <a:pPr eaLnBrk="1" hangingPunct="1"/>
            <a:endParaRPr lang="en-US" altLang="en-US" sz="3200"/>
          </a:p>
          <a:p>
            <a:pPr eaLnBrk="1" hangingPunct="1"/>
            <a:endParaRPr lang="en-US" altLang="en-US" sz="3200"/>
          </a:p>
          <a:p>
            <a:pPr eaLnBrk="1" hangingPunct="1"/>
            <a:r>
              <a:rPr lang="en-US" altLang="en-US" sz="3200"/>
              <a:t>if and only if</a:t>
            </a:r>
          </a:p>
          <a:p>
            <a:pPr eaLnBrk="1" hangingPunct="1"/>
            <a:endParaRPr lang="en-US" altLang="en-US" sz="3200"/>
          </a:p>
          <a:p>
            <a:pPr eaLnBrk="1" hangingPunct="1"/>
            <a:endParaRPr lang="en-US" altLang="en-US" sz="3200"/>
          </a:p>
        </p:txBody>
      </p:sp>
      <p:pic>
        <p:nvPicPr>
          <p:cNvPr id="41988" name="Picture 3">
            <a:extLst>
              <a:ext uri="{FF2B5EF4-FFF2-40B4-BE49-F238E27FC236}">
                <a16:creationId xmlns:a16="http://schemas.microsoft.com/office/drawing/2014/main" id="{A33015D9-CE3A-3230-E506-812BAB282C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1838" y="5257800"/>
            <a:ext cx="5734050"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4">
            <a:extLst>
              <a:ext uri="{FF2B5EF4-FFF2-40B4-BE49-F238E27FC236}">
                <a16:creationId xmlns:a16="http://schemas.microsoft.com/office/drawing/2014/main" id="{62260157-2007-5B24-2403-80D25C5DF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62400"/>
            <a:ext cx="57340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90" name="Picture 5">
            <a:extLst>
              <a:ext uri="{FF2B5EF4-FFF2-40B4-BE49-F238E27FC236}">
                <a16:creationId xmlns:a16="http://schemas.microsoft.com/office/drawing/2014/main" id="{FCD7D95F-9B67-8E1F-51CF-D1AA6A92B7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463" y="6248400"/>
            <a:ext cx="8364537"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91" name="Picture 6">
            <a:extLst>
              <a:ext uri="{FF2B5EF4-FFF2-40B4-BE49-F238E27FC236}">
                <a16:creationId xmlns:a16="http://schemas.microsoft.com/office/drawing/2014/main" id="{A94C8D99-26BB-082F-56D0-7D30CC98E1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286000"/>
            <a:ext cx="4191000"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E4609-AF32-EF8C-74C4-85ADE5D6CC07}"/>
              </a:ext>
            </a:extLst>
          </p:cNvPr>
          <p:cNvSpPr>
            <a:spLocks noGrp="1"/>
          </p:cNvSpPr>
          <p:nvPr>
            <p:ph type="title"/>
          </p:nvPr>
        </p:nvSpPr>
        <p:spPr/>
        <p:txBody>
          <a:bodyPr/>
          <a:lstStyle/>
          <a:p>
            <a:pPr>
              <a:defRPr/>
            </a:pPr>
            <a:r>
              <a:rPr lang="en-US" dirty="0"/>
              <a:t>Example</a:t>
            </a:r>
          </a:p>
        </p:txBody>
      </p:sp>
      <p:pic>
        <p:nvPicPr>
          <p:cNvPr id="43011" name="Picture 2">
            <a:extLst>
              <a:ext uri="{FF2B5EF4-FFF2-40B4-BE49-F238E27FC236}">
                <a16:creationId xmlns:a16="http://schemas.microsoft.com/office/drawing/2014/main" id="{0CE85EE5-0A4C-E3C2-8874-AA450A0EA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8062913"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796B-3307-BB5B-CA27-5239657224A6}"/>
              </a:ext>
            </a:extLst>
          </p:cNvPr>
          <p:cNvSpPr>
            <a:spLocks noGrp="1"/>
          </p:cNvSpPr>
          <p:nvPr>
            <p:ph type="title"/>
          </p:nvPr>
        </p:nvSpPr>
        <p:spPr>
          <a:xfrm>
            <a:off x="457200" y="0"/>
            <a:ext cx="8229600" cy="1143000"/>
          </a:xfrm>
        </p:spPr>
        <p:txBody>
          <a:bodyPr/>
          <a:lstStyle/>
          <a:p>
            <a:pPr>
              <a:defRPr/>
            </a:pPr>
            <a:r>
              <a:rPr lang="en-US" dirty="0"/>
              <a:t>Theorem</a:t>
            </a:r>
          </a:p>
        </p:txBody>
      </p:sp>
      <p:pic>
        <p:nvPicPr>
          <p:cNvPr id="44035" name="Picture 2">
            <a:extLst>
              <a:ext uri="{FF2B5EF4-FFF2-40B4-BE49-F238E27FC236}">
                <a16:creationId xmlns:a16="http://schemas.microsoft.com/office/drawing/2014/main" id="{22F42E81-2DC4-3FEC-326B-2A62B9D0A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8" y="1219200"/>
            <a:ext cx="9121775"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58C80-DD7F-7DA2-DFDA-373B629BBDBC}"/>
              </a:ext>
            </a:extLst>
          </p:cNvPr>
          <p:cNvSpPr>
            <a:spLocks noGrp="1"/>
          </p:cNvSpPr>
          <p:nvPr>
            <p:ph type="title"/>
          </p:nvPr>
        </p:nvSpPr>
        <p:spPr/>
        <p:txBody>
          <a:bodyPr/>
          <a:lstStyle/>
          <a:p>
            <a:pPr>
              <a:defRPr/>
            </a:pPr>
            <a:r>
              <a:rPr lang="en-US" dirty="0"/>
              <a:t>Example</a:t>
            </a:r>
          </a:p>
        </p:txBody>
      </p:sp>
      <p:pic>
        <p:nvPicPr>
          <p:cNvPr id="45059" name="Picture 2">
            <a:extLst>
              <a:ext uri="{FF2B5EF4-FFF2-40B4-BE49-F238E27FC236}">
                <a16:creationId xmlns:a16="http://schemas.microsoft.com/office/drawing/2014/main" id="{C33F77B1-9838-9C43-F1EC-6F487717AE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865346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a:extLst>
              <a:ext uri="{FF2B5EF4-FFF2-40B4-BE49-F238E27FC236}">
                <a16:creationId xmlns:a16="http://schemas.microsoft.com/office/drawing/2014/main" id="{617CE694-68C4-DCF7-EF2F-93A5A14EAB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913765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3" name="TextBox 3">
            <a:extLst>
              <a:ext uri="{FF2B5EF4-FFF2-40B4-BE49-F238E27FC236}">
                <a16:creationId xmlns:a16="http://schemas.microsoft.com/office/drawing/2014/main" id="{A3CAFA04-D96B-4707-D515-D87B89F4309B}"/>
              </a:ext>
            </a:extLst>
          </p:cNvPr>
          <p:cNvSpPr txBox="1">
            <a:spLocks noChangeArrowheads="1"/>
          </p:cNvSpPr>
          <p:nvPr/>
        </p:nvSpPr>
        <p:spPr bwMode="auto">
          <a:xfrm>
            <a:off x="20638" y="228600"/>
            <a:ext cx="21891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4000" b="1">
                <a:solidFill>
                  <a:srgbClr val="FFC000"/>
                </a:solidFill>
              </a:rPr>
              <a:t>Theorem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CFB00-241F-2E14-9650-FCE1D1E81AE0}"/>
              </a:ext>
            </a:extLst>
          </p:cNvPr>
          <p:cNvSpPr>
            <a:spLocks noGrp="1"/>
          </p:cNvSpPr>
          <p:nvPr>
            <p:ph type="title"/>
          </p:nvPr>
        </p:nvSpPr>
        <p:spPr>
          <a:xfrm>
            <a:off x="-76200" y="0"/>
            <a:ext cx="9372600" cy="1143000"/>
          </a:xfrm>
        </p:spPr>
        <p:txBody>
          <a:bodyPr/>
          <a:lstStyle/>
          <a:p>
            <a:pPr>
              <a:defRPr/>
            </a:pPr>
            <a:r>
              <a:rPr lang="en-US" sz="3600" dirty="0"/>
              <a:t>Solving inhomogeneous linear recurrence  </a:t>
            </a:r>
          </a:p>
        </p:txBody>
      </p:sp>
      <p:pic>
        <p:nvPicPr>
          <p:cNvPr id="47107" name="Picture 2">
            <a:extLst>
              <a:ext uri="{FF2B5EF4-FFF2-40B4-BE49-F238E27FC236}">
                <a16:creationId xmlns:a16="http://schemas.microsoft.com/office/drawing/2014/main" id="{4048C3FB-12C7-7E6C-9F05-87DDC1493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43000"/>
            <a:ext cx="8915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A8CEB14A-7657-446A-475A-CDE9C7116CEC}"/>
              </a:ext>
            </a:extLst>
          </p:cNvPr>
          <p:cNvSpPr txBox="1">
            <a:spLocks noChangeArrowheads="1"/>
          </p:cNvSpPr>
          <p:nvPr/>
        </p:nvSpPr>
        <p:spPr bwMode="auto">
          <a:xfrm>
            <a:off x="152400" y="1828800"/>
            <a:ext cx="8763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2800"/>
              <a:t>1. Find roots of the characteristic equation.</a:t>
            </a:r>
          </a:p>
          <a:p>
            <a:pPr eaLnBrk="1" hangingPunct="1"/>
            <a:r>
              <a:rPr lang="en-US" altLang="en-US" sz="2800"/>
              <a:t>2. Write down the homogeneous solution to the  homogeneous recurrence</a:t>
            </a:r>
          </a:p>
          <a:p>
            <a:pPr eaLnBrk="1" hangingPunct="1"/>
            <a:endParaRPr lang="en-US" altLang="en-US" sz="2800"/>
          </a:p>
          <a:p>
            <a:pPr eaLnBrk="1" hangingPunct="1"/>
            <a:endParaRPr lang="en-US" altLang="en-US" sz="2800"/>
          </a:p>
          <a:p>
            <a:pPr eaLnBrk="1" hangingPunct="1"/>
            <a:r>
              <a:rPr lang="en-US" altLang="en-US" sz="2800"/>
              <a:t>3. Now restore g(n) and find a single solution G(n) to the recurrence, ignoring boundary conditions. This is called a particular solution.</a:t>
            </a:r>
          </a:p>
          <a:p>
            <a:pPr eaLnBrk="1" hangingPunct="1"/>
            <a:r>
              <a:rPr lang="en-US" altLang="en-US" sz="2800"/>
              <a:t>4. Add the homogeneous and particular solutions together to obtain the general solution  F(n) + G(n)</a:t>
            </a:r>
          </a:p>
          <a:p>
            <a:pPr eaLnBrk="1" hangingPunct="1"/>
            <a:r>
              <a:rPr lang="en-US" altLang="en-US" sz="2800"/>
              <a:t>5. Now use the boundary conditions to determine constants.</a:t>
            </a:r>
          </a:p>
          <a:p>
            <a:pPr eaLnBrk="1" hangingPunct="1"/>
            <a:r>
              <a:rPr lang="en-US" altLang="en-US" sz="2800"/>
              <a:t>          </a:t>
            </a:r>
          </a:p>
        </p:txBody>
      </p:sp>
      <p:graphicFrame>
        <p:nvGraphicFramePr>
          <p:cNvPr id="5" name="Object 4">
            <a:extLst>
              <a:ext uri="{FF2B5EF4-FFF2-40B4-BE49-F238E27FC236}">
                <a16:creationId xmlns:a16="http://schemas.microsoft.com/office/drawing/2014/main" id="{34AA4DFC-274B-F69D-28F4-198D27790DAE}"/>
              </a:ext>
            </a:extLst>
          </p:cNvPr>
          <p:cNvGraphicFramePr>
            <a:graphicFrameLocks noChangeAspect="1"/>
          </p:cNvGraphicFramePr>
          <p:nvPr/>
        </p:nvGraphicFramePr>
        <p:xfrm>
          <a:off x="1066800" y="3276600"/>
          <a:ext cx="7170738" cy="533400"/>
        </p:xfrm>
        <a:graphic>
          <a:graphicData uri="http://schemas.openxmlformats.org/presentationml/2006/ole">
            <mc:AlternateContent xmlns:mc="http://schemas.openxmlformats.org/markup-compatibility/2006">
              <mc:Choice xmlns:v="urn:schemas-microsoft-com:vml" Requires="v">
                <p:oleObj name="Equation" r:id="rId3" imgW="70802500" imgH="5270500" progId="Equation.DSMT4">
                  <p:embed/>
                </p:oleObj>
              </mc:Choice>
              <mc:Fallback>
                <p:oleObj name="Equation" r:id="rId3" imgW="70802500" imgH="5270500" progId="Equation.DSMT4">
                  <p:embed/>
                  <p:pic>
                    <p:nvPicPr>
                      <p:cNvPr id="5" name="Object 4">
                        <a:extLst>
                          <a:ext uri="{FF2B5EF4-FFF2-40B4-BE49-F238E27FC236}">
                            <a16:creationId xmlns:a16="http://schemas.microsoft.com/office/drawing/2014/main" id="{34AA4DFC-274B-F69D-28F4-198D27790D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76600"/>
                        <a:ext cx="71707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56F595-27B6-AA4E-4F0A-5BDF27CCD7F3}"/>
              </a:ext>
            </a:extLst>
          </p:cNvPr>
          <p:cNvSpPr>
            <a:spLocks noGrp="1"/>
          </p:cNvSpPr>
          <p:nvPr>
            <p:ph idx="1"/>
          </p:nvPr>
        </p:nvSpPr>
        <p:spPr>
          <a:xfrm>
            <a:off x="125413" y="158750"/>
            <a:ext cx="8991600" cy="6705600"/>
          </a:xfrm>
        </p:spPr>
        <p:txBody>
          <a:bodyPr/>
          <a:lstStyle/>
          <a:p>
            <a:pPr>
              <a:defRPr/>
            </a:pPr>
            <a:r>
              <a:rPr lang="en-US" sz="2800" dirty="0"/>
              <a:t>Example: Solve the recurrence relation</a:t>
            </a:r>
          </a:p>
          <a:p>
            <a:pPr>
              <a:defRPr/>
            </a:pPr>
            <a:endParaRPr lang="en-US" sz="2800" dirty="0"/>
          </a:p>
          <a:p>
            <a:pPr>
              <a:defRPr/>
            </a:pPr>
            <a:endParaRPr lang="en-US" sz="2800" dirty="0"/>
          </a:p>
          <a:p>
            <a:pPr>
              <a:defRPr/>
            </a:pPr>
            <a:r>
              <a:rPr lang="en-US" sz="2800" dirty="0"/>
              <a:t>Solution</a:t>
            </a:r>
          </a:p>
          <a:p>
            <a:pPr lvl="1">
              <a:buFont typeface="Wingdings" pitchFamily="2" charset="2"/>
              <a:buChar char="Ø"/>
              <a:defRPr/>
            </a:pPr>
            <a:r>
              <a:rPr lang="en-US" dirty="0"/>
              <a:t>Solving the homogeneous recurrence </a:t>
            </a:r>
          </a:p>
          <a:p>
            <a:pPr marL="457200" lvl="1" indent="0">
              <a:buFont typeface="Wingdings" pitchFamily="2" charset="2"/>
              <a:buNone/>
              <a:defRPr/>
            </a:pPr>
            <a:r>
              <a:rPr lang="en-US" dirty="0"/>
              <a:t>            F(n) = 2F(n-1)</a:t>
            </a:r>
          </a:p>
          <a:p>
            <a:pPr marL="457200" lvl="1" indent="0">
              <a:buFont typeface="Wingdings" pitchFamily="2" charset="2"/>
              <a:buNone/>
              <a:defRPr/>
            </a:pPr>
            <a:r>
              <a:rPr lang="en-US" dirty="0"/>
              <a:t>we get the homogeneous solution: F(n)=c 2</a:t>
            </a:r>
            <a:r>
              <a:rPr lang="en-US" baseline="30000" dirty="0"/>
              <a:t>n</a:t>
            </a:r>
          </a:p>
          <a:p>
            <a:pPr lvl="1">
              <a:buFont typeface="Wingdings" pitchFamily="2" charset="2"/>
              <a:buChar char="Ø"/>
              <a:defRPr/>
            </a:pPr>
            <a:r>
              <a:rPr lang="en-US" baseline="30000" dirty="0"/>
              <a:t> </a:t>
            </a:r>
            <a:r>
              <a:rPr lang="en-US" dirty="0"/>
              <a:t> Let’s guess that there is a particular solution of the form              G(n) = a n + b</a:t>
            </a:r>
          </a:p>
          <a:p>
            <a:pPr marL="0" indent="0">
              <a:buFont typeface="Wingdings" pitchFamily="2" charset="2"/>
              <a:buNone/>
              <a:defRPr/>
            </a:pPr>
            <a:r>
              <a:rPr lang="en-US" sz="2800" dirty="0"/>
              <a:t>         Substituting this guess into the recurrence gives </a:t>
            </a:r>
          </a:p>
          <a:p>
            <a:pPr marL="0" indent="0">
              <a:buFont typeface="Wingdings" pitchFamily="2" charset="2"/>
              <a:buNone/>
              <a:defRPr/>
            </a:pPr>
            <a:endParaRPr lang="en-US" sz="2800" dirty="0"/>
          </a:p>
          <a:p>
            <a:pPr marL="0" indent="0">
              <a:buFont typeface="Wingdings" pitchFamily="2" charset="2"/>
              <a:buNone/>
              <a:defRPr/>
            </a:pPr>
            <a:endParaRPr lang="en-US" sz="2800" dirty="0"/>
          </a:p>
          <a:p>
            <a:pPr marL="0" indent="0">
              <a:buFont typeface="Wingdings" pitchFamily="2" charset="2"/>
              <a:buNone/>
              <a:defRPr/>
            </a:pPr>
            <a:r>
              <a:rPr lang="en-US" sz="2800" dirty="0"/>
              <a:t>         We deduce that   a= -1,  b= -2 </a:t>
            </a:r>
          </a:p>
          <a:p>
            <a:pPr marL="0" indent="0">
              <a:buFont typeface="Wingdings" pitchFamily="2" charset="2"/>
              <a:buNone/>
              <a:defRPr/>
            </a:pPr>
            <a:r>
              <a:rPr lang="en-US" dirty="0"/>
              <a:t>                 </a:t>
            </a:r>
          </a:p>
        </p:txBody>
      </p:sp>
      <p:pic>
        <p:nvPicPr>
          <p:cNvPr id="48131" name="Picture 2">
            <a:extLst>
              <a:ext uri="{FF2B5EF4-FFF2-40B4-BE49-F238E27FC236}">
                <a16:creationId xmlns:a16="http://schemas.microsoft.com/office/drawing/2014/main" id="{9E75993C-EB66-E12E-C11F-DF6982E5E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685800"/>
            <a:ext cx="65865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2" name="Picture 3">
            <a:extLst>
              <a:ext uri="{FF2B5EF4-FFF2-40B4-BE49-F238E27FC236}">
                <a16:creationId xmlns:a16="http://schemas.microsoft.com/office/drawing/2014/main" id="{3942020E-9E5D-BBAA-6CB0-00480FBCA7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5226050"/>
            <a:ext cx="5005388"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638E15-606F-E3E1-B34D-E73E33E99DF8}"/>
              </a:ext>
            </a:extLst>
          </p:cNvPr>
          <p:cNvSpPr>
            <a:spLocks noGrp="1"/>
          </p:cNvSpPr>
          <p:nvPr>
            <p:ph idx="1"/>
          </p:nvPr>
        </p:nvSpPr>
        <p:spPr>
          <a:xfrm>
            <a:off x="304800" y="152400"/>
            <a:ext cx="8686800" cy="4525963"/>
          </a:xfrm>
        </p:spPr>
        <p:txBody>
          <a:bodyPr/>
          <a:lstStyle/>
          <a:p>
            <a:pPr>
              <a:buFont typeface="Wingdings" pitchFamily="2" charset="2"/>
              <a:buChar char="Ø"/>
              <a:defRPr/>
            </a:pPr>
            <a:r>
              <a:rPr lang="en-US" dirty="0"/>
              <a:t> The general solution to the recurrence</a:t>
            </a:r>
          </a:p>
          <a:p>
            <a:pPr marL="0" indent="0">
              <a:buFont typeface="Wingdings" pitchFamily="2" charset="2"/>
              <a:buNone/>
              <a:defRPr/>
            </a:pPr>
            <a:r>
              <a:rPr lang="en-US" dirty="0"/>
              <a:t>               f(n) = c2</a:t>
            </a:r>
            <a:r>
              <a:rPr lang="en-US" baseline="30000" dirty="0"/>
              <a:t>n</a:t>
            </a:r>
            <a:r>
              <a:rPr lang="en-US" dirty="0"/>
              <a:t> – n – 2.</a:t>
            </a:r>
          </a:p>
          <a:p>
            <a:pPr>
              <a:buFont typeface="Wingdings" pitchFamily="2" charset="2"/>
              <a:buChar char="Ø"/>
              <a:defRPr/>
            </a:pPr>
            <a:r>
              <a:rPr lang="en-US" dirty="0"/>
              <a:t>Using the boundary condition f(1) = 1, we get</a:t>
            </a:r>
          </a:p>
          <a:p>
            <a:pPr marL="0" indent="0">
              <a:buFont typeface="Wingdings" pitchFamily="2" charset="2"/>
              <a:buNone/>
              <a:defRPr/>
            </a:pPr>
            <a:r>
              <a:rPr lang="en-US" dirty="0"/>
              <a:t>               1= f(1) = c.2 – 1 – 2 </a:t>
            </a:r>
          </a:p>
          <a:p>
            <a:pPr marL="0" indent="0">
              <a:buFont typeface="Wingdings" pitchFamily="2" charset="2"/>
              <a:buNone/>
              <a:defRPr/>
            </a:pPr>
            <a:r>
              <a:rPr lang="en-US" dirty="0"/>
              <a:t>So c = 2.</a:t>
            </a:r>
          </a:p>
          <a:p>
            <a:pPr marL="0" indent="0">
              <a:buFont typeface="Wingdings" pitchFamily="2" charset="2"/>
              <a:buNone/>
              <a:defRPr/>
            </a:pPr>
            <a:r>
              <a:rPr lang="en-US" dirty="0"/>
              <a:t>    Therefore,  f(n) = 2. 2</a:t>
            </a:r>
            <a:r>
              <a:rPr lang="en-US" baseline="30000" dirty="0"/>
              <a:t>n</a:t>
            </a:r>
            <a:r>
              <a:rPr lang="en-US" dirty="0"/>
              <a:t> – n – 2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0E8089EA-70B6-8F26-E1DD-D26587E2EF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000"/>
            <a:ext cx="9144000" cy="215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79" name="TextBox 3">
            <a:extLst>
              <a:ext uri="{FF2B5EF4-FFF2-40B4-BE49-F238E27FC236}">
                <a16:creationId xmlns:a16="http://schemas.microsoft.com/office/drawing/2014/main" id="{E8813160-746C-ED67-7A7F-015658A97217}"/>
              </a:ext>
            </a:extLst>
          </p:cNvPr>
          <p:cNvSpPr txBox="1">
            <a:spLocks noChangeArrowheads="1"/>
          </p:cNvSpPr>
          <p:nvPr/>
        </p:nvSpPr>
        <p:spPr bwMode="auto">
          <a:xfrm>
            <a:off x="685800" y="381000"/>
            <a:ext cx="84582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Garamond" panose="02020404030301010803" pitchFamily="18" charset="0"/>
                <a:cs typeface="Arial" panose="020B0604020202020204" pitchFamily="34" charset="0"/>
              </a:defRPr>
            </a:lvl1pPr>
            <a:lvl2pPr marL="742950" indent="-285750" eaLnBrk="0" hangingPunct="0">
              <a:defRPr>
                <a:solidFill>
                  <a:schemeClr val="tx1"/>
                </a:solidFill>
                <a:latin typeface="Garamond" panose="02020404030301010803" pitchFamily="18" charset="0"/>
                <a:cs typeface="Arial" panose="020B0604020202020204" pitchFamily="34" charset="0"/>
              </a:defRPr>
            </a:lvl2pPr>
            <a:lvl3pPr marL="1143000" indent="-228600" eaLnBrk="0" hangingPunct="0">
              <a:defRPr>
                <a:solidFill>
                  <a:schemeClr val="tx1"/>
                </a:solidFill>
                <a:latin typeface="Garamond" panose="02020404030301010803" pitchFamily="18" charset="0"/>
                <a:cs typeface="Arial" panose="020B0604020202020204" pitchFamily="34" charset="0"/>
              </a:defRPr>
            </a:lvl3pPr>
            <a:lvl4pPr marL="1600200" indent="-228600" eaLnBrk="0" hangingPunct="0">
              <a:defRPr>
                <a:solidFill>
                  <a:schemeClr val="tx1"/>
                </a:solidFill>
                <a:latin typeface="Garamond" panose="02020404030301010803" pitchFamily="18" charset="0"/>
                <a:cs typeface="Arial" panose="020B0604020202020204" pitchFamily="34" charset="0"/>
              </a:defRPr>
            </a:lvl4pPr>
            <a:lvl5pPr marL="2057400" indent="-228600" eaLnBrk="0" hangingPunct="0">
              <a:defRPr>
                <a:solidFill>
                  <a:schemeClr val="tx1"/>
                </a:solidFill>
                <a:latin typeface="Garamond" panose="02020404030301010803"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Garamond" panose="02020404030301010803" pitchFamily="18" charset="0"/>
                <a:cs typeface="Arial" panose="020B0604020202020204" pitchFamily="34" charset="0"/>
              </a:defRPr>
            </a:lvl9pPr>
          </a:lstStyle>
          <a:p>
            <a:pPr eaLnBrk="1" hangingPunct="1"/>
            <a:r>
              <a:rPr lang="en-US" altLang="en-US" sz="4400">
                <a:solidFill>
                  <a:srgbClr val="FFC000"/>
                </a:solidFill>
              </a:rPr>
              <a:t>Solution of well-known  recurrences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3F6E1E27-95AC-B565-F18F-BB7D9B004C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95400"/>
            <a:ext cx="89535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a:extLst>
              <a:ext uri="{FF2B5EF4-FFF2-40B4-BE49-F238E27FC236}">
                <a16:creationId xmlns:a16="http://schemas.microsoft.com/office/drawing/2014/main" id="{CDD1C0BA-C83A-5579-C7A1-F5DEE15E4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03275"/>
            <a:ext cx="8870950"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Stream">
  <a:themeElements>
    <a:clrScheme name="Stream 10">
      <a:dk1>
        <a:srgbClr val="000514"/>
      </a:dk1>
      <a:lt1>
        <a:srgbClr val="FFFFFF"/>
      </a:lt1>
      <a:dk2>
        <a:srgbClr val="003399"/>
      </a:dk2>
      <a:lt2>
        <a:srgbClr val="FECE00"/>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
      <a:clrScheme name="Stream 10">
        <a:dk1>
          <a:srgbClr val="000514"/>
        </a:dk1>
        <a:lt1>
          <a:srgbClr val="FFFFFF"/>
        </a:lt1>
        <a:dk2>
          <a:srgbClr val="003399"/>
        </a:dk2>
        <a:lt2>
          <a:srgbClr val="FECE00"/>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16140</TotalTime>
  <Words>2021</Words>
  <Application>Microsoft Macintosh PowerPoint</Application>
  <PresentationFormat>On-screen Show (4:3)</PresentationFormat>
  <Paragraphs>204</Paragraphs>
  <Slides>49</Slides>
  <Notes>2</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8" baseType="lpstr">
      <vt:lpstr>Arial</vt:lpstr>
      <vt:lpstr>Calibri</vt:lpstr>
      <vt:lpstr>Comic Sans MS</vt:lpstr>
      <vt:lpstr>Garamond</vt:lpstr>
      <vt:lpstr>Times</vt:lpstr>
      <vt:lpstr>Times New Roman</vt:lpstr>
      <vt:lpstr>Wingdings</vt:lpstr>
      <vt:lpstr>Stream</vt:lpstr>
      <vt:lpstr>Equation</vt:lpstr>
      <vt:lpstr>CHAPTER 4</vt:lpstr>
      <vt:lpstr>CONTENTS</vt:lpstr>
      <vt:lpstr>4.1 Induction</vt:lpstr>
      <vt:lpstr>4.1.1 Ordinary induction</vt:lpstr>
      <vt:lpstr>PowerPoint Presentation</vt:lpstr>
      <vt:lpstr>4.1.2 Strong Mathematical Induction</vt:lpstr>
      <vt:lpstr>PowerPoint Presentation</vt:lpstr>
      <vt:lpstr>PowerPoint Presentation</vt:lpstr>
      <vt:lpstr>4.1.3 Inductive Definitions</vt:lpstr>
      <vt:lpstr>4.1.3 Inductive Definitions</vt:lpstr>
      <vt:lpstr>Fibonacci numbers</vt:lpstr>
      <vt:lpstr>PowerPoint Presentation</vt:lpstr>
      <vt:lpstr>Fibonacci numbers</vt:lpstr>
      <vt:lpstr>4.2 Recurrences</vt:lpstr>
      <vt:lpstr>PowerPoint Presentation</vt:lpstr>
      <vt:lpstr>Modeling with Recurrence Relations</vt:lpstr>
      <vt:lpstr>Modeling with Recurrence Relations</vt:lpstr>
      <vt:lpstr>Modeling with Recurrence Relations</vt:lpstr>
      <vt:lpstr>PowerPoint Presentation</vt:lpstr>
      <vt:lpstr>The Towers of Hanoi Problem</vt:lpstr>
      <vt:lpstr>PowerPoint Presentation</vt:lpstr>
      <vt:lpstr>Question</vt:lpstr>
      <vt:lpstr>PowerPoint Presentation</vt:lpstr>
      <vt:lpstr>PowerPoint Presentation</vt:lpstr>
      <vt:lpstr>A recursive solution</vt:lpstr>
      <vt:lpstr>Find a closed formula for Tn</vt:lpstr>
      <vt:lpstr>PowerPoint Presentation</vt:lpstr>
      <vt:lpstr>MERGE SORT ALGORITHM</vt:lpstr>
      <vt:lpstr>Merging two lists</vt:lpstr>
      <vt:lpstr>PowerPoint Presentation</vt:lpstr>
      <vt:lpstr>Merge sort</vt:lpstr>
      <vt:lpstr>Finding a recurrence</vt:lpstr>
      <vt:lpstr>PowerPoint Presentation</vt:lpstr>
      <vt:lpstr>Solving linear recurrence</vt:lpstr>
      <vt:lpstr>Solving linear recurrence</vt:lpstr>
      <vt:lpstr>Example</vt:lpstr>
      <vt:lpstr>PowerPoint Presentation</vt:lpstr>
      <vt:lpstr>Example</vt:lpstr>
      <vt:lpstr>Solving general linear recurrence</vt:lpstr>
      <vt:lpstr>Example</vt:lpstr>
      <vt:lpstr>Theorem</vt:lpstr>
      <vt:lpstr>Example</vt:lpstr>
      <vt:lpstr>PowerPoint Presentation</vt:lpstr>
      <vt:lpstr>Solving inhomogeneous linear recurrence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Nguyen Huu Anh</dc:creator>
  <cp:lastModifiedBy>Nguyễn Ngọc Ái Vân</cp:lastModifiedBy>
  <cp:revision>110</cp:revision>
  <dcterms:created xsi:type="dcterms:W3CDTF">2005-03-14T03:41:39Z</dcterms:created>
  <dcterms:modified xsi:type="dcterms:W3CDTF">2024-05-13T04:07:32Z</dcterms:modified>
</cp:coreProperties>
</file>