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57" r:id="rId4"/>
    <p:sldId id="283" r:id="rId5"/>
    <p:sldId id="258" r:id="rId6"/>
    <p:sldId id="265" r:id="rId7"/>
    <p:sldId id="285" r:id="rId8"/>
    <p:sldId id="261" r:id="rId9"/>
    <p:sldId id="279" r:id="rId10"/>
    <p:sldId id="266" r:id="rId11"/>
    <p:sldId id="286" r:id="rId12"/>
    <p:sldId id="288" r:id="rId13"/>
    <p:sldId id="291" r:id="rId14"/>
    <p:sldId id="292" r:id="rId15"/>
    <p:sldId id="289" r:id="rId16"/>
    <p:sldId id="272" r:id="rId17"/>
    <p:sldId id="294" r:id="rId18"/>
    <p:sldId id="290" r:id="rId19"/>
    <p:sldId id="295" r:id="rId20"/>
    <p:sldId id="263" r:id="rId21"/>
    <p:sldId id="280" r:id="rId22"/>
    <p:sldId id="259" r:id="rId23"/>
    <p:sldId id="287" r:id="rId24"/>
    <p:sldId id="275" r:id="rId25"/>
    <p:sldId id="293" r:id="rId26"/>
    <p:sldId id="276" r:id="rId27"/>
    <p:sldId id="281" r:id="rId28"/>
    <p:sldId id="282" r:id="rId29"/>
    <p:sldId id="277" r:id="rId30"/>
  </p:sldIdLst>
  <p:sldSz cx="18288000" cy="10287000"/>
  <p:notesSz cx="6858000" cy="9144000"/>
  <p:embeddedFontLs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Bold" panose="00000800000000000000" charset="0"/>
      <p:regular r:id="rId35"/>
    </p:embeddedFont>
    <p:embeddedFont>
      <p:font typeface="Poppins Semi-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38"/>
    <a:srgbClr val="0D3F83"/>
    <a:srgbClr val="A5391B"/>
    <a:srgbClr val="E9C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29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354932870775208E-2"/>
          <c:y val="6.763948920633063E-2"/>
          <c:w val="0.35026099268023875"/>
          <c:h val="0.8138804133858267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Mehrabian's 7-38-55 Model</c:v>
                </c:pt>
              </c:strCache>
            </c:strRef>
          </c:tx>
          <c:dPt>
            <c:idx val="0"/>
            <c:bubble3D val="0"/>
            <c:spPr>
              <a:solidFill>
                <a:srgbClr val="0D3F8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32F-40C6-86B1-7D2DD0E1ED71}"/>
              </c:ext>
            </c:extLst>
          </c:dPt>
          <c:dPt>
            <c:idx val="1"/>
            <c:bubble3D val="0"/>
            <c:spPr>
              <a:solidFill>
                <a:srgbClr val="A5391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2F-40C6-86B1-7D2DD0E1ED71}"/>
              </c:ext>
            </c:extLst>
          </c:dPt>
          <c:dPt>
            <c:idx val="2"/>
            <c:bubble3D val="0"/>
            <c:spPr>
              <a:solidFill>
                <a:srgbClr val="FFC0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2F-40C6-86B1-7D2DD0E1ED7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18C-4AF9-B01A-AAAD4CE595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bg1"/>
                    </a:solidFill>
                    <a:latin typeface="Poppins Semi-Bold" panose="020B0604020202020204" charset="0"/>
                    <a:ea typeface="+mn-ea"/>
                    <a:cs typeface="Poppins Semi-Bold" panose="020B060402020202020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Words</c:v>
                </c:pt>
                <c:pt idx="1">
                  <c:v>Tone of voice</c:v>
                </c:pt>
                <c:pt idx="2">
                  <c:v>Body language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7.0000000000000007E-2</c:v>
                </c:pt>
                <c:pt idx="1">
                  <c:v>0.38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F-40C6-86B1-7D2DD0E1E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6.4192496139318225E-2"/>
          <c:y val="0.86704358333304654"/>
          <c:w val="0.47397249940060621"/>
          <c:h val="5.6525777994197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 Semi-Bold" panose="020B0604020202020204" charset="0"/>
              <a:ea typeface="+mn-ea"/>
              <a:cs typeface="Poppins Semi-Bold" panose="020B060402020202020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19.sv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12" Type="http://schemas.openxmlformats.org/officeDocument/2006/relationships/image" Target="../media/image3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5" Type="http://schemas.openxmlformats.org/officeDocument/2006/relationships/image" Target="../media/image2.svg"/><Relationship Id="rId10" Type="http://schemas.openxmlformats.org/officeDocument/2006/relationships/image" Target="../media/image29.svg"/><Relationship Id="rId4" Type="http://schemas.openxmlformats.org/officeDocument/2006/relationships/image" Target="../media/image1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12" Type="http://schemas.openxmlformats.org/officeDocument/2006/relationships/image" Target="../media/image3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svg"/><Relationship Id="rId3" Type="http://schemas.openxmlformats.org/officeDocument/2006/relationships/image" Target="../media/image35.svg"/><Relationship Id="rId7" Type="http://schemas.openxmlformats.org/officeDocument/2006/relationships/image" Target="../media/image2.svg"/><Relationship Id="rId12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9.svg"/><Relationship Id="rId5" Type="http://schemas.openxmlformats.org/officeDocument/2006/relationships/image" Target="../media/image37.svg"/><Relationship Id="rId15" Type="http://schemas.openxmlformats.org/officeDocument/2006/relationships/image" Target="../media/image43.svg"/><Relationship Id="rId10" Type="http://schemas.openxmlformats.org/officeDocument/2006/relationships/image" Target="../media/image8.png"/><Relationship Id="rId4" Type="http://schemas.openxmlformats.org/officeDocument/2006/relationships/image" Target="../media/image36.png"/><Relationship Id="rId9" Type="http://schemas.openxmlformats.org/officeDocument/2006/relationships/image" Target="../media/image39.svg"/><Relationship Id="rId1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47.svg"/><Relationship Id="rId5" Type="http://schemas.openxmlformats.org/officeDocument/2006/relationships/image" Target="../media/image7.svg"/><Relationship Id="rId10" Type="http://schemas.openxmlformats.org/officeDocument/2006/relationships/image" Target="../media/image46.png"/><Relationship Id="rId4" Type="http://schemas.openxmlformats.org/officeDocument/2006/relationships/image" Target="../media/image6.png"/><Relationship Id="rId9" Type="http://schemas.openxmlformats.org/officeDocument/2006/relationships/image" Target="../media/image4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4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9.svg"/><Relationship Id="rId10" Type="http://schemas.openxmlformats.org/officeDocument/2006/relationships/image" Target="../media/image52.png"/><Relationship Id="rId4" Type="http://schemas.openxmlformats.org/officeDocument/2006/relationships/image" Target="../media/image8.png"/><Relationship Id="rId9" Type="http://schemas.openxmlformats.org/officeDocument/2006/relationships/image" Target="../media/image5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 flipH="1">
            <a:off x="-2890288" y="-303380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656331" y="5413578"/>
            <a:ext cx="10720397" cy="1062859"/>
            <a:chOff x="0" y="-66675"/>
            <a:chExt cx="2471078" cy="2652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5703631" y="3268437"/>
            <a:ext cx="11352394" cy="4154525"/>
          </a:xfrm>
          <a:custGeom>
            <a:avLst/>
            <a:gdLst/>
            <a:ahLst/>
            <a:cxnLst/>
            <a:rect l="l" t="t" r="r" b="b"/>
            <a:pathLst>
              <a:path w="11352394" h="4154525">
                <a:moveTo>
                  <a:pt x="0" y="0"/>
                </a:moveTo>
                <a:lnTo>
                  <a:pt x="11352394" y="0"/>
                </a:lnTo>
                <a:lnTo>
                  <a:pt x="11352394" y="4154525"/>
                </a:lnTo>
                <a:lnTo>
                  <a:pt x="0" y="4154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10" b="-116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994677" y="8631294"/>
            <a:ext cx="11534968" cy="1153496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44388" y="-782543"/>
            <a:ext cx="12346012" cy="12510258"/>
            <a:chOff x="0" y="0"/>
            <a:chExt cx="812800" cy="8236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23613"/>
            </a:xfrm>
            <a:custGeom>
              <a:avLst/>
              <a:gdLst/>
              <a:ahLst/>
              <a:cxnLst/>
              <a:rect l="l" t="t" r="r" b="b"/>
              <a:pathLst>
                <a:path w="812800" h="823613">
                  <a:moveTo>
                    <a:pt x="406400" y="0"/>
                  </a:moveTo>
                  <a:cubicBezTo>
                    <a:pt x="181951" y="0"/>
                    <a:pt x="0" y="184372"/>
                    <a:pt x="0" y="411807"/>
                  </a:cubicBezTo>
                  <a:cubicBezTo>
                    <a:pt x="0" y="639241"/>
                    <a:pt x="181951" y="823613"/>
                    <a:pt x="406400" y="823613"/>
                  </a:cubicBezTo>
                  <a:cubicBezTo>
                    <a:pt x="630849" y="823613"/>
                    <a:pt x="812800" y="639241"/>
                    <a:pt x="812800" y="411807"/>
                  </a:cubicBezTo>
                  <a:cubicBezTo>
                    <a:pt x="812800" y="184372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8277" t="-3754" r="-27815" b="-120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 rot="-4317171">
            <a:off x="7473988" y="4370398"/>
            <a:ext cx="7762520" cy="5599342"/>
          </a:xfrm>
          <a:custGeom>
            <a:avLst/>
            <a:gdLst/>
            <a:ahLst/>
            <a:cxnLst/>
            <a:rect l="l" t="t" r="r" b="b"/>
            <a:pathLst>
              <a:path w="7762520" h="5599342">
                <a:moveTo>
                  <a:pt x="0" y="0"/>
                </a:moveTo>
                <a:lnTo>
                  <a:pt x="7762520" y="0"/>
                </a:lnTo>
                <a:lnTo>
                  <a:pt x="7762520" y="5599342"/>
                </a:lnTo>
                <a:lnTo>
                  <a:pt x="0" y="5599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727458" y="408535"/>
            <a:ext cx="620165" cy="62016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55283" y="-1425899"/>
            <a:ext cx="1752322" cy="175232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863608" flipH="1">
            <a:off x="16051914" y="-192690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3942056" y="0"/>
                </a:moveTo>
                <a:lnTo>
                  <a:pt x="0" y="0"/>
                </a:lnTo>
                <a:lnTo>
                  <a:pt x="0" y="3338166"/>
                </a:lnTo>
                <a:lnTo>
                  <a:pt x="3942056" y="3338166"/>
                </a:lnTo>
                <a:lnTo>
                  <a:pt x="394205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4855005">
            <a:off x="16011530" y="7184759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7"/>
                </a:lnTo>
                <a:lnTo>
                  <a:pt x="0" y="3338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80226" y="1270687"/>
            <a:ext cx="17672962" cy="438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83"/>
              </a:lnSpc>
            </a:pPr>
            <a:r>
              <a:rPr lang="vi-VN" sz="8070" b="1" dirty="0">
                <a:solidFill>
                  <a:srgbClr val="0C3E80"/>
                </a:solidFill>
                <a:latin typeface="Poppins Bold"/>
                <a:ea typeface="Poppins Bold"/>
                <a:cs typeface="Poppins Bold"/>
                <a:sym typeface="Poppins Bold"/>
              </a:rPr>
              <a:t>THE IMPACT OF </a:t>
            </a:r>
          </a:p>
          <a:p>
            <a:pPr algn="l">
              <a:lnSpc>
                <a:spcPts val="11583"/>
              </a:lnSpc>
            </a:pPr>
            <a:r>
              <a:rPr lang="vi-VN" sz="8070" b="1" dirty="0">
                <a:solidFill>
                  <a:srgbClr val="0C3E80"/>
                </a:solidFill>
                <a:latin typeface="Poppins Bold"/>
                <a:ea typeface="Poppins Bold"/>
                <a:cs typeface="Poppins Bold"/>
                <a:sym typeface="Poppins Bold"/>
              </a:rPr>
              <a:t>NON-VERBAL </a:t>
            </a:r>
          </a:p>
          <a:p>
            <a:pPr algn="l">
              <a:lnSpc>
                <a:spcPts val="11583"/>
              </a:lnSpc>
            </a:pPr>
            <a:r>
              <a:rPr lang="vi-VN" sz="8070" b="1" dirty="0">
                <a:solidFill>
                  <a:srgbClr val="0C3E8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</a:t>
            </a:r>
            <a:endParaRPr lang="en-US" sz="8070" b="1" dirty="0">
              <a:solidFill>
                <a:srgbClr val="0C3E8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06227" y="5807837"/>
            <a:ext cx="8216116" cy="585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 PROFESSIONAL SETTINGS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49545" y="7771486"/>
            <a:ext cx="2465355" cy="41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vi-VN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Course</a:t>
            </a: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4181" y="8655797"/>
            <a:ext cx="2465355" cy="41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vi-VN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Lecturer</a:t>
            </a:r>
            <a:r>
              <a:rPr lang="en-US" sz="2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72870" y="7750644"/>
            <a:ext cx="8041156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5"/>
              </a:lnSpc>
            </a:pPr>
            <a:r>
              <a:rPr lang="vi-VN" sz="2600" b="1" dirty="0">
                <a:solidFill>
                  <a:srgbClr val="0D3F83"/>
                </a:solidFill>
                <a:latin typeface="Poppins Bold"/>
                <a:ea typeface="Poppins Bold"/>
                <a:cs typeface="Poppins Bold"/>
                <a:sym typeface="Poppins Bold"/>
              </a:rPr>
              <a:t>English for professional communication</a:t>
            </a:r>
            <a:endParaRPr lang="en-US" sz="2600" b="1" dirty="0">
              <a:solidFill>
                <a:srgbClr val="0D3F8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040203" y="8631294"/>
            <a:ext cx="4423956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5"/>
              </a:lnSpc>
            </a:pPr>
            <a:r>
              <a:rPr lang="vi-VN" sz="2600" b="1" dirty="0">
                <a:solidFill>
                  <a:srgbClr val="0D3F83"/>
                </a:solidFill>
                <a:latin typeface="Poppins Bold"/>
                <a:ea typeface="Poppins Bold"/>
                <a:cs typeface="Poppins Bold"/>
                <a:sym typeface="Poppins Bold"/>
              </a:rPr>
              <a:t>Dr. Tran Van Hai Trieu</a:t>
            </a:r>
            <a:endParaRPr lang="en-US" sz="2600" b="1" dirty="0">
              <a:solidFill>
                <a:srgbClr val="0D3F8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8DBF59FE-4648-EF95-A8D0-EB75F61103C7}"/>
              </a:ext>
            </a:extLst>
          </p:cNvPr>
          <p:cNvSpPr txBox="1"/>
          <p:nvPr/>
        </p:nvSpPr>
        <p:spPr>
          <a:xfrm>
            <a:off x="163057" y="232712"/>
            <a:ext cx="11157555" cy="833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vi-VN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University of Information Technology</a:t>
            </a:r>
          </a:p>
          <a:p>
            <a:pPr algn="l">
              <a:lnSpc>
                <a:spcPts val="3315"/>
              </a:lnSpc>
            </a:pPr>
            <a:r>
              <a:rPr lang="vi-VN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Faculty of Information Systems</a:t>
            </a:r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2394265" y="-3258566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2"/>
                </a:lnTo>
                <a:lnTo>
                  <a:pt x="0" y="855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068469" y="6037514"/>
            <a:ext cx="5224919" cy="1887502"/>
          </a:xfrm>
          <a:custGeom>
            <a:avLst/>
            <a:gdLst/>
            <a:ahLst/>
            <a:cxnLst/>
            <a:rect l="l" t="t" r="r" b="b"/>
            <a:pathLst>
              <a:path w="5224919" h="1887502">
                <a:moveTo>
                  <a:pt x="0" y="0"/>
                </a:moveTo>
                <a:lnTo>
                  <a:pt x="5224919" y="0"/>
                </a:lnTo>
                <a:lnTo>
                  <a:pt x="5224919" y="1887502"/>
                </a:lnTo>
                <a:lnTo>
                  <a:pt x="0" y="188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9844665" y="6037514"/>
            <a:ext cx="5224919" cy="1887502"/>
          </a:xfrm>
          <a:custGeom>
            <a:avLst/>
            <a:gdLst/>
            <a:ahLst/>
            <a:cxnLst/>
            <a:rect l="l" t="t" r="r" b="b"/>
            <a:pathLst>
              <a:path w="5224919" h="1887502">
                <a:moveTo>
                  <a:pt x="0" y="0"/>
                </a:moveTo>
                <a:lnTo>
                  <a:pt x="5224919" y="0"/>
                </a:lnTo>
                <a:lnTo>
                  <a:pt x="5224919" y="1887502"/>
                </a:lnTo>
                <a:lnTo>
                  <a:pt x="0" y="188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6212524" flipV="1">
            <a:off x="-1439817" y="744403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765914" y="1317822"/>
            <a:ext cx="620165" cy="62016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145751" y="-855626"/>
            <a:ext cx="1423762" cy="15675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43"/>
              </a:lnSpc>
            </a:pPr>
            <a:endParaRPr/>
          </a:p>
        </p:txBody>
      </p:sp>
      <p:sp>
        <p:nvSpPr>
          <p:cNvPr id="13" name="Freeform 13"/>
          <p:cNvSpPr/>
          <p:nvPr/>
        </p:nvSpPr>
        <p:spPr>
          <a:xfrm rot="-5008063">
            <a:off x="15900784" y="7143697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098732" y="2750092"/>
            <a:ext cx="5224919" cy="1887502"/>
          </a:xfrm>
          <a:custGeom>
            <a:avLst/>
            <a:gdLst/>
            <a:ahLst/>
            <a:cxnLst/>
            <a:rect l="l" t="t" r="r" b="b"/>
            <a:pathLst>
              <a:path w="5224919" h="1887502">
                <a:moveTo>
                  <a:pt x="0" y="0"/>
                </a:moveTo>
                <a:lnTo>
                  <a:pt x="5224919" y="0"/>
                </a:lnTo>
                <a:lnTo>
                  <a:pt x="5224919" y="1887502"/>
                </a:lnTo>
                <a:lnTo>
                  <a:pt x="0" y="188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85800" y="391690"/>
            <a:ext cx="7257367" cy="8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GROUP MEMBERS: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655692" y="6711793"/>
            <a:ext cx="417390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5"/>
              </a:lnSpc>
            </a:pPr>
            <a:r>
              <a:rPr lang="vi-VN" sz="2138" b="1" spc="2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Cao Phan Lam</a:t>
            </a:r>
            <a:endParaRPr lang="en-US" sz="2138" b="1" spc="2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304128" y="6711793"/>
            <a:ext cx="417390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5"/>
              </a:lnSpc>
            </a:pPr>
            <a:r>
              <a:rPr lang="vi-VN" sz="2138" b="1" spc="2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Tran Quoc Kiet</a:t>
            </a:r>
            <a:endParaRPr lang="en-US" sz="2138" b="1" spc="2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628820" y="3424371"/>
            <a:ext cx="417390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5"/>
              </a:lnSpc>
            </a:pPr>
            <a:r>
              <a:rPr lang="vi-VN" sz="2138" b="1" spc="2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Nguyen Tran Khai Hung</a:t>
            </a:r>
            <a:endParaRPr lang="en-US" sz="2138" b="1" spc="2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B6465EBE-C963-D392-639C-FC4F79B9CF65}"/>
              </a:ext>
            </a:extLst>
          </p:cNvPr>
          <p:cNvSpPr/>
          <p:nvPr/>
        </p:nvSpPr>
        <p:spPr>
          <a:xfrm>
            <a:off x="6534534" y="2750092"/>
            <a:ext cx="5224919" cy="1887502"/>
          </a:xfrm>
          <a:custGeom>
            <a:avLst/>
            <a:gdLst/>
            <a:ahLst/>
            <a:cxnLst/>
            <a:rect l="l" t="t" r="r" b="b"/>
            <a:pathLst>
              <a:path w="5224919" h="1887502">
                <a:moveTo>
                  <a:pt x="0" y="0"/>
                </a:moveTo>
                <a:lnTo>
                  <a:pt x="5224919" y="0"/>
                </a:lnTo>
                <a:lnTo>
                  <a:pt x="5224919" y="1887502"/>
                </a:lnTo>
                <a:lnTo>
                  <a:pt x="0" y="188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27">
            <a:extLst>
              <a:ext uri="{FF2B5EF4-FFF2-40B4-BE49-F238E27FC236}">
                <a16:creationId xmlns:a16="http://schemas.microsoft.com/office/drawing/2014/main" id="{C6F75804-A9F3-27DA-B7A2-65952095DE78}"/>
              </a:ext>
            </a:extLst>
          </p:cNvPr>
          <p:cNvSpPr txBox="1"/>
          <p:nvPr/>
        </p:nvSpPr>
        <p:spPr>
          <a:xfrm>
            <a:off x="7121757" y="3424371"/>
            <a:ext cx="417390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5"/>
              </a:lnSpc>
            </a:pPr>
            <a:r>
              <a:rPr lang="vi-VN" sz="2138" b="1" spc="21" dirty="0">
                <a:solidFill>
                  <a:srgbClr val="FFC03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Tran Anh Tuan</a:t>
            </a:r>
            <a:endParaRPr lang="en-US" sz="2138" b="1" spc="21" dirty="0">
              <a:solidFill>
                <a:srgbClr val="FFC038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7A65DA12-0A9C-6F14-CFF7-E7C3D9C50063}"/>
              </a:ext>
            </a:extLst>
          </p:cNvPr>
          <p:cNvSpPr/>
          <p:nvPr/>
        </p:nvSpPr>
        <p:spPr>
          <a:xfrm>
            <a:off x="970336" y="2750092"/>
            <a:ext cx="5224919" cy="1887502"/>
          </a:xfrm>
          <a:custGeom>
            <a:avLst/>
            <a:gdLst/>
            <a:ahLst/>
            <a:cxnLst/>
            <a:rect l="l" t="t" r="r" b="b"/>
            <a:pathLst>
              <a:path w="5224919" h="1887502">
                <a:moveTo>
                  <a:pt x="0" y="0"/>
                </a:moveTo>
                <a:lnTo>
                  <a:pt x="5224919" y="0"/>
                </a:lnTo>
                <a:lnTo>
                  <a:pt x="5224919" y="1887502"/>
                </a:lnTo>
                <a:lnTo>
                  <a:pt x="0" y="188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D86694C3-84C9-C778-9E28-2D406E4EB05E}"/>
              </a:ext>
            </a:extLst>
          </p:cNvPr>
          <p:cNvSpPr txBox="1"/>
          <p:nvPr/>
        </p:nvSpPr>
        <p:spPr>
          <a:xfrm>
            <a:off x="1557559" y="3424371"/>
            <a:ext cx="417390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5"/>
              </a:lnSpc>
            </a:pPr>
            <a:r>
              <a:rPr lang="vi-VN" sz="2138" b="1" spc="2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Dang Hoang Long</a:t>
            </a:r>
            <a:endParaRPr lang="en-US" sz="2138" b="1" spc="2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0758075" y="4789093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2"/>
                </a:lnTo>
                <a:lnTo>
                  <a:pt x="0" y="855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-3924300"/>
            <a:ext cx="19430999" cy="5702114"/>
          </a:xfrm>
          <a:custGeom>
            <a:avLst/>
            <a:gdLst/>
            <a:ahLst/>
            <a:cxnLst/>
            <a:rect l="l" t="t" r="r" b="b"/>
            <a:pathLst>
              <a:path w="19430999" h="5702114">
                <a:moveTo>
                  <a:pt x="0" y="0"/>
                </a:moveTo>
                <a:lnTo>
                  <a:pt x="19431000" y="0"/>
                </a:lnTo>
                <a:lnTo>
                  <a:pt x="19431000" y="5702114"/>
                </a:lnTo>
                <a:lnTo>
                  <a:pt x="0" y="5702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444" b="-19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83110" y="8638135"/>
            <a:ext cx="620165" cy="62016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23622" y="8948218"/>
            <a:ext cx="1752322" cy="175232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9419425" flipH="1" flipV="1">
            <a:off x="-1917795" y="-1322538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3" y="6969685"/>
                </a:moveTo>
                <a:lnTo>
                  <a:pt x="0" y="6969685"/>
                </a:lnTo>
                <a:lnTo>
                  <a:pt x="0" y="0"/>
                </a:lnTo>
                <a:lnTo>
                  <a:pt x="9662263" y="0"/>
                </a:lnTo>
                <a:lnTo>
                  <a:pt x="9662263" y="69696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10B10CF6-926A-F98F-D519-845369EB7745}"/>
              </a:ext>
            </a:extLst>
          </p:cNvPr>
          <p:cNvSpPr txBox="1"/>
          <p:nvPr/>
        </p:nvSpPr>
        <p:spPr>
          <a:xfrm>
            <a:off x="10668000" y="13855"/>
            <a:ext cx="7257367" cy="8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81"/>
              </a:lnSpc>
            </a:pPr>
            <a:r>
              <a:rPr lang="vi-VN" sz="5817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TABLE OF CONTENT</a:t>
            </a:r>
            <a:endParaRPr lang="en-US" sz="5817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959702B9-8058-DB97-43B9-15CB56241CDA}"/>
              </a:ext>
            </a:extLst>
          </p:cNvPr>
          <p:cNvGrpSpPr/>
          <p:nvPr/>
        </p:nvGrpSpPr>
        <p:grpSpPr>
          <a:xfrm>
            <a:off x="3356239" y="1658653"/>
            <a:ext cx="10720397" cy="1062859"/>
            <a:chOff x="0" y="-66675"/>
            <a:chExt cx="2471078" cy="265246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F6184783-CC1B-C1F2-02FA-95E94448FE51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DFC65267-5F72-54D0-C9A3-D82E33B4D65F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30" name="Group 3">
            <a:extLst>
              <a:ext uri="{FF2B5EF4-FFF2-40B4-BE49-F238E27FC236}">
                <a16:creationId xmlns:a16="http://schemas.microsoft.com/office/drawing/2014/main" id="{464B5368-FD00-22F2-EAE2-CB9E5F8BFE14}"/>
              </a:ext>
            </a:extLst>
          </p:cNvPr>
          <p:cNvGrpSpPr/>
          <p:nvPr/>
        </p:nvGrpSpPr>
        <p:grpSpPr>
          <a:xfrm>
            <a:off x="3363165" y="3124816"/>
            <a:ext cx="10720397" cy="1062859"/>
            <a:chOff x="0" y="-66675"/>
            <a:chExt cx="2471078" cy="265246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73850208-1177-3C1C-D020-AC19C77F0744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5">
              <a:extLst>
                <a:ext uri="{FF2B5EF4-FFF2-40B4-BE49-F238E27FC236}">
                  <a16:creationId xmlns:a16="http://schemas.microsoft.com/office/drawing/2014/main" id="{6BA48137-FCF7-6344-DD89-001AE45814F7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33" name="Group 3">
            <a:extLst>
              <a:ext uri="{FF2B5EF4-FFF2-40B4-BE49-F238E27FC236}">
                <a16:creationId xmlns:a16="http://schemas.microsoft.com/office/drawing/2014/main" id="{5949ED7F-99F5-B927-83F1-5DE07647A9E3}"/>
              </a:ext>
            </a:extLst>
          </p:cNvPr>
          <p:cNvGrpSpPr/>
          <p:nvPr/>
        </p:nvGrpSpPr>
        <p:grpSpPr>
          <a:xfrm>
            <a:off x="3356238" y="4590979"/>
            <a:ext cx="10720397" cy="1062859"/>
            <a:chOff x="0" y="-66675"/>
            <a:chExt cx="2471078" cy="265246"/>
          </a:xfrm>
        </p:grpSpPr>
        <p:sp>
          <p:nvSpPr>
            <p:cNvPr id="34" name="Freeform 4">
              <a:extLst>
                <a:ext uri="{FF2B5EF4-FFF2-40B4-BE49-F238E27FC236}">
                  <a16:creationId xmlns:a16="http://schemas.microsoft.com/office/drawing/2014/main" id="{E8AB602F-D1A2-06CD-3E8D-064D80FA14EE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8EBF5B88-3C0F-DCCE-B87D-0C1FF61B1682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36" name="Group 3">
            <a:extLst>
              <a:ext uri="{FF2B5EF4-FFF2-40B4-BE49-F238E27FC236}">
                <a16:creationId xmlns:a16="http://schemas.microsoft.com/office/drawing/2014/main" id="{5B28FB19-BC56-BAC4-5A5A-308926E50107}"/>
              </a:ext>
            </a:extLst>
          </p:cNvPr>
          <p:cNvGrpSpPr/>
          <p:nvPr/>
        </p:nvGrpSpPr>
        <p:grpSpPr>
          <a:xfrm>
            <a:off x="3356237" y="5921009"/>
            <a:ext cx="10720397" cy="1062859"/>
            <a:chOff x="0" y="-66675"/>
            <a:chExt cx="2471078" cy="265246"/>
          </a:xfrm>
        </p:grpSpPr>
        <p:sp>
          <p:nvSpPr>
            <p:cNvPr id="37" name="Freeform 4">
              <a:extLst>
                <a:ext uri="{FF2B5EF4-FFF2-40B4-BE49-F238E27FC236}">
                  <a16:creationId xmlns:a16="http://schemas.microsoft.com/office/drawing/2014/main" id="{3F0A2132-9D98-3622-0BA1-5FE982E818D5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TextBox 5">
              <a:extLst>
                <a:ext uri="{FF2B5EF4-FFF2-40B4-BE49-F238E27FC236}">
                  <a16:creationId xmlns:a16="http://schemas.microsoft.com/office/drawing/2014/main" id="{66F77EB9-F311-8B17-5FFC-4F3BC0F8FB5D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39" name="Group 3">
            <a:extLst>
              <a:ext uri="{FF2B5EF4-FFF2-40B4-BE49-F238E27FC236}">
                <a16:creationId xmlns:a16="http://schemas.microsoft.com/office/drawing/2014/main" id="{CCD34047-6A80-4F69-5190-7EF891006C8A}"/>
              </a:ext>
            </a:extLst>
          </p:cNvPr>
          <p:cNvGrpSpPr/>
          <p:nvPr/>
        </p:nvGrpSpPr>
        <p:grpSpPr>
          <a:xfrm>
            <a:off x="3356236" y="7231215"/>
            <a:ext cx="10720397" cy="1062859"/>
            <a:chOff x="0" y="-66675"/>
            <a:chExt cx="2471078" cy="265246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2703982E-EE86-FD93-73CA-2CB2749C717E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TextBox 5">
              <a:extLst>
                <a:ext uri="{FF2B5EF4-FFF2-40B4-BE49-F238E27FC236}">
                  <a16:creationId xmlns:a16="http://schemas.microsoft.com/office/drawing/2014/main" id="{3086AB81-4401-F85D-7694-F2F1A6B09AF1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2" name="TextBox 24">
            <a:extLst>
              <a:ext uri="{FF2B5EF4-FFF2-40B4-BE49-F238E27FC236}">
                <a16:creationId xmlns:a16="http://schemas.microsoft.com/office/drawing/2014/main" id="{DDC7F93E-B28B-0807-E095-4BE1CB394685}"/>
              </a:ext>
            </a:extLst>
          </p:cNvPr>
          <p:cNvSpPr txBox="1"/>
          <p:nvPr/>
        </p:nvSpPr>
        <p:spPr>
          <a:xfrm>
            <a:off x="3581400" y="2025161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97082C45-278D-11AB-A8A6-14649A529E6B}"/>
              </a:ext>
            </a:extLst>
          </p:cNvPr>
          <p:cNvSpPr txBox="1"/>
          <p:nvPr/>
        </p:nvSpPr>
        <p:spPr>
          <a:xfrm>
            <a:off x="3581400" y="3478323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LITERATURE REVIEW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C5316ACB-4B9C-2ECE-2919-06DE55F81499}"/>
              </a:ext>
            </a:extLst>
          </p:cNvPr>
          <p:cNvSpPr txBox="1"/>
          <p:nvPr/>
        </p:nvSpPr>
        <p:spPr>
          <a:xfrm>
            <a:off x="3581400" y="4977311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FINDINGS AND DISCUSSION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BEF0E54F-809F-3DC3-03B9-01CCF6A8126B}"/>
              </a:ext>
            </a:extLst>
          </p:cNvPr>
          <p:cNvSpPr txBox="1"/>
          <p:nvPr/>
        </p:nvSpPr>
        <p:spPr>
          <a:xfrm>
            <a:off x="3581400" y="6317493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RECONMMENDATIONS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F4EE41FD-585C-EC43-1F3D-1FB05AC0DEBE}"/>
              </a:ext>
            </a:extLst>
          </p:cNvPr>
          <p:cNvSpPr txBox="1"/>
          <p:nvPr/>
        </p:nvSpPr>
        <p:spPr>
          <a:xfrm>
            <a:off x="3581400" y="7603553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28B28-E220-1A38-E33C-BCB8F34A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09B9EE0D-48B3-A603-1BFE-00AB1D282EF3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91B82129-CDDD-3CE7-2D3A-8B73F3BC56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DF1689FD-3981-064F-A614-21314662607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6B10668A-B56C-DF9A-E3A9-D97A80A28674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60F5285F-0FE8-8FE7-A581-D8AD37EC1A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87759265-320F-B113-1F85-8B146FAB8E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A4723703-10D4-DEDD-F492-501DEF760D9C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C7EC8FC-E0F9-D58D-9DFB-784C9685E518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21060A2-62C0-58A5-74B5-841260A0F522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3FF8E15-2B38-1E4D-81F7-FA2CE4639E9F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152C5B7-AD5A-01E9-ED4C-A57CED52E1B1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E1E1247-9991-E7CD-F040-BDE5C2084B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D0804B7-9CFF-6629-3A87-EBDA3C74A50B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1B57BCB1-6781-0DEC-8A8B-EFA6E105C0CD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57795739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0758075" y="4789093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2"/>
                </a:lnTo>
                <a:lnTo>
                  <a:pt x="0" y="855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14400" y="-89968"/>
            <a:ext cx="19430999" cy="3155857"/>
          </a:xfrm>
          <a:custGeom>
            <a:avLst/>
            <a:gdLst/>
            <a:ahLst/>
            <a:cxnLst/>
            <a:rect l="l" t="t" r="r" b="b"/>
            <a:pathLst>
              <a:path w="19430999" h="5702114">
                <a:moveTo>
                  <a:pt x="0" y="0"/>
                </a:moveTo>
                <a:lnTo>
                  <a:pt x="19431000" y="0"/>
                </a:lnTo>
                <a:lnTo>
                  <a:pt x="19431000" y="5702114"/>
                </a:lnTo>
                <a:lnTo>
                  <a:pt x="0" y="5702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444" b="-19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999682" y="921524"/>
            <a:ext cx="11048452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981"/>
              </a:lnSpc>
            </a:pPr>
            <a:r>
              <a:rPr lang="vi-VN" sz="5817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Mehrabian’s 7-38-55 Model</a:t>
            </a:r>
            <a:endParaRPr lang="en-US" sz="5817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0EF1D90B-D70A-83D9-1B3D-0B0EB9E92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180553"/>
              </p:ext>
            </p:extLst>
          </p:nvPr>
        </p:nvGraphicFramePr>
        <p:xfrm>
          <a:off x="-1480373" y="1237476"/>
          <a:ext cx="19115147" cy="929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34" name="Group 3">
            <a:extLst>
              <a:ext uri="{FF2B5EF4-FFF2-40B4-BE49-F238E27FC236}">
                <a16:creationId xmlns:a16="http://schemas.microsoft.com/office/drawing/2014/main" id="{6250EE72-9A35-31C1-06D6-1DD4A5DAFC9E}"/>
              </a:ext>
            </a:extLst>
          </p:cNvPr>
          <p:cNvGrpSpPr/>
          <p:nvPr/>
        </p:nvGrpSpPr>
        <p:grpSpPr>
          <a:xfrm>
            <a:off x="10345114" y="4762500"/>
            <a:ext cx="10720397" cy="1062859"/>
            <a:chOff x="0" y="-66675"/>
            <a:chExt cx="2471078" cy="265246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5FAA56BA-3B92-C7A8-AFEB-0B93AF3A609F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6E8E9171-D12B-1947-393B-72FB014E6DC0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37" name="TextBox 24">
            <a:extLst>
              <a:ext uri="{FF2B5EF4-FFF2-40B4-BE49-F238E27FC236}">
                <a16:creationId xmlns:a16="http://schemas.microsoft.com/office/drawing/2014/main" id="{9CF3C25F-E940-166B-4BF3-0561007032BA}"/>
              </a:ext>
            </a:extLst>
          </p:cNvPr>
          <p:cNvSpPr txBox="1"/>
          <p:nvPr/>
        </p:nvSpPr>
        <p:spPr>
          <a:xfrm>
            <a:off x="10570275" y="5129008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Emotion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4B00B1AC-CD19-F02D-CB44-BF5F801B22CC}"/>
              </a:ext>
            </a:extLst>
          </p:cNvPr>
          <p:cNvGrpSpPr/>
          <p:nvPr/>
        </p:nvGrpSpPr>
        <p:grpSpPr>
          <a:xfrm>
            <a:off x="10345114" y="6068413"/>
            <a:ext cx="10720397" cy="1062859"/>
            <a:chOff x="0" y="-66675"/>
            <a:chExt cx="2471078" cy="265246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9A3D82A6-E80A-C78B-19F7-3EF1589A837D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69C83F59-D994-FAAF-70B0-FDB326FBCBCA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0A7DFE0A-DD81-9F75-127C-8ABABA8D39FF}"/>
              </a:ext>
            </a:extLst>
          </p:cNvPr>
          <p:cNvSpPr txBox="1"/>
          <p:nvPr/>
        </p:nvSpPr>
        <p:spPr>
          <a:xfrm>
            <a:off x="10570275" y="6434921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Attitude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8B26091B-8432-922A-C5B8-55CE0D82659C}"/>
              </a:ext>
            </a:extLst>
          </p:cNvPr>
          <p:cNvGrpSpPr/>
          <p:nvPr/>
        </p:nvGrpSpPr>
        <p:grpSpPr>
          <a:xfrm>
            <a:off x="10345114" y="7398443"/>
            <a:ext cx="10720397" cy="1062859"/>
            <a:chOff x="0" y="-66675"/>
            <a:chExt cx="2471078" cy="265246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6EA6528B-7725-1C5E-E1D7-67347A9ED4DE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875" y="0"/>
                  </a:moveTo>
                  <a:lnTo>
                    <a:pt x="2431203" y="0"/>
                  </a:lnTo>
                  <a:cubicBezTo>
                    <a:pt x="2441779" y="0"/>
                    <a:pt x="2451921" y="4201"/>
                    <a:pt x="2459399" y="11679"/>
                  </a:cubicBezTo>
                  <a:cubicBezTo>
                    <a:pt x="2466877" y="19157"/>
                    <a:pt x="2471078" y="29300"/>
                    <a:pt x="2471078" y="39875"/>
                  </a:cubicBezTo>
                  <a:lnTo>
                    <a:pt x="2471078" y="158696"/>
                  </a:lnTo>
                  <a:cubicBezTo>
                    <a:pt x="2471078" y="169271"/>
                    <a:pt x="2466877" y="179414"/>
                    <a:pt x="2459399" y="186892"/>
                  </a:cubicBezTo>
                  <a:cubicBezTo>
                    <a:pt x="2451921" y="194370"/>
                    <a:pt x="2441779" y="198571"/>
                    <a:pt x="2431203" y="198571"/>
                  </a:cubicBezTo>
                  <a:lnTo>
                    <a:pt x="39875" y="198571"/>
                  </a:lnTo>
                  <a:cubicBezTo>
                    <a:pt x="29300" y="198571"/>
                    <a:pt x="19157" y="194370"/>
                    <a:pt x="11679" y="186892"/>
                  </a:cubicBezTo>
                  <a:cubicBezTo>
                    <a:pt x="4201" y="179414"/>
                    <a:pt x="0" y="169271"/>
                    <a:pt x="0" y="158696"/>
                  </a:cubicBezTo>
                  <a:lnTo>
                    <a:pt x="0" y="39875"/>
                  </a:lnTo>
                  <a:cubicBezTo>
                    <a:pt x="0" y="29300"/>
                    <a:pt x="4201" y="19157"/>
                    <a:pt x="11679" y="11679"/>
                  </a:cubicBezTo>
                  <a:cubicBezTo>
                    <a:pt x="19157" y="4201"/>
                    <a:pt x="29300" y="0"/>
                    <a:pt x="39875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03BCEB69-B8B5-5CCF-1AC8-CB4FB2803A5D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5" name="TextBox 24">
            <a:extLst>
              <a:ext uri="{FF2B5EF4-FFF2-40B4-BE49-F238E27FC236}">
                <a16:creationId xmlns:a16="http://schemas.microsoft.com/office/drawing/2014/main" id="{644E05BB-1DA9-5D04-3899-11984E30CCC9}"/>
              </a:ext>
            </a:extLst>
          </p:cNvPr>
          <p:cNvSpPr txBox="1"/>
          <p:nvPr/>
        </p:nvSpPr>
        <p:spPr>
          <a:xfrm>
            <a:off x="10570275" y="7764951"/>
            <a:ext cx="10363200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22"/>
              </a:lnSpc>
            </a:pPr>
            <a:r>
              <a:rPr lang="vi-VN" sz="3444" b="1" dirty="0">
                <a:solidFill>
                  <a:schemeClr val="bg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Intention</a:t>
            </a:r>
            <a:endParaRPr lang="en-US" sz="3444" b="1" dirty="0">
              <a:solidFill>
                <a:schemeClr val="bg1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5623A182-92AE-82E4-F260-12C1E8A232D2}"/>
              </a:ext>
            </a:extLst>
          </p:cNvPr>
          <p:cNvSpPr txBox="1"/>
          <p:nvPr/>
        </p:nvSpPr>
        <p:spPr>
          <a:xfrm>
            <a:off x="7297662" y="3660141"/>
            <a:ext cx="11048452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latin typeface="Poppins Semi-Bold"/>
                <a:ea typeface="Poppins Semi-Bold"/>
                <a:cs typeface="Poppins Semi-Bold"/>
                <a:sym typeface="Poppins Semi-Bold"/>
              </a:rPr>
              <a:t>Non-verbal channels</a:t>
            </a:r>
            <a:endParaRPr lang="en-US" sz="5817" b="1" dirty="0"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1" grpId="0"/>
      <p:bldP spid="45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1954301" y="-2795022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1"/>
                </a:lnTo>
                <a:lnTo>
                  <a:pt x="0" y="855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6778849" y="5031486"/>
            <a:ext cx="0" cy="38366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6778849" y="5050536"/>
            <a:ext cx="897838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6778849" y="8868107"/>
            <a:ext cx="897838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6778849" y="6822751"/>
            <a:ext cx="897838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5012759" y="6822751"/>
            <a:ext cx="2215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657636" y="4287653"/>
            <a:ext cx="6855642" cy="1516811"/>
          </a:xfrm>
          <a:custGeom>
            <a:avLst/>
            <a:gdLst/>
            <a:ahLst/>
            <a:cxnLst/>
            <a:rect l="l" t="t" r="r" b="b"/>
            <a:pathLst>
              <a:path w="6855642" h="1516811">
                <a:moveTo>
                  <a:pt x="0" y="0"/>
                </a:moveTo>
                <a:lnTo>
                  <a:pt x="6855643" y="0"/>
                </a:lnTo>
                <a:lnTo>
                  <a:pt x="6855643" y="1516811"/>
                </a:lnTo>
                <a:lnTo>
                  <a:pt x="0" y="1516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657636" y="6064346"/>
            <a:ext cx="6855642" cy="1516811"/>
          </a:xfrm>
          <a:custGeom>
            <a:avLst/>
            <a:gdLst/>
            <a:ahLst/>
            <a:cxnLst/>
            <a:rect l="l" t="t" r="r" b="b"/>
            <a:pathLst>
              <a:path w="6855642" h="1516811">
                <a:moveTo>
                  <a:pt x="0" y="0"/>
                </a:moveTo>
                <a:lnTo>
                  <a:pt x="6855643" y="0"/>
                </a:lnTo>
                <a:lnTo>
                  <a:pt x="6855643" y="1516811"/>
                </a:lnTo>
                <a:lnTo>
                  <a:pt x="0" y="1516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657636" y="7841039"/>
            <a:ext cx="6855642" cy="1516811"/>
          </a:xfrm>
          <a:custGeom>
            <a:avLst/>
            <a:gdLst/>
            <a:ahLst/>
            <a:cxnLst/>
            <a:rect l="l" t="t" r="r" b="b"/>
            <a:pathLst>
              <a:path w="6855642" h="1516811">
                <a:moveTo>
                  <a:pt x="0" y="0"/>
                </a:moveTo>
                <a:lnTo>
                  <a:pt x="6855643" y="0"/>
                </a:lnTo>
                <a:lnTo>
                  <a:pt x="6855643" y="1516811"/>
                </a:lnTo>
                <a:lnTo>
                  <a:pt x="0" y="1516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145744" y="4853884"/>
            <a:ext cx="600284" cy="422448"/>
          </a:xfrm>
          <a:custGeom>
            <a:avLst/>
            <a:gdLst/>
            <a:ahLst/>
            <a:cxnLst/>
            <a:rect l="l" t="t" r="r" b="b"/>
            <a:pathLst>
              <a:path w="600284" h="422448">
                <a:moveTo>
                  <a:pt x="0" y="0"/>
                </a:moveTo>
                <a:lnTo>
                  <a:pt x="600284" y="0"/>
                </a:lnTo>
                <a:lnTo>
                  <a:pt x="600284" y="422448"/>
                </a:lnTo>
                <a:lnTo>
                  <a:pt x="0" y="422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145744" y="6611527"/>
            <a:ext cx="600284" cy="422448"/>
          </a:xfrm>
          <a:custGeom>
            <a:avLst/>
            <a:gdLst/>
            <a:ahLst/>
            <a:cxnLst/>
            <a:rect l="l" t="t" r="r" b="b"/>
            <a:pathLst>
              <a:path w="600284" h="422448">
                <a:moveTo>
                  <a:pt x="0" y="0"/>
                </a:moveTo>
                <a:lnTo>
                  <a:pt x="600284" y="0"/>
                </a:lnTo>
                <a:lnTo>
                  <a:pt x="600284" y="422448"/>
                </a:lnTo>
                <a:lnTo>
                  <a:pt x="0" y="422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324600" y="1367264"/>
            <a:ext cx="11027603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Objectives of Presentation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88469" y="4670003"/>
            <a:ext cx="5090052" cy="796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46"/>
              </a:lnSpc>
            </a:pPr>
            <a:r>
              <a:rPr lang="vi-VN" sz="2400" b="1" spc="28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Analyze structure and functions of Non-Verbal Communication</a:t>
            </a:r>
            <a:endParaRPr lang="en-US" sz="2400" b="1" spc="28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359875" y="6391278"/>
            <a:ext cx="4660925" cy="781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46"/>
              </a:lnSpc>
            </a:pPr>
            <a:r>
              <a:rPr lang="vi-VN" sz="2400" b="1" spc="28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Discuss influences of </a:t>
            </a:r>
          </a:p>
          <a:p>
            <a:pPr marL="0" lvl="0" indent="0" algn="l">
              <a:lnSpc>
                <a:spcPts val="3146"/>
              </a:lnSpc>
            </a:pPr>
            <a:r>
              <a:rPr lang="vi-VN" sz="2400" b="1" spc="28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Communication </a:t>
            </a:r>
            <a:endParaRPr lang="en-US" sz="2400" b="1" spc="28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23226" y="8189454"/>
            <a:ext cx="4365013" cy="781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46"/>
              </a:lnSpc>
            </a:pPr>
            <a:r>
              <a:rPr lang="vi-VN" sz="2400" b="1" spc="28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Identify cultural &amp; technical problems</a:t>
            </a:r>
            <a:endParaRPr lang="en-US" sz="2400" b="1" spc="28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145744" y="8369171"/>
            <a:ext cx="600284" cy="422448"/>
          </a:xfrm>
          <a:custGeom>
            <a:avLst/>
            <a:gdLst/>
            <a:ahLst/>
            <a:cxnLst/>
            <a:rect l="l" t="t" r="r" b="b"/>
            <a:pathLst>
              <a:path w="600284" h="422448">
                <a:moveTo>
                  <a:pt x="0" y="0"/>
                </a:moveTo>
                <a:lnTo>
                  <a:pt x="600284" y="0"/>
                </a:lnTo>
                <a:lnTo>
                  <a:pt x="600284" y="422448"/>
                </a:lnTo>
                <a:lnTo>
                  <a:pt x="0" y="422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351132" y="609433"/>
            <a:ext cx="3144665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Freeform 21"/>
          <p:cNvSpPr/>
          <p:nvPr/>
        </p:nvSpPr>
        <p:spPr>
          <a:xfrm rot="-6212524" flipV="1">
            <a:off x="-1439817" y="750118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385311" y="3544258"/>
            <a:ext cx="5690628" cy="5490544"/>
          </a:xfrm>
          <a:custGeom>
            <a:avLst/>
            <a:gdLst/>
            <a:ahLst/>
            <a:cxnLst/>
            <a:rect l="l" t="t" r="r" b="b"/>
            <a:pathLst>
              <a:path w="6795531" h="6899017">
                <a:moveTo>
                  <a:pt x="0" y="0"/>
                </a:moveTo>
                <a:lnTo>
                  <a:pt x="6795531" y="0"/>
                </a:lnTo>
                <a:lnTo>
                  <a:pt x="6795531" y="6899016"/>
                </a:lnTo>
                <a:lnTo>
                  <a:pt x="0" y="6899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4657897" y="1048390"/>
            <a:ext cx="620165" cy="62016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4700" y="-988552"/>
            <a:ext cx="1752322" cy="175232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-5008063">
            <a:off x="15900784" y="7200847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52C96-ADD7-7A3A-B3FF-A6CCBBBB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0145A136-C681-677C-386B-5AEAFD1A3C45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FC3D0FF0-BCA0-FA93-A9FD-9DF0CA2E538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A1C6B8C4-0CD7-0CC5-2624-07576365399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9FCCA3B4-881A-6252-9F45-FFDCDD20C7A1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8289664E-7B4E-83CD-8287-5CAFA23C41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4B69BB75-48C8-ABC0-87E3-63CF787B973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05E1CAA4-7C1A-0AB1-8521-90468EA59742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C2688EC-1A6B-48E1-9265-04ED19F75A4E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1F515E-63FD-3072-5FCC-7DCCEC4F267C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8409F17-FA45-9920-6119-1B98961BD427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17C10FBA-BEB4-43E8-C06B-6DDE80347D3C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1D7D9DF5-0F64-F2BF-010B-A41EA378F0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A576F939-9D4B-319B-BAFE-33D35F9F6ACD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6BD68714-174D-9F92-25ED-AE8D5E4B1D19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LITERATURE REVIEW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10823512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1954301" y="-2795022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1"/>
                </a:lnTo>
                <a:lnTo>
                  <a:pt x="0" y="855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39873" y="1097707"/>
            <a:ext cx="11548127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en-US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Definition</a:t>
            </a: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of</a:t>
            </a:r>
          </a:p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Communication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30704" y="3861661"/>
            <a:ext cx="7671597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vi-VN" sz="3200" b="1" spc="48" dirty="0">
                <a:solidFill>
                  <a:srgbClr val="000000"/>
                </a:solidFill>
                <a:latin typeface="Poppins Semi-Bold   "/>
                <a:ea typeface="Poppins"/>
                <a:cs typeface="Poppins Semi-Bold" panose="020B0604020202020204" charset="0"/>
                <a:sym typeface="Poppins"/>
              </a:rPr>
              <a:t>Birdwhitstell (1970)</a:t>
            </a:r>
            <a:endParaRPr lang="en-US" sz="3200" b="1" spc="48" dirty="0">
              <a:solidFill>
                <a:srgbClr val="000000"/>
              </a:solidFill>
              <a:latin typeface="Poppins Semi-Bold   "/>
              <a:ea typeface="Poppins"/>
              <a:cs typeface="Poppins Semi-Bold" panose="020B0604020202020204" charset="0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 rot="5292663" flipV="1">
            <a:off x="-1097859" y="3066237"/>
            <a:ext cx="11352394" cy="4154525"/>
          </a:xfrm>
          <a:custGeom>
            <a:avLst/>
            <a:gdLst/>
            <a:ahLst/>
            <a:cxnLst/>
            <a:rect l="l" t="t" r="r" b="b"/>
            <a:pathLst>
              <a:path w="11352394" h="4154525">
                <a:moveTo>
                  <a:pt x="0" y="4154525"/>
                </a:moveTo>
                <a:lnTo>
                  <a:pt x="11352393" y="4154525"/>
                </a:lnTo>
                <a:lnTo>
                  <a:pt x="11352393" y="0"/>
                </a:lnTo>
                <a:lnTo>
                  <a:pt x="0" y="0"/>
                </a:lnTo>
                <a:lnTo>
                  <a:pt x="0" y="41545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10" b="-116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36734" y="8821992"/>
            <a:ext cx="11534968" cy="115349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037703" y="6780935"/>
            <a:ext cx="10901789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800"/>
              </a:lnSpc>
            </a:pPr>
            <a:r>
              <a:rPr lang="en-US" sz="2800" b="1" dirty="0">
                <a:latin typeface="Poppins Semi-Bold   "/>
              </a:rPr>
              <a:t>gestures, facial expressions, voice inflection, proxemics, haptics, a touch, appearance or attire.</a:t>
            </a:r>
            <a:endParaRPr lang="en-US" sz="2800" b="1" spc="48" dirty="0">
              <a:solidFill>
                <a:srgbClr val="000000"/>
              </a:solidFill>
              <a:latin typeface="Poppins Semi-Bold   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-5907894" y="-594779"/>
            <a:ext cx="12346012" cy="12510258"/>
            <a:chOff x="0" y="0"/>
            <a:chExt cx="812800" cy="8236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23613"/>
            </a:xfrm>
            <a:custGeom>
              <a:avLst/>
              <a:gdLst/>
              <a:ahLst/>
              <a:cxnLst/>
              <a:rect l="l" t="t" r="r" b="b"/>
              <a:pathLst>
                <a:path w="812800" h="823613">
                  <a:moveTo>
                    <a:pt x="406400" y="0"/>
                  </a:moveTo>
                  <a:cubicBezTo>
                    <a:pt x="181951" y="0"/>
                    <a:pt x="0" y="184372"/>
                    <a:pt x="0" y="411807"/>
                  </a:cubicBezTo>
                  <a:cubicBezTo>
                    <a:pt x="0" y="639241"/>
                    <a:pt x="181951" y="823613"/>
                    <a:pt x="406400" y="823613"/>
                  </a:cubicBezTo>
                  <a:cubicBezTo>
                    <a:pt x="630849" y="823613"/>
                    <a:pt x="812800" y="639241"/>
                    <a:pt x="812800" y="411807"/>
                  </a:cubicBezTo>
                  <a:cubicBezTo>
                    <a:pt x="812800" y="184372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7096" r="-161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 rot="-6273026" flipV="1">
            <a:off x="603522" y="4953766"/>
            <a:ext cx="7762520" cy="5599342"/>
          </a:xfrm>
          <a:custGeom>
            <a:avLst/>
            <a:gdLst/>
            <a:ahLst/>
            <a:cxnLst/>
            <a:rect l="l" t="t" r="r" b="b"/>
            <a:pathLst>
              <a:path w="7762520" h="5599342">
                <a:moveTo>
                  <a:pt x="0" y="5599342"/>
                </a:moveTo>
                <a:lnTo>
                  <a:pt x="7762520" y="5599342"/>
                </a:lnTo>
                <a:lnTo>
                  <a:pt x="7762520" y="0"/>
                </a:lnTo>
                <a:lnTo>
                  <a:pt x="0" y="0"/>
                </a:lnTo>
                <a:lnTo>
                  <a:pt x="0" y="559934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4600343" flipH="1" flipV="1">
            <a:off x="-3935113" y="-11905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3942056" y="3338166"/>
                </a:moveTo>
                <a:lnTo>
                  <a:pt x="0" y="3338166"/>
                </a:lnTo>
                <a:lnTo>
                  <a:pt x="0" y="0"/>
                </a:lnTo>
                <a:lnTo>
                  <a:pt x="3942056" y="0"/>
                </a:lnTo>
                <a:lnTo>
                  <a:pt x="3942056" y="333816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6212524" flipV="1">
            <a:off x="-3790130" y="7671634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6847028" y="4691703"/>
            <a:ext cx="11169429" cy="1433594"/>
            <a:chOff x="0" y="0"/>
            <a:chExt cx="2471078" cy="1985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7606" y="0"/>
                  </a:moveTo>
                  <a:lnTo>
                    <a:pt x="2433472" y="0"/>
                  </a:lnTo>
                  <a:cubicBezTo>
                    <a:pt x="2443446" y="0"/>
                    <a:pt x="2453011" y="3962"/>
                    <a:pt x="2460064" y="11015"/>
                  </a:cubicBezTo>
                  <a:cubicBezTo>
                    <a:pt x="2467116" y="18067"/>
                    <a:pt x="2471078" y="27632"/>
                    <a:pt x="2471078" y="37606"/>
                  </a:cubicBezTo>
                  <a:lnTo>
                    <a:pt x="2471078" y="160965"/>
                  </a:lnTo>
                  <a:cubicBezTo>
                    <a:pt x="2471078" y="170939"/>
                    <a:pt x="2467116" y="180504"/>
                    <a:pt x="2460064" y="187557"/>
                  </a:cubicBezTo>
                  <a:cubicBezTo>
                    <a:pt x="2453011" y="194609"/>
                    <a:pt x="2443446" y="198571"/>
                    <a:pt x="2433472" y="198571"/>
                  </a:cubicBezTo>
                  <a:lnTo>
                    <a:pt x="37606" y="198571"/>
                  </a:lnTo>
                  <a:cubicBezTo>
                    <a:pt x="27632" y="198571"/>
                    <a:pt x="18067" y="194609"/>
                    <a:pt x="11015" y="187557"/>
                  </a:cubicBezTo>
                  <a:cubicBezTo>
                    <a:pt x="3962" y="180504"/>
                    <a:pt x="0" y="170939"/>
                    <a:pt x="0" y="160965"/>
                  </a:cubicBezTo>
                  <a:lnTo>
                    <a:pt x="0" y="37606"/>
                  </a:lnTo>
                  <a:cubicBezTo>
                    <a:pt x="0" y="27632"/>
                    <a:pt x="3962" y="18067"/>
                    <a:pt x="11015" y="11015"/>
                  </a:cubicBezTo>
                  <a:cubicBezTo>
                    <a:pt x="18067" y="3962"/>
                    <a:pt x="27632" y="0"/>
                    <a:pt x="37606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037703" y="5225050"/>
            <a:ext cx="11135891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3000" b="1" spc="28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system of signs that accompany or replace speech</a:t>
            </a:r>
            <a:endParaRPr lang="en-US" sz="3000" b="1" spc="2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725400" y="658749"/>
            <a:ext cx="4563592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AutoShape 20"/>
          <p:cNvSpPr/>
          <p:nvPr/>
        </p:nvSpPr>
        <p:spPr>
          <a:xfrm flipV="1">
            <a:off x="17560267" y="675182"/>
            <a:ext cx="0" cy="422525"/>
          </a:xfrm>
          <a:prstGeom prst="line">
            <a:avLst/>
          </a:prstGeom>
          <a:ln w="66675" cap="flat">
            <a:solidFill>
              <a:srgbClr val="0D3F8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F73F4-76B1-EDFB-2AEC-7E81BEE1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6EB09B-5E9B-951E-B768-48A87CCD3E64}"/>
              </a:ext>
            </a:extLst>
          </p:cNvPr>
          <p:cNvSpPr/>
          <p:nvPr/>
        </p:nvSpPr>
        <p:spPr>
          <a:xfrm rot="2785693">
            <a:off x="11954301" y="-2795022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1"/>
                </a:lnTo>
                <a:lnTo>
                  <a:pt x="0" y="855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B7C0883-DD60-C9BA-71A1-680E1B2A6B5C}"/>
              </a:ext>
            </a:extLst>
          </p:cNvPr>
          <p:cNvSpPr txBox="1"/>
          <p:nvPr/>
        </p:nvSpPr>
        <p:spPr>
          <a:xfrm>
            <a:off x="6739873" y="1097707"/>
            <a:ext cx="11496434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en-US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</a:t>
            </a: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Scope of</a:t>
            </a:r>
          </a:p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Communication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DCA3AA-B874-BDD8-E2CB-878EC9A37210}"/>
              </a:ext>
            </a:extLst>
          </p:cNvPr>
          <p:cNvSpPr txBox="1"/>
          <p:nvPr/>
        </p:nvSpPr>
        <p:spPr>
          <a:xfrm>
            <a:off x="6738829" y="3096833"/>
            <a:ext cx="7671597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vi-VN" sz="3200" b="1" spc="48" dirty="0">
                <a:solidFill>
                  <a:srgbClr val="000000"/>
                </a:solidFill>
                <a:latin typeface="Poppins Semi-Bold   "/>
                <a:ea typeface="Poppins"/>
                <a:cs typeface="Poppins Semi-Bold" panose="020B0604020202020204" charset="0"/>
                <a:sym typeface="Poppins"/>
              </a:rPr>
              <a:t>In professional settings</a:t>
            </a:r>
            <a:endParaRPr lang="en-US" sz="3200" b="1" spc="48" dirty="0">
              <a:solidFill>
                <a:srgbClr val="000000"/>
              </a:solidFill>
              <a:latin typeface="Poppins Semi-Bold   "/>
              <a:ea typeface="Poppins"/>
              <a:cs typeface="Poppins Semi-Bold" panose="020B0604020202020204" charset="0"/>
              <a:sym typeface="Poppin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3A15D4E-FB38-E6BC-0F61-9219EEEAC05D}"/>
              </a:ext>
            </a:extLst>
          </p:cNvPr>
          <p:cNvSpPr/>
          <p:nvPr/>
        </p:nvSpPr>
        <p:spPr>
          <a:xfrm rot="5292663" flipV="1">
            <a:off x="-1097859" y="3066237"/>
            <a:ext cx="11352394" cy="4154525"/>
          </a:xfrm>
          <a:custGeom>
            <a:avLst/>
            <a:gdLst/>
            <a:ahLst/>
            <a:cxnLst/>
            <a:rect l="l" t="t" r="r" b="b"/>
            <a:pathLst>
              <a:path w="11352394" h="4154525">
                <a:moveTo>
                  <a:pt x="0" y="4154525"/>
                </a:moveTo>
                <a:lnTo>
                  <a:pt x="11352393" y="4154525"/>
                </a:lnTo>
                <a:lnTo>
                  <a:pt x="11352393" y="0"/>
                </a:lnTo>
                <a:lnTo>
                  <a:pt x="0" y="0"/>
                </a:lnTo>
                <a:lnTo>
                  <a:pt x="0" y="41545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10" b="-116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9B953DB-E8D6-4848-9A88-2E5EFB715B88}"/>
              </a:ext>
            </a:extLst>
          </p:cNvPr>
          <p:cNvGrpSpPr/>
          <p:nvPr/>
        </p:nvGrpSpPr>
        <p:grpSpPr>
          <a:xfrm>
            <a:off x="1636734" y="8821992"/>
            <a:ext cx="11534968" cy="11534968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F6C1A2-C13F-C764-4311-77ECB1CFC3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5715064-90D1-2925-540D-4FBE49CF034A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124E681-FAB7-5284-DCCC-23968380F11A}"/>
              </a:ext>
            </a:extLst>
          </p:cNvPr>
          <p:cNvGrpSpPr/>
          <p:nvPr/>
        </p:nvGrpSpPr>
        <p:grpSpPr>
          <a:xfrm>
            <a:off x="-5907894" y="-594779"/>
            <a:ext cx="12346012" cy="12510258"/>
            <a:chOff x="0" y="0"/>
            <a:chExt cx="812800" cy="82361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8FE690C-9F41-E370-D36A-AED2ABCAD30D}"/>
                </a:ext>
              </a:extLst>
            </p:cNvPr>
            <p:cNvSpPr/>
            <p:nvPr/>
          </p:nvSpPr>
          <p:spPr>
            <a:xfrm>
              <a:off x="0" y="0"/>
              <a:ext cx="812800" cy="823613"/>
            </a:xfrm>
            <a:custGeom>
              <a:avLst/>
              <a:gdLst/>
              <a:ahLst/>
              <a:cxnLst/>
              <a:rect l="l" t="t" r="r" b="b"/>
              <a:pathLst>
                <a:path w="812800" h="823613">
                  <a:moveTo>
                    <a:pt x="406400" y="0"/>
                  </a:moveTo>
                  <a:cubicBezTo>
                    <a:pt x="181951" y="0"/>
                    <a:pt x="0" y="184372"/>
                    <a:pt x="0" y="411807"/>
                  </a:cubicBezTo>
                  <a:cubicBezTo>
                    <a:pt x="0" y="639241"/>
                    <a:pt x="181951" y="823613"/>
                    <a:pt x="406400" y="823613"/>
                  </a:cubicBezTo>
                  <a:cubicBezTo>
                    <a:pt x="630849" y="823613"/>
                    <a:pt x="812800" y="639241"/>
                    <a:pt x="812800" y="411807"/>
                  </a:cubicBezTo>
                  <a:cubicBezTo>
                    <a:pt x="812800" y="184372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7096" r="-161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47D576AB-0E60-E538-32FC-445C5F7353F3}"/>
              </a:ext>
            </a:extLst>
          </p:cNvPr>
          <p:cNvSpPr/>
          <p:nvPr/>
        </p:nvSpPr>
        <p:spPr>
          <a:xfrm rot="-6273026" flipV="1">
            <a:off x="603522" y="4953766"/>
            <a:ext cx="7762520" cy="5599342"/>
          </a:xfrm>
          <a:custGeom>
            <a:avLst/>
            <a:gdLst/>
            <a:ahLst/>
            <a:cxnLst/>
            <a:rect l="l" t="t" r="r" b="b"/>
            <a:pathLst>
              <a:path w="7762520" h="5599342">
                <a:moveTo>
                  <a:pt x="0" y="5599342"/>
                </a:moveTo>
                <a:lnTo>
                  <a:pt x="7762520" y="5599342"/>
                </a:lnTo>
                <a:lnTo>
                  <a:pt x="7762520" y="0"/>
                </a:lnTo>
                <a:lnTo>
                  <a:pt x="0" y="0"/>
                </a:lnTo>
                <a:lnTo>
                  <a:pt x="0" y="559934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DFE3E91-E535-AEA3-6A57-FDD7751A4753}"/>
              </a:ext>
            </a:extLst>
          </p:cNvPr>
          <p:cNvSpPr/>
          <p:nvPr/>
        </p:nvSpPr>
        <p:spPr>
          <a:xfrm rot="-4600343" flipH="1" flipV="1">
            <a:off x="-3935113" y="-11905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3942056" y="3338166"/>
                </a:moveTo>
                <a:lnTo>
                  <a:pt x="0" y="3338166"/>
                </a:lnTo>
                <a:lnTo>
                  <a:pt x="0" y="0"/>
                </a:lnTo>
                <a:lnTo>
                  <a:pt x="3942056" y="0"/>
                </a:lnTo>
                <a:lnTo>
                  <a:pt x="3942056" y="333816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D1EE1CE-994F-781D-A048-DCF018D301B5}"/>
              </a:ext>
            </a:extLst>
          </p:cNvPr>
          <p:cNvSpPr/>
          <p:nvPr/>
        </p:nvSpPr>
        <p:spPr>
          <a:xfrm rot="-6212524" flipV="1">
            <a:off x="-3790130" y="7671634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DF757D4-5E05-087E-4FE5-5FFD20EE04DF}"/>
              </a:ext>
            </a:extLst>
          </p:cNvPr>
          <p:cNvSpPr txBox="1"/>
          <p:nvPr/>
        </p:nvSpPr>
        <p:spPr>
          <a:xfrm>
            <a:off x="12725400" y="658749"/>
            <a:ext cx="4563592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DFB19AA8-6CBB-4E45-7956-03AA72CA8D55}"/>
              </a:ext>
            </a:extLst>
          </p:cNvPr>
          <p:cNvSpPr/>
          <p:nvPr/>
        </p:nvSpPr>
        <p:spPr>
          <a:xfrm flipV="1">
            <a:off x="17560267" y="675182"/>
            <a:ext cx="0" cy="422525"/>
          </a:xfrm>
          <a:prstGeom prst="line">
            <a:avLst/>
          </a:prstGeom>
          <a:ln w="66675" cap="flat">
            <a:solidFill>
              <a:srgbClr val="0D3F8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1571736-A651-CCAF-1C89-1694F93D500C}"/>
              </a:ext>
            </a:extLst>
          </p:cNvPr>
          <p:cNvSpPr txBox="1"/>
          <p:nvPr/>
        </p:nvSpPr>
        <p:spPr>
          <a:xfrm>
            <a:off x="6739873" y="6500289"/>
            <a:ext cx="7671597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vi-VN" sz="3200" b="1" spc="48" dirty="0">
                <a:solidFill>
                  <a:srgbClr val="000000"/>
                </a:solidFill>
                <a:latin typeface="Poppins Semi-Bold   "/>
                <a:ea typeface="Poppins"/>
                <a:cs typeface="Poppins Semi-Bold" panose="020B0604020202020204" charset="0"/>
                <a:sym typeface="Poppins"/>
              </a:rPr>
              <a:t>Influence of Organizational culture</a:t>
            </a:r>
            <a:endParaRPr lang="en-US" sz="3200" b="1" spc="48" dirty="0">
              <a:solidFill>
                <a:srgbClr val="000000"/>
              </a:solidFill>
              <a:latin typeface="Poppins Semi-Bold   "/>
              <a:ea typeface="Poppins"/>
              <a:cs typeface="Poppins Semi-Bold" panose="020B0604020202020204" charset="0"/>
              <a:sym typeface="Poppins"/>
            </a:endParaRP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EA2805-AA5C-640D-1AF8-31D0D418F56C}"/>
              </a:ext>
            </a:extLst>
          </p:cNvPr>
          <p:cNvSpPr/>
          <p:nvPr/>
        </p:nvSpPr>
        <p:spPr>
          <a:xfrm>
            <a:off x="6620540" y="3890240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0770FAC2-D93F-8905-07DD-BD6C66C8B594}"/>
              </a:ext>
            </a:extLst>
          </p:cNvPr>
          <p:cNvSpPr/>
          <p:nvPr/>
        </p:nvSpPr>
        <p:spPr>
          <a:xfrm>
            <a:off x="9267348" y="3890240"/>
            <a:ext cx="5744052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DF2B04A7-C08F-0EAB-2E51-AD26E63627A2}"/>
              </a:ext>
            </a:extLst>
          </p:cNvPr>
          <p:cNvSpPr txBox="1"/>
          <p:nvPr/>
        </p:nvSpPr>
        <p:spPr>
          <a:xfrm>
            <a:off x="7944620" y="4103577"/>
            <a:ext cx="19660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Regulatory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5" name="TextBox 29">
            <a:extLst>
              <a:ext uri="{FF2B5EF4-FFF2-40B4-BE49-F238E27FC236}">
                <a16:creationId xmlns:a16="http://schemas.microsoft.com/office/drawing/2014/main" id="{1FCED0E1-C760-DDF6-A7BA-016C284F3AB8}"/>
              </a:ext>
            </a:extLst>
          </p:cNvPr>
          <p:cNvSpPr txBox="1"/>
          <p:nvPr/>
        </p:nvSpPr>
        <p:spPr>
          <a:xfrm>
            <a:off x="9946536" y="4099585"/>
            <a:ext cx="19660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Expressive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43E03952-77B4-123B-A19F-4F4677436A62}"/>
              </a:ext>
            </a:extLst>
          </p:cNvPr>
          <p:cNvSpPr txBox="1"/>
          <p:nvPr/>
        </p:nvSpPr>
        <p:spPr>
          <a:xfrm>
            <a:off x="11912596" y="4112464"/>
            <a:ext cx="29648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Relational functions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955F878E-89CA-754D-55EB-44DF5ADF8BA5}"/>
              </a:ext>
            </a:extLst>
          </p:cNvPr>
          <p:cNvSpPr/>
          <p:nvPr/>
        </p:nvSpPr>
        <p:spPr>
          <a:xfrm>
            <a:off x="6620540" y="5064292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640AB6DC-BEF2-F342-3C06-1D75F8C93B73}"/>
              </a:ext>
            </a:extLst>
          </p:cNvPr>
          <p:cNvSpPr/>
          <p:nvPr/>
        </p:nvSpPr>
        <p:spPr>
          <a:xfrm>
            <a:off x="9267348" y="5064292"/>
            <a:ext cx="6695764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9F062DA-54A7-7574-B4DE-F4FD7AE921C7}"/>
              </a:ext>
            </a:extLst>
          </p:cNvPr>
          <p:cNvSpPr txBox="1"/>
          <p:nvPr/>
        </p:nvSpPr>
        <p:spPr>
          <a:xfrm>
            <a:off x="8079759" y="5175597"/>
            <a:ext cx="19660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Verbal meaning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D8DBD-A677-4AB5-49A0-FD87C19093EE}"/>
              </a:ext>
            </a:extLst>
          </p:cNvPr>
          <p:cNvSpPr txBox="1"/>
          <p:nvPr/>
        </p:nvSpPr>
        <p:spPr>
          <a:xfrm>
            <a:off x="10380238" y="5195950"/>
            <a:ext cx="255026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Contradict </a:t>
            </a:r>
          </a:p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verbal meaning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32F8CAEC-249C-F6EE-EF70-269EF0AE8155}"/>
              </a:ext>
            </a:extLst>
          </p:cNvPr>
          <p:cNvSpPr txBox="1"/>
          <p:nvPr/>
        </p:nvSpPr>
        <p:spPr>
          <a:xfrm>
            <a:off x="13314810" y="5286516"/>
            <a:ext cx="29648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Replace words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0EDA1D90-7BA1-BB29-EFB3-89EFCEA8AA44}"/>
              </a:ext>
            </a:extLst>
          </p:cNvPr>
          <p:cNvSpPr/>
          <p:nvPr/>
        </p:nvSpPr>
        <p:spPr>
          <a:xfrm>
            <a:off x="6620541" y="7499650"/>
            <a:ext cx="2646807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91E9C28B-3692-B376-45CB-74CABE48086A}"/>
              </a:ext>
            </a:extLst>
          </p:cNvPr>
          <p:cNvSpPr txBox="1"/>
          <p:nvPr/>
        </p:nvSpPr>
        <p:spPr>
          <a:xfrm>
            <a:off x="7316528" y="7721875"/>
            <a:ext cx="19660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Dress codes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81003842-F1E8-2E4C-474D-133EAF8CFA66}"/>
              </a:ext>
            </a:extLst>
          </p:cNvPr>
          <p:cNvSpPr/>
          <p:nvPr/>
        </p:nvSpPr>
        <p:spPr>
          <a:xfrm>
            <a:off x="9916056" y="7499650"/>
            <a:ext cx="2646807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61CB2B44-D7BA-BB54-4408-D0D69DEFDEEA}"/>
              </a:ext>
            </a:extLst>
          </p:cNvPr>
          <p:cNvSpPr txBox="1"/>
          <p:nvPr/>
        </p:nvSpPr>
        <p:spPr>
          <a:xfrm>
            <a:off x="10759340" y="7542197"/>
            <a:ext cx="19660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Spatial</a:t>
            </a:r>
          </a:p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Agreements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0" name="Freeform 16">
            <a:extLst>
              <a:ext uri="{FF2B5EF4-FFF2-40B4-BE49-F238E27FC236}">
                <a16:creationId xmlns:a16="http://schemas.microsoft.com/office/drawing/2014/main" id="{932C02CD-82A6-A153-6650-9DAF0C379BB9}"/>
              </a:ext>
            </a:extLst>
          </p:cNvPr>
          <p:cNvSpPr/>
          <p:nvPr/>
        </p:nvSpPr>
        <p:spPr>
          <a:xfrm>
            <a:off x="13476473" y="7499650"/>
            <a:ext cx="2646807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29">
            <a:extLst>
              <a:ext uri="{FF2B5EF4-FFF2-40B4-BE49-F238E27FC236}">
                <a16:creationId xmlns:a16="http://schemas.microsoft.com/office/drawing/2014/main" id="{66B114FC-EAF6-A7AA-1DA2-EAB2C771FD73}"/>
              </a:ext>
            </a:extLst>
          </p:cNvPr>
          <p:cNvSpPr txBox="1"/>
          <p:nvPr/>
        </p:nvSpPr>
        <p:spPr>
          <a:xfrm>
            <a:off x="14255287" y="7721875"/>
            <a:ext cx="196606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Office Layout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94522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2" grpId="0" animBg="1"/>
      <p:bldP spid="43" grpId="0"/>
      <p:bldP spid="48" grpId="0" animBg="1"/>
      <p:bldP spid="49" grpId="0"/>
      <p:bldP spid="50" grpId="0" animBg="1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F3317171-29F9-618B-3185-5C986F75BA74}"/>
              </a:ext>
            </a:extLst>
          </p:cNvPr>
          <p:cNvGrpSpPr/>
          <p:nvPr/>
        </p:nvGrpSpPr>
        <p:grpSpPr>
          <a:xfrm>
            <a:off x="-4190601" y="5402175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E5987A7A-EA74-C515-8714-F64CE86C7B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C17DF12B-67E7-B48D-3DE4-8AF0D8EDE36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A4FC1C65-6CC1-FA29-0D95-2E5C950427D2}"/>
              </a:ext>
            </a:extLst>
          </p:cNvPr>
          <p:cNvGrpSpPr/>
          <p:nvPr/>
        </p:nvGrpSpPr>
        <p:grpSpPr>
          <a:xfrm>
            <a:off x="-4022205" y="4292819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9D85888C-445F-3371-7312-439C14B5E5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783A9100-A79C-53F1-3D73-AD4CB96B644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ED0225D9-3EB1-BC4F-5A2E-558B44D9C732}"/>
              </a:ext>
            </a:extLst>
          </p:cNvPr>
          <p:cNvSpPr/>
          <p:nvPr/>
        </p:nvSpPr>
        <p:spPr>
          <a:xfrm rot="13036582" flipH="1" flipV="1">
            <a:off x="-1899227" y="3484683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38943" y="3477839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62037" y="5241864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5"/>
                </a:lnTo>
                <a:lnTo>
                  <a:pt x="0" y="75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028700" y="7013267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3685751" y="3477839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4249987" y="7013267"/>
            <a:ext cx="2342716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3708845" y="5241864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5"/>
                </a:lnTo>
                <a:lnTo>
                  <a:pt x="0" y="75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62037" y="2739393"/>
            <a:ext cx="1187944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dirty="0">
                <a:latin typeface="Poppins Semi-Bold" panose="020B0604020202020204" charset="0"/>
                <a:cs typeface="Poppins Semi-Bold" panose="020B0604020202020204" charset="0"/>
              </a:rPr>
              <a:t>As per Knapp et al., 2013 and Pease &amp; Pease, 2006 the main groups which are included: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39631" y="3687543"/>
            <a:ext cx="4097722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Facial expressions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262725" y="5451568"/>
            <a:ext cx="3990531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Eye contact	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229388" y="7222971"/>
            <a:ext cx="2811428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Gestures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08149" y="3687543"/>
            <a:ext cx="424128" cy="42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en-US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1243" y="5451568"/>
            <a:ext cx="424128" cy="42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en-US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97906" y="7222971"/>
            <a:ext cx="424128" cy="42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en-US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/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351132" y="609433"/>
            <a:ext cx="3935887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8700" y="1370708"/>
            <a:ext cx="17259300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Categories of Non-Verbal Communication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2" name="Freeform 16">
            <a:extLst>
              <a:ext uri="{FF2B5EF4-FFF2-40B4-BE49-F238E27FC236}">
                <a16:creationId xmlns:a16="http://schemas.microsoft.com/office/drawing/2014/main" id="{99254B79-4BA9-3241-CA85-34513FB89CD2}"/>
              </a:ext>
            </a:extLst>
          </p:cNvPr>
          <p:cNvSpPr/>
          <p:nvPr/>
        </p:nvSpPr>
        <p:spPr>
          <a:xfrm>
            <a:off x="9855552" y="4271750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21">
            <a:extLst>
              <a:ext uri="{FF2B5EF4-FFF2-40B4-BE49-F238E27FC236}">
                <a16:creationId xmlns:a16="http://schemas.microsoft.com/office/drawing/2014/main" id="{54E98F05-CB4A-4EE3-1B1B-1E5ACF4FA493}"/>
              </a:ext>
            </a:extLst>
          </p:cNvPr>
          <p:cNvSpPr/>
          <p:nvPr/>
        </p:nvSpPr>
        <p:spPr>
          <a:xfrm>
            <a:off x="12502360" y="4271750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TextBox 29">
            <a:extLst>
              <a:ext uri="{FF2B5EF4-FFF2-40B4-BE49-F238E27FC236}">
                <a16:creationId xmlns:a16="http://schemas.microsoft.com/office/drawing/2014/main" id="{68F8054F-99F6-75D7-1B15-2D9463E7E5DA}"/>
              </a:ext>
            </a:extLst>
          </p:cNvPr>
          <p:cNvSpPr txBox="1"/>
          <p:nvPr/>
        </p:nvSpPr>
        <p:spPr>
          <a:xfrm>
            <a:off x="11056240" y="4481454"/>
            <a:ext cx="4097722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Paralanguage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5" name="TextBox 33">
            <a:extLst>
              <a:ext uri="{FF2B5EF4-FFF2-40B4-BE49-F238E27FC236}">
                <a16:creationId xmlns:a16="http://schemas.microsoft.com/office/drawing/2014/main" id="{A898FD15-8381-FA91-A707-BF2136FF78CB}"/>
              </a:ext>
            </a:extLst>
          </p:cNvPr>
          <p:cNvSpPr txBox="1"/>
          <p:nvPr/>
        </p:nvSpPr>
        <p:spPr>
          <a:xfrm>
            <a:off x="10024758" y="4481454"/>
            <a:ext cx="424128" cy="39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vi-VN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  <a:endParaRPr lang="en-US" sz="2772" b="1" spc="27" dirty="0">
              <a:solidFill>
                <a:srgbClr val="013064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6" name="Freeform 16">
            <a:extLst>
              <a:ext uri="{FF2B5EF4-FFF2-40B4-BE49-F238E27FC236}">
                <a16:creationId xmlns:a16="http://schemas.microsoft.com/office/drawing/2014/main" id="{CD3BE624-E3F9-E1FE-6895-3DDEEB48A75E}"/>
              </a:ext>
            </a:extLst>
          </p:cNvPr>
          <p:cNvSpPr/>
          <p:nvPr/>
        </p:nvSpPr>
        <p:spPr>
          <a:xfrm>
            <a:off x="9848625" y="5994090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21">
            <a:extLst>
              <a:ext uri="{FF2B5EF4-FFF2-40B4-BE49-F238E27FC236}">
                <a16:creationId xmlns:a16="http://schemas.microsoft.com/office/drawing/2014/main" id="{F257963E-1671-F922-733A-E2A938A6D0D8}"/>
              </a:ext>
            </a:extLst>
          </p:cNvPr>
          <p:cNvSpPr/>
          <p:nvPr/>
        </p:nvSpPr>
        <p:spPr>
          <a:xfrm>
            <a:off x="12495433" y="5994090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62D565E8-68CB-ECEA-5313-4C424AC91780}"/>
              </a:ext>
            </a:extLst>
          </p:cNvPr>
          <p:cNvSpPr txBox="1"/>
          <p:nvPr/>
        </p:nvSpPr>
        <p:spPr>
          <a:xfrm>
            <a:off x="11049313" y="6203794"/>
            <a:ext cx="4097722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Personal appearance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9" name="TextBox 33">
            <a:extLst>
              <a:ext uri="{FF2B5EF4-FFF2-40B4-BE49-F238E27FC236}">
                <a16:creationId xmlns:a16="http://schemas.microsoft.com/office/drawing/2014/main" id="{D4D48ED6-7FDE-61F4-6D8A-78572CC7EC3C}"/>
              </a:ext>
            </a:extLst>
          </p:cNvPr>
          <p:cNvSpPr txBox="1"/>
          <p:nvPr/>
        </p:nvSpPr>
        <p:spPr>
          <a:xfrm>
            <a:off x="10017831" y="6203794"/>
            <a:ext cx="424128" cy="39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vi-VN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  <a:endParaRPr lang="en-US" sz="2772" b="1" spc="27" dirty="0">
              <a:solidFill>
                <a:srgbClr val="013064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60" name="Freeform 16">
            <a:extLst>
              <a:ext uri="{FF2B5EF4-FFF2-40B4-BE49-F238E27FC236}">
                <a16:creationId xmlns:a16="http://schemas.microsoft.com/office/drawing/2014/main" id="{A6622B68-B896-FAAF-8ECF-66BCCDE8ED5E}"/>
              </a:ext>
            </a:extLst>
          </p:cNvPr>
          <p:cNvSpPr/>
          <p:nvPr/>
        </p:nvSpPr>
        <p:spPr>
          <a:xfrm>
            <a:off x="9855552" y="7790698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21">
            <a:extLst>
              <a:ext uri="{FF2B5EF4-FFF2-40B4-BE49-F238E27FC236}">
                <a16:creationId xmlns:a16="http://schemas.microsoft.com/office/drawing/2014/main" id="{F0A27DD8-48B0-1575-E2A2-1B2B9A4F7568}"/>
              </a:ext>
            </a:extLst>
          </p:cNvPr>
          <p:cNvSpPr/>
          <p:nvPr/>
        </p:nvSpPr>
        <p:spPr>
          <a:xfrm>
            <a:off x="12502360" y="7790698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TextBox 29">
            <a:extLst>
              <a:ext uri="{FF2B5EF4-FFF2-40B4-BE49-F238E27FC236}">
                <a16:creationId xmlns:a16="http://schemas.microsoft.com/office/drawing/2014/main" id="{379B2CF7-C687-FBB2-F864-53F0E0AE9CAF}"/>
              </a:ext>
            </a:extLst>
          </p:cNvPr>
          <p:cNvSpPr txBox="1"/>
          <p:nvPr/>
        </p:nvSpPr>
        <p:spPr>
          <a:xfrm>
            <a:off x="11056240" y="8000402"/>
            <a:ext cx="4097722" cy="31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Proxemics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63" name="TextBox 33">
            <a:extLst>
              <a:ext uri="{FF2B5EF4-FFF2-40B4-BE49-F238E27FC236}">
                <a16:creationId xmlns:a16="http://schemas.microsoft.com/office/drawing/2014/main" id="{7600E820-4501-412F-3860-4E40B27FA169}"/>
              </a:ext>
            </a:extLst>
          </p:cNvPr>
          <p:cNvSpPr txBox="1"/>
          <p:nvPr/>
        </p:nvSpPr>
        <p:spPr>
          <a:xfrm>
            <a:off x="10024758" y="8000402"/>
            <a:ext cx="424128" cy="39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</a:pPr>
            <a:r>
              <a:rPr lang="vi-VN" sz="2772" b="1" spc="27" dirty="0">
                <a:solidFill>
                  <a:srgbClr val="01306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6</a:t>
            </a:r>
            <a:endParaRPr lang="en-US" sz="2772" b="1" spc="27" dirty="0">
              <a:solidFill>
                <a:srgbClr val="013064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0FDEC-8E5D-B633-37D2-0C3A561E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59A1D22A-7C1D-52B5-92BE-BDFBF068C180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6D64E767-7091-26DA-FEA2-E0AB85F65F9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7BC73BE1-CFE1-2232-6D18-6E8789680D4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C2A3B936-5DE7-3F4B-6F4C-2D30D88F81C7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D3982FDD-37FE-ABED-4103-8A32509745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B687F92F-6A45-15F2-28FC-9BE96132325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11C02D39-56BE-8BC1-877D-1D0CB77B76F9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2149288-6FE2-C146-2D0E-7044CF88F0FF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59CC5EA-D8DA-DCF9-8C05-7A5C7B6B92E2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4A1D306-57E9-6481-57C5-F63DEC475A2A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4244E667-7701-E4FF-1CAF-F0C25F2BCAA7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AFF66521-6BB0-4CC7-CCDE-A6EAD4EBDE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28A8EEF7-5847-309E-B63F-69BD899A7205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065B6F7B-617A-A41D-E64B-C64748BE9E15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FINDINGS &amp; DISCUSSION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34958808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4E246-7CC9-5B7E-D595-51257BC7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2741391D-D338-0317-83F3-509E5043A77D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4B0174EE-7258-2BCA-6B98-DE0481F5F2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D08EA9A9-6D1D-5F4D-30CE-FB115836528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657EF973-1489-BEBE-B57B-482754D17D8F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63EA8105-B64B-1438-4B07-837E1E27FF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AEC657AF-DFEC-CBA3-A7A4-4CFB80E39D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205F6648-D13B-8B5D-72BB-711F79B2247C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C63599FA-B8C9-A642-5FE4-6F3786340367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7B1B44E-E9BB-7DF9-7A05-E0D9081B212C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EAACABE6-4971-D9E1-4072-94BBA13F93FC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6DBDB04-E35A-C9F0-9F19-845138F510D8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D57C5857-C249-4022-71FD-D989898CE2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69B1CA78-1AB2-9F70-79A1-43D412700353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7C7D987A-C493-74B3-D0B7-7103A9079205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56F8EAA-E4A5-8137-B96B-8D15BEC6C9EA}"/>
              </a:ext>
            </a:extLst>
          </p:cNvPr>
          <p:cNvSpPr txBox="1"/>
          <p:nvPr/>
        </p:nvSpPr>
        <p:spPr>
          <a:xfrm>
            <a:off x="1351132" y="609433"/>
            <a:ext cx="4592466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A533A6B-C909-0082-CA9F-2E7ADDDDAC88}"/>
              </a:ext>
            </a:extLst>
          </p:cNvPr>
          <p:cNvSpPr txBox="1"/>
          <p:nvPr/>
        </p:nvSpPr>
        <p:spPr>
          <a:xfrm>
            <a:off x="0" y="4520011"/>
            <a:ext cx="18288000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Role of Non-Verbal Communication in Professional Relationships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04304582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DECCC-654E-B9A6-2F7D-7265421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5">
            <a:extLst>
              <a:ext uri="{FF2B5EF4-FFF2-40B4-BE49-F238E27FC236}">
                <a16:creationId xmlns:a16="http://schemas.microsoft.com/office/drawing/2014/main" id="{C8A0FBBC-2E3E-644D-53E5-0C6F2A58A4AD}"/>
              </a:ext>
            </a:extLst>
          </p:cNvPr>
          <p:cNvGrpSpPr/>
          <p:nvPr/>
        </p:nvGrpSpPr>
        <p:grpSpPr>
          <a:xfrm>
            <a:off x="-1219200" y="5604705"/>
            <a:ext cx="20758211" cy="1433594"/>
            <a:chOff x="0" y="0"/>
            <a:chExt cx="2471078" cy="198571"/>
          </a:xfrm>
        </p:grpSpPr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4D297AE7-89A7-71FF-9B5A-85F8B9EDC162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7606" y="0"/>
                  </a:moveTo>
                  <a:lnTo>
                    <a:pt x="2433472" y="0"/>
                  </a:lnTo>
                  <a:cubicBezTo>
                    <a:pt x="2443446" y="0"/>
                    <a:pt x="2453011" y="3962"/>
                    <a:pt x="2460064" y="11015"/>
                  </a:cubicBezTo>
                  <a:cubicBezTo>
                    <a:pt x="2467116" y="18067"/>
                    <a:pt x="2471078" y="27632"/>
                    <a:pt x="2471078" y="37606"/>
                  </a:cubicBezTo>
                  <a:lnTo>
                    <a:pt x="2471078" y="160965"/>
                  </a:lnTo>
                  <a:cubicBezTo>
                    <a:pt x="2471078" y="170939"/>
                    <a:pt x="2467116" y="180504"/>
                    <a:pt x="2460064" y="187557"/>
                  </a:cubicBezTo>
                  <a:cubicBezTo>
                    <a:pt x="2453011" y="194609"/>
                    <a:pt x="2443446" y="198571"/>
                    <a:pt x="2433472" y="198571"/>
                  </a:cubicBezTo>
                  <a:lnTo>
                    <a:pt x="37606" y="198571"/>
                  </a:lnTo>
                  <a:cubicBezTo>
                    <a:pt x="27632" y="198571"/>
                    <a:pt x="18067" y="194609"/>
                    <a:pt x="11015" y="187557"/>
                  </a:cubicBezTo>
                  <a:cubicBezTo>
                    <a:pt x="3962" y="180504"/>
                    <a:pt x="0" y="170939"/>
                    <a:pt x="0" y="160965"/>
                  </a:cubicBezTo>
                  <a:lnTo>
                    <a:pt x="0" y="37606"/>
                  </a:lnTo>
                  <a:cubicBezTo>
                    <a:pt x="0" y="27632"/>
                    <a:pt x="3962" y="18067"/>
                    <a:pt x="11015" y="11015"/>
                  </a:cubicBezTo>
                  <a:cubicBezTo>
                    <a:pt x="18067" y="3962"/>
                    <a:pt x="27632" y="0"/>
                    <a:pt x="37606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F0B35F09-5BA5-1498-2663-29D97A49DCE4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3">
            <a:extLst>
              <a:ext uri="{FF2B5EF4-FFF2-40B4-BE49-F238E27FC236}">
                <a16:creationId xmlns:a16="http://schemas.microsoft.com/office/drawing/2014/main" id="{3049A8BC-4140-FDBC-AD3F-CD488D32DDFC}"/>
              </a:ext>
            </a:extLst>
          </p:cNvPr>
          <p:cNvGrpSpPr/>
          <p:nvPr/>
        </p:nvGrpSpPr>
        <p:grpSpPr>
          <a:xfrm>
            <a:off x="-4187967" y="8042038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79F3F18A-BFA3-F226-5C89-4EB9FC0D4D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697F6E80-3D08-5480-A2DD-2CC13477AEC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670CECA9-C2C5-6707-02E1-5AA078E654BD}"/>
              </a:ext>
            </a:extLst>
          </p:cNvPr>
          <p:cNvGrpSpPr/>
          <p:nvPr/>
        </p:nvGrpSpPr>
        <p:grpSpPr>
          <a:xfrm>
            <a:off x="-4019571" y="6932682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E084E35A-87C4-13DF-433E-011A2902B0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DC47E4B5-11AC-FE79-34C9-4C63D3CE20D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0F8ECE96-27CA-D637-3777-DCA7BFA2A635}"/>
              </a:ext>
            </a:extLst>
          </p:cNvPr>
          <p:cNvSpPr/>
          <p:nvPr/>
        </p:nvSpPr>
        <p:spPr>
          <a:xfrm rot="13036582" flipH="1" flipV="1">
            <a:off x="-1896593" y="6124546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23E68B-7589-CDE4-4984-93C5B97288ED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AE493D5-3CAB-E5DC-836C-49165D0BADB6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F509501-74D0-2688-0D4F-3DE7088AD549}"/>
              </a:ext>
            </a:extLst>
          </p:cNvPr>
          <p:cNvSpPr/>
          <p:nvPr/>
        </p:nvSpPr>
        <p:spPr>
          <a:xfrm>
            <a:off x="1729474" y="3883797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796851C-E7E7-333D-8492-6EF938E2F579}"/>
              </a:ext>
            </a:extLst>
          </p:cNvPr>
          <p:cNvSpPr/>
          <p:nvPr/>
        </p:nvSpPr>
        <p:spPr>
          <a:xfrm>
            <a:off x="10742860" y="3883797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5"/>
                </a:lnTo>
                <a:lnTo>
                  <a:pt x="0" y="75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1DB3740-6CCA-3DAE-0B80-30988A16F882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67EEF49-6096-A2D7-257C-3237728F6AAB}"/>
              </a:ext>
            </a:extLst>
          </p:cNvPr>
          <p:cNvSpPr/>
          <p:nvPr/>
        </p:nvSpPr>
        <p:spPr>
          <a:xfrm>
            <a:off x="4376282" y="3883797"/>
            <a:ext cx="2906951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A714449E-0056-01E1-C7AA-24576D8CF9EF}"/>
              </a:ext>
            </a:extLst>
          </p:cNvPr>
          <p:cNvSpPr/>
          <p:nvPr/>
        </p:nvSpPr>
        <p:spPr>
          <a:xfrm>
            <a:off x="13389668" y="3883797"/>
            <a:ext cx="3531399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5"/>
                </a:lnTo>
                <a:lnTo>
                  <a:pt x="0" y="75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BD635FD-7051-D428-2F1C-1CD85141CE0C}"/>
              </a:ext>
            </a:extLst>
          </p:cNvPr>
          <p:cNvSpPr txBox="1"/>
          <p:nvPr/>
        </p:nvSpPr>
        <p:spPr>
          <a:xfrm>
            <a:off x="2747995" y="4093501"/>
            <a:ext cx="4618369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en-US" sz="2400" dirty="0">
                <a:latin typeface="Poppins   "/>
              </a:rPr>
              <a:t>silent but powerful language</a:t>
            </a:r>
            <a:endParaRPr lang="en-US" sz="2099" b="1" spc="20" dirty="0">
              <a:solidFill>
                <a:srgbClr val="000000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2B20311-A6A9-51C4-5E78-3E1EDA8E6F7F}"/>
              </a:ext>
            </a:extLst>
          </p:cNvPr>
          <p:cNvSpPr txBox="1"/>
          <p:nvPr/>
        </p:nvSpPr>
        <p:spPr>
          <a:xfrm>
            <a:off x="11734727" y="4123780"/>
            <a:ext cx="5434783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en-US" sz="2400" dirty="0">
                <a:latin typeface="Poppins   "/>
              </a:rPr>
              <a:t>Confident </a:t>
            </a:r>
            <a:r>
              <a:rPr lang="vi-VN" sz="2400" dirty="0">
                <a:latin typeface="Poppins   "/>
              </a:rPr>
              <a:t>cues build mutual trust</a:t>
            </a:r>
            <a:endParaRPr lang="en-US" sz="2099" b="1" spc="20" dirty="0">
              <a:solidFill>
                <a:srgbClr val="000000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AB1671C-DB19-5393-F4D3-0F65A307E2F3}"/>
              </a:ext>
            </a:extLst>
          </p:cNvPr>
          <p:cNvSpPr txBox="1"/>
          <p:nvPr/>
        </p:nvSpPr>
        <p:spPr>
          <a:xfrm>
            <a:off x="531018" y="6298642"/>
            <a:ext cx="17225963" cy="424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vi-VN" sz="5400" b="1" dirty="0">
                <a:solidFill>
                  <a:srgbClr val="FFC038"/>
                </a:solidFill>
                <a:latin typeface="Poppins   "/>
              </a:rPr>
              <a:t>60%</a:t>
            </a:r>
            <a:r>
              <a:rPr lang="en-US" sz="5400" b="1" dirty="0">
                <a:solidFill>
                  <a:srgbClr val="FFC038"/>
                </a:solidFill>
                <a:latin typeface="Poppins   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Poppins   "/>
              </a:rPr>
              <a:t>of interpersonal misunderstandings come not from what is said, but from how it is said</a:t>
            </a:r>
            <a:endParaRPr lang="en-US" sz="2800" spc="20" dirty="0">
              <a:solidFill>
                <a:schemeClr val="bg1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552CFB72-4563-0FB2-2327-CC2166650092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582BFE1-1D13-3233-6240-FB59FEFC3B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1C63F2B8-F764-4499-E77E-F2FFDC7546D6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B20ADC82-C885-4530-FBE1-9DE1872D2C72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0AB96480-C6B4-5F32-99BD-26343E4AC330}"/>
              </a:ext>
            </a:extLst>
          </p:cNvPr>
          <p:cNvSpPr txBox="1"/>
          <p:nvPr/>
        </p:nvSpPr>
        <p:spPr>
          <a:xfrm>
            <a:off x="1351132" y="609433"/>
            <a:ext cx="4902124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DD75760-2F2E-CFBC-F1D7-D74C14CB093D}"/>
              </a:ext>
            </a:extLst>
          </p:cNvPr>
          <p:cNvSpPr txBox="1"/>
          <p:nvPr/>
        </p:nvSpPr>
        <p:spPr>
          <a:xfrm>
            <a:off x="1028700" y="1370708"/>
            <a:ext cx="17259300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Role of Non-Verbal Communication in Professional Relationships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142285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3" grpId="0" animBg="1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BA3F2-2861-44CD-2FB7-5576ACB6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5">
            <a:extLst>
              <a:ext uri="{FF2B5EF4-FFF2-40B4-BE49-F238E27FC236}">
                <a16:creationId xmlns:a16="http://schemas.microsoft.com/office/drawing/2014/main" id="{0C29B7AE-95E1-EE2C-122A-1BA84E5B59E4}"/>
              </a:ext>
            </a:extLst>
          </p:cNvPr>
          <p:cNvGrpSpPr/>
          <p:nvPr/>
        </p:nvGrpSpPr>
        <p:grpSpPr>
          <a:xfrm>
            <a:off x="-1219200" y="5604705"/>
            <a:ext cx="20758211" cy="1433594"/>
            <a:chOff x="0" y="0"/>
            <a:chExt cx="2471078" cy="198571"/>
          </a:xfrm>
        </p:grpSpPr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DA6A0C07-23B7-120D-86DC-CCB5A94D2F3D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7606" y="0"/>
                  </a:moveTo>
                  <a:lnTo>
                    <a:pt x="2433472" y="0"/>
                  </a:lnTo>
                  <a:cubicBezTo>
                    <a:pt x="2443446" y="0"/>
                    <a:pt x="2453011" y="3962"/>
                    <a:pt x="2460064" y="11015"/>
                  </a:cubicBezTo>
                  <a:cubicBezTo>
                    <a:pt x="2467116" y="18067"/>
                    <a:pt x="2471078" y="27632"/>
                    <a:pt x="2471078" y="37606"/>
                  </a:cubicBezTo>
                  <a:lnTo>
                    <a:pt x="2471078" y="160965"/>
                  </a:lnTo>
                  <a:cubicBezTo>
                    <a:pt x="2471078" y="170939"/>
                    <a:pt x="2467116" y="180504"/>
                    <a:pt x="2460064" y="187557"/>
                  </a:cubicBezTo>
                  <a:cubicBezTo>
                    <a:pt x="2453011" y="194609"/>
                    <a:pt x="2443446" y="198571"/>
                    <a:pt x="2433472" y="198571"/>
                  </a:cubicBezTo>
                  <a:lnTo>
                    <a:pt x="37606" y="198571"/>
                  </a:lnTo>
                  <a:cubicBezTo>
                    <a:pt x="27632" y="198571"/>
                    <a:pt x="18067" y="194609"/>
                    <a:pt x="11015" y="187557"/>
                  </a:cubicBezTo>
                  <a:cubicBezTo>
                    <a:pt x="3962" y="180504"/>
                    <a:pt x="0" y="170939"/>
                    <a:pt x="0" y="160965"/>
                  </a:cubicBezTo>
                  <a:lnTo>
                    <a:pt x="0" y="37606"/>
                  </a:lnTo>
                  <a:cubicBezTo>
                    <a:pt x="0" y="27632"/>
                    <a:pt x="3962" y="18067"/>
                    <a:pt x="11015" y="11015"/>
                  </a:cubicBezTo>
                  <a:cubicBezTo>
                    <a:pt x="18067" y="3962"/>
                    <a:pt x="27632" y="0"/>
                    <a:pt x="37606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4DE4B73C-957C-9740-4A08-1D27F5A75367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3">
            <a:extLst>
              <a:ext uri="{FF2B5EF4-FFF2-40B4-BE49-F238E27FC236}">
                <a16:creationId xmlns:a16="http://schemas.microsoft.com/office/drawing/2014/main" id="{8E149069-FB3D-EC55-119D-31A84ECBBBC6}"/>
              </a:ext>
            </a:extLst>
          </p:cNvPr>
          <p:cNvGrpSpPr/>
          <p:nvPr/>
        </p:nvGrpSpPr>
        <p:grpSpPr>
          <a:xfrm>
            <a:off x="-4187967" y="8042038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AAF606A0-E380-7563-14C1-7C8E6C0469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56F8767B-FE2E-2DB0-B306-653272EB032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DBAC40B3-DB78-E29A-7DD3-C67538D28E02}"/>
              </a:ext>
            </a:extLst>
          </p:cNvPr>
          <p:cNvGrpSpPr/>
          <p:nvPr/>
        </p:nvGrpSpPr>
        <p:grpSpPr>
          <a:xfrm>
            <a:off x="-4019571" y="6932682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02084BF1-4189-74C4-F2B3-D6BEBD7E23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367AD834-0524-1861-A239-45E11B00ABA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E397C753-3DA3-CEA4-BF3F-767DDFC3685C}"/>
              </a:ext>
            </a:extLst>
          </p:cNvPr>
          <p:cNvSpPr/>
          <p:nvPr/>
        </p:nvSpPr>
        <p:spPr>
          <a:xfrm rot="13036582" flipH="1" flipV="1">
            <a:off x="-1896593" y="6124546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9438E75-06C8-DEE0-0E19-3AF5D0330DEB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D96A9C0-2D27-E7FD-E00D-EF99929229DA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101EC69-4F20-9DCB-9DE9-54789E44535F}"/>
              </a:ext>
            </a:extLst>
          </p:cNvPr>
          <p:cNvSpPr/>
          <p:nvPr/>
        </p:nvSpPr>
        <p:spPr>
          <a:xfrm>
            <a:off x="2150838" y="3355042"/>
            <a:ext cx="4056119" cy="752226"/>
          </a:xfrm>
          <a:custGeom>
            <a:avLst/>
            <a:gdLst/>
            <a:ahLst/>
            <a:cxnLst/>
            <a:rect l="l" t="t" r="r" b="b"/>
            <a:pathLst>
              <a:path w="4056119" h="752226">
                <a:moveTo>
                  <a:pt x="0" y="0"/>
                </a:moveTo>
                <a:lnTo>
                  <a:pt x="4056119" y="0"/>
                </a:lnTo>
                <a:lnTo>
                  <a:pt x="4056119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82B3CC0-4C3C-D609-1686-512192C764BF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90044EFF-C1F0-B343-0706-2D92E83164D7}"/>
              </a:ext>
            </a:extLst>
          </p:cNvPr>
          <p:cNvSpPr/>
          <p:nvPr/>
        </p:nvSpPr>
        <p:spPr>
          <a:xfrm>
            <a:off x="4797646" y="3355042"/>
            <a:ext cx="11238634" cy="752226"/>
          </a:xfrm>
          <a:custGeom>
            <a:avLst/>
            <a:gdLst/>
            <a:ahLst/>
            <a:cxnLst/>
            <a:rect l="l" t="t" r="r" b="b"/>
            <a:pathLst>
              <a:path w="2906951" h="752226">
                <a:moveTo>
                  <a:pt x="0" y="0"/>
                </a:moveTo>
                <a:lnTo>
                  <a:pt x="2906951" y="0"/>
                </a:lnTo>
                <a:lnTo>
                  <a:pt x="2906951" y="752226"/>
                </a:lnTo>
                <a:lnTo>
                  <a:pt x="0" y="7522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9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9ED5F0C-F9FC-D334-5959-2929E163C021}"/>
              </a:ext>
            </a:extLst>
          </p:cNvPr>
          <p:cNvSpPr txBox="1"/>
          <p:nvPr/>
        </p:nvSpPr>
        <p:spPr>
          <a:xfrm>
            <a:off x="3169359" y="3564746"/>
            <a:ext cx="13019321" cy="31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en-US" sz="2400">
                <a:latin typeface="Poppins   "/>
              </a:rPr>
              <a:t>Cultural backgrounds, individual traits, or stressors can convey unintended signals</a:t>
            </a:r>
            <a:endParaRPr lang="en-US" sz="2099" b="1" spc="20" dirty="0">
              <a:solidFill>
                <a:srgbClr val="000000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A35EFEB-6A1E-1DD9-9BF3-217D668D6138}"/>
              </a:ext>
            </a:extLst>
          </p:cNvPr>
          <p:cNvSpPr txBox="1"/>
          <p:nvPr/>
        </p:nvSpPr>
        <p:spPr>
          <a:xfrm>
            <a:off x="531018" y="6298642"/>
            <a:ext cx="17225963" cy="424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vi-VN" sz="5400" b="1" spc="20" dirty="0">
                <a:solidFill>
                  <a:srgbClr val="FFC038"/>
                </a:solidFill>
                <a:latin typeface="Poppins   "/>
                <a:ea typeface="Poppins Semi-Bold"/>
                <a:cs typeface="Poppins Semi-Bold"/>
                <a:sym typeface="Poppins Semi-Bold"/>
              </a:rPr>
              <a:t>Success = what are said + what body expresses </a:t>
            </a:r>
            <a:endParaRPr lang="en-US" sz="2800" spc="20" dirty="0">
              <a:solidFill>
                <a:schemeClr val="bg1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DE410308-DA64-3DE6-46FC-3E305A0BA677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3E51634F-2EBE-A0FC-DF4A-4BE3ED311A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C5E43B4C-6A41-091D-C722-9CC24CE74399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D2DFE958-6546-354F-8F08-63720420EE02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45EC7E80-4675-C299-95A5-337D65C47489}"/>
              </a:ext>
            </a:extLst>
          </p:cNvPr>
          <p:cNvSpPr txBox="1"/>
          <p:nvPr/>
        </p:nvSpPr>
        <p:spPr>
          <a:xfrm>
            <a:off x="1351132" y="609433"/>
            <a:ext cx="4902124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F7A825A-8156-42BC-D0CA-36DEA286AE95}"/>
              </a:ext>
            </a:extLst>
          </p:cNvPr>
          <p:cNvSpPr txBox="1"/>
          <p:nvPr/>
        </p:nvSpPr>
        <p:spPr>
          <a:xfrm>
            <a:off x="1028700" y="1370708"/>
            <a:ext cx="17259300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Risks of Non-Verbal Misunderstanding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13651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B45A7-6426-9281-B6EB-C37096C1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63E9E515-4582-540A-DC0D-1EEB9560AE37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CE14E386-89D1-9658-7B93-5F9E7E32A8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6CC3136B-AE09-773E-5226-FCA6045999B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0ED0667E-8550-35BC-42C5-2AF2A360EBE7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8A7B953F-54AA-B960-F5BB-AD84BB576E0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6ACF44C5-143F-15C2-1FB5-189DBC195F6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635A3A98-B7D3-BAB0-7F4F-A790E0337699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DDAE68A-487A-A265-8996-6EC9768BFB98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75ED676-8C04-1477-3594-CA728C685FCB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E9E8625-1A77-5651-000A-FF276118F5F1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30058445-4678-A66F-AC02-FFC34B58BBA9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3CC8FEA2-8FC8-5911-3162-C8099795B5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E00AD26-F5AE-D61A-0B12-14F6E2EDBC8A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24E22071-A267-5ED9-0B8F-A40BF0D29014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C30700FF-192A-4ABF-6420-E6B3260E51CB}"/>
              </a:ext>
            </a:extLst>
          </p:cNvPr>
          <p:cNvSpPr txBox="1"/>
          <p:nvPr/>
        </p:nvSpPr>
        <p:spPr>
          <a:xfrm>
            <a:off x="1351132" y="609433"/>
            <a:ext cx="4592466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E3EBF0C-AE4B-E304-591C-3B03893B37CA}"/>
              </a:ext>
            </a:extLst>
          </p:cNvPr>
          <p:cNvSpPr txBox="1"/>
          <p:nvPr/>
        </p:nvSpPr>
        <p:spPr>
          <a:xfrm>
            <a:off x="3276600" y="4520011"/>
            <a:ext cx="11397246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Communication &amp; Leadership Effectiveness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85874230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4687">
            <a:off x="-252735" y="-1617355"/>
            <a:ext cx="19430999" cy="5702114"/>
          </a:xfrm>
          <a:custGeom>
            <a:avLst/>
            <a:gdLst/>
            <a:ahLst/>
            <a:cxnLst/>
            <a:rect l="l" t="t" r="r" b="b"/>
            <a:pathLst>
              <a:path w="19430999" h="5702114">
                <a:moveTo>
                  <a:pt x="0" y="0"/>
                </a:moveTo>
                <a:lnTo>
                  <a:pt x="19430999" y="0"/>
                </a:lnTo>
                <a:lnTo>
                  <a:pt x="19430999" y="5702113"/>
                </a:lnTo>
                <a:lnTo>
                  <a:pt x="0" y="57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444" b="-19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83110" y="8638135"/>
            <a:ext cx="620165" cy="62016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85693" flipV="1">
            <a:off x="11770250" y="58905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8555482"/>
                </a:moveTo>
                <a:lnTo>
                  <a:pt x="8534093" y="8555482"/>
                </a:lnTo>
                <a:lnTo>
                  <a:pt x="8534093" y="0"/>
                </a:lnTo>
                <a:lnTo>
                  <a:pt x="0" y="0"/>
                </a:lnTo>
                <a:lnTo>
                  <a:pt x="0" y="8555482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-723622" y="8948218"/>
            <a:ext cx="1752322" cy="175232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9419425" flipH="1" flipV="1">
            <a:off x="-2811034" y="-12748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3" y="6969684"/>
                </a:moveTo>
                <a:lnTo>
                  <a:pt x="0" y="6969684"/>
                </a:lnTo>
                <a:lnTo>
                  <a:pt x="0" y="0"/>
                </a:lnTo>
                <a:lnTo>
                  <a:pt x="9662263" y="0"/>
                </a:lnTo>
                <a:lnTo>
                  <a:pt x="9662263" y="69696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405009" y="2109890"/>
            <a:ext cx="6662398" cy="666239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r="-25046"/>
              </a:stretch>
            </a:blipFill>
            <a:ln w="142875" cap="sq">
              <a:solidFill>
                <a:srgbClr val="FFC03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7522167" y="675182"/>
            <a:ext cx="0" cy="422525"/>
          </a:xfrm>
          <a:prstGeom prst="line">
            <a:avLst/>
          </a:prstGeom>
          <a:ln w="66675" cap="flat">
            <a:solidFill>
              <a:srgbClr val="FFC0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677416" y="4351242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677416" y="6170339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677416" y="7976382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232639" y="4351242"/>
            <a:ext cx="3550161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232639" y="6170339"/>
            <a:ext cx="4312161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232639" y="7976382"/>
            <a:ext cx="4690028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749804" y="5192083"/>
            <a:ext cx="9120236" cy="65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vi-VN" sz="2000" dirty="0">
                <a:latin typeface="Poppins" panose="00000500000000000000" pitchFamily="2" charset="0"/>
                <a:cs typeface="Poppins" panose="00000500000000000000" pitchFamily="2" charset="0"/>
              </a:rPr>
              <a:t>Leader’s non-verbal cues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serve as a mirror of their confidence and emotional stability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49804" y="7041576"/>
            <a:ext cx="9120236" cy="65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Put </a:t>
            </a:r>
            <a:r>
              <a:rPr lang="vi-VN" sz="2000" dirty="0">
                <a:latin typeface="Poppins" panose="00000500000000000000" pitchFamily="2" charset="0"/>
                <a:cs typeface="Poppins" panose="00000500000000000000" pitchFamily="2" charset="0"/>
              </a:rPr>
              <a:t>non-verbal signals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together with steady pacing and controlled tone, and leadership is established—not intimidation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49804" y="8891068"/>
            <a:ext cx="9120236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leaders who can understand the emotional clue from one of their team members can </a:t>
            </a:r>
            <a:r>
              <a:rPr lang="vi-VN" sz="2000" dirty="0">
                <a:latin typeface="Poppins" panose="00000500000000000000" pitchFamily="2" charset="0"/>
                <a:cs typeface="Poppins" panose="00000500000000000000" pitchFamily="2" charset="0"/>
              </a:rPr>
              <a:t>change their responses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7984985" y="4603194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984985" y="6409304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2420601" y="658749"/>
            <a:ext cx="4830291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244"/>
              </a:lnSpc>
            </a:pPr>
            <a:r>
              <a:rPr lang="vi-VN" sz="2896" b="1" spc="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7984985" y="8215414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9068714" y="4549541"/>
            <a:ext cx="571408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Leadership relies on delivery on content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159715" y="6378162"/>
            <a:ext cx="6385085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en-US" sz="2400" b="1" dirty="0">
                <a:latin typeface="Poppins Semi Bold"/>
              </a:rPr>
              <a:t>Non-verbal signals reinforce a leader's credibility</a:t>
            </a:r>
            <a:endParaRPr lang="en-US" sz="2099" b="1" spc="20" dirty="0">
              <a:solidFill>
                <a:srgbClr val="000000"/>
              </a:solidFill>
              <a:latin typeface="Poppins Semi 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068714" y="8022582"/>
            <a:ext cx="1074328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behaviour strengthens the bond </a:t>
            </a:r>
          </a:p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between leadership and emotional intelligence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6DF14-24F0-8B23-5157-39D2FEA9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827F60-A9B4-7EDB-2F33-7DBF329C1C77}"/>
              </a:ext>
            </a:extLst>
          </p:cNvPr>
          <p:cNvSpPr/>
          <p:nvPr/>
        </p:nvSpPr>
        <p:spPr>
          <a:xfrm rot="94687">
            <a:off x="-252735" y="-1617355"/>
            <a:ext cx="19430999" cy="5702114"/>
          </a:xfrm>
          <a:custGeom>
            <a:avLst/>
            <a:gdLst/>
            <a:ahLst/>
            <a:cxnLst/>
            <a:rect l="l" t="t" r="r" b="b"/>
            <a:pathLst>
              <a:path w="19430999" h="5702114">
                <a:moveTo>
                  <a:pt x="0" y="0"/>
                </a:moveTo>
                <a:lnTo>
                  <a:pt x="19430999" y="0"/>
                </a:lnTo>
                <a:lnTo>
                  <a:pt x="19430999" y="5702113"/>
                </a:lnTo>
                <a:lnTo>
                  <a:pt x="0" y="57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444" b="-197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004F0B4-9186-D7AA-A02F-FD6B484C1B8E}"/>
              </a:ext>
            </a:extLst>
          </p:cNvPr>
          <p:cNvGrpSpPr/>
          <p:nvPr/>
        </p:nvGrpSpPr>
        <p:grpSpPr>
          <a:xfrm>
            <a:off x="1283110" y="8638135"/>
            <a:ext cx="620165" cy="620165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64C53F3-43E3-2721-8147-50CB08401A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98CEAF6-B14F-5E18-C9AD-333EEBE98428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39C6789-4B55-8578-3ECE-3E0CC523EEE7}"/>
              </a:ext>
            </a:extLst>
          </p:cNvPr>
          <p:cNvSpPr/>
          <p:nvPr/>
        </p:nvSpPr>
        <p:spPr>
          <a:xfrm rot="2785693" flipV="1">
            <a:off x="11770250" y="58905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8555482"/>
                </a:moveTo>
                <a:lnTo>
                  <a:pt x="8534093" y="8555482"/>
                </a:lnTo>
                <a:lnTo>
                  <a:pt x="8534093" y="0"/>
                </a:lnTo>
                <a:lnTo>
                  <a:pt x="0" y="0"/>
                </a:lnTo>
                <a:lnTo>
                  <a:pt x="0" y="8555482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2B27270-E6E3-425E-A6DF-C9AF74F39EDD}"/>
              </a:ext>
            </a:extLst>
          </p:cNvPr>
          <p:cNvGrpSpPr/>
          <p:nvPr/>
        </p:nvGrpSpPr>
        <p:grpSpPr>
          <a:xfrm>
            <a:off x="-723622" y="8948218"/>
            <a:ext cx="1752322" cy="1752322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5118AF-4A90-399C-6A33-06C15AB629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F27D5F1-DBFF-3646-6CF5-6C58BA772DE0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C1C759E-E9B2-9801-243A-EB0041A3A20F}"/>
              </a:ext>
            </a:extLst>
          </p:cNvPr>
          <p:cNvSpPr/>
          <p:nvPr/>
        </p:nvSpPr>
        <p:spPr>
          <a:xfrm rot="-9419425" flipH="1" flipV="1">
            <a:off x="-2811034" y="-12748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3" y="6969684"/>
                </a:moveTo>
                <a:lnTo>
                  <a:pt x="0" y="6969684"/>
                </a:lnTo>
                <a:lnTo>
                  <a:pt x="0" y="0"/>
                </a:lnTo>
                <a:lnTo>
                  <a:pt x="9662263" y="0"/>
                </a:lnTo>
                <a:lnTo>
                  <a:pt x="9662263" y="69696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961683E-E1A9-2B54-9DA7-85446934A2E1}"/>
              </a:ext>
            </a:extLst>
          </p:cNvPr>
          <p:cNvSpPr/>
          <p:nvPr/>
        </p:nvSpPr>
        <p:spPr>
          <a:xfrm flipV="1">
            <a:off x="17522167" y="675182"/>
            <a:ext cx="0" cy="422525"/>
          </a:xfrm>
          <a:prstGeom prst="line">
            <a:avLst/>
          </a:prstGeom>
          <a:ln w="66675" cap="flat">
            <a:solidFill>
              <a:srgbClr val="FFC0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F95D9B1-21ED-0C53-08AA-BCA3FC455C75}"/>
              </a:ext>
            </a:extLst>
          </p:cNvPr>
          <p:cNvSpPr txBox="1"/>
          <p:nvPr/>
        </p:nvSpPr>
        <p:spPr>
          <a:xfrm>
            <a:off x="12420601" y="658749"/>
            <a:ext cx="4830291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244"/>
              </a:lnSpc>
            </a:pPr>
            <a:r>
              <a:rPr lang="vi-VN" sz="2896" b="1" spc="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026" name="Picture 2" descr="Critérios de premiação para colaboradores [+5 ideias de premiações]">
            <a:extLst>
              <a:ext uri="{FF2B5EF4-FFF2-40B4-BE49-F238E27FC236}">
                <a16:creationId xmlns:a16="http://schemas.microsoft.com/office/drawing/2014/main" id="{C6BA1001-BE20-9D93-EAB8-7D3D606C3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663" y="958717"/>
            <a:ext cx="13334861" cy="8889907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47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4E794-5BDA-11BC-2329-B7F0DBE3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41653291-2CE4-78FF-2026-1A318DC43EC0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1F46DEF3-EF54-BAB2-83FC-BBB4D23A1F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620CF384-91A4-4923-3FA0-ABD88346353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C5EE7A66-4701-5C57-E10E-5C59297EB3C1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E4D13777-C442-4AD3-6721-2C116514C8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704C4997-FCB0-A9D9-BEF5-53E40FF92ED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98318E7E-2E06-970C-CBE6-ACFE7CF6A944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2ADD9E8-50EE-22E7-2C71-EEAB6C30FB71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A8206D9-F529-FE5F-0D03-3E719369083E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8DCD6BC-42DE-7A5F-6CE0-8F0F3470AB9B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DC3528DF-E33B-CB92-B026-2A9D39E0EA30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CF74A974-1E64-9EB7-7B02-561918E9FC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48213DB8-AA1C-E146-E561-DBEADE5E8BDE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32A1885B-1796-21E4-EC2D-EC61BD88BAFC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B4B7F5D7-81D2-ABAA-2F5B-3BA189641CAA}"/>
              </a:ext>
            </a:extLst>
          </p:cNvPr>
          <p:cNvSpPr txBox="1"/>
          <p:nvPr/>
        </p:nvSpPr>
        <p:spPr>
          <a:xfrm>
            <a:off x="1351132" y="609433"/>
            <a:ext cx="4592466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406ECA5-F3D2-C8C4-23E3-B7371E3EF0FC}"/>
              </a:ext>
            </a:extLst>
          </p:cNvPr>
          <p:cNvSpPr txBox="1"/>
          <p:nvPr/>
        </p:nvSpPr>
        <p:spPr>
          <a:xfrm>
            <a:off x="3276600" y="4520011"/>
            <a:ext cx="11397246" cy="177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Impact on Teamwork </a:t>
            </a:r>
          </a:p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Collaboration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05967977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280BB-41DC-E28C-50A3-EE762319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406844-E5C4-409C-946A-838CAF090EDA}"/>
              </a:ext>
            </a:extLst>
          </p:cNvPr>
          <p:cNvSpPr/>
          <p:nvPr/>
        </p:nvSpPr>
        <p:spPr>
          <a:xfrm rot="94687">
            <a:off x="-252735" y="-1617355"/>
            <a:ext cx="19430999" cy="5702114"/>
          </a:xfrm>
          <a:custGeom>
            <a:avLst/>
            <a:gdLst/>
            <a:ahLst/>
            <a:cxnLst/>
            <a:rect l="l" t="t" r="r" b="b"/>
            <a:pathLst>
              <a:path w="19430999" h="5702114">
                <a:moveTo>
                  <a:pt x="0" y="0"/>
                </a:moveTo>
                <a:lnTo>
                  <a:pt x="19430999" y="0"/>
                </a:lnTo>
                <a:lnTo>
                  <a:pt x="19430999" y="5702113"/>
                </a:lnTo>
                <a:lnTo>
                  <a:pt x="0" y="57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444" b="-197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C2F5B31-3FD0-24C6-AE4D-FC7EF844735C}"/>
              </a:ext>
            </a:extLst>
          </p:cNvPr>
          <p:cNvGrpSpPr/>
          <p:nvPr/>
        </p:nvGrpSpPr>
        <p:grpSpPr>
          <a:xfrm>
            <a:off x="1283110" y="8638135"/>
            <a:ext cx="620165" cy="620165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65D7C0-0428-CB1B-1A73-DED13CC2B0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FDAA0A-587A-2A5D-E683-0B6F66C107A1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53A710D-79C3-ECB2-4C57-DB24A12EF132}"/>
              </a:ext>
            </a:extLst>
          </p:cNvPr>
          <p:cNvSpPr/>
          <p:nvPr/>
        </p:nvSpPr>
        <p:spPr>
          <a:xfrm rot="2785693" flipV="1">
            <a:off x="11770250" y="58905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8555482"/>
                </a:moveTo>
                <a:lnTo>
                  <a:pt x="8534093" y="8555482"/>
                </a:lnTo>
                <a:lnTo>
                  <a:pt x="8534093" y="0"/>
                </a:lnTo>
                <a:lnTo>
                  <a:pt x="0" y="0"/>
                </a:lnTo>
                <a:lnTo>
                  <a:pt x="0" y="8555482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ABB4A47-2127-5A78-DB4D-6F33094DDD9F}"/>
              </a:ext>
            </a:extLst>
          </p:cNvPr>
          <p:cNvGrpSpPr/>
          <p:nvPr/>
        </p:nvGrpSpPr>
        <p:grpSpPr>
          <a:xfrm>
            <a:off x="-723622" y="8948218"/>
            <a:ext cx="1752322" cy="1752322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D6E3AF-CDA4-5C8C-B39E-0095E17DA6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4702A62-6117-CB57-5208-15BD7EF24A61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5FC6DFFE-B7A8-827C-6C85-9F3E45A1C9A2}"/>
              </a:ext>
            </a:extLst>
          </p:cNvPr>
          <p:cNvSpPr/>
          <p:nvPr/>
        </p:nvSpPr>
        <p:spPr>
          <a:xfrm rot="-9419425" flipH="1" flipV="1">
            <a:off x="-2811034" y="-12748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3" y="6969684"/>
                </a:moveTo>
                <a:lnTo>
                  <a:pt x="0" y="6969684"/>
                </a:lnTo>
                <a:lnTo>
                  <a:pt x="0" y="0"/>
                </a:lnTo>
                <a:lnTo>
                  <a:pt x="9662263" y="0"/>
                </a:lnTo>
                <a:lnTo>
                  <a:pt x="9662263" y="69696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184477E-1B1C-8376-B10D-CA5B146F9286}"/>
              </a:ext>
            </a:extLst>
          </p:cNvPr>
          <p:cNvSpPr/>
          <p:nvPr/>
        </p:nvSpPr>
        <p:spPr>
          <a:xfrm flipV="1">
            <a:off x="17522167" y="675182"/>
            <a:ext cx="0" cy="422525"/>
          </a:xfrm>
          <a:prstGeom prst="line">
            <a:avLst/>
          </a:prstGeom>
          <a:ln w="66675" cap="flat">
            <a:solidFill>
              <a:srgbClr val="FFC0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2C55580-E782-89F5-F123-F147B1D550C7}"/>
              </a:ext>
            </a:extLst>
          </p:cNvPr>
          <p:cNvSpPr/>
          <p:nvPr/>
        </p:nvSpPr>
        <p:spPr>
          <a:xfrm>
            <a:off x="7677416" y="4702810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E70F67F-44D8-7140-CD38-F8F72E99664E}"/>
              </a:ext>
            </a:extLst>
          </p:cNvPr>
          <p:cNvSpPr/>
          <p:nvPr/>
        </p:nvSpPr>
        <p:spPr>
          <a:xfrm>
            <a:off x="7684343" y="6493454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D58192A-4E72-90F6-A1F7-68DDE8C9EDBA}"/>
              </a:ext>
            </a:extLst>
          </p:cNvPr>
          <p:cNvSpPr/>
          <p:nvPr/>
        </p:nvSpPr>
        <p:spPr>
          <a:xfrm>
            <a:off x="11232638" y="4702810"/>
            <a:ext cx="5378961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49FE570-701C-3680-0715-618835045A90}"/>
              </a:ext>
            </a:extLst>
          </p:cNvPr>
          <p:cNvSpPr/>
          <p:nvPr/>
        </p:nvSpPr>
        <p:spPr>
          <a:xfrm>
            <a:off x="11239565" y="6493454"/>
            <a:ext cx="5759961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A94F02-DEE6-14B8-5DB7-9B99CABCA27F}"/>
              </a:ext>
            </a:extLst>
          </p:cNvPr>
          <p:cNvSpPr txBox="1"/>
          <p:nvPr/>
        </p:nvSpPr>
        <p:spPr>
          <a:xfrm>
            <a:off x="8749804" y="5543651"/>
            <a:ext cx="9120236" cy="655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Members of a team use gesture, eye contact, and tone to signal </a:t>
            </a:r>
            <a:endParaRPr lang="vi-VN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>
              <a:lnSpc>
                <a:spcPts val="2633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turn-taking, agreement, and emotional climate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0D82FD8-9A66-0F29-2353-8E6C8E3B58BA}"/>
              </a:ext>
            </a:extLst>
          </p:cNvPr>
          <p:cNvSpPr txBox="1"/>
          <p:nvPr/>
        </p:nvSpPr>
        <p:spPr>
          <a:xfrm>
            <a:off x="8756731" y="7364691"/>
            <a:ext cx="9120236" cy="655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Collaboration operates more smoothly and respectfully </a:t>
            </a:r>
            <a:r>
              <a:rPr lang="vi-VN" sz="2000" dirty="0">
                <a:latin typeface="Poppins" panose="00000500000000000000" pitchFamily="2" charset="0"/>
                <a:cs typeface="Poppins" panose="00000500000000000000" pitchFamily="2" charset="0"/>
              </a:rPr>
              <a:t>with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an awareness and respect for each </a:t>
            </a:r>
            <a:r>
              <a:rPr lang="vi-VN" sz="2000" dirty="0">
                <a:latin typeface="Poppins" panose="00000500000000000000" pitchFamily="2" charset="0"/>
                <a:cs typeface="Poppins" panose="00000500000000000000" pitchFamily="2" charset="0"/>
              </a:rPr>
              <a:t>member’s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non-verbal patterns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6B626FD-466E-E7C7-E5E5-927E63F479B7}"/>
              </a:ext>
            </a:extLst>
          </p:cNvPr>
          <p:cNvSpPr/>
          <p:nvPr/>
        </p:nvSpPr>
        <p:spPr>
          <a:xfrm>
            <a:off x="7984985" y="4954762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EDB8F01-EF55-EDAA-9EEA-5154AB1456F3}"/>
              </a:ext>
            </a:extLst>
          </p:cNvPr>
          <p:cNvSpPr/>
          <p:nvPr/>
        </p:nvSpPr>
        <p:spPr>
          <a:xfrm>
            <a:off x="7991912" y="6732419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344D71F-3597-9D39-848E-B729FD02D23B}"/>
              </a:ext>
            </a:extLst>
          </p:cNvPr>
          <p:cNvSpPr txBox="1"/>
          <p:nvPr/>
        </p:nvSpPr>
        <p:spPr>
          <a:xfrm>
            <a:off x="12420601" y="658749"/>
            <a:ext cx="4830291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244"/>
              </a:lnSpc>
            </a:pPr>
            <a:r>
              <a:rPr lang="vi-VN" sz="2896" b="1" spc="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A643381-2752-9F8F-5DB7-3DE41E81DA0A}"/>
              </a:ext>
            </a:extLst>
          </p:cNvPr>
          <p:cNvSpPr txBox="1"/>
          <p:nvPr/>
        </p:nvSpPr>
        <p:spPr>
          <a:xfrm>
            <a:off x="9068714" y="4901109"/>
            <a:ext cx="754288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51"/>
              </a:lnSpc>
            </a:pPr>
            <a:r>
              <a:rPr lang="vi-VN" sz="2099" b="1" spc="20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cues negotiate interchange before words</a:t>
            </a:r>
            <a:endParaRPr lang="en-US" sz="2099" b="1" spc="20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044064C-E91F-0E77-5079-9BBD5D5A369D}"/>
              </a:ext>
            </a:extLst>
          </p:cNvPr>
          <p:cNvSpPr txBox="1"/>
          <p:nvPr/>
        </p:nvSpPr>
        <p:spPr>
          <a:xfrm>
            <a:off x="9166642" y="6701277"/>
            <a:ext cx="7637527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en-US" sz="2400" b="1" dirty="0">
                <a:latin typeface="Poppins Semi Bold"/>
              </a:rPr>
              <a:t>Non-verbal </a:t>
            </a:r>
            <a:r>
              <a:rPr lang="vi-VN" sz="2400" b="1" dirty="0">
                <a:latin typeface="Poppins Semi Bold"/>
              </a:rPr>
              <a:t>awareness is crucial in diverse or initialized team </a:t>
            </a:r>
            <a:endParaRPr lang="en-US" sz="2099" b="1" spc="20" dirty="0">
              <a:solidFill>
                <a:srgbClr val="000000"/>
              </a:solidFill>
              <a:latin typeface="Poppins Semi 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F89AFE95-70C7-90D4-5C0F-FAE2E014D330}"/>
              </a:ext>
            </a:extLst>
          </p:cNvPr>
          <p:cNvGrpSpPr/>
          <p:nvPr/>
        </p:nvGrpSpPr>
        <p:grpSpPr>
          <a:xfrm>
            <a:off x="548438" y="2237148"/>
            <a:ext cx="6680097" cy="6567325"/>
            <a:chOff x="0" y="0"/>
            <a:chExt cx="812800" cy="812800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295193C6-C2C2-75D8-AB0F-352699E0C8A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r="-25046"/>
              </a:stretch>
            </a:blipFill>
            <a:ln w="161925" cap="sq">
              <a:solidFill>
                <a:srgbClr val="0D3F8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15">
            <a:extLst>
              <a:ext uri="{FF2B5EF4-FFF2-40B4-BE49-F238E27FC236}">
                <a16:creationId xmlns:a16="http://schemas.microsoft.com/office/drawing/2014/main" id="{BF33E4AB-7B26-75AB-DC3E-F2866B810A84}"/>
              </a:ext>
            </a:extLst>
          </p:cNvPr>
          <p:cNvSpPr/>
          <p:nvPr/>
        </p:nvSpPr>
        <p:spPr>
          <a:xfrm>
            <a:off x="7677416" y="8256401"/>
            <a:ext cx="3897937" cy="730863"/>
          </a:xfrm>
          <a:custGeom>
            <a:avLst/>
            <a:gdLst/>
            <a:ahLst/>
            <a:cxnLst/>
            <a:rect l="l" t="t" r="r" b="b"/>
            <a:pathLst>
              <a:path w="3897937" h="730863">
                <a:moveTo>
                  <a:pt x="0" y="0"/>
                </a:moveTo>
                <a:lnTo>
                  <a:pt x="3897936" y="0"/>
                </a:lnTo>
                <a:lnTo>
                  <a:pt x="3897936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C0F9BD6E-9119-188B-748E-06C6CA0F23AC}"/>
              </a:ext>
            </a:extLst>
          </p:cNvPr>
          <p:cNvSpPr/>
          <p:nvPr/>
        </p:nvSpPr>
        <p:spPr>
          <a:xfrm>
            <a:off x="11232638" y="8256401"/>
            <a:ext cx="5759961" cy="730863"/>
          </a:xfrm>
          <a:custGeom>
            <a:avLst/>
            <a:gdLst/>
            <a:ahLst/>
            <a:cxnLst/>
            <a:rect l="l" t="t" r="r" b="b"/>
            <a:pathLst>
              <a:path w="2484487" h="730863">
                <a:moveTo>
                  <a:pt x="0" y="0"/>
                </a:moveTo>
                <a:lnTo>
                  <a:pt x="2484487" y="0"/>
                </a:lnTo>
                <a:lnTo>
                  <a:pt x="2484487" y="730863"/>
                </a:lnTo>
                <a:lnTo>
                  <a:pt x="0" y="73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6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D1EC74D1-6C48-CC68-193C-D9CDFCE23A03}"/>
              </a:ext>
            </a:extLst>
          </p:cNvPr>
          <p:cNvSpPr txBox="1"/>
          <p:nvPr/>
        </p:nvSpPr>
        <p:spPr>
          <a:xfrm>
            <a:off x="8749804" y="9127638"/>
            <a:ext cx="9120236" cy="98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633"/>
              </a:lnSpc>
            </a:pPr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Teams which manage to get into such synchrony often outperform others because they operate on more than just logic but shared emotional understanding."</a:t>
            </a:r>
            <a:endParaRPr lang="en-US" sz="1880" spc="45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6" name="Freeform 24">
            <a:extLst>
              <a:ext uri="{FF2B5EF4-FFF2-40B4-BE49-F238E27FC236}">
                <a16:creationId xmlns:a16="http://schemas.microsoft.com/office/drawing/2014/main" id="{2EA1C3D7-15CC-D11F-46D5-12463868948B}"/>
              </a:ext>
            </a:extLst>
          </p:cNvPr>
          <p:cNvSpPr/>
          <p:nvPr/>
        </p:nvSpPr>
        <p:spPr>
          <a:xfrm>
            <a:off x="7984985" y="8495366"/>
            <a:ext cx="276969" cy="284110"/>
          </a:xfrm>
          <a:custGeom>
            <a:avLst/>
            <a:gdLst/>
            <a:ahLst/>
            <a:cxnLst/>
            <a:rect l="l" t="t" r="r" b="b"/>
            <a:pathLst>
              <a:path w="276969" h="284110">
                <a:moveTo>
                  <a:pt x="0" y="0"/>
                </a:moveTo>
                <a:lnTo>
                  <a:pt x="276969" y="0"/>
                </a:lnTo>
                <a:lnTo>
                  <a:pt x="276969" y="284110"/>
                </a:lnTo>
                <a:lnTo>
                  <a:pt x="0" y="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6A4141CD-3960-F144-3D33-22833C7E5DA8}"/>
              </a:ext>
            </a:extLst>
          </p:cNvPr>
          <p:cNvSpPr txBox="1"/>
          <p:nvPr/>
        </p:nvSpPr>
        <p:spPr>
          <a:xfrm>
            <a:off x="9159715" y="8464224"/>
            <a:ext cx="7637527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351"/>
              </a:lnSpc>
            </a:pPr>
            <a:r>
              <a:rPr lang="vi-VN" sz="2400" b="1" dirty="0">
                <a:latin typeface="Poppins Semi Bold"/>
              </a:rPr>
              <a:t>Group motivation relies on non-verbal feedbacks </a:t>
            </a:r>
            <a:endParaRPr lang="en-US" sz="2099" b="1" spc="20" dirty="0">
              <a:solidFill>
                <a:srgbClr val="000000"/>
              </a:solidFill>
              <a:latin typeface="Poppins Semi 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2782107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31177" y="4146606"/>
            <a:ext cx="9542349" cy="7264113"/>
          </a:xfrm>
          <a:custGeom>
            <a:avLst/>
            <a:gdLst/>
            <a:ahLst/>
            <a:cxnLst/>
            <a:rect l="l" t="t" r="r" b="b"/>
            <a:pathLst>
              <a:path w="9542349" h="7264113">
                <a:moveTo>
                  <a:pt x="0" y="0"/>
                </a:moveTo>
                <a:lnTo>
                  <a:pt x="9542349" y="0"/>
                </a:lnTo>
                <a:lnTo>
                  <a:pt x="9542349" y="7264113"/>
                </a:lnTo>
                <a:lnTo>
                  <a:pt x="0" y="726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603846" y="4811450"/>
            <a:ext cx="1197013" cy="1132674"/>
          </a:xfrm>
          <a:custGeom>
            <a:avLst/>
            <a:gdLst/>
            <a:ahLst/>
            <a:cxnLst/>
            <a:rect l="l" t="t" r="r" b="b"/>
            <a:pathLst>
              <a:path w="1197013" h="1132674">
                <a:moveTo>
                  <a:pt x="0" y="0"/>
                </a:moveTo>
                <a:lnTo>
                  <a:pt x="1197013" y="0"/>
                </a:lnTo>
                <a:lnTo>
                  <a:pt x="1197013" y="1132673"/>
                </a:lnTo>
                <a:lnTo>
                  <a:pt x="0" y="1132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3235949" y="5678111"/>
            <a:ext cx="10805745" cy="794320"/>
            <a:chOff x="0" y="0"/>
            <a:chExt cx="2471078" cy="1985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944" y="0"/>
                  </a:moveTo>
                  <a:lnTo>
                    <a:pt x="2431134" y="0"/>
                  </a:lnTo>
                  <a:cubicBezTo>
                    <a:pt x="2441728" y="0"/>
                    <a:pt x="2451888" y="4208"/>
                    <a:pt x="2459379" y="11699"/>
                  </a:cubicBezTo>
                  <a:cubicBezTo>
                    <a:pt x="2466870" y="19190"/>
                    <a:pt x="2471078" y="29350"/>
                    <a:pt x="2471078" y="39944"/>
                  </a:cubicBezTo>
                  <a:lnTo>
                    <a:pt x="2471078" y="158627"/>
                  </a:lnTo>
                  <a:cubicBezTo>
                    <a:pt x="2471078" y="169221"/>
                    <a:pt x="2466870" y="179381"/>
                    <a:pt x="2459379" y="186872"/>
                  </a:cubicBezTo>
                  <a:cubicBezTo>
                    <a:pt x="2451888" y="194363"/>
                    <a:pt x="2441728" y="198571"/>
                    <a:pt x="2431134" y="198571"/>
                  </a:cubicBezTo>
                  <a:lnTo>
                    <a:pt x="39944" y="198571"/>
                  </a:lnTo>
                  <a:cubicBezTo>
                    <a:pt x="17884" y="198571"/>
                    <a:pt x="0" y="180688"/>
                    <a:pt x="0" y="158627"/>
                  </a:cubicBezTo>
                  <a:lnTo>
                    <a:pt x="0" y="39944"/>
                  </a:lnTo>
                  <a:cubicBezTo>
                    <a:pt x="0" y="29350"/>
                    <a:pt x="4208" y="19190"/>
                    <a:pt x="11699" y="11699"/>
                  </a:cubicBezTo>
                  <a:cubicBezTo>
                    <a:pt x="19190" y="4208"/>
                    <a:pt x="29350" y="0"/>
                    <a:pt x="39944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235949" y="7011338"/>
            <a:ext cx="11324935" cy="794320"/>
            <a:chOff x="0" y="0"/>
            <a:chExt cx="2471078" cy="1985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944" y="0"/>
                  </a:moveTo>
                  <a:lnTo>
                    <a:pt x="2431134" y="0"/>
                  </a:lnTo>
                  <a:cubicBezTo>
                    <a:pt x="2441728" y="0"/>
                    <a:pt x="2451888" y="4208"/>
                    <a:pt x="2459379" y="11699"/>
                  </a:cubicBezTo>
                  <a:cubicBezTo>
                    <a:pt x="2466870" y="19190"/>
                    <a:pt x="2471078" y="29350"/>
                    <a:pt x="2471078" y="39944"/>
                  </a:cubicBezTo>
                  <a:lnTo>
                    <a:pt x="2471078" y="158627"/>
                  </a:lnTo>
                  <a:cubicBezTo>
                    <a:pt x="2471078" y="169221"/>
                    <a:pt x="2466870" y="179381"/>
                    <a:pt x="2459379" y="186872"/>
                  </a:cubicBezTo>
                  <a:cubicBezTo>
                    <a:pt x="2451888" y="194363"/>
                    <a:pt x="2441728" y="198571"/>
                    <a:pt x="2431134" y="198571"/>
                  </a:cubicBezTo>
                  <a:lnTo>
                    <a:pt x="39944" y="198571"/>
                  </a:lnTo>
                  <a:cubicBezTo>
                    <a:pt x="17884" y="198571"/>
                    <a:pt x="0" y="180688"/>
                    <a:pt x="0" y="158627"/>
                  </a:cubicBezTo>
                  <a:lnTo>
                    <a:pt x="0" y="39944"/>
                  </a:lnTo>
                  <a:cubicBezTo>
                    <a:pt x="0" y="29350"/>
                    <a:pt x="4208" y="19190"/>
                    <a:pt x="11699" y="11699"/>
                  </a:cubicBezTo>
                  <a:cubicBezTo>
                    <a:pt x="19190" y="4208"/>
                    <a:pt x="29350" y="0"/>
                    <a:pt x="39944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324031" y="5555940"/>
            <a:ext cx="981513" cy="98151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4031" y="6889167"/>
            <a:ext cx="981513" cy="98151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471278" y="5703187"/>
            <a:ext cx="687019" cy="687019"/>
          </a:xfrm>
          <a:custGeom>
            <a:avLst/>
            <a:gdLst/>
            <a:ahLst/>
            <a:cxnLst/>
            <a:rect l="l" t="t" r="r" b="b"/>
            <a:pathLst>
              <a:path w="687019" h="687019">
                <a:moveTo>
                  <a:pt x="0" y="0"/>
                </a:moveTo>
                <a:lnTo>
                  <a:pt x="687019" y="0"/>
                </a:lnTo>
                <a:lnTo>
                  <a:pt x="687019" y="687019"/>
                </a:lnTo>
                <a:lnTo>
                  <a:pt x="0" y="687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471278" y="7036414"/>
            <a:ext cx="687019" cy="687019"/>
          </a:xfrm>
          <a:custGeom>
            <a:avLst/>
            <a:gdLst/>
            <a:ahLst/>
            <a:cxnLst/>
            <a:rect l="l" t="t" r="r" b="b"/>
            <a:pathLst>
              <a:path w="687019" h="687019">
                <a:moveTo>
                  <a:pt x="0" y="0"/>
                </a:moveTo>
                <a:lnTo>
                  <a:pt x="687019" y="0"/>
                </a:lnTo>
                <a:lnTo>
                  <a:pt x="687019" y="687019"/>
                </a:lnTo>
                <a:lnTo>
                  <a:pt x="0" y="687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31778" y="1884241"/>
            <a:ext cx="10633392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vi-VN" sz="5817" b="1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 HYBRID/REMOTE WORK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1778" y="3118090"/>
            <a:ext cx="10019669" cy="112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40"/>
              </a:lnSpc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While video meetings are visually rich, often the full range of body movement is restricted. A slight delay in audio, a frozen facial frame, may cause misunderstanding.</a:t>
            </a:r>
            <a:endParaRPr lang="en-US" sz="2000" spc="48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96588" y="5895734"/>
            <a:ext cx="612843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vi-VN" sz="2499" b="1" spc="2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Deliberate gestures &amp; clear vocal </a:t>
            </a:r>
            <a:endParaRPr lang="en-US" sz="2499" b="1" spc="24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60774" y="7235759"/>
            <a:ext cx="7129475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vi-VN" sz="2499" b="1" spc="2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Look at camera to maintain eye contact</a:t>
            </a:r>
            <a:endParaRPr lang="en-US" sz="2499" b="1" spc="24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-3235949" y="8344566"/>
            <a:ext cx="10805745" cy="794320"/>
            <a:chOff x="0" y="0"/>
            <a:chExt cx="2471078" cy="1985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39944" y="0"/>
                  </a:moveTo>
                  <a:lnTo>
                    <a:pt x="2431134" y="0"/>
                  </a:lnTo>
                  <a:cubicBezTo>
                    <a:pt x="2441728" y="0"/>
                    <a:pt x="2451888" y="4208"/>
                    <a:pt x="2459379" y="11699"/>
                  </a:cubicBezTo>
                  <a:cubicBezTo>
                    <a:pt x="2466870" y="19190"/>
                    <a:pt x="2471078" y="29350"/>
                    <a:pt x="2471078" y="39944"/>
                  </a:cubicBezTo>
                  <a:lnTo>
                    <a:pt x="2471078" y="158627"/>
                  </a:lnTo>
                  <a:cubicBezTo>
                    <a:pt x="2471078" y="169221"/>
                    <a:pt x="2466870" y="179381"/>
                    <a:pt x="2459379" y="186872"/>
                  </a:cubicBezTo>
                  <a:cubicBezTo>
                    <a:pt x="2451888" y="194363"/>
                    <a:pt x="2441728" y="198571"/>
                    <a:pt x="2431134" y="198571"/>
                  </a:cubicBezTo>
                  <a:lnTo>
                    <a:pt x="39944" y="198571"/>
                  </a:lnTo>
                  <a:cubicBezTo>
                    <a:pt x="17884" y="198571"/>
                    <a:pt x="0" y="180688"/>
                    <a:pt x="0" y="158627"/>
                  </a:cubicBezTo>
                  <a:lnTo>
                    <a:pt x="0" y="39944"/>
                  </a:lnTo>
                  <a:cubicBezTo>
                    <a:pt x="0" y="29350"/>
                    <a:pt x="4208" y="19190"/>
                    <a:pt x="11699" y="11699"/>
                  </a:cubicBezTo>
                  <a:cubicBezTo>
                    <a:pt x="19190" y="4208"/>
                    <a:pt x="29350" y="0"/>
                    <a:pt x="39944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166925" y="8585615"/>
            <a:ext cx="438233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vi-VN" sz="2499" b="1" spc="2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Utilize intentional pauses</a:t>
            </a:r>
            <a:endParaRPr lang="en-US" sz="2499" b="1" spc="24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324031" y="8222394"/>
            <a:ext cx="981513" cy="98151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471278" y="8369641"/>
            <a:ext cx="687019" cy="687019"/>
          </a:xfrm>
          <a:custGeom>
            <a:avLst/>
            <a:gdLst/>
            <a:ahLst/>
            <a:cxnLst/>
            <a:rect l="l" t="t" r="r" b="b"/>
            <a:pathLst>
              <a:path w="687019" h="687019">
                <a:moveTo>
                  <a:pt x="0" y="0"/>
                </a:moveTo>
                <a:lnTo>
                  <a:pt x="687019" y="0"/>
                </a:lnTo>
                <a:lnTo>
                  <a:pt x="687019" y="687019"/>
                </a:lnTo>
                <a:lnTo>
                  <a:pt x="0" y="687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351132" y="609433"/>
            <a:ext cx="4863467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Freeform 35"/>
          <p:cNvSpPr/>
          <p:nvPr/>
        </p:nvSpPr>
        <p:spPr>
          <a:xfrm rot="-5863608" flipH="1">
            <a:off x="16051914" y="-192690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3942056" y="0"/>
                </a:moveTo>
                <a:lnTo>
                  <a:pt x="0" y="0"/>
                </a:lnTo>
                <a:lnTo>
                  <a:pt x="0" y="3338166"/>
                </a:lnTo>
                <a:lnTo>
                  <a:pt x="3942056" y="3338166"/>
                </a:lnTo>
                <a:lnTo>
                  <a:pt x="394205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6446806" y="1476393"/>
            <a:ext cx="620165" cy="620165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440074" y="1786475"/>
            <a:ext cx="1752322" cy="1752322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pic>
        <p:nvPicPr>
          <p:cNvPr id="43" name="Graphic 42" descr="User network with solid fill">
            <a:extLst>
              <a:ext uri="{FF2B5EF4-FFF2-40B4-BE49-F238E27FC236}">
                <a16:creationId xmlns:a16="http://schemas.microsoft.com/office/drawing/2014/main" id="{E75D8366-B90D-B2AA-B646-C00084B9EA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45796" y="6309383"/>
            <a:ext cx="1467166" cy="1467166"/>
          </a:xfrm>
          <a:prstGeom prst="rect">
            <a:avLst/>
          </a:prstGeom>
        </p:spPr>
      </p:pic>
      <p:pic>
        <p:nvPicPr>
          <p:cNvPr id="45" name="Graphic 44" descr="Internet with solid fill">
            <a:extLst>
              <a:ext uri="{FF2B5EF4-FFF2-40B4-BE49-F238E27FC236}">
                <a16:creationId xmlns:a16="http://schemas.microsoft.com/office/drawing/2014/main" id="{2C930260-D268-BB52-C6FE-23D817C318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738043" y="6142392"/>
            <a:ext cx="1593088" cy="1593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5DF16-4D6E-2FC1-4D22-D3A18332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AA95B822-D32A-E073-11A0-06C50F2E6911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88C1FCC6-2361-D59F-F8F3-4AF8625433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F7A3796C-473F-6794-BBAB-BF3C2AB108D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65F5A8F3-EE7D-EA52-08F7-58AB6C0803E2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D06EF794-8CCA-C7BD-2203-5CAD736B8C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AFDB684D-7B00-C0DA-5788-83BAC099F4C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D8BCB3AD-5DDA-A6C1-5378-6950A8986B66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69D37E7-E008-87AA-8FD6-8F9A94CB94C2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E90CC91-5C90-B1E3-B4FD-827E7510187C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C4095545-0E3B-DA48-5DBD-F877A48E3F82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5ACEBB2-2C53-72ED-F70A-BF86B4986DDA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E7188FD1-C46F-5BA9-5887-0FBE3FE538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04974FD8-80F2-34B8-1F84-99A7264F86DA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0334A12B-DFDC-2141-08EA-DCA2A5FE72C5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DB18A7C-12C1-7A6B-7DEE-F6345E5E8DED}"/>
              </a:ext>
            </a:extLst>
          </p:cNvPr>
          <p:cNvSpPr txBox="1"/>
          <p:nvPr/>
        </p:nvSpPr>
        <p:spPr>
          <a:xfrm>
            <a:off x="1351132" y="609433"/>
            <a:ext cx="4592466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BB466A5-D359-5BA6-0DB0-EDCBADDD47A1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Cultural &amp; Technology Factors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647186483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>
            <a:off x="10917342" y="6881595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2"/>
                </a:lnTo>
                <a:lnTo>
                  <a:pt x="0" y="855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288451" y="4040401"/>
            <a:ext cx="13244917" cy="132449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439687" y="2883773"/>
            <a:ext cx="11397246" cy="1139724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419412" flipH="1" flipV="1">
            <a:off x="13359492" y="2836303"/>
            <a:ext cx="8627800" cy="6223494"/>
          </a:xfrm>
          <a:custGeom>
            <a:avLst/>
            <a:gdLst/>
            <a:ahLst/>
            <a:cxnLst/>
            <a:rect l="l" t="t" r="r" b="b"/>
            <a:pathLst>
              <a:path w="8627800" h="6223494">
                <a:moveTo>
                  <a:pt x="8627799" y="6223494"/>
                </a:moveTo>
                <a:lnTo>
                  <a:pt x="0" y="6223494"/>
                </a:lnTo>
                <a:lnTo>
                  <a:pt x="0" y="0"/>
                </a:lnTo>
                <a:lnTo>
                  <a:pt x="8627799" y="0"/>
                </a:lnTo>
                <a:lnTo>
                  <a:pt x="8627799" y="62234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8563418" flipH="1" flipV="1">
            <a:off x="-997077" y="2122909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077159" y="-5834233"/>
            <a:ext cx="13244917" cy="1324491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27862" y="-4891715"/>
            <a:ext cx="11969889" cy="1196988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27"/>
          <p:cNvSpPr txBox="1"/>
          <p:nvPr/>
        </p:nvSpPr>
        <p:spPr>
          <a:xfrm>
            <a:off x="12760678" y="2862028"/>
            <a:ext cx="5990826" cy="10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83"/>
              </a:lnSpc>
            </a:pPr>
            <a:r>
              <a:rPr lang="vi-VN" sz="2400" b="1" dirty="0">
                <a:latin typeface="Poppins  "/>
                <a:cs typeface="Poppins" panose="00000500000000000000" pitchFamily="2" charset="0"/>
              </a:rPr>
              <a:t>C</a:t>
            </a:r>
            <a:r>
              <a:rPr lang="en-US" sz="2400" b="1" dirty="0" err="1">
                <a:latin typeface="Poppins  "/>
                <a:cs typeface="Poppins" panose="00000500000000000000" pitchFamily="2" charset="0"/>
              </a:rPr>
              <a:t>ommunication</a:t>
            </a:r>
            <a:r>
              <a:rPr lang="en-US" sz="2400" b="1" dirty="0">
                <a:latin typeface="Poppins  "/>
                <a:cs typeface="Poppins" panose="00000500000000000000" pitchFamily="2" charset="0"/>
              </a:rPr>
              <a:t> code</a:t>
            </a:r>
            <a:endParaRPr lang="vi-VN" sz="2400" b="1" dirty="0">
              <a:latin typeface="Poppins  "/>
              <a:cs typeface="Poppins" panose="00000500000000000000" pitchFamily="2" charset="0"/>
            </a:endParaRPr>
          </a:p>
          <a:p>
            <a:pPr lvl="0">
              <a:lnSpc>
                <a:spcPts val="2583"/>
              </a:lnSpc>
            </a:pPr>
            <a:endParaRPr lang="vi-VN" sz="2400" b="1" dirty="0">
              <a:latin typeface="Poppins  "/>
              <a:cs typeface="Poppins" panose="00000500000000000000" pitchFamily="2" charset="0"/>
            </a:endParaRPr>
          </a:p>
          <a:p>
            <a:pPr lvl="0">
              <a:lnSpc>
                <a:spcPts val="2583"/>
              </a:lnSpc>
            </a:pPr>
            <a:r>
              <a:rPr lang="en-US" sz="2400" b="1" dirty="0">
                <a:latin typeface="Poppins  "/>
                <a:cs typeface="Poppins" panose="00000500000000000000" pitchFamily="2" charset="0"/>
              </a:rPr>
              <a:t>Non-verbal appearance </a:t>
            </a:r>
            <a:endParaRPr lang="en-US" sz="2400" b="1" spc="44" dirty="0">
              <a:solidFill>
                <a:srgbClr val="000000"/>
              </a:solidFill>
              <a:latin typeface="Poppins  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537361" y="5816468"/>
            <a:ext cx="4022867" cy="423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21"/>
              </a:lnSpc>
            </a:pPr>
            <a:r>
              <a:rPr lang="vi-VN" sz="2965" b="1" spc="29" dirty="0">
                <a:solidFill>
                  <a:srgbClr val="FFC03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Factors</a:t>
            </a:r>
            <a:endParaRPr lang="en-US" sz="2965" b="1" spc="29" dirty="0">
              <a:solidFill>
                <a:srgbClr val="FFC03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760678" y="2008936"/>
            <a:ext cx="3850921" cy="423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21"/>
              </a:lnSpc>
            </a:pPr>
            <a:r>
              <a:rPr lang="vi-VN" sz="2965" b="1" spc="29" dirty="0">
                <a:solidFill>
                  <a:srgbClr val="0C3E80"/>
                </a:solidFill>
                <a:latin typeface="Poppins Bold"/>
                <a:ea typeface="Poppins Bold"/>
                <a:cs typeface="Poppins Bold"/>
                <a:sym typeface="Poppins Bold"/>
              </a:rPr>
              <a:t>Cultural Factors</a:t>
            </a:r>
            <a:endParaRPr lang="en-US" sz="2965" b="1" spc="29" dirty="0">
              <a:solidFill>
                <a:srgbClr val="0C3E8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51133" y="609433"/>
            <a:ext cx="4799002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FINDINGS &amp; DISCUSSION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38" name="Graphic 37" descr="Processor outline">
            <a:extLst>
              <a:ext uri="{FF2B5EF4-FFF2-40B4-BE49-F238E27FC236}">
                <a16:creationId xmlns:a16="http://schemas.microsoft.com/office/drawing/2014/main" id="{4017F538-CCC9-C9D9-91B3-B537F7E821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3223" y="5323716"/>
            <a:ext cx="1393977" cy="1393977"/>
          </a:xfrm>
          <a:prstGeom prst="rect">
            <a:avLst/>
          </a:prstGeom>
        </p:spPr>
      </p:pic>
      <p:pic>
        <p:nvPicPr>
          <p:cNvPr id="40" name="Graphic 39" descr="Earth with solid fill">
            <a:extLst>
              <a:ext uri="{FF2B5EF4-FFF2-40B4-BE49-F238E27FC236}">
                <a16:creationId xmlns:a16="http://schemas.microsoft.com/office/drawing/2014/main" id="{187AD935-56A2-8434-C28F-74652FE76F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41993" y="1433345"/>
            <a:ext cx="1393977" cy="1393977"/>
          </a:xfrm>
          <a:prstGeom prst="rect">
            <a:avLst/>
          </a:prstGeom>
        </p:spPr>
      </p:pic>
      <p:sp>
        <p:nvSpPr>
          <p:cNvPr id="41" name="TextBox 27">
            <a:extLst>
              <a:ext uri="{FF2B5EF4-FFF2-40B4-BE49-F238E27FC236}">
                <a16:creationId xmlns:a16="http://schemas.microsoft.com/office/drawing/2014/main" id="{3B3E43FC-DB85-3BF1-A00E-DAE0A78C210B}"/>
              </a:ext>
            </a:extLst>
          </p:cNvPr>
          <p:cNvSpPr txBox="1"/>
          <p:nvPr/>
        </p:nvSpPr>
        <p:spPr>
          <a:xfrm>
            <a:off x="11744546" y="4388738"/>
            <a:ext cx="5990826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latin typeface="Poppins  "/>
                <a:cs typeface="Poppins" panose="00000500000000000000" pitchFamily="2" charset="0"/>
              </a:rPr>
              <a:t>Global professionals must </a:t>
            </a:r>
            <a:endParaRPr lang="vi-VN" sz="2800" dirty="0">
              <a:latin typeface="Poppins  "/>
              <a:cs typeface="Poppins" panose="00000500000000000000" pitchFamily="2" charset="0"/>
            </a:endParaRPr>
          </a:p>
          <a:p>
            <a:r>
              <a:rPr lang="en-US" sz="2800" b="1" dirty="0">
                <a:latin typeface="Poppins  "/>
                <a:cs typeface="Poppins" panose="00000500000000000000" pitchFamily="2" charset="0"/>
              </a:rPr>
              <a:t>study local norms</a:t>
            </a:r>
            <a:r>
              <a:rPr lang="en-US" sz="2800" dirty="0">
                <a:latin typeface="Poppins  "/>
                <a:cs typeface="Poppins" panose="00000500000000000000" pitchFamily="2" charset="0"/>
              </a:rPr>
              <a:t> to avoid miscommunication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EC73B5CC-3BF8-F67A-392A-451E138C92B8}"/>
              </a:ext>
            </a:extLst>
          </p:cNvPr>
          <p:cNvSpPr txBox="1"/>
          <p:nvPr/>
        </p:nvSpPr>
        <p:spPr>
          <a:xfrm>
            <a:off x="1183223" y="6984816"/>
            <a:ext cx="5990826" cy="66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83"/>
              </a:lnSpc>
            </a:pPr>
            <a:r>
              <a:rPr lang="vi-VN" sz="2400" dirty="0">
                <a:solidFill>
                  <a:srgbClr val="FFC038"/>
                </a:solidFill>
                <a:latin typeface="Poppins  "/>
              </a:rPr>
              <a:t>E</a:t>
            </a:r>
            <a:r>
              <a:rPr lang="en-US" sz="2400" dirty="0" err="1">
                <a:solidFill>
                  <a:srgbClr val="FFC038"/>
                </a:solidFill>
                <a:latin typeface="Poppins  "/>
              </a:rPr>
              <a:t>mojis</a:t>
            </a:r>
            <a:r>
              <a:rPr lang="en-US" sz="2400" dirty="0">
                <a:solidFill>
                  <a:srgbClr val="FFC038"/>
                </a:solidFill>
                <a:latin typeface="Poppins  "/>
              </a:rPr>
              <a:t>, punctuation, and patterns of typing connote emotional tone </a:t>
            </a:r>
            <a:endParaRPr lang="en-US" sz="2400" b="1" spc="44" dirty="0">
              <a:solidFill>
                <a:srgbClr val="FFC038"/>
              </a:solidFill>
              <a:latin typeface="Poppins  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4" name="TextBox 27">
            <a:extLst>
              <a:ext uri="{FF2B5EF4-FFF2-40B4-BE49-F238E27FC236}">
                <a16:creationId xmlns:a16="http://schemas.microsoft.com/office/drawing/2014/main" id="{5218C116-3F8E-460A-5C60-1D31E6AC2590}"/>
              </a:ext>
            </a:extLst>
          </p:cNvPr>
          <p:cNvSpPr txBox="1"/>
          <p:nvPr/>
        </p:nvSpPr>
        <p:spPr>
          <a:xfrm>
            <a:off x="747730" y="8305313"/>
            <a:ext cx="94515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800" dirty="0">
                <a:solidFill>
                  <a:srgbClr val="FFC038"/>
                </a:solidFill>
                <a:latin typeface="Poppins  "/>
              </a:rPr>
              <a:t>T</a:t>
            </a:r>
            <a:r>
              <a:rPr lang="en-US" sz="2800" dirty="0">
                <a:solidFill>
                  <a:srgbClr val="FFC038"/>
                </a:solidFill>
                <a:latin typeface="Poppins  "/>
              </a:rPr>
              <a:t>rain employees in </a:t>
            </a:r>
            <a:r>
              <a:rPr lang="en-US" sz="2800" b="1" dirty="0">
                <a:solidFill>
                  <a:srgbClr val="FFC038"/>
                </a:solidFill>
                <a:latin typeface="Poppins  "/>
              </a:rPr>
              <a:t>“digital body language”</a:t>
            </a:r>
            <a:endParaRPr lang="en-US" sz="2800" dirty="0">
              <a:solidFill>
                <a:srgbClr val="FFC038"/>
              </a:solidFill>
              <a:latin typeface="Poppins  "/>
            </a:endParaRPr>
          </a:p>
          <a:p>
            <a:endParaRPr lang="vi-VN" sz="2800" dirty="0">
              <a:solidFill>
                <a:srgbClr val="FFC038"/>
              </a:solidFill>
              <a:latin typeface="Poppins  "/>
            </a:endParaRPr>
          </a:p>
          <a:p>
            <a:r>
              <a:rPr lang="en-US" sz="2800" dirty="0">
                <a:solidFill>
                  <a:srgbClr val="FFC038"/>
                </a:solidFill>
                <a:latin typeface="Poppins  "/>
              </a:rPr>
              <a:t>Technology </a:t>
            </a:r>
            <a:r>
              <a:rPr lang="en-US" sz="2800" b="1" dirty="0">
                <a:solidFill>
                  <a:srgbClr val="FFC038"/>
                </a:solidFill>
                <a:latin typeface="Poppins  "/>
              </a:rPr>
              <a:t>amplify</a:t>
            </a:r>
            <a:r>
              <a:rPr lang="en-US" sz="2800" dirty="0">
                <a:solidFill>
                  <a:srgbClr val="FFC038"/>
                </a:solidFill>
                <a:latin typeface="Poppins  "/>
              </a:rPr>
              <a:t> human connection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51E27-D861-3E3B-65D0-380640CA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737F9515-4EE4-0422-4523-89E28F889C57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701455EC-0104-DDB6-07C2-19F68B1974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BC5FCB78-9AEB-9800-C84B-5CA0E0F4192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E237C55A-2FF5-2A04-9E98-113C2CE24660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2B4A6B21-14B7-B9E7-29D7-EC7A84A9D7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BF8554D3-9137-BF6E-15C2-A8EC18EAF5E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6B65AADA-95D3-62D8-95A2-0EE924565D9B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70AE36D-4F1A-2E91-974F-C7BB58505096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BB5C4C0-6012-8617-F653-419A9D96942E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C1A6552-430F-298D-5BB7-FA78B13E70F8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8CC66B92-1A10-4D79-3B73-1061AA38BF8E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D3AD6D9A-7955-EFD4-5E98-C77E7EDA29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DDA38067-51D5-FB34-C472-945F57586542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3291AEE7-A360-85EA-2FF9-5643AF0E1EFD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8060997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6212524" flipV="1">
            <a:off x="-1439817" y="750118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008063">
            <a:off x="15900784" y="7200847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444712" y="920557"/>
            <a:ext cx="620165" cy="6201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16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764306" y="-923410"/>
            <a:ext cx="1752322" cy="175232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542822" y="3771900"/>
            <a:ext cx="6816358" cy="4569278"/>
          </a:xfrm>
          <a:custGeom>
            <a:avLst/>
            <a:gdLst/>
            <a:ahLst/>
            <a:cxnLst/>
            <a:rect l="l" t="t" r="r" b="b"/>
            <a:pathLst>
              <a:path w="6816358" h="4569278">
                <a:moveTo>
                  <a:pt x="0" y="0"/>
                </a:moveTo>
                <a:lnTo>
                  <a:pt x="6816358" y="0"/>
                </a:lnTo>
                <a:lnTo>
                  <a:pt x="6816358" y="4569278"/>
                </a:lnTo>
                <a:lnTo>
                  <a:pt x="0" y="45692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7054"/>
            </a:stretch>
          </a:blipFill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245580" y="3771900"/>
            <a:ext cx="8435641" cy="4569278"/>
          </a:xfrm>
          <a:custGeom>
            <a:avLst/>
            <a:gdLst/>
            <a:ahLst/>
            <a:cxnLst/>
            <a:rect l="l" t="t" r="r" b="b"/>
            <a:pathLst>
              <a:path w="8435641" h="4569278">
                <a:moveTo>
                  <a:pt x="0" y="0"/>
                </a:moveTo>
                <a:lnTo>
                  <a:pt x="8435641" y="0"/>
                </a:lnTo>
                <a:lnTo>
                  <a:pt x="8435641" y="4569278"/>
                </a:lnTo>
                <a:lnTo>
                  <a:pt x="0" y="4569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67309"/>
            </a:stretch>
          </a:blipFill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74248" y="4804606"/>
            <a:ext cx="2656265" cy="265626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6089"/>
            </a:solidFill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96515" y="5126874"/>
            <a:ext cx="2011730" cy="201173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541615" y="1482582"/>
            <a:ext cx="752153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4"/>
              </a:lnSpc>
            </a:pPr>
            <a:r>
              <a:rPr lang="vi-VN" sz="5603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  <a:endParaRPr lang="en-US" sz="5603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435214" y="3998164"/>
            <a:ext cx="5181393" cy="67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Integrate Non-Verbal </a:t>
            </a:r>
            <a:endParaRPr lang="vi-VN" b="1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Communication Training</a:t>
            </a:r>
            <a:endParaRPr lang="en-US" b="1" spc="23" dirty="0">
              <a:solidFill>
                <a:schemeClr val="bg1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012395" y="3959313"/>
            <a:ext cx="5181393" cy="67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rgbClr val="0D3F83"/>
                </a:solidFill>
                <a:latin typeface="Poppins Semi-Bold" panose="020B0604020202020204" charset="0"/>
                <a:cs typeface="Poppins Semi-Bold" panose="020B0604020202020204" charset="0"/>
              </a:rPr>
              <a:t>Practice Technology-Conscious Communications</a:t>
            </a:r>
            <a:endParaRPr lang="en-US" b="1" spc="23" dirty="0">
              <a:solidFill>
                <a:srgbClr val="0D3F83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999909" y="5747188"/>
            <a:ext cx="3948127" cy="66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Encourage Cultural Responsiveness and Awareness</a:t>
            </a:r>
            <a:endParaRPr lang="en-US" b="1" spc="23" dirty="0">
              <a:solidFill>
                <a:schemeClr val="bg1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490846" y="5746355"/>
            <a:ext cx="4555273" cy="67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rgbClr val="0D3F83"/>
                </a:solidFill>
                <a:latin typeface="Poppins Semi-Bold" panose="020B0604020202020204" charset="0"/>
                <a:cs typeface="Poppins Semi-Bold" panose="020B0604020202020204" charset="0"/>
              </a:rPr>
              <a:t>Leadership and Mentorship Development</a:t>
            </a:r>
            <a:endParaRPr lang="en-US" b="1" spc="23" dirty="0">
              <a:solidFill>
                <a:srgbClr val="0D3F83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96337" y="7408480"/>
            <a:ext cx="4555273" cy="66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Encourage Constructive </a:t>
            </a:r>
            <a:endParaRPr lang="vi-VN" b="1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algn="ctr">
              <a:lnSpc>
                <a:spcPts val="2662"/>
              </a:lnSpc>
            </a:pPr>
            <a:r>
              <a:rPr lang="en-US" b="1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Feedback and Reflection</a:t>
            </a:r>
            <a:endParaRPr lang="en-US" b="1" spc="23" dirty="0">
              <a:solidFill>
                <a:schemeClr val="bg1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414647" y="7581605"/>
            <a:ext cx="4555273" cy="32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662"/>
              </a:lnSpc>
            </a:pPr>
            <a:r>
              <a:rPr lang="en-US" b="1">
                <a:solidFill>
                  <a:srgbClr val="0D3F83"/>
                </a:solidFill>
                <a:latin typeface="Poppins Semi-Bold" panose="020B0604020202020204" charset="0"/>
                <a:cs typeface="Poppins Semi-Bold" panose="020B0604020202020204" charset="0"/>
              </a:rPr>
              <a:t>Design Feedback Loops in Teams</a:t>
            </a:r>
            <a:endParaRPr lang="en-US" b="1" spc="23" dirty="0">
              <a:solidFill>
                <a:srgbClr val="0D3F83"/>
              </a:solidFill>
              <a:latin typeface="Poppins Semi-Bold" panose="020B0604020202020204" charset="0"/>
              <a:ea typeface="Poppins Bold"/>
              <a:cs typeface="Poppins Semi-Bold" panose="020B0604020202020204" charset="0"/>
              <a:sym typeface="Poppins Bold"/>
            </a:endParaRPr>
          </a:p>
        </p:txBody>
      </p:sp>
      <p:pic>
        <p:nvPicPr>
          <p:cNvPr id="55" name="Graphic 54" descr="Badge Tick with solid fill">
            <a:extLst>
              <a:ext uri="{FF2B5EF4-FFF2-40B4-BE49-F238E27FC236}">
                <a16:creationId xmlns:a16="http://schemas.microsoft.com/office/drawing/2014/main" id="{015E735D-C64D-0014-45C9-FB096C9F79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57978" y="5286408"/>
            <a:ext cx="1702915" cy="1702915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8D40D-4C95-FB3B-F75E-14D2493F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B813DD20-EB5D-E9C8-E226-5E9332553029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7DF549CD-A830-1FDD-84EC-49F439799C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BC9FE16A-F922-86F8-5036-EE168DFC75D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BD1DA0CB-3383-7AC8-E313-1A9FA1383607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F2ACD84A-1C70-38F6-095A-1CB699869B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CEBD819A-A8E3-3741-5F12-6422B7BAF48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DD76CC47-6164-C5B3-0596-04EF1B671345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802FFEB-5A0A-D3FD-5A68-A3753EC84418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9BA4636-34D4-CDFA-BD8E-B3B0C397BFD8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95E1AAE-1C03-9463-885A-EA3B4AD50376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EB933325-7058-7216-A77A-3729178E8E20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8E2AF9D-111A-9FF1-AB25-F854E40B52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306A74BA-199E-681C-7311-3948A06B7E8E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8E44F1DD-2968-EAB9-16FE-EE8216C98D2D}"/>
              </a:ext>
            </a:extLst>
          </p:cNvPr>
          <p:cNvSpPr txBox="1"/>
          <p:nvPr/>
        </p:nvSpPr>
        <p:spPr>
          <a:xfrm>
            <a:off x="3276600" y="4520011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38037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2785693">
            <a:off x="12394265" y="-3249041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0" y="0"/>
                </a:moveTo>
                <a:lnTo>
                  <a:pt x="8534093" y="0"/>
                </a:lnTo>
                <a:lnTo>
                  <a:pt x="8534093" y="8555482"/>
                </a:lnTo>
                <a:lnTo>
                  <a:pt x="0" y="855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9060" y="6019800"/>
            <a:ext cx="18268940" cy="4511254"/>
          </a:xfrm>
          <a:custGeom>
            <a:avLst/>
            <a:gdLst/>
            <a:ahLst/>
            <a:cxnLst/>
            <a:rect l="l" t="t" r="r" b="b"/>
            <a:pathLst>
              <a:path w="18268940" h="4511254">
                <a:moveTo>
                  <a:pt x="0" y="0"/>
                </a:moveTo>
                <a:lnTo>
                  <a:pt x="18268940" y="0"/>
                </a:lnTo>
                <a:lnTo>
                  <a:pt x="18268940" y="4511254"/>
                </a:lnTo>
                <a:lnTo>
                  <a:pt x="0" y="4511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3915" b="-95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06610"/>
            <a:ext cx="7755720" cy="9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1"/>
              </a:lnSpc>
            </a:pPr>
            <a:r>
              <a:rPr lang="en-US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53055"/>
            <a:ext cx="7379115" cy="152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40"/>
              </a:lnSpc>
            </a:pPr>
            <a:r>
              <a:rPr lang="vi-VN" sz="2400" dirty="0">
                <a:latin typeface="Poppins  "/>
              </a:rPr>
              <a:t>N</a:t>
            </a:r>
            <a:r>
              <a:rPr lang="en-US" sz="2400" dirty="0">
                <a:latin typeface="Poppins  "/>
              </a:rPr>
              <a:t>on-verbal cues express feeling and truth. Professionals who fit their words with their bodily and speaking deeds build trust and confidence more effectively. </a:t>
            </a:r>
            <a:endParaRPr lang="vi-VN" sz="2400" dirty="0">
              <a:latin typeface="Poppins  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80185" y="2853055"/>
            <a:ext cx="7379115" cy="268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040"/>
              </a:lnSpc>
            </a:pPr>
            <a:r>
              <a:rPr lang="vi-VN" sz="2400" dirty="0">
                <a:latin typeface="Poppins  "/>
              </a:rPr>
              <a:t>O</a:t>
            </a:r>
            <a:r>
              <a:rPr lang="en-US" sz="2400" dirty="0" err="1">
                <a:latin typeface="Poppins  "/>
              </a:rPr>
              <a:t>rg</a:t>
            </a:r>
            <a:r>
              <a:rPr lang="vi-VN" sz="2400" dirty="0">
                <a:latin typeface="Poppins  "/>
              </a:rPr>
              <a:t>anizations, depend</a:t>
            </a:r>
            <a:r>
              <a:rPr lang="en-US" sz="2400" dirty="0">
                <a:latin typeface="Poppins  "/>
              </a:rPr>
              <a:t> on digital com</a:t>
            </a:r>
            <a:r>
              <a:rPr lang="vi-VN" sz="2400" dirty="0">
                <a:latin typeface="Poppins  "/>
              </a:rPr>
              <a:t>munication,</a:t>
            </a:r>
            <a:r>
              <a:rPr lang="en-US" sz="2400" dirty="0">
                <a:latin typeface="Poppins  "/>
              </a:rPr>
              <a:t> must extend </a:t>
            </a:r>
            <a:r>
              <a:rPr lang="vi-VN" sz="2400" dirty="0">
                <a:latin typeface="Poppins  "/>
              </a:rPr>
              <a:t>non-verbal cues </a:t>
            </a:r>
            <a:r>
              <a:rPr lang="en-US" sz="2400" dirty="0">
                <a:latin typeface="Poppins  "/>
              </a:rPr>
              <a:t>to virtual </a:t>
            </a:r>
            <a:r>
              <a:rPr lang="vi-VN" sz="2400" dirty="0">
                <a:latin typeface="Poppins  "/>
              </a:rPr>
              <a:t>spaces.</a:t>
            </a:r>
          </a:p>
          <a:p>
            <a:pPr lvl="0">
              <a:lnSpc>
                <a:spcPts val="3040"/>
              </a:lnSpc>
            </a:pPr>
            <a:endParaRPr lang="vi-VN" sz="2400" dirty="0">
              <a:latin typeface="Poppins  "/>
            </a:endParaRPr>
          </a:p>
          <a:p>
            <a:pPr lvl="0">
              <a:lnSpc>
                <a:spcPts val="3040"/>
              </a:lnSpc>
            </a:pPr>
            <a:r>
              <a:rPr lang="en-US" sz="2400" dirty="0">
                <a:latin typeface="Poppins  "/>
              </a:rPr>
              <a:t>The ability to adapt these cues to new environments defines the communicator of the future.</a:t>
            </a:r>
            <a:endParaRPr lang="en-US" sz="2400" spc="48" dirty="0">
              <a:solidFill>
                <a:srgbClr val="000000"/>
              </a:solidFill>
              <a:latin typeface="Poppins  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8533366" y="911285"/>
            <a:ext cx="620165" cy="62016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6469" y="609433"/>
            <a:ext cx="1752322" cy="175232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6212524" flipV="1">
            <a:off x="-1439817" y="7501185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3338167"/>
                </a:moveTo>
                <a:lnTo>
                  <a:pt x="3942056" y="3338167"/>
                </a:lnTo>
                <a:lnTo>
                  <a:pt x="3942056" y="0"/>
                </a:lnTo>
                <a:lnTo>
                  <a:pt x="0" y="0"/>
                </a:lnTo>
                <a:lnTo>
                  <a:pt x="0" y="33381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5008063">
            <a:off x="15900784" y="7200847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C560D-E297-72F6-5E17-B9D32063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3">
            <a:extLst>
              <a:ext uri="{FF2B5EF4-FFF2-40B4-BE49-F238E27FC236}">
                <a16:creationId xmlns:a16="http://schemas.microsoft.com/office/drawing/2014/main" id="{BF7D63C9-C8C8-F602-943C-9A6C099C1E88}"/>
              </a:ext>
            </a:extLst>
          </p:cNvPr>
          <p:cNvGrpSpPr/>
          <p:nvPr/>
        </p:nvGrpSpPr>
        <p:grpSpPr>
          <a:xfrm>
            <a:off x="-4267200" y="7277100"/>
            <a:ext cx="13244917" cy="13244917"/>
            <a:chOff x="0" y="0"/>
            <a:chExt cx="812800" cy="812800"/>
          </a:xfrm>
        </p:grpSpPr>
        <p:sp>
          <p:nvSpPr>
            <p:cNvPr id="83" name="Freeform 4">
              <a:extLst>
                <a:ext uri="{FF2B5EF4-FFF2-40B4-BE49-F238E27FC236}">
                  <a16:creationId xmlns:a16="http://schemas.microsoft.com/office/drawing/2014/main" id="{38DE14FF-37E5-265E-9A23-5518DCF55C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5">
              <a:extLst>
                <a:ext uri="{FF2B5EF4-FFF2-40B4-BE49-F238E27FC236}">
                  <a16:creationId xmlns:a16="http://schemas.microsoft.com/office/drawing/2014/main" id="{153F3C63-9E18-AF2B-026D-7AE9EDADA09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6">
            <a:extLst>
              <a:ext uri="{FF2B5EF4-FFF2-40B4-BE49-F238E27FC236}">
                <a16:creationId xmlns:a16="http://schemas.microsoft.com/office/drawing/2014/main" id="{37081F07-4AB6-1B46-6822-2FB81D59AE39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B7B7F995-5089-715C-FAA5-75EE575522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F828C0F9-94BF-A9C6-F5C3-DA04ABCB34D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17B2334E-49E5-6B2F-8AE4-84C82C0D972F}"/>
              </a:ext>
            </a:extLst>
          </p:cNvPr>
          <p:cNvSpPr/>
          <p:nvPr/>
        </p:nvSpPr>
        <p:spPr>
          <a:xfrm rot="13036582" flipH="1" flipV="1">
            <a:off x="-1975826" y="5359608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8DF69F3-23D4-146A-5091-BC0B71BBF0A4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11AAB1D-00E8-C1F8-C455-1A06BB698513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BC435ED-6526-C578-3682-CC9A8077DF29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75AEEB15-CEBB-8577-857A-2D4E578858B4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2D58A0E-2A55-2F0D-F53D-EE6B34F7A1D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1154356C-16C7-74C4-2FB7-10244F642E44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A404C635-620A-69FB-933E-934AB7BFF8B3}"/>
              </a:ext>
            </a:extLst>
          </p:cNvPr>
          <p:cNvSpPr txBox="1"/>
          <p:nvPr/>
        </p:nvSpPr>
        <p:spPr>
          <a:xfrm>
            <a:off x="3279094" y="1324289"/>
            <a:ext cx="11397246" cy="88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1"/>
              </a:lnSpc>
            </a:pPr>
            <a:r>
              <a:rPr lang="vi-VN" sz="5817" b="1" dirty="0">
                <a:solidFill>
                  <a:srgbClr val="0C3E8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  <a:endParaRPr lang="en-US" sz="5817" b="1" dirty="0">
              <a:solidFill>
                <a:srgbClr val="0C3E8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69DBD38F-CC6B-D4D3-37AD-BA8BA8CDB417}"/>
              </a:ext>
            </a:extLst>
          </p:cNvPr>
          <p:cNvGrpSpPr/>
          <p:nvPr/>
        </p:nvGrpSpPr>
        <p:grpSpPr>
          <a:xfrm>
            <a:off x="152399" y="3980069"/>
            <a:ext cx="17907001" cy="1901637"/>
            <a:chOff x="0" y="0"/>
            <a:chExt cx="2471078" cy="198571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5D690A76-9913-231B-5DDF-6D4D6625868B}"/>
                </a:ext>
              </a:extLst>
            </p:cNvPr>
            <p:cNvSpPr/>
            <p:nvPr/>
          </p:nvSpPr>
          <p:spPr>
            <a:xfrm>
              <a:off x="0" y="0"/>
              <a:ext cx="2471078" cy="198571"/>
            </a:xfrm>
            <a:custGeom>
              <a:avLst/>
              <a:gdLst/>
              <a:ahLst/>
              <a:cxnLst/>
              <a:rect l="l" t="t" r="r" b="b"/>
              <a:pathLst>
                <a:path w="2471078" h="198571">
                  <a:moveTo>
                    <a:pt x="41186" y="0"/>
                  </a:moveTo>
                  <a:lnTo>
                    <a:pt x="2429892" y="0"/>
                  </a:lnTo>
                  <a:cubicBezTo>
                    <a:pt x="2452639" y="0"/>
                    <a:pt x="2471078" y="18440"/>
                    <a:pt x="2471078" y="41186"/>
                  </a:cubicBezTo>
                  <a:lnTo>
                    <a:pt x="2471078" y="157385"/>
                  </a:lnTo>
                  <a:cubicBezTo>
                    <a:pt x="2471078" y="180132"/>
                    <a:pt x="2452639" y="198571"/>
                    <a:pt x="2429892" y="198571"/>
                  </a:cubicBezTo>
                  <a:lnTo>
                    <a:pt x="41186" y="198571"/>
                  </a:lnTo>
                  <a:cubicBezTo>
                    <a:pt x="18440" y="198571"/>
                    <a:pt x="0" y="180132"/>
                    <a:pt x="0" y="157385"/>
                  </a:cubicBezTo>
                  <a:lnTo>
                    <a:pt x="0" y="41186"/>
                  </a:lnTo>
                  <a:cubicBezTo>
                    <a:pt x="0" y="18440"/>
                    <a:pt x="18440" y="0"/>
                    <a:pt x="41186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5" name="TextBox 14">
              <a:extLst>
                <a:ext uri="{FF2B5EF4-FFF2-40B4-BE49-F238E27FC236}">
                  <a16:creationId xmlns:a16="http://schemas.microsoft.com/office/drawing/2014/main" id="{AA6945E4-F491-5A17-6EF0-EB1F4F8580CC}"/>
                </a:ext>
              </a:extLst>
            </p:cNvPr>
            <p:cNvSpPr txBox="1"/>
            <p:nvPr/>
          </p:nvSpPr>
          <p:spPr>
            <a:xfrm>
              <a:off x="0" y="-66675"/>
              <a:ext cx="2471078" cy="26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6" name="TextBox 25">
            <a:extLst>
              <a:ext uri="{FF2B5EF4-FFF2-40B4-BE49-F238E27FC236}">
                <a16:creationId xmlns:a16="http://schemas.microsoft.com/office/drawing/2014/main" id="{B92ADEE8-BBC2-62FF-53A9-98818725117A}"/>
              </a:ext>
            </a:extLst>
          </p:cNvPr>
          <p:cNvSpPr txBox="1"/>
          <p:nvPr/>
        </p:nvSpPr>
        <p:spPr>
          <a:xfrm>
            <a:off x="434675" y="4387876"/>
            <a:ext cx="18135600" cy="110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48"/>
              </a:lnSpc>
            </a:pPr>
            <a:r>
              <a:rPr lang="vi-VN" sz="3177" b="1" spc="333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NON-VERBAL COMMUNICATION </a:t>
            </a:r>
            <a:r>
              <a:rPr lang="vi-VN" sz="3177" b="1" spc="333" dirty="0">
                <a:solidFill>
                  <a:srgbClr val="FFC03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 NOT AN OPTIONAL SKILL </a:t>
            </a:r>
          </a:p>
          <a:p>
            <a:pPr algn="ctr">
              <a:lnSpc>
                <a:spcPts val="4448"/>
              </a:lnSpc>
            </a:pPr>
            <a:r>
              <a:rPr lang="vi-VN" sz="3177" b="1" spc="333" dirty="0">
                <a:solidFill>
                  <a:srgbClr val="FFC03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BUT A CENTRAL ELEMENT </a:t>
            </a:r>
            <a:r>
              <a:rPr lang="vi-VN" sz="3177" b="1" spc="333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OF PROFESSIONAL IDENTITY</a:t>
            </a:r>
            <a:endParaRPr lang="en-US" sz="3177" b="1" spc="333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68206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905EA-879E-EF10-BC98-277F8DF5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6">
            <a:extLst>
              <a:ext uri="{FF2B5EF4-FFF2-40B4-BE49-F238E27FC236}">
                <a16:creationId xmlns:a16="http://schemas.microsoft.com/office/drawing/2014/main" id="{264804EB-05C8-C5F0-B15A-B4609B96F8AD}"/>
              </a:ext>
            </a:extLst>
          </p:cNvPr>
          <p:cNvGrpSpPr/>
          <p:nvPr/>
        </p:nvGrpSpPr>
        <p:grpSpPr>
          <a:xfrm>
            <a:off x="-4098804" y="6167744"/>
            <a:ext cx="11397246" cy="11397246"/>
            <a:chOff x="0" y="0"/>
            <a:chExt cx="812800" cy="812800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F1D83CFD-2510-E79E-0B63-604663D048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3C04FA7B-9D9A-1A95-A44C-BD24C1D3EAF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8" name="Freeform 10">
            <a:extLst>
              <a:ext uri="{FF2B5EF4-FFF2-40B4-BE49-F238E27FC236}">
                <a16:creationId xmlns:a16="http://schemas.microsoft.com/office/drawing/2014/main" id="{DF7B8009-A26D-E5E3-EF55-A52E2E01FAEE}"/>
              </a:ext>
            </a:extLst>
          </p:cNvPr>
          <p:cNvSpPr/>
          <p:nvPr/>
        </p:nvSpPr>
        <p:spPr>
          <a:xfrm rot="13036582" flipH="1" flipV="1">
            <a:off x="-1960584" y="5066122"/>
            <a:ext cx="8308025" cy="5992831"/>
          </a:xfrm>
          <a:custGeom>
            <a:avLst/>
            <a:gdLst/>
            <a:ahLst/>
            <a:cxnLst/>
            <a:rect l="l" t="t" r="r" b="b"/>
            <a:pathLst>
              <a:path w="8308025" h="5992831">
                <a:moveTo>
                  <a:pt x="8308025" y="5992831"/>
                </a:moveTo>
                <a:lnTo>
                  <a:pt x="0" y="5992831"/>
                </a:lnTo>
                <a:lnTo>
                  <a:pt x="0" y="0"/>
                </a:lnTo>
                <a:lnTo>
                  <a:pt x="8308025" y="0"/>
                </a:lnTo>
                <a:lnTo>
                  <a:pt x="8308025" y="59928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83BF2349-664D-8494-7CBA-418A81CB92C5}"/>
              </a:ext>
            </a:extLst>
          </p:cNvPr>
          <p:cNvSpPr/>
          <p:nvPr/>
        </p:nvSpPr>
        <p:spPr>
          <a:xfrm rot="2785693" flipH="1">
            <a:off x="-2991759" y="-344882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D70AD6-3D23-E4D1-36E8-0A75D84930CB}"/>
              </a:ext>
            </a:extLst>
          </p:cNvPr>
          <p:cNvSpPr/>
          <p:nvPr/>
        </p:nvSpPr>
        <p:spPr>
          <a:xfrm rot="-5008063">
            <a:off x="15685505" y="7167211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6"/>
                </a:lnTo>
                <a:lnTo>
                  <a:pt x="0" y="333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940E6FF-BF16-50E1-B447-2D02D7B92D01}"/>
              </a:ext>
            </a:extLst>
          </p:cNvPr>
          <p:cNvSpPr/>
          <p:nvPr/>
        </p:nvSpPr>
        <p:spPr>
          <a:xfrm rot="2268482" flipH="1">
            <a:off x="12503988" y="1822827"/>
            <a:ext cx="9662263" cy="6969684"/>
          </a:xfrm>
          <a:custGeom>
            <a:avLst/>
            <a:gdLst/>
            <a:ahLst/>
            <a:cxnLst/>
            <a:rect l="l" t="t" r="r" b="b"/>
            <a:pathLst>
              <a:path w="9662263" h="6969684">
                <a:moveTo>
                  <a:pt x="9662264" y="0"/>
                </a:moveTo>
                <a:lnTo>
                  <a:pt x="0" y="0"/>
                </a:lnTo>
                <a:lnTo>
                  <a:pt x="0" y="6969684"/>
                </a:lnTo>
                <a:lnTo>
                  <a:pt x="9662264" y="6969684"/>
                </a:lnTo>
                <a:lnTo>
                  <a:pt x="966226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20F7568-0B9E-FEB4-2E48-744068B781FD}"/>
              </a:ext>
            </a:extLst>
          </p:cNvPr>
          <p:cNvGrpSpPr/>
          <p:nvPr/>
        </p:nvGrpSpPr>
        <p:grpSpPr>
          <a:xfrm>
            <a:off x="9261394" y="-948882"/>
            <a:ext cx="1752322" cy="1752322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8BF6C39A-55A7-F80F-053D-0A2911DE3C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8F84C5DD-5D39-A801-89AA-9E7443C846B4}"/>
                </a:ext>
              </a:extLst>
            </p:cNvPr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47" name="AutoShape 47">
            <a:extLst>
              <a:ext uri="{FF2B5EF4-FFF2-40B4-BE49-F238E27FC236}">
                <a16:creationId xmlns:a16="http://schemas.microsoft.com/office/drawing/2014/main" id="{C3087F1D-9E64-3917-31BE-866E8DCC2336}"/>
              </a:ext>
            </a:extLst>
          </p:cNvPr>
          <p:cNvSpPr/>
          <p:nvPr/>
        </p:nvSpPr>
        <p:spPr>
          <a:xfrm flipV="1">
            <a:off x="1062037" y="609433"/>
            <a:ext cx="0" cy="422525"/>
          </a:xfrm>
          <a:prstGeom prst="line">
            <a:avLst/>
          </a:prstGeom>
          <a:ln w="66675" cap="flat">
            <a:solidFill>
              <a:srgbClr val="01316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22A9DF8F-E208-B07E-B119-C420C120008E}"/>
              </a:ext>
            </a:extLst>
          </p:cNvPr>
          <p:cNvSpPr txBox="1"/>
          <p:nvPr/>
        </p:nvSpPr>
        <p:spPr>
          <a:xfrm>
            <a:off x="1351132" y="609433"/>
            <a:ext cx="4592466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vi-VN" sz="2896" b="1" spc="2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  <a:endParaRPr lang="en-US" sz="2896" b="1" spc="28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D249802-FE5B-B795-523E-9BFBF3DAFC32}"/>
              </a:ext>
            </a:extLst>
          </p:cNvPr>
          <p:cNvSpPr txBox="1"/>
          <p:nvPr/>
        </p:nvSpPr>
        <p:spPr>
          <a:xfrm>
            <a:off x="233592" y="1971032"/>
            <a:ext cx="18740205" cy="613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[1] E. T. Hall, The Hidden Dimension, Garden City, NY: Doubleday, 1966.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[2] A. Mehrabian, Silent Messages, Belmont, CA: Wadsworth, 1971.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[3] M. L. Knapp, J. A. Hall, and T. G. Horgan, Nonverbal Communication in Human Interaction, 8 ed., Boston, MA: Wadsworth, 2013.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[4] Goman, C. K., The Silent Language of Leaders, San Francisco, CA: Jossey-Bass, 2011.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[5] Loewy, M. E. Guffey and D., Essentials of Business Communication (12th ed.), 12 ed., Boston, MA: Cengage Learning, 2020.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[6] A. Pease and B. Pease, The Definitive Book of Body Language, New York, NY: Bantam Books, 2006. </a:t>
            </a:r>
            <a:endParaRPr lang="vi-VN" sz="2100" b="1" dirty="0">
              <a:latin typeface="Poppins   "/>
            </a:endParaRPr>
          </a:p>
          <a:p>
            <a:pPr>
              <a:lnSpc>
                <a:spcPts val="6981"/>
              </a:lnSpc>
            </a:pPr>
            <a:r>
              <a:rPr lang="en-US" sz="2100" b="1" dirty="0">
                <a:latin typeface="Poppins   "/>
              </a:rPr>
              <a:t>[7] J. K. Burgoon, L. K. Guerrero, and K. Floyd, Nonverbal Communication, New York, NY: Routledge, 2016. </a:t>
            </a:r>
            <a:endParaRPr lang="en-US" sz="2100" b="1" dirty="0">
              <a:solidFill>
                <a:srgbClr val="0C3E80"/>
              </a:solidFill>
              <a:latin typeface="Poppins   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765966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85693" flipH="1">
            <a:off x="-2890288" y="-3033809"/>
            <a:ext cx="8534093" cy="8555482"/>
          </a:xfrm>
          <a:custGeom>
            <a:avLst/>
            <a:gdLst/>
            <a:ahLst/>
            <a:cxnLst/>
            <a:rect l="l" t="t" r="r" b="b"/>
            <a:pathLst>
              <a:path w="8534093" h="8555482">
                <a:moveTo>
                  <a:pt x="8534093" y="0"/>
                </a:moveTo>
                <a:lnTo>
                  <a:pt x="0" y="0"/>
                </a:lnTo>
                <a:lnTo>
                  <a:pt x="0" y="8555481"/>
                </a:lnTo>
                <a:lnTo>
                  <a:pt x="8534093" y="8555481"/>
                </a:lnTo>
                <a:lnTo>
                  <a:pt x="8534093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5703631" y="3268437"/>
            <a:ext cx="11352394" cy="4154525"/>
          </a:xfrm>
          <a:custGeom>
            <a:avLst/>
            <a:gdLst/>
            <a:ahLst/>
            <a:cxnLst/>
            <a:rect l="l" t="t" r="r" b="b"/>
            <a:pathLst>
              <a:path w="11352394" h="4154525">
                <a:moveTo>
                  <a:pt x="0" y="0"/>
                </a:moveTo>
                <a:lnTo>
                  <a:pt x="11352394" y="0"/>
                </a:lnTo>
                <a:lnTo>
                  <a:pt x="11352394" y="4154525"/>
                </a:lnTo>
                <a:lnTo>
                  <a:pt x="0" y="4154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10" b="-116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994677" y="8631294"/>
            <a:ext cx="11534968" cy="1153496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44388" y="-782543"/>
            <a:ext cx="12346012" cy="12510258"/>
            <a:chOff x="0" y="0"/>
            <a:chExt cx="812800" cy="823613"/>
          </a:xfrm>
        </p:grpSpPr>
        <p:sp>
          <p:nvSpPr>
            <p:cNvPr id="12" name="Freeform 12"/>
            <p:cNvSpPr/>
            <p:nvPr/>
          </p:nvSpPr>
          <p:spPr>
            <a:xfrm flipH="1">
              <a:off x="0" y="0"/>
              <a:ext cx="812800" cy="823613"/>
            </a:xfrm>
            <a:custGeom>
              <a:avLst/>
              <a:gdLst/>
              <a:ahLst/>
              <a:cxnLst/>
              <a:rect l="l" t="t" r="r" b="b"/>
              <a:pathLst>
                <a:path w="812800" h="823613">
                  <a:moveTo>
                    <a:pt x="406400" y="0"/>
                  </a:moveTo>
                  <a:cubicBezTo>
                    <a:pt x="630849" y="0"/>
                    <a:pt x="812800" y="184372"/>
                    <a:pt x="812800" y="411807"/>
                  </a:cubicBezTo>
                  <a:cubicBezTo>
                    <a:pt x="812800" y="639241"/>
                    <a:pt x="630849" y="823613"/>
                    <a:pt x="406400" y="823613"/>
                  </a:cubicBezTo>
                  <a:cubicBezTo>
                    <a:pt x="181951" y="823613"/>
                    <a:pt x="0" y="639241"/>
                    <a:pt x="0" y="411807"/>
                  </a:cubicBezTo>
                  <a:cubicBezTo>
                    <a:pt x="0" y="184372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8836" r="-124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 rot="-4317171">
            <a:off x="7473988" y="4370398"/>
            <a:ext cx="7762520" cy="5599342"/>
          </a:xfrm>
          <a:custGeom>
            <a:avLst/>
            <a:gdLst/>
            <a:ahLst/>
            <a:cxnLst/>
            <a:rect l="l" t="t" r="r" b="b"/>
            <a:pathLst>
              <a:path w="7762520" h="5599342">
                <a:moveTo>
                  <a:pt x="0" y="0"/>
                </a:moveTo>
                <a:lnTo>
                  <a:pt x="7762520" y="0"/>
                </a:lnTo>
                <a:lnTo>
                  <a:pt x="7762520" y="5599342"/>
                </a:lnTo>
                <a:lnTo>
                  <a:pt x="0" y="55993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10500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727458" y="408535"/>
            <a:ext cx="620165" cy="62016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3F8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55283" y="-1425899"/>
            <a:ext cx="1752322" cy="175232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43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863608" flipH="1">
            <a:off x="16051914" y="-192690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3942056" y="0"/>
                </a:moveTo>
                <a:lnTo>
                  <a:pt x="0" y="0"/>
                </a:lnTo>
                <a:lnTo>
                  <a:pt x="0" y="3338166"/>
                </a:lnTo>
                <a:lnTo>
                  <a:pt x="3942056" y="3338166"/>
                </a:lnTo>
                <a:lnTo>
                  <a:pt x="394205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4855005">
            <a:off x="16011530" y="7184759"/>
            <a:ext cx="3942056" cy="3338166"/>
          </a:xfrm>
          <a:custGeom>
            <a:avLst/>
            <a:gdLst/>
            <a:ahLst/>
            <a:cxnLst/>
            <a:rect l="l" t="t" r="r" b="b"/>
            <a:pathLst>
              <a:path w="3942056" h="3338166">
                <a:moveTo>
                  <a:pt x="0" y="0"/>
                </a:moveTo>
                <a:lnTo>
                  <a:pt x="3942056" y="0"/>
                </a:lnTo>
                <a:lnTo>
                  <a:pt x="3942056" y="3338167"/>
                </a:lnTo>
                <a:lnTo>
                  <a:pt x="0" y="3338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09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96388" y="3916617"/>
            <a:ext cx="8447612" cy="178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56"/>
              </a:lnSpc>
            </a:pPr>
            <a:r>
              <a:rPr lang="en-US" sz="9897" b="1" dirty="0">
                <a:solidFill>
                  <a:srgbClr val="0C3E8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8594" y="5703418"/>
            <a:ext cx="8150542" cy="67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6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 Attending Our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878</Words>
  <Application>Microsoft Office PowerPoint</Application>
  <PresentationFormat>Custom</PresentationFormat>
  <Paragraphs>155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Poppins Semi Bold</vt:lpstr>
      <vt:lpstr>Arial</vt:lpstr>
      <vt:lpstr>Poppins Bold</vt:lpstr>
      <vt:lpstr>Calibri</vt:lpstr>
      <vt:lpstr>Poppins</vt:lpstr>
      <vt:lpstr>Poppins Semi-Bold   </vt:lpstr>
      <vt:lpstr>Poppins  </vt:lpstr>
      <vt:lpstr>Poppins   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Nguyễn Hưng</dc:creator>
  <cp:lastModifiedBy>Trần Anh Tuấn</cp:lastModifiedBy>
  <cp:revision>9</cp:revision>
  <dcterms:created xsi:type="dcterms:W3CDTF">2006-08-16T00:00:00Z</dcterms:created>
  <dcterms:modified xsi:type="dcterms:W3CDTF">2025-10-27T07:54:41Z</dcterms:modified>
  <dc:identifier>DAG2oFBg5SU</dc:identifier>
</cp:coreProperties>
</file>