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21" r:id="rId57"/>
    <p:sldId id="322" r:id="rId58"/>
    <p:sldId id="314" r:id="rId59"/>
    <p:sldId id="315" r:id="rId60"/>
    <p:sldId id="316" r:id="rId61"/>
    <p:sldId id="317" r:id="rId62"/>
    <p:sldId id="318" r:id="rId63"/>
    <p:sldId id="323" r:id="rId64"/>
    <p:sldId id="319" r:id="rId65"/>
    <p:sldId id="320" r:id="rId66"/>
    <p:sldId id="327" r:id="rId67"/>
    <p:sldId id="325" r:id="rId68"/>
    <p:sldId id="324" r:id="rId69"/>
    <p:sldId id="326" r:id="rId70"/>
    <p:sldId id="328" r:id="rId71"/>
    <p:sldId id="329" r:id="rId7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446FC-5659-104C-A08D-7F585B9B3E7E}" v="97" dt="2025-08-20T08:31:23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8"/>
    <p:restoredTop sz="94627"/>
  </p:normalViewPr>
  <p:slideViewPr>
    <p:cSldViewPr>
      <p:cViewPr varScale="1">
        <p:scale>
          <a:sx n="88" d="100"/>
          <a:sy n="88" d="100"/>
        </p:scale>
        <p:origin x="17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 Van" userId="a25a9d50-ca35-484a-bf75-d54b15bbb2bf" providerId="ADAL" clId="{AE3B0C10-A8F8-1042-B19D-649F92A1E151}"/>
    <pc:docChg chg="custSel addSld delSld modSld">
      <pc:chgData name="Ai Van" userId="a25a9d50-ca35-484a-bf75-d54b15bbb2bf" providerId="ADAL" clId="{AE3B0C10-A8F8-1042-B19D-649F92A1E151}" dt="2024-03-31T15:44:16.468" v="182" actId="1076"/>
      <pc:docMkLst>
        <pc:docMk/>
      </pc:docMkLst>
      <pc:sldChg chg="addSp delSp mod">
        <pc:chgData name="Ai Van" userId="a25a9d50-ca35-484a-bf75-d54b15bbb2bf" providerId="ADAL" clId="{AE3B0C10-A8F8-1042-B19D-649F92A1E151}" dt="2024-03-12T06:22:06.213" v="81" actId="21"/>
        <pc:sldMkLst>
          <pc:docMk/>
          <pc:sldMk cId="0" sldId="313"/>
        </pc:sldMkLst>
        <pc:picChg chg="add del">
          <ac:chgData name="Ai Van" userId="a25a9d50-ca35-484a-bf75-d54b15bbb2bf" providerId="ADAL" clId="{AE3B0C10-A8F8-1042-B19D-649F92A1E151}" dt="2024-03-12T06:22:06.213" v="81" actId="21"/>
          <ac:picMkLst>
            <pc:docMk/>
            <pc:sldMk cId="0" sldId="313"/>
            <ac:picMk id="2" creationId="{3979C5E1-F890-5112-8DF0-7879CC8829D7}"/>
          </ac:picMkLst>
        </pc:picChg>
      </pc:sldChg>
      <pc:sldChg chg="addSp delSp modSp new mod">
        <pc:chgData name="Ai Van" userId="a25a9d50-ca35-484a-bf75-d54b15bbb2bf" providerId="ADAL" clId="{AE3B0C10-A8F8-1042-B19D-649F92A1E151}" dt="2024-03-12T07:59:09.502" v="167" actId="1037"/>
        <pc:sldMkLst>
          <pc:docMk/>
          <pc:sldMk cId="3542084258" sldId="320"/>
        </pc:sldMkLst>
        <pc:spChg chg="add del mod">
          <ac:chgData name="Ai Van" userId="a25a9d50-ca35-484a-bf75-d54b15bbb2bf" providerId="ADAL" clId="{AE3B0C10-A8F8-1042-B19D-649F92A1E151}" dt="2024-03-12T07:57:51.388" v="153" actId="478"/>
          <ac:spMkLst>
            <pc:docMk/>
            <pc:sldMk cId="3542084258" sldId="320"/>
            <ac:spMk id="2" creationId="{6CD63302-7C35-3795-95BC-15CD1A4AFF26}"/>
          </ac:spMkLst>
        </pc:spChg>
        <pc:spChg chg="add mod">
          <ac:chgData name="Ai Van" userId="a25a9d50-ca35-484a-bf75-d54b15bbb2bf" providerId="ADAL" clId="{AE3B0C10-A8F8-1042-B19D-649F92A1E151}" dt="2024-03-12T07:58:14.931" v="163" actId="1037"/>
          <ac:spMkLst>
            <pc:docMk/>
            <pc:sldMk cId="3542084258" sldId="320"/>
            <ac:spMk id="4" creationId="{D4365E65-D070-B980-1E92-00BA8379EC7C}"/>
          </ac:spMkLst>
        </pc:spChg>
        <pc:picChg chg="add mod">
          <ac:chgData name="Ai Van" userId="a25a9d50-ca35-484a-bf75-d54b15bbb2bf" providerId="ADAL" clId="{AE3B0C10-A8F8-1042-B19D-649F92A1E151}" dt="2024-03-12T07:58:19.583" v="164" actId="1076"/>
          <ac:picMkLst>
            <pc:docMk/>
            <pc:sldMk cId="3542084258" sldId="320"/>
            <ac:picMk id="3" creationId="{F7D5E7C7-331B-E2F2-42FE-434F38ACD46D}"/>
          </ac:picMkLst>
        </pc:picChg>
        <pc:picChg chg="add del mod">
          <ac:chgData name="Ai Van" userId="a25a9d50-ca35-484a-bf75-d54b15bbb2bf" providerId="ADAL" clId="{AE3B0C10-A8F8-1042-B19D-649F92A1E151}" dt="2024-03-12T07:54:40.277" v="96" actId="21"/>
          <ac:picMkLst>
            <pc:docMk/>
            <pc:sldMk cId="3542084258" sldId="320"/>
            <ac:picMk id="5" creationId="{3E604470-E82D-5FC8-9319-85F06710FD32}"/>
          </ac:picMkLst>
        </pc:picChg>
        <pc:picChg chg="add mod">
          <ac:chgData name="Ai Van" userId="a25a9d50-ca35-484a-bf75-d54b15bbb2bf" providerId="ADAL" clId="{AE3B0C10-A8F8-1042-B19D-649F92A1E151}" dt="2024-03-12T07:59:09.502" v="167" actId="1037"/>
          <ac:picMkLst>
            <pc:docMk/>
            <pc:sldMk cId="3542084258" sldId="320"/>
            <ac:picMk id="6" creationId="{52449EE9-4A20-1319-6EC8-E71B745A56DD}"/>
          </ac:picMkLst>
        </pc:picChg>
        <pc:picChg chg="add mod">
          <ac:chgData name="Ai Van" userId="a25a9d50-ca35-484a-bf75-d54b15bbb2bf" providerId="ADAL" clId="{AE3B0C10-A8F8-1042-B19D-649F92A1E151}" dt="2024-03-12T07:58:33.913" v="166" actId="1076"/>
          <ac:picMkLst>
            <pc:docMk/>
            <pc:sldMk cId="3542084258" sldId="320"/>
            <ac:picMk id="7" creationId="{CBF5ECB7-F8AE-D998-0508-66202AFD5FB7}"/>
          </ac:picMkLst>
        </pc:picChg>
      </pc:sldChg>
      <pc:sldChg chg="addSp modSp new mod">
        <pc:chgData name="Ai Van" userId="a25a9d50-ca35-484a-bf75-d54b15bbb2bf" providerId="ADAL" clId="{AE3B0C10-A8F8-1042-B19D-649F92A1E151}" dt="2024-03-12T06:22:15.581" v="85" actId="14100"/>
        <pc:sldMkLst>
          <pc:docMk/>
          <pc:sldMk cId="1738663036" sldId="321"/>
        </pc:sldMkLst>
        <pc:picChg chg="add mod">
          <ac:chgData name="Ai Van" userId="a25a9d50-ca35-484a-bf75-d54b15bbb2bf" providerId="ADAL" clId="{AE3B0C10-A8F8-1042-B19D-649F92A1E151}" dt="2024-03-12T06:22:15.581" v="85" actId="14100"/>
          <ac:picMkLst>
            <pc:docMk/>
            <pc:sldMk cId="1738663036" sldId="321"/>
            <ac:picMk id="2" creationId="{6AA0240A-30C5-DCEA-C04B-28FF26C401E9}"/>
          </ac:picMkLst>
        </pc:picChg>
      </pc:sldChg>
      <pc:sldChg chg="addSp modSp new mod">
        <pc:chgData name="Ai Van" userId="a25a9d50-ca35-484a-bf75-d54b15bbb2bf" providerId="ADAL" clId="{AE3B0C10-A8F8-1042-B19D-649F92A1E151}" dt="2024-03-12T06:23:28.451" v="90" actId="1076"/>
        <pc:sldMkLst>
          <pc:docMk/>
          <pc:sldMk cId="2242821034" sldId="322"/>
        </pc:sldMkLst>
        <pc:picChg chg="add mod">
          <ac:chgData name="Ai Van" userId="a25a9d50-ca35-484a-bf75-d54b15bbb2bf" providerId="ADAL" clId="{AE3B0C10-A8F8-1042-B19D-649F92A1E151}" dt="2024-03-12T06:23:28.451" v="90" actId="1076"/>
          <ac:picMkLst>
            <pc:docMk/>
            <pc:sldMk cId="2242821034" sldId="322"/>
            <ac:picMk id="2" creationId="{9F2C0CB2-E4E2-4155-E7F1-E54BA467F5AB}"/>
          </ac:picMkLst>
        </pc:picChg>
      </pc:sldChg>
      <pc:sldChg chg="addSp modSp new mod">
        <pc:chgData name="Ai Van" userId="a25a9d50-ca35-484a-bf75-d54b15bbb2bf" providerId="ADAL" clId="{AE3B0C10-A8F8-1042-B19D-649F92A1E151}" dt="2024-03-12T08:41:31.830" v="172" actId="14100"/>
        <pc:sldMkLst>
          <pc:docMk/>
          <pc:sldMk cId="1593287099" sldId="323"/>
        </pc:sldMkLst>
        <pc:picChg chg="add mod">
          <ac:chgData name="Ai Van" userId="a25a9d50-ca35-484a-bf75-d54b15bbb2bf" providerId="ADAL" clId="{AE3B0C10-A8F8-1042-B19D-649F92A1E151}" dt="2024-03-12T08:41:31.830" v="172" actId="14100"/>
          <ac:picMkLst>
            <pc:docMk/>
            <pc:sldMk cId="1593287099" sldId="323"/>
            <ac:picMk id="2" creationId="{831DD2D8-9B06-328C-C248-972776E2CBE8}"/>
          </ac:picMkLst>
        </pc:picChg>
      </pc:sldChg>
      <pc:sldChg chg="addSp modSp new del mod">
        <pc:chgData name="Ai Van" userId="a25a9d50-ca35-484a-bf75-d54b15bbb2bf" providerId="ADAL" clId="{AE3B0C10-A8F8-1042-B19D-649F92A1E151}" dt="2024-03-12T07:59:24.731" v="168" actId="2696"/>
        <pc:sldMkLst>
          <pc:docMk/>
          <pc:sldMk cId="3192129795" sldId="323"/>
        </pc:sldMkLst>
        <pc:picChg chg="add mod">
          <ac:chgData name="Ai Van" userId="a25a9d50-ca35-484a-bf75-d54b15bbb2bf" providerId="ADAL" clId="{AE3B0C10-A8F8-1042-B19D-649F92A1E151}" dt="2024-03-12T07:54:48.606" v="99" actId="1076"/>
          <ac:picMkLst>
            <pc:docMk/>
            <pc:sldMk cId="3192129795" sldId="323"/>
            <ac:picMk id="2" creationId="{3C30BF7F-3845-C6E6-7829-BDDE6DE3032F}"/>
          </ac:picMkLst>
        </pc:picChg>
        <pc:picChg chg="add mod">
          <ac:chgData name="Ai Van" userId="a25a9d50-ca35-484a-bf75-d54b15bbb2bf" providerId="ADAL" clId="{AE3B0C10-A8F8-1042-B19D-649F92A1E151}" dt="2024-03-12T07:56:20.803" v="106" actId="14100"/>
          <ac:picMkLst>
            <pc:docMk/>
            <pc:sldMk cId="3192129795" sldId="323"/>
            <ac:picMk id="3" creationId="{CBA30FF9-9F0F-CEA6-5CD3-00070E877660}"/>
          </ac:picMkLst>
        </pc:picChg>
      </pc:sldChg>
      <pc:sldChg chg="addSp modSp new mod">
        <pc:chgData name="Ai Van" userId="a25a9d50-ca35-484a-bf75-d54b15bbb2bf" providerId="ADAL" clId="{AE3B0C10-A8F8-1042-B19D-649F92A1E151}" dt="2024-03-31T15:44:16.468" v="182" actId="1076"/>
        <pc:sldMkLst>
          <pc:docMk/>
          <pc:sldMk cId="3809712288" sldId="324"/>
        </pc:sldMkLst>
        <pc:spChg chg="add mod">
          <ac:chgData name="Ai Van" userId="a25a9d50-ca35-484a-bf75-d54b15bbb2bf" providerId="ADAL" clId="{AE3B0C10-A8F8-1042-B19D-649F92A1E151}" dt="2024-03-31T15:43:59.207" v="181" actId="255"/>
          <ac:spMkLst>
            <pc:docMk/>
            <pc:sldMk cId="3809712288" sldId="324"/>
            <ac:spMk id="4" creationId="{B777D0E2-39AF-DB14-5BFA-0CA362D05CAA}"/>
          </ac:spMkLst>
        </pc:spChg>
        <pc:picChg chg="add mod">
          <ac:chgData name="Ai Van" userId="a25a9d50-ca35-484a-bf75-d54b15bbb2bf" providerId="ADAL" clId="{AE3B0C10-A8F8-1042-B19D-649F92A1E151}" dt="2024-03-31T15:44:16.468" v="182" actId="1076"/>
          <ac:picMkLst>
            <pc:docMk/>
            <pc:sldMk cId="3809712288" sldId="324"/>
            <ac:picMk id="2" creationId="{7C17EB84-6D77-4E51-B900-AB93A984BA23}"/>
          </ac:picMkLst>
        </pc:picChg>
      </pc:sldChg>
    </pc:docChg>
  </pc:docChgLst>
  <pc:docChgLst>
    <pc:chgData name="Ai Van" userId="a25a9d50-ca35-484a-bf75-d54b15bbb2bf" providerId="ADAL" clId="{B655E134-7CC3-FC4D-B8CF-E7A935E430AC}"/>
    <pc:docChg chg="custSel addSld modSld">
      <pc:chgData name="Ai Van" userId="a25a9d50-ca35-484a-bf75-d54b15bbb2bf" providerId="ADAL" clId="{B655E134-7CC3-FC4D-B8CF-E7A935E430AC}" dt="2025-03-17T01:03:59.032" v="62" actId="14100"/>
      <pc:docMkLst>
        <pc:docMk/>
      </pc:docMkLst>
      <pc:sldChg chg="delSp mod">
        <pc:chgData name="Ai Van" userId="a25a9d50-ca35-484a-bf75-d54b15bbb2bf" providerId="ADAL" clId="{B655E134-7CC3-FC4D-B8CF-E7A935E430AC}" dt="2025-03-17T01:01:12.137" v="48" actId="21"/>
        <pc:sldMkLst>
          <pc:docMk/>
          <pc:sldMk cId="3542084258" sldId="320"/>
        </pc:sldMkLst>
        <pc:picChg chg="del">
          <ac:chgData name="Ai Van" userId="a25a9d50-ca35-484a-bf75-d54b15bbb2bf" providerId="ADAL" clId="{B655E134-7CC3-FC4D-B8CF-E7A935E430AC}" dt="2025-03-17T01:01:12.137" v="48" actId="21"/>
          <ac:picMkLst>
            <pc:docMk/>
            <pc:sldMk cId="3542084258" sldId="320"/>
            <ac:picMk id="6" creationId="{52449EE9-4A20-1319-6EC8-E71B745A56DD}"/>
          </ac:picMkLst>
        </pc:picChg>
        <pc:picChg chg="del">
          <ac:chgData name="Ai Van" userId="a25a9d50-ca35-484a-bf75-d54b15bbb2bf" providerId="ADAL" clId="{B655E134-7CC3-FC4D-B8CF-E7A935E430AC}" dt="2025-03-17T01:01:12.137" v="48" actId="21"/>
          <ac:picMkLst>
            <pc:docMk/>
            <pc:sldMk cId="3542084258" sldId="320"/>
            <ac:picMk id="7" creationId="{CBF5ECB7-F8AE-D998-0508-66202AFD5FB7}"/>
          </ac:picMkLst>
        </pc:picChg>
      </pc:sldChg>
      <pc:sldChg chg="addSp modSp mod">
        <pc:chgData name="Ai Van" userId="a25a9d50-ca35-484a-bf75-d54b15bbb2bf" providerId="ADAL" clId="{B655E134-7CC3-FC4D-B8CF-E7A935E430AC}" dt="2025-03-17T00:50:52.188" v="11" actId="1076"/>
        <pc:sldMkLst>
          <pc:docMk/>
          <pc:sldMk cId="3809712288" sldId="324"/>
        </pc:sldMkLst>
        <pc:spChg chg="mod">
          <ac:chgData name="Ai Van" userId="a25a9d50-ca35-484a-bf75-d54b15bbb2bf" providerId="ADAL" clId="{B655E134-7CC3-FC4D-B8CF-E7A935E430AC}" dt="2025-03-17T00:50:40.367" v="10" actId="14100"/>
          <ac:spMkLst>
            <pc:docMk/>
            <pc:sldMk cId="3809712288" sldId="324"/>
            <ac:spMk id="4" creationId="{B777D0E2-39AF-DB14-5BFA-0CA362D05CAA}"/>
          </ac:spMkLst>
        </pc:spChg>
        <pc:picChg chg="mod">
          <ac:chgData name="Ai Van" userId="a25a9d50-ca35-484a-bf75-d54b15bbb2bf" providerId="ADAL" clId="{B655E134-7CC3-FC4D-B8CF-E7A935E430AC}" dt="2025-03-17T00:50:20.832" v="5" actId="1076"/>
          <ac:picMkLst>
            <pc:docMk/>
            <pc:sldMk cId="3809712288" sldId="324"/>
            <ac:picMk id="2" creationId="{7C17EB84-6D77-4E51-B900-AB93A984BA23}"/>
          </ac:picMkLst>
        </pc:picChg>
        <pc:picChg chg="add mod">
          <ac:chgData name="Ai Van" userId="a25a9d50-ca35-484a-bf75-d54b15bbb2bf" providerId="ADAL" clId="{B655E134-7CC3-FC4D-B8CF-E7A935E430AC}" dt="2025-03-17T00:50:52.188" v="11" actId="1076"/>
          <ac:picMkLst>
            <pc:docMk/>
            <pc:sldMk cId="3809712288" sldId="324"/>
            <ac:picMk id="3" creationId="{43F45B64-B33A-4548-14B4-3A2CAE7C4DFF}"/>
          </ac:picMkLst>
        </pc:picChg>
      </pc:sldChg>
      <pc:sldChg chg="addSp modSp new mod">
        <pc:chgData name="Ai Van" userId="a25a9d50-ca35-484a-bf75-d54b15bbb2bf" providerId="ADAL" clId="{B655E134-7CC3-FC4D-B8CF-E7A935E430AC}" dt="2025-03-17T00:53:27.304" v="23" actId="14100"/>
        <pc:sldMkLst>
          <pc:docMk/>
          <pc:sldMk cId="3865251479" sldId="325"/>
        </pc:sldMkLst>
        <pc:picChg chg="add mod">
          <ac:chgData name="Ai Van" userId="a25a9d50-ca35-484a-bf75-d54b15bbb2bf" providerId="ADAL" clId="{B655E134-7CC3-FC4D-B8CF-E7A935E430AC}" dt="2025-03-17T00:48:57.304" v="4" actId="1076"/>
          <ac:picMkLst>
            <pc:docMk/>
            <pc:sldMk cId="3865251479" sldId="325"/>
            <ac:picMk id="2" creationId="{12F1115F-3288-6E8B-BA92-05628E45A701}"/>
          </ac:picMkLst>
        </pc:picChg>
        <pc:picChg chg="add mod">
          <ac:chgData name="Ai Van" userId="a25a9d50-ca35-484a-bf75-d54b15bbb2bf" providerId="ADAL" clId="{B655E134-7CC3-FC4D-B8CF-E7A935E430AC}" dt="2025-03-17T00:52:57.470" v="19" actId="1076"/>
          <ac:picMkLst>
            <pc:docMk/>
            <pc:sldMk cId="3865251479" sldId="325"/>
            <ac:picMk id="3" creationId="{E755D999-3FF6-CB12-5473-EA070F148BE8}"/>
          </ac:picMkLst>
        </pc:picChg>
        <pc:picChg chg="add mod">
          <ac:chgData name="Ai Van" userId="a25a9d50-ca35-484a-bf75-d54b15bbb2bf" providerId="ADAL" clId="{B655E134-7CC3-FC4D-B8CF-E7A935E430AC}" dt="2025-03-17T00:52:58.870" v="20" actId="1076"/>
          <ac:picMkLst>
            <pc:docMk/>
            <pc:sldMk cId="3865251479" sldId="325"/>
            <ac:picMk id="4" creationId="{CCFD8E23-7B07-04D6-6B63-1D8FDD689194}"/>
          </ac:picMkLst>
        </pc:picChg>
        <pc:picChg chg="add mod">
          <ac:chgData name="Ai Van" userId="a25a9d50-ca35-484a-bf75-d54b15bbb2bf" providerId="ADAL" clId="{B655E134-7CC3-FC4D-B8CF-E7A935E430AC}" dt="2025-03-17T00:53:27.304" v="23" actId="14100"/>
          <ac:picMkLst>
            <pc:docMk/>
            <pc:sldMk cId="3865251479" sldId="325"/>
            <ac:picMk id="5" creationId="{9B2D048A-D44E-3C11-F6ED-271B8423E81D}"/>
          </ac:picMkLst>
        </pc:picChg>
      </pc:sldChg>
      <pc:sldChg chg="addSp modSp new mod">
        <pc:chgData name="Ai Van" userId="a25a9d50-ca35-484a-bf75-d54b15bbb2bf" providerId="ADAL" clId="{B655E134-7CC3-FC4D-B8CF-E7A935E430AC}" dt="2025-03-17T00:57:58.464" v="33" actId="1076"/>
        <pc:sldMkLst>
          <pc:docMk/>
          <pc:sldMk cId="3013951160" sldId="326"/>
        </pc:sldMkLst>
        <pc:picChg chg="add mod">
          <ac:chgData name="Ai Van" userId="a25a9d50-ca35-484a-bf75-d54b15bbb2bf" providerId="ADAL" clId="{B655E134-7CC3-FC4D-B8CF-E7A935E430AC}" dt="2025-03-17T00:57:58.464" v="33" actId="1076"/>
          <ac:picMkLst>
            <pc:docMk/>
            <pc:sldMk cId="3013951160" sldId="326"/>
            <ac:picMk id="2" creationId="{23EC3FE0-FD71-45DB-E867-15306E0E170A}"/>
          </ac:picMkLst>
        </pc:picChg>
        <pc:picChg chg="add mod">
          <ac:chgData name="Ai Van" userId="a25a9d50-ca35-484a-bf75-d54b15bbb2bf" providerId="ADAL" clId="{B655E134-7CC3-FC4D-B8CF-E7A935E430AC}" dt="2025-03-17T00:57:54.394" v="32" actId="14100"/>
          <ac:picMkLst>
            <pc:docMk/>
            <pc:sldMk cId="3013951160" sldId="326"/>
            <ac:picMk id="3" creationId="{5E3A1D99-9078-5156-52B7-091BA20480C9}"/>
          </ac:picMkLst>
        </pc:picChg>
      </pc:sldChg>
      <pc:sldChg chg="addSp modSp new mod">
        <pc:chgData name="Ai Van" userId="a25a9d50-ca35-484a-bf75-d54b15bbb2bf" providerId="ADAL" clId="{B655E134-7CC3-FC4D-B8CF-E7A935E430AC}" dt="2025-03-17T01:00:45.329" v="47" actId="14100"/>
        <pc:sldMkLst>
          <pc:docMk/>
          <pc:sldMk cId="2063424110" sldId="327"/>
        </pc:sldMkLst>
        <pc:picChg chg="add mod">
          <ac:chgData name="Ai Van" userId="a25a9d50-ca35-484a-bf75-d54b15bbb2bf" providerId="ADAL" clId="{B655E134-7CC3-FC4D-B8CF-E7A935E430AC}" dt="2025-03-17T00:59:58.237" v="40" actId="1076"/>
          <ac:picMkLst>
            <pc:docMk/>
            <pc:sldMk cId="2063424110" sldId="327"/>
            <ac:picMk id="2" creationId="{FDEE17F1-1155-03FF-9497-9504C39A4B6C}"/>
          </ac:picMkLst>
        </pc:picChg>
        <pc:picChg chg="add mod">
          <ac:chgData name="Ai Van" userId="a25a9d50-ca35-484a-bf75-d54b15bbb2bf" providerId="ADAL" clId="{B655E134-7CC3-FC4D-B8CF-E7A935E430AC}" dt="2025-03-17T01:00:45.329" v="47" actId="14100"/>
          <ac:picMkLst>
            <pc:docMk/>
            <pc:sldMk cId="2063424110" sldId="327"/>
            <ac:picMk id="3" creationId="{5BE46ABF-B485-E095-80DB-6564A40E271E}"/>
          </ac:picMkLst>
        </pc:picChg>
      </pc:sldChg>
      <pc:sldChg chg="addSp modSp new mod">
        <pc:chgData name="Ai Van" userId="a25a9d50-ca35-484a-bf75-d54b15bbb2bf" providerId="ADAL" clId="{B655E134-7CC3-FC4D-B8CF-E7A935E430AC}" dt="2025-03-17T01:01:22.667" v="51" actId="1076"/>
        <pc:sldMkLst>
          <pc:docMk/>
          <pc:sldMk cId="3528741301" sldId="328"/>
        </pc:sldMkLst>
        <pc:picChg chg="add mod">
          <ac:chgData name="Ai Van" userId="a25a9d50-ca35-484a-bf75-d54b15bbb2bf" providerId="ADAL" clId="{B655E134-7CC3-FC4D-B8CF-E7A935E430AC}" dt="2025-03-17T01:01:22.667" v="51" actId="1076"/>
          <ac:picMkLst>
            <pc:docMk/>
            <pc:sldMk cId="3528741301" sldId="328"/>
            <ac:picMk id="2" creationId="{59B90E88-11F1-4DE5-2FCD-08A22759FA46}"/>
          </ac:picMkLst>
        </pc:picChg>
        <pc:picChg chg="add mod">
          <ac:chgData name="Ai Van" userId="a25a9d50-ca35-484a-bf75-d54b15bbb2bf" providerId="ADAL" clId="{B655E134-7CC3-FC4D-B8CF-E7A935E430AC}" dt="2025-03-17T01:01:22.667" v="51" actId="1076"/>
          <ac:picMkLst>
            <pc:docMk/>
            <pc:sldMk cId="3528741301" sldId="328"/>
            <ac:picMk id="3" creationId="{BA8531FE-D76B-9066-F723-7AF273B20560}"/>
          </ac:picMkLst>
        </pc:picChg>
      </pc:sldChg>
      <pc:sldChg chg="addSp modSp new mod">
        <pc:chgData name="Ai Van" userId="a25a9d50-ca35-484a-bf75-d54b15bbb2bf" providerId="ADAL" clId="{B655E134-7CC3-FC4D-B8CF-E7A935E430AC}" dt="2025-03-17T01:03:59.032" v="62" actId="14100"/>
        <pc:sldMkLst>
          <pc:docMk/>
          <pc:sldMk cId="1397110694" sldId="329"/>
        </pc:sldMkLst>
        <pc:picChg chg="add mod">
          <ac:chgData name="Ai Van" userId="a25a9d50-ca35-484a-bf75-d54b15bbb2bf" providerId="ADAL" clId="{B655E134-7CC3-FC4D-B8CF-E7A935E430AC}" dt="2025-03-17T01:03:59.032" v="62" actId="14100"/>
          <ac:picMkLst>
            <pc:docMk/>
            <pc:sldMk cId="1397110694" sldId="329"/>
            <ac:picMk id="2" creationId="{8FF6BFDA-6BB1-5860-70C4-48EDB5B16CE1}"/>
          </ac:picMkLst>
        </pc:picChg>
        <pc:picChg chg="add mod">
          <ac:chgData name="Ai Van" userId="a25a9d50-ca35-484a-bf75-d54b15bbb2bf" providerId="ADAL" clId="{B655E134-7CC3-FC4D-B8CF-E7A935E430AC}" dt="2025-03-17T01:03:51.327" v="60" actId="1076"/>
          <ac:picMkLst>
            <pc:docMk/>
            <pc:sldMk cId="1397110694" sldId="329"/>
            <ac:picMk id="3" creationId="{ADBF08E7-026A-A003-E562-B52E68C2C010}"/>
          </ac:picMkLst>
        </pc:picChg>
      </pc:sldChg>
    </pc:docChg>
  </pc:docChgLst>
  <pc:docChgLst>
    <pc:chgData name="Ai Van" userId="a25a9d50-ca35-484a-bf75-d54b15bbb2bf" providerId="ADAL" clId="{966446FC-5659-104C-A08D-7F585B9B3E7E}"/>
    <pc:docChg chg="delSld modSld">
      <pc:chgData name="Ai Van" userId="a25a9d50-ca35-484a-bf75-d54b15bbb2bf" providerId="ADAL" clId="{966446FC-5659-104C-A08D-7F585B9B3E7E}" dt="2025-08-20T08:31:23.203" v="97" actId="20577"/>
      <pc:docMkLst>
        <pc:docMk/>
      </pc:docMkLst>
      <pc:sldChg chg="modSp">
        <pc:chgData name="Ai Van" userId="a25a9d50-ca35-484a-bf75-d54b15bbb2bf" providerId="ADAL" clId="{966446FC-5659-104C-A08D-7F585B9B3E7E}" dt="2025-08-20T08:20:10.122" v="18" actId="255"/>
        <pc:sldMkLst>
          <pc:docMk/>
          <pc:sldMk cId="0" sldId="256"/>
        </pc:sldMkLst>
        <pc:spChg chg="mod">
          <ac:chgData name="Ai Van" userId="a25a9d50-ca35-484a-bf75-d54b15bbb2bf" providerId="ADAL" clId="{966446FC-5659-104C-A08D-7F585B9B3E7E}" dt="2025-08-20T08:20:10.122" v="18" actId="255"/>
          <ac:spMkLst>
            <pc:docMk/>
            <pc:sldMk cId="0" sldId="256"/>
            <ac:spMk id="2053" creationId="{FBF2713B-5B17-5A0E-9522-3B8CB4B853E5}"/>
          </ac:spMkLst>
        </pc:spChg>
      </pc:sldChg>
      <pc:sldChg chg="del">
        <pc:chgData name="Ai Van" userId="a25a9d50-ca35-484a-bf75-d54b15bbb2bf" providerId="ADAL" clId="{966446FC-5659-104C-A08D-7F585B9B3E7E}" dt="2025-08-20T08:22:41.284" v="19" actId="2696"/>
        <pc:sldMkLst>
          <pc:docMk/>
          <pc:sldMk cId="2586478806" sldId="295"/>
        </pc:sldMkLst>
      </pc:sldChg>
      <pc:sldChg chg="modSp modAnim">
        <pc:chgData name="Ai Van" userId="a25a9d50-ca35-484a-bf75-d54b15bbb2bf" providerId="ADAL" clId="{966446FC-5659-104C-A08D-7F585B9B3E7E}" dt="2025-08-20T08:31:23.203" v="97" actId="20577"/>
        <pc:sldMkLst>
          <pc:docMk/>
          <pc:sldMk cId="0" sldId="296"/>
        </pc:sldMkLst>
        <pc:spChg chg="mod">
          <ac:chgData name="Ai Van" userId="a25a9d50-ca35-484a-bf75-d54b15bbb2bf" providerId="ADAL" clId="{966446FC-5659-104C-A08D-7F585B9B3E7E}" dt="2025-08-20T08:31:23.203" v="97" actId="20577"/>
          <ac:spMkLst>
            <pc:docMk/>
            <pc:sldMk cId="0" sldId="296"/>
            <ac:spMk id="26627" creationId="{160549DE-761D-98BE-B2D1-A8E4ABA926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CAAE90-C56B-2C7C-AA94-CAD6CE3ADEF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8C10536-6207-4608-B8AF-0E929B6B817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F1874062-2AAD-6807-6330-BC00D40769E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78B965EA-470A-8E8B-DB0F-A7072490E3E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0E913527-DDD3-2BB4-FDAB-10D3569C355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3B8D98B5-F07D-584B-9426-BA39E508468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BC5D03BF-99CB-E340-DBF1-B04E3342B3C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A8467560-0531-9946-583E-8D82CFFD1F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0CF2358F-F9C5-EC1A-1E04-3A8A7B0CB1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EBF9DCA-8ECD-951C-4CEE-D535C5FAEE3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0731B7B-1E3F-3115-3917-09C206D64C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CB0A769-2BF1-6E2A-FDE3-9DC31B572E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379617-9D0E-574F-B731-4112615EC9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44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261F8A-6A1B-2BE1-FCEB-1882B8FC6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95074A-7A42-2C1D-64A2-933A4F1D09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A18C3-C6AC-CD48-89F7-F0045279C57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8F063C1-9A16-2B5D-33BC-6F667938BC8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789038-2FC4-1E26-9EB2-D0B6F8753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F3E444-F486-4D30-3EF4-BE07232FCB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3B8603-A0F5-C444-A99B-B5A7A037E1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7A6359F-16DC-A686-A861-9E2B265C4FD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4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6E76B6-BADE-51AD-3713-D426A80359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661EB8-4564-AA4D-8DF0-EFC2D45439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34AA1E-7D3E-DD41-AA75-D94F3B0859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E4EC551-913A-DB5D-C578-FCDB8D162CB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9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CE81BE-B6E5-CCEB-7763-1B51E73B68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E7EAC-90E5-BE4B-F0A7-B1816822AB2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6069F4-4417-8147-89E7-3E21D74C39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130BE72-E62D-8E1D-905C-B1323F4766B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4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D91B82-6E92-3306-817D-9938972224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054AF-CF83-660A-0E64-8E705F23C5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0919D0-64C0-7047-A0A1-A10B3246E6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CA4B9B5-DE01-7641-DC26-5A9D9922270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7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6EC10F-EDED-6065-981D-A5BABC0E07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9CAE37-A0DE-86DE-95EA-C70CB42679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051B2-2CE7-3B46-B277-CD0A2DA61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2E209ECD-D80F-5CDB-C590-AA7EEFC7204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A07463-B401-482F-9B79-AFD1C8C16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B088CA-6BF8-7283-671B-1F6D5CC5CC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DAC78-7EEC-B54E-BAF2-02F5883414D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D09F8563-63D8-C5B4-4056-ADD76B4518D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3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A7070E-17B3-BA34-76DA-D9E436B7B7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EC32DD-B120-DA05-FC40-7E72D4B953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EAF24C-1164-2E4E-8F89-37046AF5E6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256940F-4C7A-6011-1972-2D01126F548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7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9E6AEE-E1ED-D43C-9E58-A7DC98B5A9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DC0BEB-E83F-C563-6C7B-B045AEF397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60439-A3FC-4A43-A024-5E5E6FF9EB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260B623-1EA1-05F4-844C-DB77C0EA384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75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9465FD-9405-1FCC-63DA-C42B14CE2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59979C-7E4B-D936-3AD3-F59CCA26E1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D72DD6-7E09-A84B-A76D-C9067FFAEE3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C7219B8-4AE5-5082-FEDF-9C34DC18CC7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4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4984B62-3B81-AEA1-6217-BCA7A417BC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593ACAB-EC5C-FD95-0FF6-9B2EA06294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F00A47F-7F18-FC49-838C-2713D575D609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4B35C638-A1E9-F1C7-26A1-EB0566C25A0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2" name="Group 5">
              <a:extLst>
                <a:ext uri="{FF2B5EF4-FFF2-40B4-BE49-F238E27FC236}">
                  <a16:creationId xmlns:a16="http://schemas.microsoft.com/office/drawing/2014/main" id="{C7638AB8-F2C4-E8E6-DB11-B1EEB42F9A8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>
                <a:extLst>
                  <a:ext uri="{FF2B5EF4-FFF2-40B4-BE49-F238E27FC236}">
                    <a16:creationId xmlns:a16="http://schemas.microsoft.com/office/drawing/2014/main" id="{2C0A95C0-D354-ABCE-0DBB-FB0B1C9F2D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4103" name="Freeform 7">
                <a:extLst>
                  <a:ext uri="{FF2B5EF4-FFF2-40B4-BE49-F238E27FC236}">
                    <a16:creationId xmlns:a16="http://schemas.microsoft.com/office/drawing/2014/main" id="{54CDEB5C-0E5E-43DE-BD56-C4EA5EA3125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4104" name="Freeform 8">
                <a:extLst>
                  <a:ext uri="{FF2B5EF4-FFF2-40B4-BE49-F238E27FC236}">
                    <a16:creationId xmlns:a16="http://schemas.microsoft.com/office/drawing/2014/main" id="{8C6EE26D-1782-F3B1-D377-42A001AC467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957D38FF-CF51-C80E-BE09-1380A4884A5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21868A67-5DDB-AEFA-F2FA-8C2843A333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4107" name="Freeform 11">
              <a:extLst>
                <a:ext uri="{FF2B5EF4-FFF2-40B4-BE49-F238E27FC236}">
                  <a16:creationId xmlns:a16="http://schemas.microsoft.com/office/drawing/2014/main" id="{07C59685-038D-C700-0CD1-C0B814698D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1034" name="Freeform 12">
              <a:extLst>
                <a:ext uri="{FF2B5EF4-FFF2-40B4-BE49-F238E27FC236}">
                  <a16:creationId xmlns:a16="http://schemas.microsoft.com/office/drawing/2014/main" id="{4834A46D-8F41-B418-E2B2-B1673155E4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E24E9CF-2C3B-E2E1-9125-65F1D671CEC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4DCAF68E-C287-1555-D884-EFE450C370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6E16C1D0-5BC2-1F6B-1797-7B7E1E01C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9" grpId="0"/>
      <p:bldP spid="4111" grpId="0" build="p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emf"/><Relationship Id="rId10" Type="http://schemas.openxmlformats.org/officeDocument/2006/relationships/image" Target="../media/image8.e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1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E165661-CE94-E7CF-2628-56B6B51635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381000"/>
            <a:ext cx="7772400" cy="1920875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/>
              <a:t>CHAPTER 2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BF2713B-5B17-5A0E-9522-3B8CB4B85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895600"/>
            <a:ext cx="7467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7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Basic Structure</a:t>
            </a:r>
            <a:endParaRPr lang="en-US" sz="7200" dirty="0"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build="p" autoUpdateAnimBg="0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C2B34E0-D372-433C-BBEC-937028BB485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800">
                <a:solidFill>
                  <a:schemeClr val="hlink"/>
                </a:solidFill>
              </a:rPr>
              <a:t>CONTENTS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D92D06D-258A-3D34-511E-8915119AD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76400"/>
            <a:ext cx="7010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2.1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Sets 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2.2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Set Operations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2.3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Functions.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AA084A-671B-5F90-CF5E-7E9A08E4B2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800">
                <a:solidFill>
                  <a:schemeClr val="hlink"/>
                </a:solidFill>
                <a:cs typeface="Times New Roman" pitchFamily="18" charset="0"/>
              </a:rPr>
              <a:t>2.1 Sets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362E1D0-BB75-911B-F769-3620955F9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47800"/>
            <a:ext cx="7010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</a:rPr>
              <a:t>2.1.1 Definitions and Notation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</a:rPr>
              <a:t>2.1.2 Cardinality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</a:rPr>
              <a:t>2.1.3 Power </a:t>
            </a: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latin typeface="Times" pitchFamily="2" charset="0"/>
                <a:cs typeface="Times New Roman" panose="02020603050405020304" pitchFamily="18" charset="0"/>
              </a:rPr>
              <a:t>2.1.4 Cartesian Products</a:t>
            </a:r>
            <a:r>
              <a:rPr lang="en-US" altLang="en-US" sz="3600">
                <a:latin typeface="Times" pitchFamily="2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build="p" autoUpdateAnimBg="0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D67D968-2DA0-1569-9272-A5242C8E70C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BD6686F-71C5-85B2-B49B-91AA778E5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8077200" cy="3276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{1, 2, 3} is the set containing “1” and “2” and “3.”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{1, 1, 2, 3, 3} = {1, 2, 3} since repetition is irrelevant.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{1, 2, 3} = {3, 2, 1} since sets are unordered.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{1, 2, 3, …} is a way we denote an infinite set (in this case, the natural numbers).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 = {} is the empty set, or the set containing no element.</a:t>
            </a: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95E3B1A1-57B0-2365-2AC3-C4C4E305CF4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791200"/>
            <a:ext cx="3733800" cy="609600"/>
            <a:chOff x="288" y="3168"/>
            <a:chExt cx="4428" cy="768"/>
          </a:xfrm>
        </p:grpSpPr>
        <p:sp>
          <p:nvSpPr>
            <p:cNvPr id="6151" name="Oval 5">
              <a:extLst>
                <a:ext uri="{FF2B5EF4-FFF2-40B4-BE49-F238E27FC236}">
                  <a16:creationId xmlns:a16="http://schemas.microsoft.com/office/drawing/2014/main" id="{C7DB692F-0AE4-F67A-38BB-0912D8434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52" name="Text Box 6">
              <a:extLst>
                <a:ext uri="{FF2B5EF4-FFF2-40B4-BE49-F238E27FC236}">
                  <a16:creationId xmlns:a16="http://schemas.microsoft.com/office/drawing/2014/main" id="{DC11B91E-01D2-083B-B961-EB41040CD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3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Note: </a:t>
              </a:r>
              <a:r>
                <a:rPr lang="en-US" altLang="en-US" sz="2400" b="1">
                  <a:latin typeface="Comic Sans MS" panose="030F0902030302020204" pitchFamily="66" charset="0"/>
                  <a:sym typeface="Symbol" pitchFamily="2" charset="2"/>
                </a:rPr>
                <a:t></a:t>
              </a: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  {</a:t>
              </a:r>
              <a:r>
                <a:rPr lang="en-US" altLang="en-US" sz="2400" b="1">
                  <a:latin typeface="Comic Sans MS" panose="030F0902030302020204" pitchFamily="66" charset="0"/>
                  <a:sym typeface="Symbol" pitchFamily="2" charset="2"/>
                </a:rPr>
                <a:t></a:t>
              </a: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} </a:t>
              </a:r>
            </a:p>
          </p:txBody>
        </p:sp>
      </p:grpSp>
      <p:sp>
        <p:nvSpPr>
          <p:cNvPr id="27655" name="Rectangle 7">
            <a:extLst>
              <a:ext uri="{FF2B5EF4-FFF2-40B4-BE49-F238E27FC236}">
                <a16:creationId xmlns:a16="http://schemas.microsoft.com/office/drawing/2014/main" id="{E77EBA01-6648-D36F-D18F-B579BFE9B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49338"/>
            <a:ext cx="8215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Definition.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set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 an unordered collection of elements.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F94E67BF-587D-3599-411B-24B89E525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76400"/>
            <a:ext cx="1779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Examples.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build="p" bldLvl="2" autoUpdateAnimBg="0"/>
      <p:bldP spid="27655" grpId="0" autoUpdateAnimBg="0"/>
      <p:bldP spid="2765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764C19A-625F-AC6B-C6F0-61E647F23E5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EC5E1D1-3694-6E21-94AE-D16B46AF9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7356475" cy="1600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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 means “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is an element of set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.”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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 means “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is not an element of set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.”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sym typeface="Symbol" pitchFamily="18" charset="2"/>
              </a:rPr>
              <a:t>A</a:t>
            </a:r>
            <a:r>
              <a:rPr lang="en-US" sz="2800">
                <a:sym typeface="Symbol" pitchFamily="18" charset="2"/>
              </a:rPr>
              <a:t>  </a:t>
            </a:r>
            <a:r>
              <a:rPr lang="en-US" sz="2800" i="1">
                <a:sym typeface="Symbol" pitchFamily="18" charset="2"/>
              </a:rPr>
              <a:t>B</a:t>
            </a:r>
            <a:r>
              <a:rPr lang="en-US" sz="2800">
                <a:sym typeface="Symbol" pitchFamily="18" charset="2"/>
              </a:rPr>
              <a:t> means “</a:t>
            </a:r>
            <a:r>
              <a:rPr lang="en-US" sz="2800" i="1">
                <a:sym typeface="Symbol" pitchFamily="18" charset="2"/>
              </a:rPr>
              <a:t>A</a:t>
            </a:r>
            <a:r>
              <a:rPr lang="en-US" sz="2800">
                <a:sym typeface="Symbol" pitchFamily="18" charset="2"/>
              </a:rPr>
              <a:t> is a subset of </a:t>
            </a:r>
            <a:r>
              <a:rPr lang="en-US" sz="2800" i="1">
                <a:sym typeface="Symbol" pitchFamily="18" charset="2"/>
              </a:rPr>
              <a:t>B</a:t>
            </a:r>
            <a:r>
              <a:rPr lang="en-US" sz="2800">
                <a:sym typeface="Symbol" pitchFamily="18" charset="2"/>
              </a:rPr>
              <a:t>.”</a:t>
            </a:r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AD5A6D06-7901-5BF2-0425-D23B20F06D4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953000"/>
            <a:ext cx="2286000" cy="609600"/>
            <a:chOff x="288" y="3168"/>
            <a:chExt cx="4428" cy="768"/>
          </a:xfrm>
        </p:grpSpPr>
        <p:sp>
          <p:nvSpPr>
            <p:cNvPr id="7186" name="Oval 5">
              <a:extLst>
                <a:ext uri="{FF2B5EF4-FFF2-40B4-BE49-F238E27FC236}">
                  <a16:creationId xmlns:a16="http://schemas.microsoft.com/office/drawing/2014/main" id="{110CFFE9-C180-DCFE-D029-4996E40D9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7" name="Text Box 6">
              <a:extLst>
                <a:ext uri="{FF2B5EF4-FFF2-40B4-BE49-F238E27FC236}">
                  <a16:creationId xmlns:a16="http://schemas.microsoft.com/office/drawing/2014/main" id="{43B6B949-671A-AC07-2C14-D66EB8305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solidFill>
                    <a:schemeClr val="bg2"/>
                  </a:solidFill>
                  <a:latin typeface="Comic Sans MS" panose="030F0902030302020204" pitchFamily="66" charset="0"/>
                  <a:sym typeface="Symbol" pitchFamily="2" charset="2"/>
                </a:rPr>
                <a:t>Venn Diagram</a:t>
              </a:r>
            </a:p>
          </p:txBody>
        </p:sp>
      </p:grpSp>
      <p:sp>
        <p:nvSpPr>
          <p:cNvPr id="28679" name="Rectangle 7">
            <a:extLst>
              <a:ext uri="{FF2B5EF4-FFF2-40B4-BE49-F238E27FC236}">
                <a16:creationId xmlns:a16="http://schemas.microsoft.com/office/drawing/2014/main" id="{0677F103-FD4B-F16A-5CED-A3EC84952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95600"/>
            <a:ext cx="6019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>
                <a:latin typeface="Times" pitchFamily="2" charset="0"/>
                <a:sym typeface="Symbol" pitchFamily="2" charset="2"/>
              </a:rPr>
              <a:t>or, “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B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 contains 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A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.”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latin typeface="Times" pitchFamily="2" charset="0"/>
                <a:sym typeface="Symbol" pitchFamily="2" charset="2"/>
              </a:rPr>
              <a:t>or, “every element of 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A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 is also in 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B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.”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latin typeface="Times" pitchFamily="2" charset="0"/>
                <a:sym typeface="Symbol" pitchFamily="2" charset="2"/>
              </a:rPr>
              <a:t>or, 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 ((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A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)  (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" pitchFamily="2" charset="0"/>
                <a:sym typeface="Symbol" pitchFamily="2" charset="2"/>
              </a:rPr>
              <a:t>B</a:t>
            </a:r>
            <a:r>
              <a:rPr lang="en-US" altLang="en-US" sz="2800">
                <a:latin typeface="Times" pitchFamily="2" charset="0"/>
                <a:sym typeface="Symbol" pitchFamily="2" charset="2"/>
              </a:rPr>
              <a:t>)).</a:t>
            </a:r>
          </a:p>
        </p:txBody>
      </p:sp>
      <p:grpSp>
        <p:nvGrpSpPr>
          <p:cNvPr id="28680" name="Group 8">
            <a:extLst>
              <a:ext uri="{FF2B5EF4-FFF2-40B4-BE49-F238E27FC236}">
                <a16:creationId xmlns:a16="http://schemas.microsoft.com/office/drawing/2014/main" id="{CA2B491A-243D-D67B-6894-21BFCB06265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495800"/>
            <a:ext cx="2438400" cy="1524000"/>
            <a:chOff x="1728" y="2832"/>
            <a:chExt cx="1536" cy="960"/>
          </a:xfrm>
        </p:grpSpPr>
        <p:sp>
          <p:nvSpPr>
            <p:cNvPr id="7175" name="Rectangle 9">
              <a:extLst>
                <a:ext uri="{FF2B5EF4-FFF2-40B4-BE49-F238E27FC236}">
                  <a16:creationId xmlns:a16="http://schemas.microsoft.com/office/drawing/2014/main" id="{481A4DD3-05F9-817E-14DD-8E2757D16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32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6" name="Oval 10">
              <a:extLst>
                <a:ext uri="{FF2B5EF4-FFF2-40B4-BE49-F238E27FC236}">
                  <a16:creationId xmlns:a16="http://schemas.microsoft.com/office/drawing/2014/main" id="{48D8D1D4-E9B8-99F4-13F3-32BF4BF90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28"/>
              <a:ext cx="768" cy="76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7" name="Oval 11">
              <a:extLst>
                <a:ext uri="{FF2B5EF4-FFF2-40B4-BE49-F238E27FC236}">
                  <a16:creationId xmlns:a16="http://schemas.microsoft.com/office/drawing/2014/main" id="{EC1EABE8-20B6-4C02-2E93-840BB3BC7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976"/>
              <a:ext cx="528" cy="52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8" name="Oval 12">
              <a:extLst>
                <a:ext uri="{FF2B5EF4-FFF2-40B4-BE49-F238E27FC236}">
                  <a16:creationId xmlns:a16="http://schemas.microsoft.com/office/drawing/2014/main" id="{3ED26528-06EC-5A89-D9D0-4FD4D9946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216"/>
              <a:ext cx="58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9" name="Oval 13">
              <a:extLst>
                <a:ext uri="{FF2B5EF4-FFF2-40B4-BE49-F238E27FC236}">
                  <a16:creationId xmlns:a16="http://schemas.microsoft.com/office/drawing/2014/main" id="{3441DDAF-7E55-55D6-114D-2F3BE7B35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360"/>
              <a:ext cx="58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0" name="Oval 14">
              <a:extLst>
                <a:ext uri="{FF2B5EF4-FFF2-40B4-BE49-F238E27FC236}">
                  <a16:creationId xmlns:a16="http://schemas.microsoft.com/office/drawing/2014/main" id="{B08FE41C-417F-7F44-041A-0DBED2D41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552"/>
              <a:ext cx="58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1" name="Oval 15">
              <a:extLst>
                <a:ext uri="{FF2B5EF4-FFF2-40B4-BE49-F238E27FC236}">
                  <a16:creationId xmlns:a16="http://schemas.microsoft.com/office/drawing/2014/main" id="{A3FA6214-C371-12CA-96D8-38BA4C458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58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7182" name="Oval 16">
              <a:extLst>
                <a:ext uri="{FF2B5EF4-FFF2-40B4-BE49-F238E27FC236}">
                  <a16:creationId xmlns:a16="http://schemas.microsoft.com/office/drawing/2014/main" id="{AA2E0EAC-B1AA-6E6A-3872-D174B5ACD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360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3" name="Oval 17">
              <a:extLst>
                <a:ext uri="{FF2B5EF4-FFF2-40B4-BE49-F238E27FC236}">
                  <a16:creationId xmlns:a16="http://schemas.microsoft.com/office/drawing/2014/main" id="{2509F225-3D04-8C98-6476-F9B06F9E5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976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4" name="Rectangle 18">
              <a:extLst>
                <a:ext uri="{FF2B5EF4-FFF2-40B4-BE49-F238E27FC236}">
                  <a16:creationId xmlns:a16="http://schemas.microsoft.com/office/drawing/2014/main" id="{0D588D2E-00B3-B2AC-97B6-EFA2D4659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08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solidFill>
                    <a:schemeClr val="bg2"/>
                  </a:solidFill>
                  <a:latin typeface="Times New Roman" panose="02020603050405020304" pitchFamily="18" charset="0"/>
                  <a:sym typeface="Symbol" pitchFamily="2" charset="2"/>
                </a:rPr>
                <a:t>B</a:t>
              </a:r>
            </a:p>
          </p:txBody>
        </p:sp>
        <p:sp>
          <p:nvSpPr>
            <p:cNvPr id="7185" name="Rectangle 19">
              <a:extLst>
                <a:ext uri="{FF2B5EF4-FFF2-40B4-BE49-F238E27FC236}">
                  <a16:creationId xmlns:a16="http://schemas.microsoft.com/office/drawing/2014/main" id="{FECEA576-5A86-8407-112F-364659982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7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solidFill>
                    <a:schemeClr val="bg2"/>
                  </a:solidFill>
                  <a:latin typeface="Times New Roman" panose="02020603050405020304" pitchFamily="18" charset="0"/>
                  <a:sym typeface="Symbol" pitchFamily="2" charset="2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build="p" bldLvl="2" autoUpdateAnimBg="0"/>
      <p:bldP spid="286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C9F900D-16A1-45A8-33D2-A20DD64B8C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1E6828A-D97B-1D19-848A-EDA828DEC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839200" cy="1524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sym typeface="Symbol" pitchFamily="18" charset="2"/>
              </a:rPr>
              <a:t>A</a:t>
            </a:r>
            <a:r>
              <a:rPr lang="en-US" sz="2800">
                <a:sym typeface="Symbol" pitchFamily="18" charset="2"/>
              </a:rPr>
              <a:t>  </a:t>
            </a:r>
            <a:r>
              <a:rPr lang="en-US" sz="2800" i="1">
                <a:sym typeface="Symbol" pitchFamily="18" charset="2"/>
              </a:rPr>
              <a:t>B</a:t>
            </a:r>
            <a:r>
              <a:rPr lang="en-US" sz="2800">
                <a:sym typeface="Symbol" pitchFamily="18" charset="2"/>
              </a:rPr>
              <a:t> means “</a:t>
            </a:r>
            <a:r>
              <a:rPr lang="en-US" sz="2800" i="1">
                <a:sym typeface="Symbol" pitchFamily="18" charset="2"/>
              </a:rPr>
              <a:t>A</a:t>
            </a:r>
            <a:r>
              <a:rPr lang="en-US" sz="2800">
                <a:sym typeface="Symbol" pitchFamily="18" charset="2"/>
              </a:rPr>
              <a:t> is a subset of </a:t>
            </a:r>
            <a:r>
              <a:rPr lang="en-US" sz="2800" i="1">
                <a:sym typeface="Symbol" pitchFamily="18" charset="2"/>
              </a:rPr>
              <a:t>B</a:t>
            </a:r>
            <a:r>
              <a:rPr lang="en-US" sz="2800">
                <a:sym typeface="Symbol" pitchFamily="18" charset="2"/>
              </a:rPr>
              <a:t>.”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lr>
                <a:schemeClr val="bg1"/>
              </a:buClr>
              <a:buFontTx/>
              <a:buNone/>
              <a:defRPr/>
            </a:pPr>
            <a:r>
              <a:rPr lang="en-US" sz="2800" i="1"/>
              <a:t>A</a:t>
            </a:r>
            <a:r>
              <a:rPr lang="en-US" sz="2800"/>
              <a:t> </a:t>
            </a:r>
            <a:r>
              <a:rPr lang="en-US" sz="2800">
                <a:sym typeface="Symbol" pitchFamily="18" charset="2"/>
              </a:rPr>
              <a:t></a:t>
            </a:r>
            <a:r>
              <a:rPr lang="en-US" sz="2800"/>
              <a:t> </a:t>
            </a:r>
            <a:r>
              <a:rPr lang="en-US" sz="2800" i="1"/>
              <a:t>B</a:t>
            </a:r>
            <a:r>
              <a:rPr lang="en-US" sz="2800"/>
              <a:t> means “</a:t>
            </a:r>
            <a:r>
              <a:rPr lang="en-US" sz="2800" i="1"/>
              <a:t>A</a:t>
            </a:r>
            <a:r>
              <a:rPr lang="en-US" sz="2800"/>
              <a:t> is a superset of </a:t>
            </a:r>
            <a:r>
              <a:rPr lang="en-US" sz="2800" i="1"/>
              <a:t>B</a:t>
            </a:r>
            <a:r>
              <a:rPr lang="en-US" sz="2800"/>
              <a:t>.”</a:t>
            </a:r>
          </a:p>
          <a:p>
            <a:pPr>
              <a:lnSpc>
                <a:spcPct val="6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/>
              <a:t>A = B</a:t>
            </a:r>
            <a:r>
              <a:rPr lang="en-US" sz="2800"/>
              <a:t> if and only if </a:t>
            </a:r>
            <a:r>
              <a:rPr lang="en-US" sz="2800" i="1"/>
              <a:t>A</a:t>
            </a:r>
            <a:r>
              <a:rPr lang="en-US" sz="2800"/>
              <a:t> and </a:t>
            </a:r>
            <a:r>
              <a:rPr lang="en-US" sz="2800" i="1"/>
              <a:t>B</a:t>
            </a:r>
            <a:r>
              <a:rPr lang="en-US" sz="2800"/>
              <a:t> have exactly the same elements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en-US" sz="2800">
              <a:sym typeface="Symbol" pitchFamily="18" charset="2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99FB6B95-293F-71AD-AB7F-79149CDAF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048000"/>
            <a:ext cx="6019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iff,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iff,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and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</a:rPr>
              <a:t>B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endParaRPr lang="en-US" altLang="en-US" sz="2800">
              <a:latin typeface="Times New Roman" panose="02020603050405020304" pitchFamily="18" charset="0"/>
              <a:sym typeface="Symbol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iff, 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((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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)).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4AD1AE2C-4E8E-5023-6D41-F70BF694D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343400"/>
            <a:ext cx="6477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So to show equality of sets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show:</a:t>
            </a:r>
          </a:p>
          <a:p>
            <a:pPr>
              <a:lnSpc>
                <a:spcPct val="90000"/>
              </a:lnSpc>
            </a:pPr>
            <a:endParaRPr lang="en-US" altLang="en-US" sz="2800">
              <a:latin typeface="Times New Roman" panose="02020603050405020304" pitchFamily="18" charset="0"/>
              <a:sym typeface="Symbol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</a:p>
          <a:p>
            <a:pPr lvl="1">
              <a:lnSpc>
                <a:spcPct val="90000"/>
              </a:lnSpc>
            </a:pPr>
            <a:endParaRPr lang="en-US" altLang="en-US" sz="2800">
              <a:latin typeface="Times New Roman" panose="02020603050405020304" pitchFamily="18" charset="0"/>
              <a:sym typeface="Symbol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699" grpId="0" build="p" bldLvl="2" autoUpdateAnimBg="0"/>
      <p:bldP spid="29700" grpId="0" build="p" autoUpdateAnimBg="0"/>
      <p:bldP spid="29701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71EE56B-9B38-CA1A-2F15-BAF2E591B9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DE4D5D0-0A32-7E8C-BC50-BB5E376C6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2286000"/>
          </a:xfrm>
        </p:spPr>
        <p:txBody>
          <a:bodyPr/>
          <a:lstStyle/>
          <a:p>
            <a:pPr marL="169863" indent="-1698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i="1">
                <a:sym typeface="Symbol" pitchFamily="18" charset="2"/>
              </a:rPr>
              <a:t>A</a:t>
            </a:r>
            <a:r>
              <a:rPr lang="en-US">
                <a:sym typeface="Symbol" pitchFamily="18" charset="2"/>
              </a:rPr>
              <a:t>  </a:t>
            </a:r>
            <a:r>
              <a:rPr lang="en-US" i="1">
                <a:sym typeface="Symbol" pitchFamily="18" charset="2"/>
              </a:rPr>
              <a:t>B</a:t>
            </a:r>
            <a:r>
              <a:rPr lang="en-US">
                <a:sym typeface="Symbol" pitchFamily="18" charset="2"/>
              </a:rPr>
              <a:t> means “</a:t>
            </a:r>
            <a:r>
              <a:rPr lang="en-US" i="1">
                <a:sym typeface="Symbol" pitchFamily="18" charset="2"/>
              </a:rPr>
              <a:t>A</a:t>
            </a:r>
            <a:r>
              <a:rPr lang="en-US">
                <a:sym typeface="Symbol" pitchFamily="18" charset="2"/>
              </a:rPr>
              <a:t> is a proper subset of </a:t>
            </a:r>
            <a:r>
              <a:rPr lang="en-US" i="1">
                <a:sym typeface="Symbol" pitchFamily="18" charset="2"/>
              </a:rPr>
              <a:t>B</a:t>
            </a:r>
            <a:r>
              <a:rPr lang="en-US">
                <a:sym typeface="Symbol" pitchFamily="18" charset="2"/>
              </a:rPr>
              <a:t>.”</a:t>
            </a:r>
            <a:endParaRPr lang="en-US"/>
          </a:p>
          <a:p>
            <a:pPr marL="457200" lvl="1" indent="-169863" eaLnBrk="1" hangingPunct="1">
              <a:lnSpc>
                <a:spcPct val="90000"/>
              </a:lnSpc>
              <a:defRPr/>
            </a:pPr>
            <a:r>
              <a:rPr lang="en-US" sz="3200" i="1">
                <a:sym typeface="Symbol" pitchFamily="18" charset="2"/>
              </a:rPr>
              <a:t>A</a:t>
            </a:r>
            <a:r>
              <a:rPr lang="en-US" sz="3200">
                <a:sym typeface="Symbol" pitchFamily="18" charset="2"/>
              </a:rPr>
              <a:t>  </a:t>
            </a:r>
            <a:r>
              <a:rPr lang="en-US" sz="3200" i="1">
                <a:sym typeface="Symbol" pitchFamily="18" charset="2"/>
              </a:rPr>
              <a:t>B</a:t>
            </a:r>
            <a:r>
              <a:rPr lang="en-US" sz="3200"/>
              <a:t>, and </a:t>
            </a:r>
            <a:r>
              <a:rPr lang="en-US" sz="3200" i="1"/>
              <a:t>A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 </a:t>
            </a:r>
            <a:r>
              <a:rPr lang="en-US" sz="3200" i="1">
                <a:sym typeface="Symbol" pitchFamily="18" charset="2"/>
              </a:rPr>
              <a:t>B</a:t>
            </a:r>
            <a:r>
              <a:rPr lang="en-US" sz="3200">
                <a:sym typeface="Symbol" pitchFamily="18" charset="2"/>
              </a:rPr>
              <a:t>.</a:t>
            </a:r>
          </a:p>
          <a:p>
            <a:pPr marL="457200" lvl="1" indent="-169863" eaLnBrk="1" hangingPunct="1">
              <a:lnSpc>
                <a:spcPct val="90000"/>
              </a:lnSpc>
              <a:defRPr/>
            </a:pPr>
            <a:r>
              <a:rPr lang="en-US" sz="3200">
                <a:sym typeface="Symbol" pitchFamily="18" charset="2"/>
              </a:rPr>
              <a:t></a:t>
            </a:r>
            <a:r>
              <a:rPr lang="en-US" sz="3200" i="1"/>
              <a:t>x</a:t>
            </a:r>
            <a:r>
              <a:rPr lang="en-US" sz="3200"/>
              <a:t> ((</a:t>
            </a:r>
            <a:r>
              <a:rPr lang="en-US" sz="3200" i="1"/>
              <a:t>x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</a:t>
            </a:r>
            <a:r>
              <a:rPr lang="en-US" sz="3200"/>
              <a:t> </a:t>
            </a:r>
            <a:r>
              <a:rPr lang="en-US" sz="3200" i="1"/>
              <a:t>A</a:t>
            </a:r>
            <a:r>
              <a:rPr lang="en-US" sz="3200"/>
              <a:t>) </a:t>
            </a:r>
            <a:r>
              <a:rPr lang="en-US" sz="3200">
                <a:sym typeface="Symbol" pitchFamily="18" charset="2"/>
              </a:rPr>
              <a:t></a:t>
            </a:r>
            <a:r>
              <a:rPr lang="en-US" sz="3200"/>
              <a:t> (</a:t>
            </a:r>
            <a:r>
              <a:rPr lang="en-US" sz="3200" i="1"/>
              <a:t>x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</a:t>
            </a:r>
            <a:r>
              <a:rPr lang="en-US" sz="3200"/>
              <a:t> </a:t>
            </a:r>
            <a:r>
              <a:rPr lang="en-US" sz="3200" i="1"/>
              <a:t>B</a:t>
            </a:r>
            <a:r>
              <a:rPr lang="en-US" sz="3200"/>
              <a:t>)) </a:t>
            </a:r>
          </a:p>
          <a:p>
            <a:pPr marL="457200" lvl="1" indent="-1698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200">
                <a:sym typeface="Symbol" pitchFamily="18" charset="2"/>
              </a:rPr>
              <a:t>					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</a:t>
            </a:r>
            <a:r>
              <a:rPr lang="en-US" sz="3200" i="1"/>
              <a:t>x</a:t>
            </a:r>
            <a:r>
              <a:rPr lang="en-US" sz="3200"/>
              <a:t> ((</a:t>
            </a:r>
            <a:r>
              <a:rPr lang="en-US" sz="3200" i="1"/>
              <a:t>x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</a:t>
            </a:r>
            <a:r>
              <a:rPr lang="en-US" sz="3200"/>
              <a:t> </a:t>
            </a:r>
            <a:r>
              <a:rPr lang="en-US" sz="3200" i="1"/>
              <a:t>B</a:t>
            </a:r>
            <a:r>
              <a:rPr lang="en-US" sz="3200"/>
              <a:t>) </a:t>
            </a:r>
            <a:r>
              <a:rPr lang="en-US" sz="3200">
                <a:sym typeface="Symbol" pitchFamily="18" charset="2"/>
              </a:rPr>
              <a:t></a:t>
            </a:r>
            <a:r>
              <a:rPr lang="en-US" sz="3200"/>
              <a:t> (</a:t>
            </a:r>
            <a:r>
              <a:rPr lang="en-US" sz="3200" i="1"/>
              <a:t>x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</a:t>
            </a:r>
            <a:r>
              <a:rPr lang="en-US" sz="3200"/>
              <a:t> </a:t>
            </a:r>
            <a:r>
              <a:rPr lang="en-US" sz="3200" i="1"/>
              <a:t>A</a:t>
            </a:r>
            <a:r>
              <a:rPr lang="en-US" sz="3200"/>
              <a:t>))</a:t>
            </a:r>
          </a:p>
          <a:p>
            <a:pPr marL="457200" lvl="1" indent="-169863" eaLnBrk="1" hangingPunct="1">
              <a:lnSpc>
                <a:spcPct val="90000"/>
              </a:lnSpc>
              <a:defRPr/>
            </a:pPr>
            <a:endParaRPr lang="en-US" sz="3200"/>
          </a:p>
        </p:txBody>
      </p:sp>
      <p:grpSp>
        <p:nvGrpSpPr>
          <p:cNvPr id="30724" name="Group 4">
            <a:extLst>
              <a:ext uri="{FF2B5EF4-FFF2-40B4-BE49-F238E27FC236}">
                <a16:creationId xmlns:a16="http://schemas.microsoft.com/office/drawing/2014/main" id="{8BC6D84C-743E-793D-3DA5-C3E888A3BDA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800600"/>
            <a:ext cx="2438400" cy="1524000"/>
            <a:chOff x="1824" y="3024"/>
            <a:chExt cx="1536" cy="960"/>
          </a:xfrm>
        </p:grpSpPr>
        <p:sp>
          <p:nvSpPr>
            <p:cNvPr id="9221" name="Rectangle 5">
              <a:extLst>
                <a:ext uri="{FF2B5EF4-FFF2-40B4-BE49-F238E27FC236}">
                  <a16:creationId xmlns:a16="http://schemas.microsoft.com/office/drawing/2014/main" id="{0ACA3F4D-A25F-9C3D-A052-9AB885E2D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024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2" name="Oval 6">
              <a:extLst>
                <a:ext uri="{FF2B5EF4-FFF2-40B4-BE49-F238E27FC236}">
                  <a16:creationId xmlns:a16="http://schemas.microsoft.com/office/drawing/2014/main" id="{89B2453A-CF6B-7D0C-DBB2-6C2BC484D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120"/>
              <a:ext cx="768" cy="76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3" name="Oval 7">
              <a:extLst>
                <a:ext uri="{FF2B5EF4-FFF2-40B4-BE49-F238E27FC236}">
                  <a16:creationId xmlns:a16="http://schemas.microsoft.com/office/drawing/2014/main" id="{8F46F8FC-D539-5EBA-A238-E9DB229E1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68"/>
              <a:ext cx="528" cy="52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8893CE73-E748-28E3-05E0-C00480883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26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solidFill>
                    <a:schemeClr val="bg2"/>
                  </a:solidFill>
                  <a:latin typeface="Times New Roman" panose="02020603050405020304" pitchFamily="18" charset="0"/>
                  <a:sym typeface="Symbol" pitchFamily="2" charset="2"/>
                </a:rPr>
                <a:t>A</a:t>
              </a:r>
            </a:p>
          </p:txBody>
        </p:sp>
        <p:sp>
          <p:nvSpPr>
            <p:cNvPr id="9225" name="Oval 9">
              <a:extLst>
                <a:ext uri="{FF2B5EF4-FFF2-40B4-BE49-F238E27FC236}">
                  <a16:creationId xmlns:a16="http://schemas.microsoft.com/office/drawing/2014/main" id="{17148B3A-0E17-7B29-2F2E-FA09E4F86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744"/>
              <a:ext cx="58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6" name="Rectangle 10">
              <a:extLst>
                <a:ext uri="{FF2B5EF4-FFF2-40B4-BE49-F238E27FC236}">
                  <a16:creationId xmlns:a16="http://schemas.microsoft.com/office/drawing/2014/main" id="{2306247E-EEA5-5E12-6644-C310A235B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00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solidFill>
                    <a:schemeClr val="bg2"/>
                  </a:solidFill>
                  <a:latin typeface="Times New Roman" panose="02020603050405020304" pitchFamily="18" charset="0"/>
                  <a:sym typeface="Symbol" pitchFamily="2" charset="2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build="p" bldLvl="3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FAA48B9-7984-0BC7-9859-A1942782068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8EF0B57-AD6C-97D5-36E7-EF8A3E9F9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05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>
                <a:sym typeface="Symbol" pitchFamily="18" charset="2"/>
              </a:rPr>
              <a:t>Quick examples:</a:t>
            </a:r>
            <a:endParaRPr lang="en-US" sz="280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/>
              <a:t>{1,2,3} </a:t>
            </a:r>
            <a:r>
              <a:rPr lang="en-US" sz="2800">
                <a:sym typeface="Symbol" pitchFamily="18" charset="2"/>
              </a:rPr>
              <a:t> {1,2,3,4,5}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/>
              <a:t>{1,2,3} </a:t>
            </a:r>
            <a:r>
              <a:rPr lang="en-US" sz="2800">
                <a:sym typeface="Symbol" pitchFamily="18" charset="2"/>
              </a:rPr>
              <a:t> {1,2,3,4,5}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>
                <a:sym typeface="Symbol" pitchFamily="18" charset="2"/>
              </a:rPr>
              <a:t>Is </a:t>
            </a:r>
            <a:r>
              <a:rPr lang="en-US" sz="2800" b="1">
                <a:sym typeface="Symbol" pitchFamily="18" charset="2"/>
              </a:rPr>
              <a:t></a:t>
            </a:r>
            <a:r>
              <a:rPr lang="en-US" sz="2800">
                <a:sym typeface="Symbol" pitchFamily="18" charset="2"/>
              </a:rPr>
              <a:t>  {1,2,3}?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22E257E2-1EAC-5D7A-B570-0B69C9520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505200"/>
            <a:ext cx="6019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Yes!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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</a:t>
            </a:r>
            <a:r>
              <a:rPr lang="en-US" altLang="en-US" sz="2800">
                <a:latin typeface="Times New Roman" panose="02020603050405020304" pitchFamily="18" charset="0"/>
              </a:rPr>
              <a:t> (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 {1,2,3}) holds,</a:t>
            </a:r>
          </a:p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because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is false.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1E4465C7-CD9C-C6F6-71DB-6FE4F46DB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95800"/>
            <a:ext cx="251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{1,2,3}?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89024AC2-8A8B-AC7C-C252-1BB4A2B5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495800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  <a:sym typeface="Symbol" pitchFamily="2" charset="2"/>
              </a:rPr>
              <a:t>No!</a:t>
            </a:r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</a:rPr>
              <a:t> </a:t>
            </a:r>
            <a:endParaRPr lang="en-US" altLang="en-US" sz="2400" b="1">
              <a:solidFill>
                <a:schemeClr val="hlink"/>
              </a:solidFill>
              <a:latin typeface="Comic Sans MS" panose="030F0902030302020204" pitchFamily="66" charset="0"/>
              <a:sym typeface="Symbol" pitchFamily="2" charset="2"/>
            </a:endParaRP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A4287702-A28E-A4C1-49D9-50919891C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029200"/>
            <a:ext cx="2895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 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,1,2,3}?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0133D5D1-576C-A150-7202-1292CC68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105400"/>
            <a:ext cx="83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  <a:sym typeface="Symbol" pitchFamily="2" charset="2"/>
              </a:rPr>
              <a:t>Yes!</a:t>
            </a:r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</a:rPr>
              <a:t> </a:t>
            </a:r>
            <a:endParaRPr lang="en-US" altLang="en-US" sz="2400" b="1">
              <a:solidFill>
                <a:schemeClr val="hlink"/>
              </a:solidFill>
              <a:latin typeface="Comic Sans MS" panose="030F0902030302020204" pitchFamily="66" charset="0"/>
              <a:sym typeface="Symbol" pitchFamily="2" charset="2"/>
            </a:endParaRPr>
          </a:p>
        </p:txBody>
      </p:sp>
      <p:sp>
        <p:nvSpPr>
          <p:cNvPr id="31753" name="Rectangle 9">
            <a:extLst>
              <a:ext uri="{FF2B5EF4-FFF2-40B4-BE49-F238E27FC236}">
                <a16:creationId xmlns:a16="http://schemas.microsoft.com/office/drawing/2014/main" id="{801D2518-28AA-FAEB-121B-5B06FD8E2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562600"/>
            <a:ext cx="2895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,1,2,3}?</a:t>
            </a: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FB3689B0-781A-3458-3F12-D32F6F74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638800"/>
            <a:ext cx="83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  <a:sym typeface="Symbol" pitchFamily="2" charset="2"/>
              </a:rPr>
              <a:t>Yes!</a:t>
            </a:r>
            <a:r>
              <a:rPr lang="en-US" altLang="en-US" sz="2400" b="1">
                <a:solidFill>
                  <a:schemeClr val="hlink"/>
                </a:solidFill>
                <a:latin typeface="Comic Sans MS" panose="030F0902030302020204" pitchFamily="66" charset="0"/>
              </a:rPr>
              <a:t> </a:t>
            </a:r>
            <a:endParaRPr lang="en-US" altLang="en-US" sz="2400" b="1">
              <a:solidFill>
                <a:schemeClr val="hlink"/>
              </a:solidFill>
              <a:latin typeface="Comic Sans MS" panose="030F0902030302020204" pitchFamily="66" charset="0"/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7" grpId="0" build="p" bldLvl="2" autoUpdateAnimBg="0"/>
      <p:bldP spid="31748" grpId="0" build="p" autoUpdateAnimBg="0"/>
      <p:bldP spid="31749" grpId="0" autoUpdateAnimBg="0"/>
      <p:bldP spid="31750" grpId="0" autoUpdateAnimBg="0"/>
      <p:bldP spid="31751" grpId="0" autoUpdateAnimBg="0"/>
      <p:bldP spid="31752" grpId="0" autoUpdateAnimBg="0"/>
      <p:bldP spid="31753" grpId="0" autoUpdateAnimBg="0"/>
      <p:bldP spid="317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9FAEDCF-45CC-C3B0-4C25-8C421E7EA4F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2.1.1 Definitions and notation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C4B186E-C958-088B-CF2B-810B1E5F0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362200"/>
            <a:ext cx="2971800" cy="68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2800">
                <a:sym typeface="Symbol" pitchFamily="18" charset="2"/>
              </a:rPr>
              <a:t>Is {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}  {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}?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335FDAB3-58EA-22D2-4C8D-9C0484196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05200"/>
            <a:ext cx="2895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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}}?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EADABA13-4102-F626-1A51-DB81808F5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19600"/>
            <a:ext cx="2895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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}}?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943CE722-BFE6-CB11-7BCB-AB3D9E295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10200"/>
            <a:ext cx="2743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Is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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}?</a:t>
            </a:r>
          </a:p>
        </p:txBody>
      </p:sp>
      <p:grpSp>
        <p:nvGrpSpPr>
          <p:cNvPr id="32775" name="Group 7">
            <a:extLst>
              <a:ext uri="{FF2B5EF4-FFF2-40B4-BE49-F238E27FC236}">
                <a16:creationId xmlns:a16="http://schemas.microsoft.com/office/drawing/2014/main" id="{05A4E9A3-23F1-2EFB-39A9-575AE90E22A8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362200"/>
            <a:ext cx="990600" cy="533400"/>
            <a:chOff x="288" y="3168"/>
            <a:chExt cx="4428" cy="768"/>
          </a:xfrm>
        </p:grpSpPr>
        <p:sp>
          <p:nvSpPr>
            <p:cNvPr id="11282" name="Oval 8">
              <a:extLst>
                <a:ext uri="{FF2B5EF4-FFF2-40B4-BE49-F238E27FC236}">
                  <a16:creationId xmlns:a16="http://schemas.microsoft.com/office/drawing/2014/main" id="{F56C1BEB-A5DE-E231-61D6-2420871A0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3" name="Text Box 9">
              <a:extLst>
                <a:ext uri="{FF2B5EF4-FFF2-40B4-BE49-F238E27FC236}">
                  <a16:creationId xmlns:a16="http://schemas.microsoft.com/office/drawing/2014/main" id="{341A254B-5FD6-88C6-B706-CB74ED121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Yes</a:t>
              </a:r>
            </a:p>
          </p:txBody>
        </p:sp>
      </p:grpSp>
      <p:grpSp>
        <p:nvGrpSpPr>
          <p:cNvPr id="32778" name="Group 10">
            <a:extLst>
              <a:ext uri="{FF2B5EF4-FFF2-40B4-BE49-F238E27FC236}">
                <a16:creationId xmlns:a16="http://schemas.microsoft.com/office/drawing/2014/main" id="{E0CF7708-5BAC-726A-227A-C1FD0974B3EB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505200"/>
            <a:ext cx="990600" cy="533400"/>
            <a:chOff x="288" y="3168"/>
            <a:chExt cx="4428" cy="768"/>
          </a:xfrm>
        </p:grpSpPr>
        <p:sp>
          <p:nvSpPr>
            <p:cNvPr id="11280" name="Oval 11">
              <a:extLst>
                <a:ext uri="{FF2B5EF4-FFF2-40B4-BE49-F238E27FC236}">
                  <a16:creationId xmlns:a16="http://schemas.microsoft.com/office/drawing/2014/main" id="{27634F20-6458-B362-6729-6D334268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1" name="Text Box 12">
              <a:extLst>
                <a:ext uri="{FF2B5EF4-FFF2-40B4-BE49-F238E27FC236}">
                  <a16:creationId xmlns:a16="http://schemas.microsoft.com/office/drawing/2014/main" id="{9CEDB56F-725F-EC20-6EE5-7ABB9CCF8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Yes</a:t>
              </a:r>
            </a:p>
          </p:txBody>
        </p:sp>
      </p:grpSp>
      <p:grpSp>
        <p:nvGrpSpPr>
          <p:cNvPr id="32781" name="Group 13">
            <a:extLst>
              <a:ext uri="{FF2B5EF4-FFF2-40B4-BE49-F238E27FC236}">
                <a16:creationId xmlns:a16="http://schemas.microsoft.com/office/drawing/2014/main" id="{F3906F54-3D98-FB88-2D04-83A87558AB4A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495800"/>
            <a:ext cx="990600" cy="533400"/>
            <a:chOff x="288" y="3168"/>
            <a:chExt cx="4428" cy="768"/>
          </a:xfrm>
        </p:grpSpPr>
        <p:sp>
          <p:nvSpPr>
            <p:cNvPr id="11278" name="Oval 14">
              <a:extLst>
                <a:ext uri="{FF2B5EF4-FFF2-40B4-BE49-F238E27FC236}">
                  <a16:creationId xmlns:a16="http://schemas.microsoft.com/office/drawing/2014/main" id="{09E77C39-50AA-0958-E65B-BB7F17D86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79" name="Text Box 15">
              <a:extLst>
                <a:ext uri="{FF2B5EF4-FFF2-40B4-BE49-F238E27FC236}">
                  <a16:creationId xmlns:a16="http://schemas.microsoft.com/office/drawing/2014/main" id="{200898BB-11FF-5A93-C951-9A71AE498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Yes</a:t>
              </a:r>
            </a:p>
          </p:txBody>
        </p:sp>
      </p:grpSp>
      <p:grpSp>
        <p:nvGrpSpPr>
          <p:cNvPr id="32784" name="Group 16">
            <a:extLst>
              <a:ext uri="{FF2B5EF4-FFF2-40B4-BE49-F238E27FC236}">
                <a16:creationId xmlns:a16="http://schemas.microsoft.com/office/drawing/2014/main" id="{5257C599-7602-9267-4C76-57808491362E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410200"/>
            <a:ext cx="990600" cy="533400"/>
            <a:chOff x="288" y="3168"/>
            <a:chExt cx="4428" cy="768"/>
          </a:xfrm>
        </p:grpSpPr>
        <p:sp>
          <p:nvSpPr>
            <p:cNvPr id="11276" name="Oval 17">
              <a:extLst>
                <a:ext uri="{FF2B5EF4-FFF2-40B4-BE49-F238E27FC236}">
                  <a16:creationId xmlns:a16="http://schemas.microsoft.com/office/drawing/2014/main" id="{A7266522-44C9-D5B1-7D4E-3880AAA88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77" name="Text Box 18">
              <a:extLst>
                <a:ext uri="{FF2B5EF4-FFF2-40B4-BE49-F238E27FC236}">
                  <a16:creationId xmlns:a16="http://schemas.microsoft.com/office/drawing/2014/main" id="{66E0F128-9AB4-A98D-EDE0-FAD1AA109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No</a:t>
              </a:r>
            </a:p>
          </p:txBody>
        </p:sp>
      </p:grpSp>
      <p:sp>
        <p:nvSpPr>
          <p:cNvPr id="32787" name="Rectangle 19">
            <a:extLst>
              <a:ext uri="{FF2B5EF4-FFF2-40B4-BE49-F238E27FC236}">
                <a16:creationId xmlns:a16="http://schemas.microsoft.com/office/drawing/2014/main" id="{6D65FA1C-10DB-A72D-A023-21AA0BE6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65250"/>
            <a:ext cx="2022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Quiz time: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 build="p" autoUpdateAnimBg="0" advAuto="0"/>
      <p:bldP spid="32772" grpId="0" autoUpdateAnimBg="0"/>
      <p:bldP spid="32773" grpId="0" autoUpdateAnimBg="0"/>
      <p:bldP spid="32774" grpId="0" autoUpdateAnimBg="0"/>
      <p:bldP spid="3278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DBE13EE-A312-C35C-CD1D-7ADFBB1F57E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Ways to define sets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4C4795B-74B6-A043-7AA9-EDB9CADA2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2743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Explicitly: {John, Paul, George, </a:t>
            </a:r>
            <a:r>
              <a:rPr lang="en-US" dirty="0" err="1"/>
              <a:t>Ringo</a:t>
            </a:r>
            <a:r>
              <a:rPr lang="en-US" dirty="0"/>
              <a:t>}</a:t>
            </a:r>
            <a:endParaRPr lang="en-US" dirty="0"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dirty="0"/>
              <a:t>Implicitly: {1,2,3,…}, or {2,3,5,7,11,13,17,…}</a:t>
            </a:r>
          </a:p>
          <a:p>
            <a:pPr eaLnBrk="1" hangingPunct="1">
              <a:defRPr/>
            </a:pPr>
            <a:r>
              <a:rPr lang="en-US" dirty="0">
                <a:sym typeface="Symbol" pitchFamily="18" charset="2"/>
              </a:rPr>
              <a:t>Set builder: {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: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is prime }, {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|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is odd }.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5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32DF7EB-147F-D59E-E0F6-13188CB9DA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Ways to define sets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312164B-A002-61DC-B73F-6F52581F7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83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>
                <a:sym typeface="Symbol" pitchFamily="18" charset="2"/>
              </a:rPr>
              <a:t>In general { </a:t>
            </a:r>
            <a:r>
              <a:rPr lang="en-US" i="1">
                <a:sym typeface="Symbol" pitchFamily="18" charset="2"/>
              </a:rPr>
              <a:t>x</a:t>
            </a:r>
            <a:r>
              <a:rPr lang="en-US">
                <a:sym typeface="Symbol" pitchFamily="18" charset="2"/>
              </a:rPr>
              <a:t> : 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(</a:t>
            </a:r>
            <a:r>
              <a:rPr lang="en-US" i="1">
                <a:sym typeface="Symbol" pitchFamily="18" charset="2"/>
              </a:rPr>
              <a:t>x</a:t>
            </a:r>
            <a:r>
              <a:rPr lang="en-US">
                <a:sym typeface="Symbol" pitchFamily="18" charset="2"/>
              </a:rPr>
              <a:t>)}, where </a:t>
            </a:r>
            <a:r>
              <a:rPr lang="en-US" i="1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(</a:t>
            </a:r>
            <a:r>
              <a:rPr lang="en-US" i="1">
                <a:sym typeface="Symbol" pitchFamily="18" charset="2"/>
              </a:rPr>
              <a:t>x</a:t>
            </a:r>
            <a:r>
              <a:rPr lang="en-US">
                <a:sym typeface="Symbol" pitchFamily="18" charset="2"/>
              </a:rPr>
              <a:t>) is some predicate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FF3A25E-6564-0A06-5420-9301138A7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352800"/>
            <a:ext cx="5486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3200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We read </a:t>
            </a:r>
          </a:p>
          <a:p>
            <a:pPr algn="ctr">
              <a:lnSpc>
                <a:spcPct val="90000"/>
              </a:lnSpc>
            </a:pPr>
            <a:r>
              <a:rPr lang="en-US" altLang="en-US" sz="3200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“the set of all </a:t>
            </a:r>
            <a:r>
              <a:rPr lang="en-US" altLang="en-US" sz="3200" i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3200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 such that </a:t>
            </a:r>
            <a:r>
              <a:rPr lang="en-US" altLang="en-US" sz="3200" i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en-US" sz="3200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3200" i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3200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)”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build="p" autoUpdateAnimBg="0" advAuto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5BA4F67-6146-391C-CFFA-82F96845F0C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09600" y="304800"/>
            <a:ext cx="8229600" cy="8683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hlink"/>
                </a:solidFill>
              </a:rPr>
              <a:t> Cardinality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5F0AD6A-8BC2-0064-F766-3D5FA0091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229600" cy="12954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sym typeface="Symbol" pitchFamily="18" charset="2"/>
              </a:rPr>
              <a:t>If </a:t>
            </a:r>
            <a:r>
              <a:rPr lang="en-US" i="1">
                <a:sym typeface="Symbol" pitchFamily="18" charset="2"/>
              </a:rPr>
              <a:t>S</a:t>
            </a:r>
            <a:r>
              <a:rPr lang="en-US">
                <a:sym typeface="Symbol" pitchFamily="18" charset="2"/>
              </a:rPr>
              <a:t> is finite, then the 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cardinality</a:t>
            </a:r>
            <a:r>
              <a:rPr lang="en-US">
                <a:sym typeface="Symbol" pitchFamily="18" charset="2"/>
              </a:rPr>
              <a:t> of </a:t>
            </a:r>
            <a:r>
              <a:rPr lang="en-US" i="1">
                <a:sym typeface="Symbol" pitchFamily="18" charset="2"/>
              </a:rPr>
              <a:t>S</a:t>
            </a:r>
            <a:r>
              <a:rPr lang="en-US">
                <a:sym typeface="Symbol" pitchFamily="18" charset="2"/>
              </a:rPr>
              <a:t>, |</a:t>
            </a:r>
            <a:r>
              <a:rPr lang="en-US" i="1">
                <a:sym typeface="Symbol" pitchFamily="18" charset="2"/>
              </a:rPr>
              <a:t>S</a:t>
            </a:r>
            <a:r>
              <a:rPr lang="en-US">
                <a:sym typeface="Symbol" pitchFamily="18" charset="2"/>
              </a:rPr>
              <a:t>|, is the number of distinct elements in </a:t>
            </a:r>
            <a:r>
              <a:rPr lang="en-US" i="1">
                <a:sym typeface="Symbol" pitchFamily="18" charset="2"/>
              </a:rPr>
              <a:t>S</a:t>
            </a:r>
            <a:r>
              <a:rPr lang="en-US">
                <a:sym typeface="Symbol" pitchFamily="18" charset="2"/>
              </a:rPr>
              <a:t>.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FEDF3442-FD80-C812-DCB5-370DB3635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000"/>
            <a:ext cx="2286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{1,2,3} </a:t>
            </a:r>
          </a:p>
        </p:txBody>
      </p:sp>
      <p:grpSp>
        <p:nvGrpSpPr>
          <p:cNvPr id="35845" name="Group 5">
            <a:extLst>
              <a:ext uri="{FF2B5EF4-FFF2-40B4-BE49-F238E27FC236}">
                <a16:creationId xmlns:a16="http://schemas.microsoft.com/office/drawing/2014/main" id="{EE5157B0-C671-A968-DABB-6280693498E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895600"/>
            <a:ext cx="1524000" cy="609600"/>
            <a:chOff x="288" y="3168"/>
            <a:chExt cx="4428" cy="768"/>
          </a:xfrm>
        </p:grpSpPr>
        <p:sp>
          <p:nvSpPr>
            <p:cNvPr id="14355" name="Oval 6">
              <a:extLst>
                <a:ext uri="{FF2B5EF4-FFF2-40B4-BE49-F238E27FC236}">
                  <a16:creationId xmlns:a16="http://schemas.microsoft.com/office/drawing/2014/main" id="{9179D5ED-F135-AA6C-F45F-AC8F7BA1C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6" name="Text Box 7">
              <a:extLst>
                <a:ext uri="{FF2B5EF4-FFF2-40B4-BE49-F238E27FC236}">
                  <a16:creationId xmlns:a16="http://schemas.microsoft.com/office/drawing/2014/main" id="{EFB2C5E4-05B4-A123-889E-D55C1B202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</a:rPr>
                <a:t>|</a:t>
              </a: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>
                  <a:latin typeface="Times New Roman" panose="02020603050405020304" pitchFamily="18" charset="0"/>
                </a:rPr>
                <a:t>| = 3.</a:t>
              </a:r>
            </a:p>
          </p:txBody>
        </p:sp>
      </p:grpSp>
      <p:sp>
        <p:nvSpPr>
          <p:cNvPr id="35848" name="Rectangle 8">
            <a:extLst>
              <a:ext uri="{FF2B5EF4-FFF2-40B4-BE49-F238E27FC236}">
                <a16:creationId xmlns:a16="http://schemas.microsoft.com/office/drawing/2014/main" id="{0CB2D916-A642-4DFA-4FBB-2F012959E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733800"/>
            <a:ext cx="3048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{3,3,3,3,3} </a:t>
            </a: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B6407F99-63B1-CF1E-3E2F-B33D58150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1600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CEBA4535-987A-A0FA-0C45-A89EA86BA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81600"/>
            <a:ext cx="434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}, 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}} }</a:t>
            </a:r>
          </a:p>
        </p:txBody>
      </p:sp>
      <p:grpSp>
        <p:nvGrpSpPr>
          <p:cNvPr id="35851" name="Group 11">
            <a:extLst>
              <a:ext uri="{FF2B5EF4-FFF2-40B4-BE49-F238E27FC236}">
                <a16:creationId xmlns:a16="http://schemas.microsoft.com/office/drawing/2014/main" id="{5A80B0CF-C1A2-776C-1131-5FAE9DB1C204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733800"/>
            <a:ext cx="1524000" cy="609600"/>
            <a:chOff x="288" y="3168"/>
            <a:chExt cx="4428" cy="768"/>
          </a:xfrm>
        </p:grpSpPr>
        <p:sp>
          <p:nvSpPr>
            <p:cNvPr id="14353" name="Oval 12">
              <a:extLst>
                <a:ext uri="{FF2B5EF4-FFF2-40B4-BE49-F238E27FC236}">
                  <a16:creationId xmlns:a16="http://schemas.microsoft.com/office/drawing/2014/main" id="{1E7D9E50-BA28-1841-AE69-E9383A951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4" name="Text Box 13">
              <a:extLst>
                <a:ext uri="{FF2B5EF4-FFF2-40B4-BE49-F238E27FC236}">
                  <a16:creationId xmlns:a16="http://schemas.microsoft.com/office/drawing/2014/main" id="{99C82CAC-8D75-252D-9506-09B2A1520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|</a:t>
              </a:r>
              <a:r>
                <a:rPr lang="en-US" altLang="en-US" sz="2400" i="1">
                  <a:latin typeface="Times New Roman" panose="02020603050405020304" pitchFamily="18" charset="0"/>
                  <a:sym typeface="Symbol" pitchFamily="2" charset="2"/>
                </a:rPr>
                <a:t>S</a:t>
              </a: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| = 1.</a:t>
              </a:r>
            </a:p>
          </p:txBody>
        </p:sp>
      </p:grpSp>
      <p:grpSp>
        <p:nvGrpSpPr>
          <p:cNvPr id="35854" name="Group 14">
            <a:extLst>
              <a:ext uri="{FF2B5EF4-FFF2-40B4-BE49-F238E27FC236}">
                <a16:creationId xmlns:a16="http://schemas.microsoft.com/office/drawing/2014/main" id="{3192DE40-F8E6-7FFE-5A80-B8FAAF1978B3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343400"/>
            <a:ext cx="1524000" cy="609600"/>
            <a:chOff x="288" y="3168"/>
            <a:chExt cx="4428" cy="768"/>
          </a:xfrm>
        </p:grpSpPr>
        <p:sp>
          <p:nvSpPr>
            <p:cNvPr id="14351" name="Oval 15">
              <a:extLst>
                <a:ext uri="{FF2B5EF4-FFF2-40B4-BE49-F238E27FC236}">
                  <a16:creationId xmlns:a16="http://schemas.microsoft.com/office/drawing/2014/main" id="{0B5748AF-7B58-4562-CA6C-67AAE6CF3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2" name="Text Box 16">
              <a:extLst>
                <a:ext uri="{FF2B5EF4-FFF2-40B4-BE49-F238E27FC236}">
                  <a16:creationId xmlns:a16="http://schemas.microsoft.com/office/drawing/2014/main" id="{366AFDF7-CD3B-CD6E-F8B5-E8E33A62B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|</a:t>
              </a:r>
              <a:r>
                <a:rPr lang="en-US" altLang="en-US" sz="2400" i="1">
                  <a:latin typeface="Times New Roman" panose="02020603050405020304" pitchFamily="18" charset="0"/>
                  <a:sym typeface="Symbol" pitchFamily="2" charset="2"/>
                </a:rPr>
                <a:t>S</a:t>
              </a:r>
              <a:r>
                <a:rPr lang="en-US" altLang="en-US" sz="2400">
                  <a:latin typeface="Times New Roman" panose="02020603050405020304" pitchFamily="18" charset="0"/>
                  <a:sym typeface="Symbol" pitchFamily="2" charset="2"/>
                </a:rPr>
                <a:t>| = 0.</a:t>
              </a:r>
            </a:p>
          </p:txBody>
        </p:sp>
      </p:grpSp>
      <p:grpSp>
        <p:nvGrpSpPr>
          <p:cNvPr id="35857" name="Group 17">
            <a:extLst>
              <a:ext uri="{FF2B5EF4-FFF2-40B4-BE49-F238E27FC236}">
                <a16:creationId xmlns:a16="http://schemas.microsoft.com/office/drawing/2014/main" id="{E1F5C0E1-649D-8050-1EFA-37781B09F5D3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181600"/>
            <a:ext cx="1524000" cy="609600"/>
            <a:chOff x="288" y="3168"/>
            <a:chExt cx="4428" cy="768"/>
          </a:xfrm>
        </p:grpSpPr>
        <p:sp>
          <p:nvSpPr>
            <p:cNvPr id="14349" name="Oval 18">
              <a:extLst>
                <a:ext uri="{FF2B5EF4-FFF2-40B4-BE49-F238E27FC236}">
                  <a16:creationId xmlns:a16="http://schemas.microsoft.com/office/drawing/2014/main" id="{802BB869-2AA6-FCA5-0FD3-A0105F21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0" name="Text Box 19">
              <a:extLst>
                <a:ext uri="{FF2B5EF4-FFF2-40B4-BE49-F238E27FC236}">
                  <a16:creationId xmlns:a16="http://schemas.microsoft.com/office/drawing/2014/main" id="{DEDD1B5E-2BB6-FE7C-2FE6-45D92D59E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Times New Roman" panose="02020603050405020304" pitchFamily="18" charset="0"/>
                </a:rPr>
                <a:t>|</a:t>
              </a: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>
                  <a:latin typeface="Times New Roman" panose="02020603050405020304" pitchFamily="18" charset="0"/>
                </a:rPr>
                <a:t>| = 3.</a:t>
              </a:r>
            </a:p>
          </p:txBody>
        </p:sp>
      </p:grpSp>
      <p:sp>
        <p:nvSpPr>
          <p:cNvPr id="35860" name="Rectangle 20">
            <a:extLst>
              <a:ext uri="{FF2B5EF4-FFF2-40B4-BE49-F238E27FC236}">
                <a16:creationId xmlns:a16="http://schemas.microsoft.com/office/drawing/2014/main" id="{55A5E8E7-D47F-E424-C9B8-14B213B5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9436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{0,1,2,3,…}, |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| is infinite. (more on this later)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build="p" autoUpdateAnimBg="0"/>
      <p:bldP spid="35844" grpId="0" autoUpdateAnimBg="0"/>
      <p:bldP spid="35848" grpId="0" autoUpdateAnimBg="0"/>
      <p:bldP spid="35849" grpId="0" autoUpdateAnimBg="0"/>
      <p:bldP spid="35850" grpId="0" autoUpdateAnimBg="0"/>
      <p:bldP spid="3586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0E2E7A8-67F6-43A7-26CE-28F64122DA5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8229600" cy="8683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hlink"/>
                </a:solidFill>
              </a:rPr>
              <a:t> Power sets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34AF4D6-707B-FD2B-1B35-5E74FB4B7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5791200" cy="11430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>
                <a:sym typeface="Symbol" pitchFamily="18" charset="2"/>
              </a:rPr>
              <a:t>If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 is a set, then the </a:t>
            </a:r>
            <a:r>
              <a:rPr lang="en-US" sz="2800" b="1" i="1">
                <a:solidFill>
                  <a:schemeClr val="hlink"/>
                </a:solidFill>
                <a:sym typeface="Symbol" pitchFamily="18" charset="2"/>
              </a:rPr>
              <a:t>power set</a:t>
            </a:r>
            <a:r>
              <a:rPr lang="en-US" sz="2800">
                <a:sym typeface="Symbol" pitchFamily="18" charset="2"/>
              </a:rPr>
              <a:t> of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 is 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effectLst/>
              </a:rPr>
              <a:t>P</a:t>
            </a:r>
            <a:r>
              <a:rPr lang="en-US" sz="2800">
                <a:effectLst/>
              </a:rPr>
              <a:t>(</a:t>
            </a:r>
            <a:r>
              <a:rPr lang="en-US" sz="2800" i="1">
                <a:effectLst/>
              </a:rPr>
              <a:t>S</a:t>
            </a:r>
            <a:r>
              <a:rPr lang="en-US" sz="2800">
                <a:effectLst/>
              </a:rPr>
              <a:t>)</a:t>
            </a:r>
            <a:r>
              <a:rPr lang="en-US" sz="2800">
                <a:sym typeface="Symbol" pitchFamily="18" charset="2"/>
              </a:rPr>
              <a:t> = 2</a:t>
            </a:r>
            <a:r>
              <a:rPr lang="en-US" sz="2800" i="1" baseline="30000">
                <a:sym typeface="Symbol" pitchFamily="18" charset="2"/>
              </a:rPr>
              <a:t>S</a:t>
            </a:r>
            <a:r>
              <a:rPr lang="en-US" sz="2800" baseline="30000">
                <a:sym typeface="Symbol" pitchFamily="18" charset="2"/>
              </a:rPr>
              <a:t> </a:t>
            </a:r>
            <a:r>
              <a:rPr lang="en-US" sz="2800">
                <a:sym typeface="Symbol" pitchFamily="18" charset="2"/>
              </a:rPr>
              <a:t>= { 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: </a:t>
            </a:r>
            <a:r>
              <a:rPr lang="en-US" sz="2800" i="1">
                <a:sym typeface="Symbol" pitchFamily="18" charset="2"/>
              </a:rPr>
              <a:t>x</a:t>
            </a:r>
            <a:r>
              <a:rPr lang="en-US" sz="2800">
                <a:sym typeface="Symbol" pitchFamily="18" charset="2"/>
              </a:rPr>
              <a:t>  </a:t>
            </a:r>
            <a:r>
              <a:rPr lang="en-US" sz="2800" i="1">
                <a:sym typeface="Symbol" pitchFamily="18" charset="2"/>
              </a:rPr>
              <a:t>S</a:t>
            </a:r>
            <a:r>
              <a:rPr lang="en-US" sz="2800">
                <a:sym typeface="Symbol" pitchFamily="18" charset="2"/>
              </a:rPr>
              <a:t> }.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42CDCC5F-C544-7571-C845-8811A5236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76600"/>
            <a:ext cx="198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441DB6A8-4A43-A83B-F8F0-A84B99543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962400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a,b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45196A6D-961A-764F-BB5E-60814F33C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48200"/>
            <a:ext cx="152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1DF72F6B-177A-786F-648F-097AEEE91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86400"/>
            <a:ext cx="2590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,{</a:t>
            </a:r>
            <a:r>
              <a:rPr lang="en-US" altLang="en-US" sz="2800" b="1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}}</a:t>
            </a:r>
          </a:p>
        </p:txBody>
      </p:sp>
      <p:grpSp>
        <p:nvGrpSpPr>
          <p:cNvPr id="36875" name="Group 11">
            <a:extLst>
              <a:ext uri="{FF2B5EF4-FFF2-40B4-BE49-F238E27FC236}">
                <a16:creationId xmlns:a16="http://schemas.microsoft.com/office/drawing/2014/main" id="{C6DBDFA5-F710-FC80-907B-D22058BDFAFD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209800"/>
            <a:ext cx="5029200" cy="1066800"/>
            <a:chOff x="288" y="3168"/>
            <a:chExt cx="4428" cy="768"/>
          </a:xfrm>
        </p:grpSpPr>
        <p:sp>
          <p:nvSpPr>
            <p:cNvPr id="15382" name="Oval 12">
              <a:extLst>
                <a:ext uri="{FF2B5EF4-FFF2-40B4-BE49-F238E27FC236}">
                  <a16:creationId xmlns:a16="http://schemas.microsoft.com/office/drawing/2014/main" id="{945AF250-E66F-2D0A-A098-DE936239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3" name="Text Box 13">
              <a:extLst>
                <a:ext uri="{FF2B5EF4-FFF2-40B4-BE49-F238E27FC236}">
                  <a16:creationId xmlns:a16="http://schemas.microsoft.com/office/drawing/2014/main" id="{C1F4F5F2-9EAF-A8D2-92F5-68EB4B8A9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800">
                  <a:latin typeface="Times New Roman" panose="02020603050405020304" pitchFamily="18" charset="0"/>
                </a:rPr>
                <a:t>We say, “</a:t>
              </a:r>
              <a:r>
                <a:rPr lang="en-US" altLang="en-US" sz="2800" i="1">
                  <a:latin typeface="Times New Roman" panose="02020603050405020304" pitchFamily="18" charset="0"/>
                </a:rPr>
                <a:t>P</a:t>
              </a:r>
              <a:r>
                <a:rPr lang="en-US" altLang="en-US" sz="2800">
                  <a:latin typeface="Times New Roman" panose="02020603050405020304" pitchFamily="18" charset="0"/>
                </a:rPr>
                <a:t>(</a:t>
              </a:r>
              <a:r>
                <a:rPr lang="en-US" altLang="en-US" sz="2800" i="1">
                  <a:latin typeface="Times New Roman" panose="02020603050405020304" pitchFamily="18" charset="0"/>
                </a:rPr>
                <a:t>S</a:t>
              </a:r>
              <a:r>
                <a:rPr lang="en-US" altLang="en-US" sz="2800">
                  <a:latin typeface="Times New Roman" panose="02020603050405020304" pitchFamily="18" charset="0"/>
                </a:rPr>
                <a:t>) is the set of all subsets of </a:t>
              </a:r>
              <a:r>
                <a:rPr lang="en-US" altLang="en-US" sz="2800" i="1">
                  <a:latin typeface="Times New Roman" panose="02020603050405020304" pitchFamily="18" charset="0"/>
                </a:rPr>
                <a:t>S</a:t>
              </a:r>
              <a:r>
                <a:rPr lang="en-US" altLang="en-US" sz="2800">
                  <a:latin typeface="Times New Roman" panose="02020603050405020304" pitchFamily="18" charset="0"/>
                </a:rPr>
                <a:t>.”</a:t>
              </a:r>
            </a:p>
          </p:txBody>
        </p:sp>
      </p:grpSp>
      <p:grpSp>
        <p:nvGrpSpPr>
          <p:cNvPr id="36878" name="Group 14">
            <a:extLst>
              <a:ext uri="{FF2B5EF4-FFF2-40B4-BE49-F238E27FC236}">
                <a16:creationId xmlns:a16="http://schemas.microsoft.com/office/drawing/2014/main" id="{5111FF42-EA85-03EA-23A7-6883B9843F94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200400"/>
            <a:ext cx="2438400" cy="685800"/>
            <a:chOff x="288" y="3168"/>
            <a:chExt cx="4428" cy="768"/>
          </a:xfrm>
        </p:grpSpPr>
        <p:sp>
          <p:nvSpPr>
            <p:cNvPr id="15380" name="Oval 15">
              <a:extLst>
                <a:ext uri="{FF2B5EF4-FFF2-40B4-BE49-F238E27FC236}">
                  <a16:creationId xmlns:a16="http://schemas.microsoft.com/office/drawing/2014/main" id="{BE8C1989-5767-F653-B209-BAD35C90F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1" name="Text Box 16">
              <a:extLst>
                <a:ext uri="{FF2B5EF4-FFF2-40B4-BE49-F238E27FC236}">
                  <a16:creationId xmlns:a16="http://schemas.microsoft.com/office/drawing/2014/main" id="{8269C7BE-F249-9F14-4DD1-4A4FDA02F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  <a:r>
                <a:rPr lang="en-US" altLang="en-US" sz="2800" i="1" baseline="30000">
                  <a:latin typeface="Times New Roman" panose="02020603050405020304" pitchFamily="18" charset="0"/>
                  <a:sym typeface="Symbol" pitchFamily="2" charset="2"/>
                </a:rPr>
                <a:t>S</a:t>
              </a:r>
              <a:r>
                <a:rPr lang="en-US" altLang="en-US" sz="2800" baseline="30000">
                  <a:latin typeface="Times New Roman" panose="02020603050405020304" pitchFamily="18" charset="0"/>
                  <a:sym typeface="Symbol" pitchFamily="2" charset="2"/>
                </a:rPr>
                <a:t>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</a:t>
              </a:r>
              <a:r>
                <a:rPr lang="en-US" altLang="en-US" sz="2800" b="1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, {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}}.</a:t>
              </a:r>
            </a:p>
          </p:txBody>
        </p:sp>
      </p:grpSp>
      <p:grpSp>
        <p:nvGrpSpPr>
          <p:cNvPr id="36881" name="Group 17">
            <a:extLst>
              <a:ext uri="{FF2B5EF4-FFF2-40B4-BE49-F238E27FC236}">
                <a16:creationId xmlns:a16="http://schemas.microsoft.com/office/drawing/2014/main" id="{2CE92647-5C3F-7143-669D-D82186AA271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962400"/>
            <a:ext cx="4191000" cy="708025"/>
            <a:chOff x="288" y="3168"/>
            <a:chExt cx="4428" cy="768"/>
          </a:xfrm>
        </p:grpSpPr>
        <p:sp>
          <p:nvSpPr>
            <p:cNvPr id="15378" name="Oval 18">
              <a:extLst>
                <a:ext uri="{FF2B5EF4-FFF2-40B4-BE49-F238E27FC236}">
                  <a16:creationId xmlns:a16="http://schemas.microsoft.com/office/drawing/2014/main" id="{C3EF3FCD-50F8-4845-41ED-43000101A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9" name="Text Box 19">
              <a:extLst>
                <a:ext uri="{FF2B5EF4-FFF2-40B4-BE49-F238E27FC236}">
                  <a16:creationId xmlns:a16="http://schemas.microsoft.com/office/drawing/2014/main" id="{2288CBE2-E6A4-65B8-3042-FB099830A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  <a:r>
                <a:rPr lang="en-US" altLang="en-US" sz="2800" baseline="30000">
                  <a:latin typeface="Times New Roman" panose="02020603050405020304" pitchFamily="18" charset="0"/>
                  <a:sym typeface="Symbol" pitchFamily="2" charset="2"/>
                </a:rPr>
                <a:t>S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{, {a}, {b}, {a,b}}.</a:t>
              </a:r>
            </a:p>
          </p:txBody>
        </p:sp>
      </p:grpSp>
      <p:grpSp>
        <p:nvGrpSpPr>
          <p:cNvPr id="36884" name="Group 20">
            <a:extLst>
              <a:ext uri="{FF2B5EF4-FFF2-40B4-BE49-F238E27FC236}">
                <a16:creationId xmlns:a16="http://schemas.microsoft.com/office/drawing/2014/main" id="{20F02400-E257-6DCF-A3EB-7424A4F2B36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4572000"/>
            <a:ext cx="1752600" cy="685800"/>
            <a:chOff x="288" y="3168"/>
            <a:chExt cx="4428" cy="768"/>
          </a:xfrm>
        </p:grpSpPr>
        <p:sp>
          <p:nvSpPr>
            <p:cNvPr id="15376" name="Oval 21">
              <a:extLst>
                <a:ext uri="{FF2B5EF4-FFF2-40B4-BE49-F238E27FC236}">
                  <a16:creationId xmlns:a16="http://schemas.microsoft.com/office/drawing/2014/main" id="{45339D54-A1F0-4B00-8C9E-7FF5D2CC9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7" name="Text Box 22">
              <a:extLst>
                <a:ext uri="{FF2B5EF4-FFF2-40B4-BE49-F238E27FC236}">
                  <a16:creationId xmlns:a16="http://schemas.microsoft.com/office/drawing/2014/main" id="{1EBE0D18-13A8-D1E6-4AEF-0CE110F42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4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  <a:r>
                <a:rPr lang="en-US" altLang="en-US" sz="2800" baseline="30000">
                  <a:latin typeface="Times New Roman" panose="02020603050405020304" pitchFamily="18" charset="0"/>
                  <a:sym typeface="Symbol" pitchFamily="2" charset="2"/>
                </a:rPr>
                <a:t>S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{}.</a:t>
              </a:r>
            </a:p>
          </p:txBody>
        </p:sp>
      </p:grpSp>
      <p:grpSp>
        <p:nvGrpSpPr>
          <p:cNvPr id="36887" name="Group 23">
            <a:extLst>
              <a:ext uri="{FF2B5EF4-FFF2-40B4-BE49-F238E27FC236}">
                <a16:creationId xmlns:a16="http://schemas.microsoft.com/office/drawing/2014/main" id="{722E91A8-2831-AEB3-59FA-B223150977BB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334000"/>
            <a:ext cx="5562600" cy="685800"/>
            <a:chOff x="288" y="3168"/>
            <a:chExt cx="4428" cy="768"/>
          </a:xfrm>
        </p:grpSpPr>
        <p:sp>
          <p:nvSpPr>
            <p:cNvPr id="15374" name="Oval 24">
              <a:extLst>
                <a:ext uri="{FF2B5EF4-FFF2-40B4-BE49-F238E27FC236}">
                  <a16:creationId xmlns:a16="http://schemas.microsoft.com/office/drawing/2014/main" id="{BCB13E39-A66C-98EF-9A87-EFA95CD0A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5" name="Text Box 25">
              <a:extLst>
                <a:ext uri="{FF2B5EF4-FFF2-40B4-BE49-F238E27FC236}">
                  <a16:creationId xmlns:a16="http://schemas.microsoft.com/office/drawing/2014/main" id="{B77EBCE6-973E-F8A9-112A-56F843980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  <a:r>
                <a:rPr lang="en-US" altLang="en-US" sz="2800" baseline="30000">
                  <a:latin typeface="Times New Roman" panose="02020603050405020304" pitchFamily="18" charset="0"/>
                  <a:sym typeface="Symbol" pitchFamily="2" charset="2"/>
                </a:rPr>
                <a:t>S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{, {}, {{}}, {,{}}}.</a:t>
              </a:r>
            </a:p>
          </p:txBody>
        </p:sp>
      </p:grpSp>
      <p:sp>
        <p:nvSpPr>
          <p:cNvPr id="36890" name="Rectangle 26">
            <a:extLst>
              <a:ext uri="{FF2B5EF4-FFF2-40B4-BE49-F238E27FC236}">
                <a16:creationId xmlns:a16="http://schemas.microsoft.com/office/drawing/2014/main" id="{E6403BB3-723C-8FFE-943F-688FA683F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0"/>
            <a:ext cx="7620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Fact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: if S is finite, |2</a:t>
            </a:r>
            <a:r>
              <a:rPr lang="en-US" altLang="en-US" sz="2800" i="1" baseline="30000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| = 2</a:t>
            </a:r>
            <a:r>
              <a:rPr lang="en-US" altLang="en-US" sz="2800" baseline="3000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en-US" altLang="en-US" sz="2800" i="1" baseline="30000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 baseline="3000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.  (if |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|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|2</a:t>
            </a:r>
            <a:r>
              <a:rPr lang="en-US" altLang="en-US" sz="2800" i="1" baseline="30000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| = 2</a:t>
            </a:r>
            <a:r>
              <a:rPr lang="en-US" altLang="en-US" sz="2800" i="1" baseline="30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build="p" bldLvl="2" autoUpdateAnimBg="0"/>
      <p:bldP spid="36868" grpId="0" autoUpdateAnimBg="0"/>
      <p:bldP spid="36872" grpId="0" autoUpdateAnimBg="0"/>
      <p:bldP spid="36873" grpId="0" autoUpdateAnimBg="0"/>
      <p:bldP spid="36874" grpId="0" autoUpdateAnimBg="0"/>
      <p:bldP spid="3689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6F927AE-7AC9-50E4-43D0-D8EA50F070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chemeClr val="hlink"/>
                </a:solidFill>
              </a:rPr>
              <a:t> Cartesian Product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07F6FAF-FEE6-9785-D8F2-A3C871D4D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The </a:t>
            </a:r>
            <a:r>
              <a:rPr lang="en-US" sz="3200" b="1" i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Cartesian Product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of two sets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and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is:</a:t>
            </a:r>
          </a:p>
          <a:p>
            <a:pPr marL="342900" indent="-342900" algn="ctr" eaLnBrk="0" hangingPunct="0">
              <a:buClr>
                <a:schemeClr val="bg1"/>
              </a:buClr>
              <a:buSzPct val="70000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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= { 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a, 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: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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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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}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DDBD7C4D-D859-7FB7-57C6-157FA731B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438400"/>
            <a:ext cx="5029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{Charlie, Lucy, Linus},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{Brown, VanPelt}, then</a:t>
            </a:r>
            <a:endParaRPr lang="en-US" altLang="en-US" sz="2400">
              <a:latin typeface="Times" pitchFamily="2" charset="0"/>
              <a:sym typeface="Symbol" pitchFamily="2" charset="2"/>
            </a:endParaRPr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04305B6D-67A2-767F-027C-3204C31E7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876800"/>
            <a:ext cx="807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Note.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=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	iff 	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d</a:t>
            </a:r>
            <a:endParaRPr lang="en-US" altLang="en-US" sz="28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E6D06E13-9EEB-7FD5-A18D-525E062B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5052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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{(Charlie, Brown), (Lucy, Brown), (Linus, Brown), (Charlie, VanPelt),    (Lucy, VanPelt), (Linus, VanPelt)}</a:t>
            </a:r>
            <a:endParaRPr lang="en-US" altLang="en-US" sz="2400">
              <a:latin typeface="Times" pitchFamily="2" charset="0"/>
              <a:sym typeface="Symbol" pitchFamily="2" charset="2"/>
            </a:endParaRPr>
          </a:p>
        </p:txBody>
      </p:sp>
      <p:grpSp>
        <p:nvGrpSpPr>
          <p:cNvPr id="37898" name="Group 10">
            <a:extLst>
              <a:ext uri="{FF2B5EF4-FFF2-40B4-BE49-F238E27FC236}">
                <a16:creationId xmlns:a16="http://schemas.microsoft.com/office/drawing/2014/main" id="{74195D34-4FB7-09BD-DF54-D4BF3119BDB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438400"/>
            <a:ext cx="3657600" cy="1066800"/>
            <a:chOff x="288" y="3168"/>
            <a:chExt cx="4428" cy="768"/>
          </a:xfrm>
        </p:grpSpPr>
        <p:sp>
          <p:nvSpPr>
            <p:cNvPr id="16395" name="Oval 11">
              <a:extLst>
                <a:ext uri="{FF2B5EF4-FFF2-40B4-BE49-F238E27FC236}">
                  <a16:creationId xmlns:a16="http://schemas.microsoft.com/office/drawing/2014/main" id="{CE26F78B-4BCD-BD4E-0359-8BD9E0D8A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6" name="Text Box 12">
              <a:extLst>
                <a:ext uri="{FF2B5EF4-FFF2-40B4-BE49-F238E27FC236}">
                  <a16:creationId xmlns:a16="http://schemas.microsoft.com/office/drawing/2014/main" id="{CE73CA65-2F57-A671-E30F-FCD039AC2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We’ll use these special sets soon!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41018CC8-A12F-7C6E-E5A1-E5908F467D6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715000"/>
            <a:ext cx="4495800" cy="609600"/>
            <a:chOff x="288" y="3168"/>
            <a:chExt cx="4428" cy="768"/>
          </a:xfrm>
        </p:grpSpPr>
        <p:sp>
          <p:nvSpPr>
            <p:cNvPr id="16393" name="Oval 14">
              <a:extLst>
                <a:ext uri="{FF2B5EF4-FFF2-40B4-BE49-F238E27FC236}">
                  <a16:creationId xmlns:a16="http://schemas.microsoft.com/office/drawing/2014/main" id="{7AA8270E-8B4E-89BA-794E-44AA522BA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4" name="Text Box 15">
              <a:extLst>
                <a:ext uri="{FF2B5EF4-FFF2-40B4-BE49-F238E27FC236}">
                  <a16:creationId xmlns:a16="http://schemas.microsoft.com/office/drawing/2014/main" id="{81CCD153-6B30-FB35-DCF1-2C265F84A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800" i="1">
                  <a:latin typeface="Times New Roman" panose="02020603050405020304" pitchFamily="18" charset="0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</a:rPr>
                <a:t>,</a:t>
              </a:r>
              <a:r>
                <a:rPr lang="en-US" altLang="en-US" sz="2800" i="1">
                  <a:latin typeface="Times New Roman" panose="02020603050405020304" pitchFamily="18" charset="0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</a:rPr>
                <a:t> finite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 |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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| = |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||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|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build="p" autoUpdateAnimBg="0"/>
      <p:bldP spid="37892" grpId="0" autoUpdateAnimBg="0"/>
      <p:bldP spid="37896" grpId="0" autoUpdateAnimBg="0"/>
      <p:bldP spid="3789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5D3A4E-540C-AB86-9A21-F07FCC48410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chemeClr val="hlink"/>
                </a:solidFill>
              </a:rPr>
              <a:t> Cartesian Product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5D07CEA-8025-AE46-3785-08B4EFB6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822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The </a:t>
            </a:r>
            <a:r>
              <a:rPr lang="en-US" sz="3200" b="1" i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Cartesian Product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of n sets A</a:t>
            </a:r>
            <a:r>
              <a:rPr lang="en-US" sz="32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1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, A</a:t>
            </a:r>
            <a:r>
              <a:rPr lang="en-US" sz="32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2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, …,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A</a:t>
            </a:r>
            <a:r>
              <a:rPr lang="en-US" sz="32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n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is:</a:t>
            </a:r>
            <a:endParaRPr lang="en-US" sz="3200" i="1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Arial" charset="0"/>
              <a:sym typeface="Symbol" pitchFamily="18" charset="2"/>
            </a:endParaRP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B99C4A8B-19E0-A989-A4F7-6D8A88C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33600"/>
            <a:ext cx="807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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 … 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</a:p>
          <a:p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	= {(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,…,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):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…,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} </a:t>
            </a:r>
          </a:p>
        </p:txBody>
      </p:sp>
      <p:grpSp>
        <p:nvGrpSpPr>
          <p:cNvPr id="38922" name="Group 10">
            <a:extLst>
              <a:ext uri="{FF2B5EF4-FFF2-40B4-BE49-F238E27FC236}">
                <a16:creationId xmlns:a16="http://schemas.microsoft.com/office/drawing/2014/main" id="{6003A340-5734-9F53-1E89-2E2878FDCCA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800600"/>
            <a:ext cx="3657600" cy="1066800"/>
            <a:chOff x="288" y="3168"/>
            <a:chExt cx="4428" cy="768"/>
          </a:xfrm>
        </p:grpSpPr>
        <p:sp>
          <p:nvSpPr>
            <p:cNvPr id="17415" name="Oval 11">
              <a:extLst>
                <a:ext uri="{FF2B5EF4-FFF2-40B4-BE49-F238E27FC236}">
                  <a16:creationId xmlns:a16="http://schemas.microsoft.com/office/drawing/2014/main" id="{1A1F59A0-187E-74C3-04C2-92A549D43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16" name="Text Box 12">
              <a:extLst>
                <a:ext uri="{FF2B5EF4-FFF2-40B4-BE49-F238E27FC236}">
                  <a16:creationId xmlns:a16="http://schemas.microsoft.com/office/drawing/2014/main" id="{6FA776BC-905D-BBF2-0DEB-051B218FE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We’ll use these special sets soon!</a:t>
              </a:r>
            </a:p>
          </p:txBody>
        </p:sp>
      </p:grp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1787B242-D291-CD87-32CB-FA884CBF7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352800"/>
            <a:ext cx="807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Note.</a:t>
            </a:r>
            <a:r>
              <a:rPr lang="en-US" altLang="en-US" sz="2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…,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= 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,…,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		iff </a:t>
            </a:r>
            <a:endParaRPr lang="en-US" altLang="en-US" sz="2800" i="1">
              <a:latin typeface="Times New Roman" panose="02020603050405020304" pitchFamily="18" charset="0"/>
              <a:sym typeface="Symbol" pitchFamily="2" charset="2"/>
            </a:endParaRPr>
          </a:p>
          <a:p>
            <a:pPr algn="ctr"/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baseline="-25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…,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build="p" autoUpdateAnimBg="0"/>
      <p:bldP spid="38920" grpId="0" autoUpdateAnimBg="0"/>
      <p:bldP spid="3892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13AF977-C9B6-7E43-4E5F-9E13E6F5765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19100" y="258763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hlink"/>
                </a:solidFill>
              </a:rPr>
              <a:t>2.2.1 Set operation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08C580E-FEA0-9061-FE32-8C53B3325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676400"/>
            <a:ext cx="8229600" cy="10668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en-US">
                <a:effectLst/>
                <a:latin typeface="Comic Sans MS" panose="030F0902030302020204" pitchFamily="66" charset="0"/>
                <a:sym typeface="Symbol" pitchFamily="2" charset="2"/>
              </a:rPr>
              <a:t>The </a:t>
            </a:r>
            <a:r>
              <a:rPr lang="en-US" altLang="en-US" i="1">
                <a:solidFill>
                  <a:schemeClr val="hlink"/>
                </a:solidFill>
                <a:effectLst/>
                <a:latin typeface="Comic Sans MS" panose="030F0902030302020204" pitchFamily="66" charset="0"/>
                <a:sym typeface="Symbol" pitchFamily="2" charset="2"/>
              </a:rPr>
              <a:t>union</a:t>
            </a:r>
            <a:r>
              <a:rPr lang="en-US" altLang="en-US">
                <a:solidFill>
                  <a:schemeClr val="hlink"/>
                </a:solidFill>
                <a:effectLst/>
                <a:latin typeface="Comic Sans MS" panose="030F0902030302020204" pitchFamily="66" charset="0"/>
                <a:sym typeface="Symbol" pitchFamily="2" charset="2"/>
              </a:rPr>
              <a:t> </a:t>
            </a:r>
            <a:r>
              <a:rPr lang="en-US" altLang="en-US">
                <a:effectLst/>
                <a:latin typeface="Comic Sans MS" panose="030F0902030302020204" pitchFamily="66" charset="0"/>
                <a:sym typeface="Symbol" pitchFamily="2" charset="2"/>
              </a:rPr>
              <a:t>of two sets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effectLst/>
                <a:latin typeface="Comic Sans MS" panose="030F0902030302020204" pitchFamily="66" charset="0"/>
                <a:sym typeface="Symbol" pitchFamily="2" charset="2"/>
              </a:rPr>
              <a:t> and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>
                <a:effectLst/>
                <a:latin typeface="Comic Sans MS" panose="030F0902030302020204" pitchFamily="66" charset="0"/>
                <a:sym typeface="Symbol" pitchFamily="2" charset="2"/>
              </a:rPr>
              <a:t> is: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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= {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: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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i="1">
                <a:effectLst/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>
                <a:effectLst/>
                <a:latin typeface="Times New Roman" panose="02020603050405020304" pitchFamily="18" charset="0"/>
                <a:sym typeface="Symbol" pitchFamily="2" charset="2"/>
              </a:rPr>
              <a:t>}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E8AE15E8-E4F8-8F8D-AB45-19FCDE37E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3124200"/>
            <a:ext cx="5029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{Charlie, Lucy, Linus},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{Lucy, Desi}, then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20AD2DA9-431F-41F9-A04F-2014AFCB9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91000"/>
            <a:ext cx="601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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{Charlie, Lucy, Linus, Desi}</a:t>
            </a:r>
            <a:endParaRPr lang="en-US" altLang="en-US" sz="2400">
              <a:latin typeface="Times" pitchFamily="2" charset="0"/>
              <a:sym typeface="Symbol" pitchFamily="2" charset="2"/>
            </a:endParaRPr>
          </a:p>
        </p:txBody>
      </p:sp>
      <p:grpSp>
        <p:nvGrpSpPr>
          <p:cNvPr id="27654" name="Group 6">
            <a:extLst>
              <a:ext uri="{FF2B5EF4-FFF2-40B4-BE49-F238E27FC236}">
                <a16:creationId xmlns:a16="http://schemas.microsoft.com/office/drawing/2014/main" id="{F6B2CBE8-4173-D873-9267-BE2C0D7B8078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4876800"/>
            <a:ext cx="2438400" cy="1524000"/>
            <a:chOff x="1728" y="2784"/>
            <a:chExt cx="1536" cy="960"/>
          </a:xfrm>
        </p:grpSpPr>
        <p:sp>
          <p:nvSpPr>
            <p:cNvPr id="5127" name="Oval 7">
              <a:extLst>
                <a:ext uri="{FF2B5EF4-FFF2-40B4-BE49-F238E27FC236}">
                  <a16:creationId xmlns:a16="http://schemas.microsoft.com/office/drawing/2014/main" id="{A1FE31F2-9610-6C0F-46A2-D5029E9DF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024"/>
              <a:ext cx="528" cy="52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5128" name="Group 8">
              <a:extLst>
                <a:ext uri="{FF2B5EF4-FFF2-40B4-BE49-F238E27FC236}">
                  <a16:creationId xmlns:a16="http://schemas.microsoft.com/office/drawing/2014/main" id="{8FFA153F-56C0-7752-0A6C-184617FDD3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784"/>
              <a:ext cx="1536" cy="960"/>
              <a:chOff x="1728" y="2784"/>
              <a:chExt cx="1536" cy="960"/>
            </a:xfrm>
          </p:grpSpPr>
          <p:grpSp>
            <p:nvGrpSpPr>
              <p:cNvPr id="5129" name="Group 9">
                <a:extLst>
                  <a:ext uri="{FF2B5EF4-FFF2-40B4-BE49-F238E27FC236}">
                    <a16:creationId xmlns:a16="http://schemas.microsoft.com/office/drawing/2014/main" id="{775186AB-11A8-2697-F123-FCFC4C3D6A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784"/>
                <a:ext cx="1536" cy="960"/>
                <a:chOff x="1728" y="2832"/>
                <a:chExt cx="1536" cy="960"/>
              </a:xfrm>
            </p:grpSpPr>
            <p:grpSp>
              <p:nvGrpSpPr>
                <p:cNvPr id="5131" name="Group 10">
                  <a:extLst>
                    <a:ext uri="{FF2B5EF4-FFF2-40B4-BE49-F238E27FC236}">
                      <a16:creationId xmlns:a16="http://schemas.microsoft.com/office/drawing/2014/main" id="{CADD48EF-C527-2130-4E35-FBC9F4504A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28" y="2832"/>
                  <a:ext cx="1536" cy="960"/>
                  <a:chOff x="1728" y="2832"/>
                  <a:chExt cx="1536" cy="960"/>
                </a:xfrm>
              </p:grpSpPr>
              <p:sp>
                <p:nvSpPr>
                  <p:cNvPr id="5133" name="Rectangle 11">
                    <a:extLst>
                      <a:ext uri="{FF2B5EF4-FFF2-40B4-BE49-F238E27FC236}">
                        <a16:creationId xmlns:a16="http://schemas.microsoft.com/office/drawing/2014/main" id="{14DB25CB-2C93-5CD7-277F-0291B219D0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2832"/>
                    <a:ext cx="1536" cy="96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34" name="Oval 12">
                    <a:extLst>
                      <a:ext uri="{FF2B5EF4-FFF2-40B4-BE49-F238E27FC236}">
                        <a16:creationId xmlns:a16="http://schemas.microsoft.com/office/drawing/2014/main" id="{BE528B39-A1CE-83B4-B09B-87C70E2379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2928"/>
                    <a:ext cx="768" cy="768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35" name="Rectangle 13">
                    <a:extLst>
                      <a:ext uri="{FF2B5EF4-FFF2-40B4-BE49-F238E27FC236}">
                        <a16:creationId xmlns:a16="http://schemas.microsoft.com/office/drawing/2014/main" id="{C9F31BF5-AE59-EAB6-0974-65D4D45801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3064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</a:pPr>
                    <a:r>
                      <a:rPr lang="en-US" altLang="en-US" sz="2400">
                        <a:latin typeface="Times" pitchFamily="2" charset="0"/>
                        <a:sym typeface="Symbol" pitchFamily="2" charset="2"/>
                      </a:rPr>
                      <a:t>A</a:t>
                    </a:r>
                  </a:p>
                </p:txBody>
              </p:sp>
              <p:sp>
                <p:nvSpPr>
                  <p:cNvPr id="5136" name="Oval 14">
                    <a:extLst>
                      <a:ext uri="{FF2B5EF4-FFF2-40B4-BE49-F238E27FC236}">
                        <a16:creationId xmlns:a16="http://schemas.microsoft.com/office/drawing/2014/main" id="{D0F8A7E0-7621-4FD4-B583-E85CA15605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216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37" name="Oval 15">
                    <a:extLst>
                      <a:ext uri="{FF2B5EF4-FFF2-40B4-BE49-F238E27FC236}">
                        <a16:creationId xmlns:a16="http://schemas.microsoft.com/office/drawing/2014/main" id="{A129DA05-4179-3FDF-ACCD-A2CC285904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31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38" name="Oval 16">
                    <a:extLst>
                      <a:ext uri="{FF2B5EF4-FFF2-40B4-BE49-F238E27FC236}">
                        <a16:creationId xmlns:a16="http://schemas.microsoft.com/office/drawing/2014/main" id="{67B76BF9-9E90-0871-800F-43AA0A6D9E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60" y="355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39" name="Oval 17">
                    <a:extLst>
                      <a:ext uri="{FF2B5EF4-FFF2-40B4-BE49-F238E27FC236}">
                        <a16:creationId xmlns:a16="http://schemas.microsoft.com/office/drawing/2014/main" id="{6FBB8BD7-020F-10D1-F4FB-D71551AAF2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120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40" name="Oval 18">
                    <a:extLst>
                      <a:ext uri="{FF2B5EF4-FFF2-40B4-BE49-F238E27FC236}">
                        <a16:creationId xmlns:a16="http://schemas.microsoft.com/office/drawing/2014/main" id="{4920A93A-9426-75DD-F1FC-0FBD813BC5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335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41" name="Oval 19">
                    <a:extLst>
                      <a:ext uri="{FF2B5EF4-FFF2-40B4-BE49-F238E27FC236}">
                        <a16:creationId xmlns:a16="http://schemas.microsoft.com/office/drawing/2014/main" id="{89CD9395-97AB-F4AD-678B-FB08F7258D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3304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5142" name="Rectangle 20">
                    <a:extLst>
                      <a:ext uri="{FF2B5EF4-FFF2-40B4-BE49-F238E27FC236}">
                        <a16:creationId xmlns:a16="http://schemas.microsoft.com/office/drawing/2014/main" id="{637F15C8-431C-D78F-8067-58BE94A1CE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976"/>
                    <a:ext cx="288" cy="33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Garamond" panose="02020404030301010803" pitchFamily="18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</a:pPr>
                    <a:r>
                      <a:rPr lang="en-US" altLang="en-US" sz="2400">
                        <a:latin typeface="Times" pitchFamily="2" charset="0"/>
                        <a:sym typeface="Symbol" pitchFamily="2" charset="2"/>
                      </a:rPr>
                      <a:t>B</a:t>
                    </a:r>
                  </a:p>
                </p:txBody>
              </p:sp>
            </p:grpSp>
            <p:sp>
              <p:nvSpPr>
                <p:cNvPr id="5132" name="Oval 21">
                  <a:extLst>
                    <a:ext uri="{FF2B5EF4-FFF2-40B4-BE49-F238E27FC236}">
                      <a16:creationId xmlns:a16="http://schemas.microsoft.com/office/drawing/2014/main" id="{097BECC6-0C99-4AA4-680E-D89CC370A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928"/>
                  <a:ext cx="768" cy="76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anose="02020404030301010803" pitchFamily="18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5130" name="Oval 22">
                <a:extLst>
                  <a:ext uri="{FF2B5EF4-FFF2-40B4-BE49-F238E27FC236}">
                    <a16:creationId xmlns:a16="http://schemas.microsoft.com/office/drawing/2014/main" id="{094FC06C-57BC-8AB3-7559-663BDA988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528" cy="5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build="p" bldLvl="2" autoUpdateAnimBg="0"/>
      <p:bldP spid="27652" grpId="0" build="p" autoUpdateAnimBg="0"/>
      <p:bldP spid="2765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5945EC08-EF55-F20D-A79F-616B4BAE0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10668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latin typeface="Comic Sans MS" pitchFamily="66" charset="0"/>
                <a:sym typeface="Symbol" pitchFamily="18" charset="2"/>
              </a:rPr>
              <a:t>The </a:t>
            </a:r>
            <a:r>
              <a:rPr lang="en-US" i="1">
                <a:solidFill>
                  <a:schemeClr val="hlink"/>
                </a:solidFill>
                <a:latin typeface="Comic Sans MS" pitchFamily="66" charset="0"/>
                <a:sym typeface="Symbol" pitchFamily="18" charset="2"/>
              </a:rPr>
              <a:t>intersection</a:t>
            </a:r>
            <a:r>
              <a:rPr lang="en-US">
                <a:latin typeface="Comic Sans MS" pitchFamily="66" charset="0"/>
                <a:sym typeface="Symbol" pitchFamily="18" charset="2"/>
              </a:rPr>
              <a:t> of two sets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Comic Sans MS" pitchFamily="66" charset="0"/>
                <a:sym typeface="Symbol" pitchFamily="18" charset="2"/>
              </a:rPr>
              <a:t> and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Comic Sans MS" pitchFamily="66" charset="0"/>
                <a:sym typeface="Symbol" pitchFamily="18" charset="2"/>
              </a:rPr>
              <a:t> is: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 B = {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: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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8BBA9321-A0AC-99EE-540F-6950DE950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5029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{Charlie, Lucy, Linus},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{Lucy, Desi}, then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9E0D3A81-1A40-8238-5496-BC2E0D247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81400"/>
            <a:ext cx="601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Comic Sans MS" panose="030F0902030302020204" pitchFamily="66" charset="0"/>
                <a:sym typeface="Symbol" pitchFamily="2" charset="2"/>
              </a:rPr>
              <a:t> 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{Lucy}</a:t>
            </a:r>
          </a:p>
        </p:txBody>
      </p:sp>
      <p:grpSp>
        <p:nvGrpSpPr>
          <p:cNvPr id="28678" name="Group 6">
            <a:extLst>
              <a:ext uri="{FF2B5EF4-FFF2-40B4-BE49-F238E27FC236}">
                <a16:creationId xmlns:a16="http://schemas.microsoft.com/office/drawing/2014/main" id="{8A819876-B7F6-4933-3085-BA3E9A91B23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419600"/>
            <a:ext cx="2438400" cy="1524000"/>
            <a:chOff x="1728" y="2784"/>
            <a:chExt cx="1536" cy="960"/>
          </a:xfrm>
        </p:grpSpPr>
        <p:sp>
          <p:nvSpPr>
            <p:cNvPr id="6151" name="Rectangle 7">
              <a:extLst>
                <a:ext uri="{FF2B5EF4-FFF2-40B4-BE49-F238E27FC236}">
                  <a16:creationId xmlns:a16="http://schemas.microsoft.com/office/drawing/2014/main" id="{F9518020-B42E-7A47-1FD6-D7D2F9734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84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52" name="Oval 8">
              <a:extLst>
                <a:ext uri="{FF2B5EF4-FFF2-40B4-BE49-F238E27FC236}">
                  <a16:creationId xmlns:a16="http://schemas.microsoft.com/office/drawing/2014/main" id="{530F0853-8BD8-C42A-909F-380C234B5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80"/>
              <a:ext cx="768" cy="7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53" name="Rectangle 9">
              <a:extLst>
                <a:ext uri="{FF2B5EF4-FFF2-40B4-BE49-F238E27FC236}">
                  <a16:creationId xmlns:a16="http://schemas.microsoft.com/office/drawing/2014/main" id="{BF9DC589-3F14-2AF9-60AD-477A4156F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01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A</a:t>
              </a:r>
            </a:p>
          </p:txBody>
        </p:sp>
        <p:sp>
          <p:nvSpPr>
            <p:cNvPr id="6154" name="Rectangle 10">
              <a:extLst>
                <a:ext uri="{FF2B5EF4-FFF2-40B4-BE49-F238E27FC236}">
                  <a16:creationId xmlns:a16="http://schemas.microsoft.com/office/drawing/2014/main" id="{43A8F026-0A98-D63F-AC32-F22F03D4F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28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B</a:t>
              </a:r>
            </a:p>
          </p:txBody>
        </p:sp>
        <p:sp>
          <p:nvSpPr>
            <p:cNvPr id="6155" name="Oval 11">
              <a:extLst>
                <a:ext uri="{FF2B5EF4-FFF2-40B4-BE49-F238E27FC236}">
                  <a16:creationId xmlns:a16="http://schemas.microsoft.com/office/drawing/2014/main" id="{A9F2641C-C962-307B-B0EC-DB4FEEBDA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024"/>
              <a:ext cx="528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8684" name="Freeform 12">
            <a:extLst>
              <a:ext uri="{FF2B5EF4-FFF2-40B4-BE49-F238E27FC236}">
                <a16:creationId xmlns:a16="http://schemas.microsoft.com/office/drawing/2014/main" id="{147D86C9-8C56-16DB-A9BE-DE33C5AF4B01}"/>
              </a:ext>
            </a:extLst>
          </p:cNvPr>
          <p:cNvSpPr>
            <a:spLocks/>
          </p:cNvSpPr>
          <p:nvPr/>
        </p:nvSpPr>
        <p:spPr bwMode="auto">
          <a:xfrm>
            <a:off x="3886200" y="4838700"/>
            <a:ext cx="293688" cy="723900"/>
          </a:xfrm>
          <a:custGeom>
            <a:avLst/>
            <a:gdLst>
              <a:gd name="T0" fmla="*/ 2147483647 w 185"/>
              <a:gd name="T1" fmla="*/ 0 h 432"/>
              <a:gd name="T2" fmla="*/ 2147483647 w 185"/>
              <a:gd name="T3" fmla="*/ 2147483647 h 432"/>
              <a:gd name="T4" fmla="*/ 2147483647 w 185"/>
              <a:gd name="T5" fmla="*/ 2147483647 h 432"/>
              <a:gd name="T6" fmla="*/ 0 w 185"/>
              <a:gd name="T7" fmla="*/ 2147483647 h 432"/>
              <a:gd name="T8" fmla="*/ 2147483647 w 185"/>
              <a:gd name="T9" fmla="*/ 2147483647 h 432"/>
              <a:gd name="T10" fmla="*/ 2147483647 w 185"/>
              <a:gd name="T11" fmla="*/ 2147483647 h 432"/>
              <a:gd name="T12" fmla="*/ 2147483647 w 185"/>
              <a:gd name="T13" fmla="*/ 2147483647 h 432"/>
              <a:gd name="T14" fmla="*/ 2147483647 w 185"/>
              <a:gd name="T15" fmla="*/ 2147483647 h 432"/>
              <a:gd name="T16" fmla="*/ 2147483647 w 185"/>
              <a:gd name="T17" fmla="*/ 2147483647 h 432"/>
              <a:gd name="T18" fmla="*/ 2147483647 w 185"/>
              <a:gd name="T19" fmla="*/ 2147483647 h 432"/>
              <a:gd name="T20" fmla="*/ 2147483647 w 185"/>
              <a:gd name="T21" fmla="*/ 2147483647 h 432"/>
              <a:gd name="T22" fmla="*/ 2147483647 w 185"/>
              <a:gd name="T23" fmla="*/ 0 h 43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85" h="432">
                <a:moveTo>
                  <a:pt x="144" y="0"/>
                </a:moveTo>
                <a:lnTo>
                  <a:pt x="62" y="55"/>
                </a:lnTo>
                <a:lnTo>
                  <a:pt x="4" y="170"/>
                </a:lnTo>
                <a:lnTo>
                  <a:pt x="0" y="288"/>
                </a:lnTo>
                <a:lnTo>
                  <a:pt x="37" y="335"/>
                </a:lnTo>
                <a:lnTo>
                  <a:pt x="62" y="384"/>
                </a:lnTo>
                <a:lnTo>
                  <a:pt x="96" y="432"/>
                </a:lnTo>
                <a:lnTo>
                  <a:pt x="160" y="326"/>
                </a:lnTo>
                <a:lnTo>
                  <a:pt x="177" y="252"/>
                </a:lnTo>
                <a:lnTo>
                  <a:pt x="185" y="145"/>
                </a:lnTo>
                <a:lnTo>
                  <a:pt x="169" y="63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  <p:bldP spid="28676" grpId="0" autoUpdateAnimBg="0"/>
      <p:bldP spid="2867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6DC650D7-1A03-1B11-5C58-E0F9CED61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10668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latin typeface="Comic Sans MS" pitchFamily="66" charset="0"/>
                <a:sym typeface="Symbol" pitchFamily="18" charset="2"/>
              </a:rPr>
              <a:t>The </a:t>
            </a:r>
            <a:r>
              <a:rPr lang="en-US" i="1">
                <a:solidFill>
                  <a:schemeClr val="hlink"/>
                </a:solidFill>
                <a:latin typeface="Comic Sans MS" pitchFamily="66" charset="0"/>
                <a:sym typeface="Symbol" pitchFamily="18" charset="2"/>
              </a:rPr>
              <a:t>intersection</a:t>
            </a:r>
            <a:r>
              <a:rPr lang="en-US">
                <a:latin typeface="Comic Sans MS" pitchFamily="66" charset="0"/>
                <a:sym typeface="Symbol" pitchFamily="18" charset="2"/>
              </a:rPr>
              <a:t> of two sets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Comic Sans MS" pitchFamily="66" charset="0"/>
                <a:sym typeface="Symbol" pitchFamily="18" charset="2"/>
              </a:rPr>
              <a:t> and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Comic Sans MS" pitchFamily="66" charset="0"/>
                <a:sym typeface="Symbol" pitchFamily="18" charset="2"/>
              </a:rPr>
              <a:t> is: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 B = {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: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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DD80F35-584A-EA54-248B-C5AA0BEED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533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If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 : x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is a US president},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: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400">
                <a:latin typeface="Comic Sans MS" panose="030F0902030302020204" pitchFamily="66" charset="0"/>
                <a:sym typeface="Symbol" pitchFamily="2" charset="2"/>
              </a:rPr>
              <a:t> is in this room}, then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E67C476E-4D57-13A0-6568-5B97DA257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81400"/>
            <a:ext cx="845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Comic Sans MS" panose="030F0902030302020204" pitchFamily="66" charset="0"/>
                <a:sym typeface="Symbol" pitchFamily="2" charset="2"/>
              </a:rPr>
              <a:t> 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Comic Sans MS" panose="030F0902030302020204" pitchFamily="66" charset="0"/>
                <a:sym typeface="Symbol" pitchFamily="2" charset="2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Comic Sans MS" panose="030F0902030302020204" pitchFamily="66" charset="0"/>
                <a:sym typeface="Symbol" pitchFamily="2" charset="2"/>
              </a:rPr>
              <a:t> :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Comic Sans MS" panose="030F0902030302020204" pitchFamily="66" charset="0"/>
                <a:sym typeface="Symbol" pitchFamily="2" charset="2"/>
              </a:rPr>
              <a:t> is a US president in this room} = </a:t>
            </a:r>
          </a:p>
        </p:txBody>
      </p:sp>
      <p:grpSp>
        <p:nvGrpSpPr>
          <p:cNvPr id="29702" name="Group 6">
            <a:extLst>
              <a:ext uri="{FF2B5EF4-FFF2-40B4-BE49-F238E27FC236}">
                <a16:creationId xmlns:a16="http://schemas.microsoft.com/office/drawing/2014/main" id="{B81198D1-2CEB-595B-2A77-270716B4496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91000"/>
            <a:ext cx="2895600" cy="1981200"/>
            <a:chOff x="288" y="3168"/>
            <a:chExt cx="4428" cy="768"/>
          </a:xfrm>
        </p:grpSpPr>
        <p:sp>
          <p:nvSpPr>
            <p:cNvPr id="7180" name="Oval 7">
              <a:extLst>
                <a:ext uri="{FF2B5EF4-FFF2-40B4-BE49-F238E27FC236}">
                  <a16:creationId xmlns:a16="http://schemas.microsoft.com/office/drawing/2014/main" id="{BB152151-770B-65ED-0A8D-656851ACD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81" name="Text Box 8">
              <a:extLst>
                <a:ext uri="{FF2B5EF4-FFF2-40B4-BE49-F238E27FC236}">
                  <a16:creationId xmlns:a16="http://schemas.microsoft.com/office/drawing/2014/main" id="{D9B5B44D-73F1-32EB-38EB-165A37D09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7" cy="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Sets whose intersection is empty are called </a:t>
              </a:r>
              <a:r>
                <a:rPr lang="en-US" altLang="en-US" sz="2400" i="1">
                  <a:solidFill>
                    <a:schemeClr val="tx2"/>
                  </a:solidFill>
                  <a:latin typeface="Comic Sans MS" panose="030F0902030302020204" pitchFamily="66" charset="0"/>
                </a:rPr>
                <a:t>disjoint</a:t>
              </a:r>
              <a:r>
                <a:rPr lang="en-US" altLang="en-US" sz="2400">
                  <a:solidFill>
                    <a:schemeClr val="tx2"/>
                  </a:solidFill>
                  <a:latin typeface="Comic Sans MS" panose="030F0902030302020204" pitchFamily="66" charset="0"/>
                </a:rPr>
                <a:t> sets</a:t>
              </a:r>
            </a:p>
          </p:txBody>
        </p:sp>
      </p:grpSp>
      <p:grpSp>
        <p:nvGrpSpPr>
          <p:cNvPr id="29705" name="Group 9">
            <a:extLst>
              <a:ext uri="{FF2B5EF4-FFF2-40B4-BE49-F238E27FC236}">
                <a16:creationId xmlns:a16="http://schemas.microsoft.com/office/drawing/2014/main" id="{33374066-271B-5C6F-F10E-F26B12EE5889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572000"/>
            <a:ext cx="2438400" cy="1524000"/>
            <a:chOff x="1680" y="2832"/>
            <a:chExt cx="1536" cy="960"/>
          </a:xfrm>
        </p:grpSpPr>
        <p:sp>
          <p:nvSpPr>
            <p:cNvPr id="7175" name="Rectangle 10">
              <a:extLst>
                <a:ext uri="{FF2B5EF4-FFF2-40B4-BE49-F238E27FC236}">
                  <a16:creationId xmlns:a16="http://schemas.microsoft.com/office/drawing/2014/main" id="{9B719907-80BA-9EED-88F3-7365C300A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32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6" name="Oval 11">
              <a:extLst>
                <a:ext uri="{FF2B5EF4-FFF2-40B4-BE49-F238E27FC236}">
                  <a16:creationId xmlns:a16="http://schemas.microsoft.com/office/drawing/2014/main" id="{6806B473-F50A-181F-FADA-3658446E2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28"/>
              <a:ext cx="768" cy="76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7" name="Rectangle 12">
              <a:extLst>
                <a:ext uri="{FF2B5EF4-FFF2-40B4-BE49-F238E27FC236}">
                  <a16:creationId xmlns:a16="http://schemas.microsoft.com/office/drawing/2014/main" id="{20EFADF1-249E-83F0-E2B9-E55DB29C1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97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B</a:t>
              </a:r>
            </a:p>
          </p:txBody>
        </p:sp>
        <p:sp>
          <p:nvSpPr>
            <p:cNvPr id="7178" name="Oval 13">
              <a:extLst>
                <a:ext uri="{FF2B5EF4-FFF2-40B4-BE49-F238E27FC236}">
                  <a16:creationId xmlns:a16="http://schemas.microsoft.com/office/drawing/2014/main" id="{129D5C39-5936-FA9B-E369-89970CDF1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24"/>
              <a:ext cx="528" cy="52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9" name="Rectangle 14">
              <a:extLst>
                <a:ext uri="{FF2B5EF4-FFF2-40B4-BE49-F238E27FC236}">
                  <a16:creationId xmlns:a16="http://schemas.microsoft.com/office/drawing/2014/main" id="{C9DE3E97-3836-0AE4-E69C-3C2E70599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6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  <p:bldP spid="29700" grpId="0" autoUpdateAnimBg="0"/>
      <p:bldP spid="2970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BCCB3D6E-6770-4D9B-9B98-BF9F39267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5562600" cy="6096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latin typeface="Times New Roman" pitchFamily="18" charset="0"/>
                <a:sym typeface="Symbol" pitchFamily="18" charset="2"/>
              </a:rPr>
              <a:t>The 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complement</a:t>
            </a:r>
            <a:r>
              <a:rPr lang="en-US">
                <a:latin typeface="Times New Roman" pitchFamily="18" charset="0"/>
                <a:sym typeface="Symbol" pitchFamily="18" charset="2"/>
              </a:rPr>
              <a:t> of a set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is: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5A583756-632F-0FAE-C0A1-C712C3BC6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579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If </a:t>
            </a:r>
            <a:r>
              <a:rPr lang="en-US" altLang="en-US" sz="32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en-US" sz="32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: </a:t>
            </a:r>
            <a:r>
              <a:rPr lang="en-US" altLang="en-US" sz="32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is not shaded}, then</a:t>
            </a:r>
          </a:p>
        </p:txBody>
      </p:sp>
      <p:grpSp>
        <p:nvGrpSpPr>
          <p:cNvPr id="30725" name="Group 5">
            <a:extLst>
              <a:ext uri="{FF2B5EF4-FFF2-40B4-BE49-F238E27FC236}">
                <a16:creationId xmlns:a16="http://schemas.microsoft.com/office/drawing/2014/main" id="{BA5674C9-9DA0-AFC2-810C-253B72334815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876800"/>
            <a:ext cx="1600200" cy="1524000"/>
            <a:chOff x="3792" y="3072"/>
            <a:chExt cx="864" cy="960"/>
          </a:xfrm>
        </p:grpSpPr>
        <p:grpSp>
          <p:nvGrpSpPr>
            <p:cNvPr id="8206" name="Group 6">
              <a:extLst>
                <a:ext uri="{FF2B5EF4-FFF2-40B4-BE49-F238E27FC236}">
                  <a16:creationId xmlns:a16="http://schemas.microsoft.com/office/drawing/2014/main" id="{F20B32F3-8D85-F96E-3D2E-34F919C93E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072"/>
              <a:ext cx="864" cy="960"/>
              <a:chOff x="288" y="3168"/>
              <a:chExt cx="4428" cy="768"/>
            </a:xfrm>
          </p:grpSpPr>
          <p:sp>
            <p:nvSpPr>
              <p:cNvPr id="8209" name="Oval 7">
                <a:extLst>
                  <a:ext uri="{FF2B5EF4-FFF2-40B4-BE49-F238E27FC236}">
                    <a16:creationId xmlns:a16="http://schemas.microsoft.com/office/drawing/2014/main" id="{5A052DF0-84C3-9B6B-C699-CBDB31CED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168"/>
                <a:ext cx="4428" cy="7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10" name="Text Box 8">
                <a:extLst>
                  <a:ext uri="{FF2B5EF4-FFF2-40B4-BE49-F238E27FC236}">
                    <a16:creationId xmlns:a16="http://schemas.microsoft.com/office/drawing/2014/main" id="{D19E269D-48B4-BB92-76BC-0AA42F606B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3264"/>
                <a:ext cx="4387" cy="6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Font typeface="Symbol" pitchFamily="2" charset="2"/>
                  <a:buChar char="Æ"/>
                </a:pPr>
                <a:r>
                  <a:rPr lang="en-US" altLang="en-US" sz="2800">
                    <a:latin typeface="Times New Roman" panose="02020603050405020304" pitchFamily="18" charset="0"/>
                    <a:sym typeface="Symbol" pitchFamily="2" charset="2"/>
                  </a:rPr>
                  <a:t>= </a:t>
                </a:r>
                <a:r>
                  <a:rPr lang="en-US" altLang="en-US" sz="2800" i="1">
                    <a:latin typeface="Times New Roman" panose="02020603050405020304" pitchFamily="18" charset="0"/>
                    <a:sym typeface="Symbol" pitchFamily="2" charset="2"/>
                  </a:rPr>
                  <a:t>U</a:t>
                </a:r>
                <a:r>
                  <a:rPr lang="en-US" altLang="en-US" sz="2800">
                    <a:latin typeface="Times New Roman" panose="02020603050405020304" pitchFamily="18" charset="0"/>
                    <a:sym typeface="Symbol" pitchFamily="2" charset="2"/>
                  </a:rPr>
                  <a:t> and </a:t>
                </a:r>
              </a:p>
              <a:p>
                <a:pPr algn="ctr">
                  <a:lnSpc>
                    <a:spcPct val="90000"/>
                  </a:lnSpc>
                  <a:buFont typeface="Symbol" pitchFamily="2" charset="2"/>
                  <a:buNone/>
                </a:pPr>
                <a:r>
                  <a:rPr lang="en-US" altLang="en-US" sz="2800" i="1">
                    <a:latin typeface="Times New Roman" panose="02020603050405020304" pitchFamily="18" charset="0"/>
                    <a:sym typeface="Symbol" pitchFamily="2" charset="2"/>
                  </a:rPr>
                  <a:t>U</a:t>
                </a:r>
                <a:r>
                  <a:rPr lang="en-US" altLang="en-US" sz="2800">
                    <a:latin typeface="Times New Roman" panose="02020603050405020304" pitchFamily="18" charset="0"/>
                    <a:sym typeface="Symbol" pitchFamily="2" charset="2"/>
                  </a:rPr>
                  <a:t> = </a:t>
                </a:r>
              </a:p>
            </p:txBody>
          </p:sp>
        </p:grpSp>
        <p:sp>
          <p:nvSpPr>
            <p:cNvPr id="8207" name="Line 9">
              <a:extLst>
                <a:ext uri="{FF2B5EF4-FFF2-40B4-BE49-F238E27FC236}">
                  <a16:creationId xmlns:a16="http://schemas.microsoft.com/office/drawing/2014/main" id="{3C175BA3-E8A5-2D69-1E54-E195364B2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64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10">
              <a:extLst>
                <a:ext uri="{FF2B5EF4-FFF2-40B4-BE49-F238E27FC236}">
                  <a16:creationId xmlns:a16="http://schemas.microsoft.com/office/drawing/2014/main" id="{7CF313C2-FFD5-FB1F-F635-B37BB8F3D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2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31" name="Group 11">
            <a:extLst>
              <a:ext uri="{FF2B5EF4-FFF2-40B4-BE49-F238E27FC236}">
                <a16:creationId xmlns:a16="http://schemas.microsoft.com/office/drawing/2014/main" id="{8806AA08-9418-56B8-245E-B05069719C4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343400"/>
            <a:ext cx="2438400" cy="1600200"/>
            <a:chOff x="1728" y="2736"/>
            <a:chExt cx="1536" cy="1008"/>
          </a:xfrm>
        </p:grpSpPr>
        <p:grpSp>
          <p:nvGrpSpPr>
            <p:cNvPr id="8201" name="Group 12">
              <a:extLst>
                <a:ext uri="{FF2B5EF4-FFF2-40B4-BE49-F238E27FC236}">
                  <a16:creationId xmlns:a16="http://schemas.microsoft.com/office/drawing/2014/main" id="{D45FCCE5-ABBF-44FE-DD2E-2D3704C3CD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784"/>
              <a:ext cx="1536" cy="960"/>
              <a:chOff x="1728" y="2784"/>
              <a:chExt cx="1536" cy="960"/>
            </a:xfrm>
          </p:grpSpPr>
          <p:sp>
            <p:nvSpPr>
              <p:cNvPr id="8203" name="Rectangle 13" descr="Light upward diagonal">
                <a:extLst>
                  <a:ext uri="{FF2B5EF4-FFF2-40B4-BE49-F238E27FC236}">
                    <a16:creationId xmlns:a16="http://schemas.microsoft.com/office/drawing/2014/main" id="{FD84113A-D01F-0625-F76D-15D748200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84"/>
                <a:ext cx="1536" cy="96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04" name="Oval 14">
                <a:extLst>
                  <a:ext uri="{FF2B5EF4-FFF2-40B4-BE49-F238E27FC236}">
                    <a16:creationId xmlns:a16="http://schemas.microsoft.com/office/drawing/2014/main" id="{7125DDF6-E102-4ED2-7799-9AD32FADA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928"/>
                <a:ext cx="528" cy="52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05" name="Rectangle 15">
                <a:extLst>
                  <a:ext uri="{FF2B5EF4-FFF2-40B4-BE49-F238E27FC236}">
                    <a16:creationId xmlns:a16="http://schemas.microsoft.com/office/drawing/2014/main" id="{D0A3371E-C7D2-4921-4806-70162F545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2400" i="1">
                    <a:latin typeface="Times" pitchFamily="2" charset="0"/>
                    <a:sym typeface="Symbol" pitchFamily="2" charset="2"/>
                  </a:rPr>
                  <a:t>A</a:t>
                </a:r>
              </a:p>
            </p:txBody>
          </p:sp>
        </p:grpSp>
        <p:sp>
          <p:nvSpPr>
            <p:cNvPr id="8202" name="Rectangle 16">
              <a:extLst>
                <a:ext uri="{FF2B5EF4-FFF2-40B4-BE49-F238E27FC236}">
                  <a16:creationId xmlns:a16="http://schemas.microsoft.com/office/drawing/2014/main" id="{23F11739-64D8-8848-4719-0CA5448CF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3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imes" pitchFamily="2" charset="0"/>
                  <a:sym typeface="Symbol" pitchFamily="2" charset="2"/>
                </a:rPr>
                <a:t>U</a:t>
              </a:r>
            </a:p>
          </p:txBody>
        </p:sp>
      </p:grpSp>
      <p:graphicFrame>
        <p:nvGraphicFramePr>
          <p:cNvPr id="30737" name="Object 17">
            <a:extLst>
              <a:ext uri="{FF2B5EF4-FFF2-40B4-BE49-F238E27FC236}">
                <a16:creationId xmlns:a16="http://schemas.microsoft.com/office/drawing/2014/main" id="{8E09BBC3-4648-9A97-7C7C-418D7D355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05000"/>
          <a:ext cx="2286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3100" imgH="152400" progId="Equation.3">
                  <p:embed/>
                </p:oleObj>
              </mc:Choice>
              <mc:Fallback>
                <p:oleObj name="Equation" r:id="rId3" imgW="673100" imgH="152400" progId="Equation.3">
                  <p:embed/>
                  <p:pic>
                    <p:nvPicPr>
                      <p:cNvPr id="30737" name="Object 17">
                        <a:extLst>
                          <a:ext uri="{FF2B5EF4-FFF2-40B4-BE49-F238E27FC236}">
                            <a16:creationId xmlns:a16="http://schemas.microsoft.com/office/drawing/2014/main" id="{8E09BBC3-4648-9A97-7C7C-418D7D355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05000"/>
                        <a:ext cx="2286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8">
            <a:extLst>
              <a:ext uri="{FF2B5EF4-FFF2-40B4-BE49-F238E27FC236}">
                <a16:creationId xmlns:a16="http://schemas.microsoft.com/office/drawing/2014/main" id="{8FBE962E-38F5-C4EF-5E67-E427BE690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505200"/>
          <a:ext cx="3206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152400" progId="Equation.3">
                  <p:embed/>
                </p:oleObj>
              </mc:Choice>
              <mc:Fallback>
                <p:oleObj name="Equation" r:id="rId5" imgW="965200" imgH="152400" progId="Equation.3">
                  <p:embed/>
                  <p:pic>
                    <p:nvPicPr>
                      <p:cNvPr id="30738" name="Object 18">
                        <a:extLst>
                          <a:ext uri="{FF2B5EF4-FFF2-40B4-BE49-F238E27FC236}">
                            <a16:creationId xmlns:a16="http://schemas.microsoft.com/office/drawing/2014/main" id="{8FBE962E-38F5-C4EF-5E67-E427BE690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3206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1">
            <a:extLst>
              <a:ext uri="{FF2B5EF4-FFF2-40B4-BE49-F238E27FC236}">
                <a16:creationId xmlns:a16="http://schemas.microsoft.com/office/drawing/2014/main" id="{04D46B74-C021-2438-B346-F59DCC91EB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2300" y="4876800"/>
          <a:ext cx="400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900" imgH="127000" progId="Equation.3">
                  <p:embed/>
                </p:oleObj>
              </mc:Choice>
              <mc:Fallback>
                <p:oleObj name="Equation" r:id="rId7" imgW="88900" imgH="127000" progId="Equation.3">
                  <p:embed/>
                  <p:pic>
                    <p:nvPicPr>
                      <p:cNvPr id="30741" name="Object 21">
                        <a:extLst>
                          <a:ext uri="{FF2B5EF4-FFF2-40B4-BE49-F238E27FC236}">
                            <a16:creationId xmlns:a16="http://schemas.microsoft.com/office/drawing/2014/main" id="{04D46B74-C021-2438-B346-F59DCC91EB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876800"/>
                        <a:ext cx="400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F9FB18EC-E043-3758-5E79-ECC3C842B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91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latin typeface="Times New Roman" pitchFamily="18" charset="0"/>
                <a:sym typeface="Symbol" pitchFamily="18" charset="2"/>
              </a:rPr>
              <a:t>The </a:t>
            </a:r>
            <a:r>
              <a:rPr lang="en-US" b="1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symmetric difference</a:t>
            </a:r>
            <a:r>
              <a:rPr lang="en-US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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Times New Roman" pitchFamily="18" charset="0"/>
                <a:sym typeface="Symbol" pitchFamily="18" charset="2"/>
              </a:rPr>
              <a:t>, is: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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= {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: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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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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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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)}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EC48D5EB-630C-D046-E187-12D502D7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67000"/>
            <a:ext cx="3200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defRPr/>
            </a:pP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= (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 – 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)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 (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 – 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)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0AB300EF-154D-1523-0A58-492ACCB0E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51188"/>
            <a:ext cx="3797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=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{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: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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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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}</a:t>
            </a:r>
          </a:p>
        </p:txBody>
      </p:sp>
      <p:grpSp>
        <p:nvGrpSpPr>
          <p:cNvPr id="31750" name="Group 6">
            <a:extLst>
              <a:ext uri="{FF2B5EF4-FFF2-40B4-BE49-F238E27FC236}">
                <a16:creationId xmlns:a16="http://schemas.microsoft.com/office/drawing/2014/main" id="{5B75CB46-0A71-4075-C969-D99FD48504F4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267200"/>
            <a:ext cx="2819400" cy="1676400"/>
            <a:chOff x="3552" y="2784"/>
            <a:chExt cx="1776" cy="1056"/>
          </a:xfrm>
        </p:grpSpPr>
        <p:sp>
          <p:nvSpPr>
            <p:cNvPr id="9222" name="Rectangle 7">
              <a:extLst>
                <a:ext uri="{FF2B5EF4-FFF2-40B4-BE49-F238E27FC236}">
                  <a16:creationId xmlns:a16="http://schemas.microsoft.com/office/drawing/2014/main" id="{758130A4-3655-50D1-0692-9BDFB75B7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784"/>
              <a:ext cx="1776" cy="105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3" name="Rectangle 8">
              <a:extLst>
                <a:ext uri="{FF2B5EF4-FFF2-40B4-BE49-F238E27FC236}">
                  <a16:creationId xmlns:a16="http://schemas.microsoft.com/office/drawing/2014/main" id="{9A797F93-40F5-AAB7-3F05-DC1E238EC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784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 i="1">
                  <a:latin typeface="Times" pitchFamily="2" charset="0"/>
                  <a:sym typeface="Symbol" pitchFamily="2" charset="2"/>
                </a:rPr>
                <a:t>U</a:t>
              </a:r>
            </a:p>
          </p:txBody>
        </p:sp>
        <p:sp>
          <p:nvSpPr>
            <p:cNvPr id="9224" name="Oval 9">
              <a:extLst>
                <a:ext uri="{FF2B5EF4-FFF2-40B4-BE49-F238E27FC236}">
                  <a16:creationId xmlns:a16="http://schemas.microsoft.com/office/drawing/2014/main" id="{3DF3BE64-C488-AC0B-8697-DAFBB3239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976"/>
              <a:ext cx="720" cy="67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5" name="Oval 10">
              <a:extLst>
                <a:ext uri="{FF2B5EF4-FFF2-40B4-BE49-F238E27FC236}">
                  <a16:creationId xmlns:a16="http://schemas.microsoft.com/office/drawing/2014/main" id="{452FDF5F-4487-CF82-780C-5FCD9ECC1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976"/>
              <a:ext cx="720" cy="67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6" name="Oval 11">
              <a:extLst>
                <a:ext uri="{FF2B5EF4-FFF2-40B4-BE49-F238E27FC236}">
                  <a16:creationId xmlns:a16="http://schemas.microsoft.com/office/drawing/2014/main" id="{B724B498-2305-24DD-4A1B-DA1140EFA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72"/>
              <a:ext cx="240" cy="5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7" name="Rectangle 12">
              <a:extLst>
                <a:ext uri="{FF2B5EF4-FFF2-40B4-BE49-F238E27FC236}">
                  <a16:creationId xmlns:a16="http://schemas.microsoft.com/office/drawing/2014/main" id="{A3D5777C-C9C3-690A-3605-348E9559E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6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b="1" i="1">
                  <a:solidFill>
                    <a:schemeClr val="bg2"/>
                  </a:solidFill>
                  <a:latin typeface="Times" pitchFamily="2" charset="0"/>
                  <a:sym typeface="Symbol" pitchFamily="2" charset="2"/>
                </a:rPr>
                <a:t>A – B </a:t>
              </a:r>
            </a:p>
          </p:txBody>
        </p:sp>
        <p:sp>
          <p:nvSpPr>
            <p:cNvPr id="9228" name="Rectangle 13">
              <a:extLst>
                <a:ext uri="{FF2B5EF4-FFF2-40B4-BE49-F238E27FC236}">
                  <a16:creationId xmlns:a16="http://schemas.microsoft.com/office/drawing/2014/main" id="{FDF2DF63-EADE-FB08-D77C-87C668C43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12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b="1" i="1">
                  <a:solidFill>
                    <a:schemeClr val="bg2"/>
                  </a:solidFill>
                  <a:latin typeface="Times" pitchFamily="2" charset="0"/>
                  <a:sym typeface="Symbol" pitchFamily="2" charset="2"/>
                </a:rPr>
                <a:t>B – A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  <p:bldP spid="31748" grpId="0" autoUpdateAnimBg="0"/>
      <p:bldP spid="3174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AE076DA-7434-B905-0872-28472534436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2.2.2 Set 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Identities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CBB4DEF-0DCF-512F-F689-FE8623028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525" y="1598613"/>
            <a:ext cx="7356475" cy="11445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3600" i="1">
                <a:latin typeface="Comic Sans MS" pitchFamily="66" charset="0"/>
                <a:sym typeface="Symbol" pitchFamily="18" charset="2"/>
              </a:rPr>
              <a:t>Identity		</a:t>
            </a:r>
            <a:r>
              <a:rPr lang="en-US" i="1">
                <a:latin typeface="Times New Roman" pitchFamily="18" charset="0"/>
              </a:rPr>
              <a:t>A </a:t>
            </a:r>
            <a:r>
              <a:rPr lang="en-US">
                <a:latin typeface="Times New Roman" pitchFamily="18" charset="0"/>
                <a:sym typeface="Symbol" pitchFamily="18" charset="2"/>
              </a:rPr>
              <a:t>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 U = 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i="1">
                <a:latin typeface="Times New Roman" pitchFamily="18" charset="0"/>
                <a:sym typeface="Symbol" pitchFamily="18" charset="2"/>
              </a:rPr>
              <a:t>					</a:t>
            </a:r>
            <a:r>
              <a:rPr lang="en-US" i="1">
                <a:latin typeface="Times New Roman" pitchFamily="18" charset="0"/>
              </a:rPr>
              <a:t>A </a:t>
            </a:r>
            <a:r>
              <a:rPr lang="en-US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>
                <a:latin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sym typeface="Symbol" pitchFamily="18" charset="2"/>
              </a:rPr>
              <a:t>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 = A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2AB8741E-4FFA-512B-F91A-B7823FBA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3295650"/>
            <a:ext cx="7010400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Domination		</a:t>
            </a:r>
            <a:r>
              <a:rPr lang="en-US" sz="2800" i="1">
                <a:latin typeface="Times New Roman" pitchFamily="18" charset="0"/>
                <a:cs typeface="Arial" charset="0"/>
              </a:rPr>
              <a:t>A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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 U = U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				</a:t>
            </a:r>
            <a:r>
              <a:rPr lang="en-US" sz="2800" i="1">
                <a:latin typeface="Times New Roman" pitchFamily="18" charset="0"/>
                <a:cs typeface="Arial" charset="0"/>
              </a:rPr>
              <a:t>A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</a:t>
            </a:r>
            <a:r>
              <a:rPr lang="en-US" sz="2800">
                <a:latin typeface="Times New Roman" pitchFamily="18" charset="0"/>
                <a:cs typeface="Arial" charset="0"/>
              </a:rPr>
              <a:t>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 = 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7B99B2B-16EA-0230-8131-8145347CB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029200"/>
            <a:ext cx="7356475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Idempotent		 </a:t>
            </a:r>
            <a:r>
              <a:rPr lang="en-US" sz="2800" i="1">
                <a:latin typeface="Times New Roman" pitchFamily="18" charset="0"/>
                <a:cs typeface="Arial" charset="0"/>
              </a:rPr>
              <a:t>A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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 A = A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	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				 </a:t>
            </a:r>
            <a:r>
              <a:rPr lang="en-US" sz="2800" i="1">
                <a:latin typeface="Times New Roman" pitchFamily="18" charset="0"/>
                <a:cs typeface="Arial" charset="0"/>
              </a:rPr>
              <a:t>A </a:t>
            </a:r>
            <a:r>
              <a:rPr lang="en-US" sz="2800">
                <a:latin typeface="Times New Roman" pitchFamily="18" charset="0"/>
                <a:cs typeface="Arial" charset="0"/>
                <a:sym typeface="Symbol" pitchFamily="18" charset="2"/>
              </a:rPr>
              <a:t></a:t>
            </a:r>
            <a:r>
              <a:rPr lang="en-US" sz="2800" i="1">
                <a:latin typeface="Times New Roman" pitchFamily="18" charset="0"/>
                <a:cs typeface="Arial" charset="0"/>
              </a:rPr>
              <a:t> </a:t>
            </a:r>
            <a:r>
              <a:rPr lang="en-US" sz="2800" i="1">
                <a:latin typeface="Times New Roman" pitchFamily="18" charset="0"/>
                <a:cs typeface="Arial" charset="0"/>
                <a:sym typeface="Symbol" pitchFamily="18" charset="2"/>
              </a:rPr>
              <a:t>A = A</a:t>
            </a:r>
          </a:p>
        </p:txBody>
      </p:sp>
      <p:grpSp>
        <p:nvGrpSpPr>
          <p:cNvPr id="32780" name="Group 12">
            <a:extLst>
              <a:ext uri="{FF2B5EF4-FFF2-40B4-BE49-F238E27FC236}">
                <a16:creationId xmlns:a16="http://schemas.microsoft.com/office/drawing/2014/main" id="{4C11EA3C-4AE0-7E32-C094-BAC08D7CFCC8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514600"/>
            <a:ext cx="2438400" cy="1524000"/>
            <a:chOff x="3936" y="1584"/>
            <a:chExt cx="1536" cy="960"/>
          </a:xfrm>
        </p:grpSpPr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6F2D7158-FDA7-A2FE-19B4-BE9B41D50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584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8" name="Oval 8">
              <a:extLst>
                <a:ext uri="{FF2B5EF4-FFF2-40B4-BE49-F238E27FC236}">
                  <a16:creationId xmlns:a16="http://schemas.microsoft.com/office/drawing/2014/main" id="{E7FC07C5-4C73-F1CA-7685-396FAA90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680"/>
              <a:ext cx="768" cy="7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BF48A347-9AE7-F27C-77CB-509B35DA3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9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A</a:t>
              </a: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BEB840A9-ED47-B20F-63D6-8885DFF1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84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400" b="1" i="1">
                  <a:latin typeface="Times" pitchFamily="2" charset="0"/>
                  <a:sym typeface="Symbol" pitchFamily="2" charset="2"/>
                </a:rPr>
                <a:t>U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 build="p" bldLvl="2" autoUpdateAnimBg="0"/>
      <p:bldP spid="32772" grpId="0" build="p" autoUpdateAnimBg="0"/>
      <p:bldP spid="3277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684DF38-19DB-8BE9-552F-58995A44618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2.2.2 Set 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Identities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DA6D34C-81A6-0CDA-FC13-63C9EB0B1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98613"/>
            <a:ext cx="4343400" cy="839787"/>
          </a:xfrm>
        </p:spPr>
        <p:txBody>
          <a:bodyPr/>
          <a:lstStyle/>
          <a:p>
            <a:pPr eaLnBrk="1" hangingPunct="1"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Excluded Middle	</a:t>
            </a:r>
            <a:endParaRPr lang="en-US" i="1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A3844775-AFEB-B04A-21F2-E2D109AE1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708525"/>
          <a:ext cx="11191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100" imgH="152400" progId="Equation.3">
                  <p:embed/>
                </p:oleObj>
              </mc:Choice>
              <mc:Fallback>
                <p:oleObj name="Equation" r:id="rId2" imgW="292100" imgH="152400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A3844775-AFEB-B04A-21F2-E2D109AE1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708525"/>
                        <a:ext cx="11191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1D00F179-951B-A015-E021-008302120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524000"/>
          <a:ext cx="18875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8000" imgH="152400" progId="Equation.3">
                  <p:embed/>
                </p:oleObj>
              </mc:Choice>
              <mc:Fallback>
                <p:oleObj name="Equation" r:id="rId4" imgW="508000" imgH="152400" progId="Equation.3">
                  <p:embed/>
                  <p:pic>
                    <p:nvPicPr>
                      <p:cNvPr id="33797" name="Object 5">
                        <a:extLst>
                          <a:ext uri="{FF2B5EF4-FFF2-40B4-BE49-F238E27FC236}">
                            <a16:creationId xmlns:a16="http://schemas.microsoft.com/office/drawing/2014/main" id="{1D00F179-951B-A015-E021-008302120D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524000"/>
                        <a:ext cx="18875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>
            <a:extLst>
              <a:ext uri="{FF2B5EF4-FFF2-40B4-BE49-F238E27FC236}">
                <a16:creationId xmlns:a16="http://schemas.microsoft.com/office/drawing/2014/main" id="{553FE5F0-411D-BAD0-6396-3B9E18B0D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657600"/>
          <a:ext cx="19224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8000" imgH="127000" progId="Equation.3">
                  <p:embed/>
                </p:oleObj>
              </mc:Choice>
              <mc:Fallback>
                <p:oleObj name="Equation" r:id="rId6" imgW="508000" imgH="127000" progId="Equation.3">
                  <p:embed/>
                  <p:pic>
                    <p:nvPicPr>
                      <p:cNvPr id="33798" name="Object 6">
                        <a:extLst>
                          <a:ext uri="{FF2B5EF4-FFF2-40B4-BE49-F238E27FC236}">
                            <a16:creationId xmlns:a16="http://schemas.microsoft.com/office/drawing/2014/main" id="{553FE5F0-411D-BAD0-6396-3B9E18B0D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657600"/>
                        <a:ext cx="19224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7">
            <a:extLst>
              <a:ext uri="{FF2B5EF4-FFF2-40B4-BE49-F238E27FC236}">
                <a16:creationId xmlns:a16="http://schemas.microsoft.com/office/drawing/2014/main" id="{69579D9D-A0F3-C570-31A4-0469C9948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6600"/>
            <a:ext cx="41148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Uniqueness		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D3A6CF4C-5666-1041-D0F7-6BA41E3E4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53000"/>
            <a:ext cx="4572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Double complement</a:t>
            </a:r>
          </a:p>
        </p:txBody>
      </p:sp>
      <p:grpSp>
        <p:nvGrpSpPr>
          <p:cNvPr id="33801" name="Group 9">
            <a:extLst>
              <a:ext uri="{FF2B5EF4-FFF2-40B4-BE49-F238E27FC236}">
                <a16:creationId xmlns:a16="http://schemas.microsoft.com/office/drawing/2014/main" id="{84E71C27-CF35-18E5-DB09-A0F8BD7CC4ED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362200"/>
            <a:ext cx="2438400" cy="1600200"/>
            <a:chOff x="1728" y="2736"/>
            <a:chExt cx="1536" cy="1008"/>
          </a:xfrm>
        </p:grpSpPr>
        <p:grpSp>
          <p:nvGrpSpPr>
            <p:cNvPr id="11275" name="Group 10">
              <a:extLst>
                <a:ext uri="{FF2B5EF4-FFF2-40B4-BE49-F238E27FC236}">
                  <a16:creationId xmlns:a16="http://schemas.microsoft.com/office/drawing/2014/main" id="{58592680-A7B9-CA44-CDA4-39905F04FF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784"/>
              <a:ext cx="1536" cy="960"/>
              <a:chOff x="1728" y="2784"/>
              <a:chExt cx="1536" cy="960"/>
            </a:xfrm>
          </p:grpSpPr>
          <p:sp>
            <p:nvSpPr>
              <p:cNvPr id="11277" name="Rectangle 11" descr="Light upward diagonal">
                <a:extLst>
                  <a:ext uri="{FF2B5EF4-FFF2-40B4-BE49-F238E27FC236}">
                    <a16:creationId xmlns:a16="http://schemas.microsoft.com/office/drawing/2014/main" id="{5B6C4638-6842-1E73-6AB8-A80CAA418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84"/>
                <a:ext cx="1536" cy="960"/>
              </a:xfrm>
              <a:prstGeom prst="rect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278" name="Oval 12">
                <a:extLst>
                  <a:ext uri="{FF2B5EF4-FFF2-40B4-BE49-F238E27FC236}">
                    <a16:creationId xmlns:a16="http://schemas.microsoft.com/office/drawing/2014/main" id="{6119541F-6EBC-56CB-6504-81C0F8F2A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928"/>
                <a:ext cx="528" cy="52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279" name="Rectangle 13">
                <a:extLst>
                  <a:ext uri="{FF2B5EF4-FFF2-40B4-BE49-F238E27FC236}">
                    <a16:creationId xmlns:a16="http://schemas.microsoft.com/office/drawing/2014/main" id="{39ABF880-5DBA-B719-91F3-2CFC7A805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2400" i="1">
                    <a:latin typeface="Times" pitchFamily="2" charset="0"/>
                    <a:sym typeface="Symbol" pitchFamily="2" charset="2"/>
                  </a:rPr>
                  <a:t>A</a:t>
                </a:r>
              </a:p>
            </p:txBody>
          </p:sp>
        </p:grpSp>
        <p:sp>
          <p:nvSpPr>
            <p:cNvPr id="11276" name="Rectangle 14">
              <a:extLst>
                <a:ext uri="{FF2B5EF4-FFF2-40B4-BE49-F238E27FC236}">
                  <a16:creationId xmlns:a16="http://schemas.microsoft.com/office/drawing/2014/main" id="{C0712357-FB3F-3FBB-220A-762FF10BE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3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imes" pitchFamily="2" charset="0"/>
                  <a:sym typeface="Symbol" pitchFamily="2" charset="2"/>
                </a:rPr>
                <a:t>U</a:t>
              </a:r>
            </a:p>
          </p:txBody>
        </p:sp>
      </p:grpSp>
      <p:graphicFrame>
        <p:nvGraphicFramePr>
          <p:cNvPr id="33807" name="Object 15">
            <a:extLst>
              <a:ext uri="{FF2B5EF4-FFF2-40B4-BE49-F238E27FC236}">
                <a16:creationId xmlns:a16="http://schemas.microsoft.com/office/drawing/2014/main" id="{7BF29502-98D6-8290-F14C-5C68603AB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2971800"/>
          <a:ext cx="400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" imgH="127000" progId="Equation.3">
                  <p:embed/>
                </p:oleObj>
              </mc:Choice>
              <mc:Fallback>
                <p:oleObj name="Equation" r:id="rId9" imgW="88900" imgH="127000" progId="Equation.3">
                  <p:embed/>
                  <p:pic>
                    <p:nvPicPr>
                      <p:cNvPr id="33807" name="Object 15">
                        <a:extLst>
                          <a:ext uri="{FF2B5EF4-FFF2-40B4-BE49-F238E27FC236}">
                            <a16:creationId xmlns:a16="http://schemas.microsoft.com/office/drawing/2014/main" id="{7BF29502-98D6-8290-F14C-5C68603ABB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971800"/>
                        <a:ext cx="400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5" grpId="0" build="p" bldLvl="2" autoUpdateAnimBg="0"/>
      <p:bldP spid="33799" grpId="0" autoUpdateAnimBg="0"/>
      <p:bldP spid="3380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F6CA940-5D6C-A126-89E4-E14619F066E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2.2.2 Set 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Identities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99B5FE9-A418-6A70-7AF7-794B5FEFF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077200" cy="44211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Commutativity		 </a:t>
            </a:r>
            <a:r>
              <a:rPr lang="en-US" sz="2800" i="1">
                <a:latin typeface="Times New Roman" pitchFamily="18" charset="0"/>
              </a:rPr>
              <a:t>A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 i="1">
                <a:latin typeface="Times New Roman" pitchFamily="18" charset="0"/>
              </a:rPr>
              <a:t> B = B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 i="1">
                <a:latin typeface="Times New Roman" pitchFamily="18" charset="0"/>
              </a:rPr>
              <a:t> A </a:t>
            </a:r>
            <a:endParaRPr lang="en-US" sz="2800" i="1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i="1">
                <a:latin typeface="Times New Roman" pitchFamily="18" charset="0"/>
                <a:sym typeface="Symbol" pitchFamily="18" charset="2"/>
              </a:rPr>
              <a:t>						 </a:t>
            </a:r>
            <a:r>
              <a:rPr lang="en-US" sz="2800" i="1">
                <a:latin typeface="Times New Roman" pitchFamily="18" charset="0"/>
              </a:rPr>
              <a:t>A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B = </a:t>
            </a:r>
            <a:r>
              <a:rPr lang="en-US" sz="2800" i="1">
                <a:latin typeface="Times New Roman" pitchFamily="18" charset="0"/>
              </a:rPr>
              <a:t>B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A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Associativity	 </a:t>
            </a:r>
            <a:r>
              <a:rPr lang="en-US" sz="2800">
                <a:latin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C = 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(</a:t>
            </a:r>
            <a:r>
              <a:rPr lang="en-US" sz="2800" i="1">
                <a:latin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C</a:t>
            </a:r>
            <a:r>
              <a:rPr lang="en-US" sz="2800">
                <a:latin typeface="Times New Roman" pitchFamily="18" charset="0"/>
              </a:rPr>
              <a:t>) </a:t>
            </a:r>
            <a:endParaRPr lang="en-US" sz="28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					 </a:t>
            </a:r>
            <a:r>
              <a:rPr lang="en-US" sz="2800">
                <a:latin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</a:t>
            </a:r>
            <a:r>
              <a:rPr lang="en-US" sz="2800" i="1">
                <a:latin typeface="Times New Roman" pitchFamily="18" charset="0"/>
              </a:rPr>
              <a:t>C =A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</a:t>
            </a:r>
            <a:r>
              <a:rPr lang="en-US" sz="2800" i="1">
                <a:latin typeface="Times New Roman" pitchFamily="18" charset="0"/>
              </a:rPr>
              <a:t>C</a:t>
            </a:r>
            <a:r>
              <a:rPr lang="en-US" sz="2800">
                <a:latin typeface="Times New Roman" pitchFamily="18" charset="0"/>
              </a:rPr>
              <a:t>)</a:t>
            </a:r>
            <a:r>
              <a:rPr lang="en-US" sz="2400">
                <a:latin typeface="Comic Sans MS" pitchFamily="66" charset="0"/>
              </a:rPr>
              <a:t> </a:t>
            </a:r>
            <a:endParaRPr lang="en-US" sz="3600">
              <a:latin typeface="Comic Sans MS" pitchFamily="66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Distributivity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				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</a:t>
            </a:r>
            <a:r>
              <a:rPr lang="en-US" sz="2800" i="1">
                <a:latin typeface="Times New Roman" pitchFamily="18" charset="0"/>
              </a:rPr>
              <a:t>C</a:t>
            </a:r>
            <a:r>
              <a:rPr lang="en-US" sz="2800">
                <a:latin typeface="Times New Roman" pitchFamily="18" charset="0"/>
              </a:rPr>
              <a:t>)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sz="2800">
                <a:latin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</a:t>
            </a:r>
            <a:r>
              <a:rPr lang="en-US" sz="2800">
                <a:latin typeface="Times New Roman" pitchFamily="18" charset="0"/>
              </a:rPr>
              <a:t> 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C</a:t>
            </a:r>
            <a:r>
              <a:rPr lang="en-US" sz="2800">
                <a:latin typeface="Times New Roman" pitchFamily="18" charset="0"/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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C</a:t>
            </a:r>
            <a:r>
              <a:rPr lang="en-US" sz="2800">
                <a:latin typeface="Times New Roman" pitchFamily="18" charset="0"/>
              </a:rPr>
              <a:t>)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=</a:t>
            </a:r>
            <a:r>
              <a:rPr lang="en-US" sz="2800">
                <a:latin typeface="Times New Roman" pitchFamily="18" charset="0"/>
              </a:rPr>
              <a:t> 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</a:rPr>
              <a:t>)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 </a:t>
            </a:r>
            <a:r>
              <a:rPr lang="en-US" sz="2800">
                <a:latin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</a:t>
            </a:r>
            <a:r>
              <a:rPr lang="en-US" sz="2800">
                <a:latin typeface="Times New Roman" pitchFamily="18" charset="0"/>
              </a:rPr>
              <a:t> </a:t>
            </a:r>
            <a:r>
              <a:rPr lang="en-US" sz="2800" i="1">
                <a:latin typeface="Times New Roman" pitchFamily="18" charset="0"/>
              </a:rPr>
              <a:t>C</a:t>
            </a:r>
            <a:r>
              <a:rPr lang="en-US" sz="2800">
                <a:latin typeface="Times New Roman" pitchFamily="18" charset="0"/>
              </a:rPr>
              <a:t>)</a:t>
            </a:r>
            <a:r>
              <a:rPr lang="en-US" sz="2400">
                <a:latin typeface="Comic Sans MS" pitchFamily="66" charset="0"/>
              </a:rPr>
              <a:t> </a:t>
            </a:r>
            <a:endParaRPr lang="en-US" i="1">
              <a:latin typeface="Comic Sans MS" pitchFamily="66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D511-D10E-3BB6-5050-B08ABBEA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2C02-2D09-C9C2-56C9-9D7D8AE9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24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C651AB6-6D65-BD41-90B5-00977BF378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2.2.2 Set 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Identities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5C86904-4C1F-C35F-307A-4E10BC653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525" y="1598613"/>
            <a:ext cx="3546475" cy="7635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i="1">
                <a:latin typeface="Comic Sans MS" pitchFamily="66" charset="0"/>
                <a:sym typeface="Symbol" pitchFamily="18" charset="2"/>
              </a:rPr>
              <a:t>DeMorgan’s I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BBD526DE-B5EF-62C8-2CAA-E2351D86AE5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251325"/>
            <a:ext cx="2590800" cy="1828800"/>
            <a:chOff x="576" y="2592"/>
            <a:chExt cx="1632" cy="1152"/>
          </a:xfrm>
        </p:grpSpPr>
        <p:sp>
          <p:nvSpPr>
            <p:cNvPr id="13323" name="Rectangle 5">
              <a:extLst>
                <a:ext uri="{FF2B5EF4-FFF2-40B4-BE49-F238E27FC236}">
                  <a16:creationId xmlns:a16="http://schemas.microsoft.com/office/drawing/2014/main" id="{3F216CA1-C87A-37F9-3C28-84805288A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92"/>
              <a:ext cx="1632" cy="115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4" name="Oval 6">
              <a:extLst>
                <a:ext uri="{FF2B5EF4-FFF2-40B4-BE49-F238E27FC236}">
                  <a16:creationId xmlns:a16="http://schemas.microsoft.com/office/drawing/2014/main" id="{FFAAEB70-CBAB-88D0-FF1D-E74714D1D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32"/>
              <a:ext cx="672" cy="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5" name="Oval 7">
              <a:extLst>
                <a:ext uri="{FF2B5EF4-FFF2-40B4-BE49-F238E27FC236}">
                  <a16:creationId xmlns:a16="http://schemas.microsoft.com/office/drawing/2014/main" id="{20A7CDE2-EACB-E69A-8D70-239E468FE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32"/>
              <a:ext cx="672" cy="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6" name="Oval 8">
              <a:extLst>
                <a:ext uri="{FF2B5EF4-FFF2-40B4-BE49-F238E27FC236}">
                  <a16:creationId xmlns:a16="http://schemas.microsoft.com/office/drawing/2014/main" id="{4705880B-DEC7-E276-717E-F0D945F6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3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36A6DA59-06EA-A47D-7024-42C5DAFDF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598613"/>
          <a:ext cx="26558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127000" progId="Equation.3">
                  <p:embed/>
                </p:oleObj>
              </mc:Choice>
              <mc:Fallback>
                <p:oleObj name="Equation" r:id="rId2" imgW="711200" imgH="127000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36A6DA59-06EA-A47D-7024-42C5DAFDFF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598613"/>
                        <a:ext cx="265588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94344D35-E52C-3DBE-1ADE-4AF9F5705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3513" y="3098800"/>
          <a:ext cx="26558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200" imgH="127000" progId="Equation.3">
                  <p:embed/>
                </p:oleObj>
              </mc:Choice>
              <mc:Fallback>
                <p:oleObj name="Equation" r:id="rId4" imgW="711200" imgH="127000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94344D35-E52C-3DBE-1ADE-4AF9F5705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3098800"/>
                        <a:ext cx="26558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Rectangle 11">
            <a:extLst>
              <a:ext uri="{FF2B5EF4-FFF2-40B4-BE49-F238E27FC236}">
                <a16:creationId xmlns:a16="http://schemas.microsoft.com/office/drawing/2014/main" id="{5E6A9098-AAE1-791E-8020-F7374A9D2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27375"/>
            <a:ext cx="33528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DeMorgan’s II</a:t>
            </a:r>
          </a:p>
        </p:txBody>
      </p:sp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59AC046A-0DAD-CAD2-6A48-A27901B3BF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614988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800" imgH="127000" progId="Equation.3">
                  <p:embed/>
                </p:oleObj>
              </mc:Choice>
              <mc:Fallback>
                <p:oleObj name="Equation" r:id="rId6" imgW="304800" imgH="127000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59AC046A-0DAD-CAD2-6A48-A27901B3BF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14988"/>
                        <a:ext cx="83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Rectangle 13">
            <a:extLst>
              <a:ext uri="{FF2B5EF4-FFF2-40B4-BE49-F238E27FC236}">
                <a16:creationId xmlns:a16="http://schemas.microsoft.com/office/drawing/2014/main" id="{1104D5A5-A0F2-CB7E-8F24-11641A58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18063"/>
            <a:ext cx="401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chemeClr val="bg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</a:p>
        </p:txBody>
      </p:sp>
      <p:sp>
        <p:nvSpPr>
          <p:cNvPr id="35854" name="Rectangle 14">
            <a:extLst>
              <a:ext uri="{FF2B5EF4-FFF2-40B4-BE49-F238E27FC236}">
                <a16:creationId xmlns:a16="http://schemas.microsoft.com/office/drawing/2014/main" id="{42CB073E-3397-5357-FBB9-CEB6529B1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chemeClr val="bg2"/>
                </a:solidFill>
                <a:latin typeface="Times New Roman" panose="02020603050405020304" pitchFamily="18" charset="0"/>
                <a:sym typeface="Symbol" pitchFamily="2" charset="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build="p" autoUpdateAnimBg="0"/>
      <p:bldP spid="35851" grpId="0" autoUpdateAnimBg="0"/>
      <p:bldP spid="35853" grpId="0"/>
      <p:bldP spid="358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95539A6-59AC-A254-914B-D2CBBADDAA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4 Ways to prove identities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A4F6F74-BC30-12F0-86BA-5FB65BADC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525" y="1598613"/>
            <a:ext cx="7356475" cy="45735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Show that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B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and that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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B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800" i="1">
              <a:latin typeface="Comic Sans MS" pitchFamily="66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defRPr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Use a membership table.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  <a:defRPr/>
            </a:pPr>
            <a:endParaRPr lang="en-US" sz="2800" i="1">
              <a:latin typeface="Comic Sans MS" pitchFamily="66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defRPr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Use previously proven identities.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800" i="1">
              <a:latin typeface="Comic Sans MS" pitchFamily="66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Use logical equivalences to prove equivalent set definitions.</a:t>
            </a:r>
          </a:p>
        </p:txBody>
      </p:sp>
      <p:grpSp>
        <p:nvGrpSpPr>
          <p:cNvPr id="36868" name="Group 4">
            <a:extLst>
              <a:ext uri="{FF2B5EF4-FFF2-40B4-BE49-F238E27FC236}">
                <a16:creationId xmlns:a16="http://schemas.microsoft.com/office/drawing/2014/main" id="{ECAF64BE-7C15-1B13-3E6D-22ECF78CFA3D}"/>
              </a:ext>
            </a:extLst>
          </p:cNvPr>
          <p:cNvGrpSpPr>
            <a:grpSpLocks/>
          </p:cNvGrpSpPr>
          <p:nvPr/>
        </p:nvGrpSpPr>
        <p:grpSpPr bwMode="auto">
          <a:xfrm>
            <a:off x="6410325" y="1435100"/>
            <a:ext cx="2276475" cy="1120775"/>
            <a:chOff x="3408" y="2544"/>
            <a:chExt cx="1296" cy="1536"/>
          </a:xfrm>
        </p:grpSpPr>
        <p:sp>
          <p:nvSpPr>
            <p:cNvPr id="14350" name="Oval 5">
              <a:extLst>
                <a:ext uri="{FF2B5EF4-FFF2-40B4-BE49-F238E27FC236}">
                  <a16:creationId xmlns:a16="http://schemas.microsoft.com/office/drawing/2014/main" id="{B93E0766-DCF5-D09C-D385-B039E59B3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1" name="Text Box 6">
              <a:extLst>
                <a:ext uri="{FF2B5EF4-FFF2-40B4-BE49-F238E27FC236}">
                  <a16:creationId xmlns:a16="http://schemas.microsoft.com/office/drawing/2014/main" id="{600E246E-B780-521F-3274-84B189777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2"/>
              <a:ext cx="1104" cy="1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New &amp; important</a:t>
              </a:r>
            </a:p>
          </p:txBody>
        </p:sp>
      </p:grpSp>
      <p:grpSp>
        <p:nvGrpSpPr>
          <p:cNvPr id="36871" name="Group 7">
            <a:extLst>
              <a:ext uri="{FF2B5EF4-FFF2-40B4-BE49-F238E27FC236}">
                <a16:creationId xmlns:a16="http://schemas.microsoft.com/office/drawing/2014/main" id="{DAEC23D8-A01E-993D-4527-E131F60F2455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2794000"/>
            <a:ext cx="3103562" cy="685800"/>
            <a:chOff x="3408" y="2544"/>
            <a:chExt cx="1296" cy="1536"/>
          </a:xfrm>
        </p:grpSpPr>
        <p:sp>
          <p:nvSpPr>
            <p:cNvPr id="14348" name="Oval 8">
              <a:extLst>
                <a:ext uri="{FF2B5EF4-FFF2-40B4-BE49-F238E27FC236}">
                  <a16:creationId xmlns:a16="http://schemas.microsoft.com/office/drawing/2014/main" id="{CF88A3BE-0ADC-0369-939A-E81FB4C8B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49" name="Text Box 9">
              <a:extLst>
                <a:ext uri="{FF2B5EF4-FFF2-40B4-BE49-F238E27FC236}">
                  <a16:creationId xmlns:a16="http://schemas.microsoft.com/office/drawing/2014/main" id="{E44B9897-0C2E-332A-9525-2FDC23243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3"/>
              <a:ext cx="1104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Like truth tables</a:t>
              </a:r>
            </a:p>
          </p:txBody>
        </p:sp>
      </p:grpSp>
      <p:grpSp>
        <p:nvGrpSpPr>
          <p:cNvPr id="36874" name="Group 10">
            <a:extLst>
              <a:ext uri="{FF2B5EF4-FFF2-40B4-BE49-F238E27FC236}">
                <a16:creationId xmlns:a16="http://schemas.microsoft.com/office/drawing/2014/main" id="{07E22F25-C882-078D-E7C2-B6BBD87225F4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3790950"/>
            <a:ext cx="1371600" cy="685800"/>
            <a:chOff x="3408" y="2544"/>
            <a:chExt cx="1296" cy="1536"/>
          </a:xfrm>
        </p:grpSpPr>
        <p:sp>
          <p:nvSpPr>
            <p:cNvPr id="14346" name="Oval 11">
              <a:extLst>
                <a:ext uri="{FF2B5EF4-FFF2-40B4-BE49-F238E27FC236}">
                  <a16:creationId xmlns:a16="http://schemas.microsoft.com/office/drawing/2014/main" id="{F52641C7-55C0-907B-608D-0D937A0B5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47" name="Text Box 12">
              <a:extLst>
                <a:ext uri="{FF2B5EF4-FFF2-40B4-BE49-F238E27FC236}">
                  <a16:creationId xmlns:a16="http://schemas.microsoft.com/office/drawing/2014/main" id="{1C703EBB-7161-9B8D-216E-90FB40862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3"/>
              <a:ext cx="1104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Like </a:t>
              </a: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</a:t>
              </a:r>
              <a:endParaRPr lang="en-US" altLang="en-US" sz="240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36877" name="Group 13">
            <a:extLst>
              <a:ext uri="{FF2B5EF4-FFF2-40B4-BE49-F238E27FC236}">
                <a16:creationId xmlns:a16="http://schemas.microsoft.com/office/drawing/2014/main" id="{52F4ED6A-1E4D-5AA6-E6DE-C02CA6A10B86}"/>
              </a:ext>
            </a:extLst>
          </p:cNvPr>
          <p:cNvGrpSpPr>
            <a:grpSpLocks/>
          </p:cNvGrpSpPr>
          <p:nvPr/>
        </p:nvGrpSpPr>
        <p:grpSpPr bwMode="auto">
          <a:xfrm>
            <a:off x="3933825" y="5829300"/>
            <a:ext cx="4495800" cy="685800"/>
            <a:chOff x="3408" y="2544"/>
            <a:chExt cx="1296" cy="1536"/>
          </a:xfrm>
        </p:grpSpPr>
        <p:sp>
          <p:nvSpPr>
            <p:cNvPr id="14344" name="Oval 14">
              <a:extLst>
                <a:ext uri="{FF2B5EF4-FFF2-40B4-BE49-F238E27FC236}">
                  <a16:creationId xmlns:a16="http://schemas.microsoft.com/office/drawing/2014/main" id="{EF487EF8-9E05-A2F5-F1ED-73E489854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45" name="Text Box 15">
              <a:extLst>
                <a:ext uri="{FF2B5EF4-FFF2-40B4-BE49-F238E27FC236}">
                  <a16:creationId xmlns:a16="http://schemas.microsoft.com/office/drawing/2014/main" id="{E90B5792-849A-1D2F-FFD9-F25495E89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3"/>
              <a:ext cx="1104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Not hard, a little tedious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F3CE6E0-81C0-102C-984B-86FCDE3942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4 Ways to prove identities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1932D0C-AF6B-194F-5EFC-A898706B4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133600" cy="531813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b="1">
                <a:solidFill>
                  <a:schemeClr val="hlink"/>
                </a:solidFill>
                <a:sym typeface="Symbol" pitchFamily="18" charset="2"/>
              </a:rPr>
              <a:t>Prove that</a:t>
            </a:r>
            <a:r>
              <a:rPr lang="en-US" sz="2800">
                <a:sym typeface="Symbol" pitchFamily="18" charset="2"/>
              </a:rPr>
              <a:t>	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F15C93B4-AF2C-83EC-8599-D1F3FBE6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482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2400">
              <a:latin typeface="Times" pitchFamily="2" charset="0"/>
            </a:endParaRPr>
          </a:p>
        </p:txBody>
      </p:sp>
      <p:grpSp>
        <p:nvGrpSpPr>
          <p:cNvPr id="37893" name="Group 5">
            <a:extLst>
              <a:ext uri="{FF2B5EF4-FFF2-40B4-BE49-F238E27FC236}">
                <a16:creationId xmlns:a16="http://schemas.microsoft.com/office/drawing/2014/main" id="{32017E92-44DC-1676-78EF-97F2696D9BF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105400"/>
            <a:ext cx="3733800" cy="1455738"/>
            <a:chOff x="3408" y="2544"/>
            <a:chExt cx="1296" cy="1536"/>
          </a:xfrm>
        </p:grpSpPr>
        <p:sp>
          <p:nvSpPr>
            <p:cNvPr id="15370" name="Oval 6">
              <a:extLst>
                <a:ext uri="{FF2B5EF4-FFF2-40B4-BE49-F238E27FC236}">
                  <a16:creationId xmlns:a16="http://schemas.microsoft.com/office/drawing/2014/main" id="{1F2C7EEA-A449-242C-E63F-C24E3847C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1" name="Text Box 7">
              <a:extLst>
                <a:ext uri="{FF2B5EF4-FFF2-40B4-BE49-F238E27FC236}">
                  <a16:creationId xmlns:a16="http://schemas.microsoft.com/office/drawing/2014/main" id="{46CB02DC-D9EE-10F1-4F5B-57061E8A3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3"/>
              <a:ext cx="1104" cy="1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halkboard" panose="03050602040202020205" pitchFamily="66" charset="77"/>
                </a:rPr>
                <a:t>Not a particularly interesting example, sorry.</a:t>
              </a:r>
            </a:p>
          </p:txBody>
        </p:sp>
      </p:grp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87F2B31A-B7AC-AC2A-8DC8-043EA80315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1788" y="1598613"/>
          <a:ext cx="24511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127000" progId="Equation.3">
                  <p:embed/>
                </p:oleObj>
              </mc:Choice>
              <mc:Fallback>
                <p:oleObj name="Equation" r:id="rId2" imgW="711200" imgH="127000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87F2B31A-B7AC-AC2A-8DC8-043EA80315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1598613"/>
                        <a:ext cx="24511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6AE4C38F-71DB-7434-B411-DD74B0182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362200"/>
          <a:ext cx="70961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165100" progId="Equation.3">
                  <p:embed/>
                </p:oleObj>
              </mc:Choice>
              <mc:Fallback>
                <p:oleObj name="Equation" r:id="rId4" imgW="1955800" imgH="16510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6AE4C38F-71DB-7434-B411-DD74B0182F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62200"/>
                        <a:ext cx="70961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>
            <a:extLst>
              <a:ext uri="{FF2B5EF4-FFF2-40B4-BE49-F238E27FC236}">
                <a16:creationId xmlns:a16="http://schemas.microsoft.com/office/drawing/2014/main" id="{2B6E60C3-457E-5EAA-4104-946EB716A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124200"/>
          <a:ext cx="64674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8000" imgH="127000" progId="Equation.3">
                  <p:embed/>
                </p:oleObj>
              </mc:Choice>
              <mc:Fallback>
                <p:oleObj name="Equation" r:id="rId6" imgW="1778000" imgH="127000" progId="Equation.3">
                  <p:embed/>
                  <p:pic>
                    <p:nvPicPr>
                      <p:cNvPr id="37898" name="Object 10">
                        <a:extLst>
                          <a:ext uri="{FF2B5EF4-FFF2-40B4-BE49-F238E27FC236}">
                            <a16:creationId xmlns:a16="http://schemas.microsoft.com/office/drawing/2014/main" id="{2B6E60C3-457E-5EAA-4104-946EB716A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64674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83217370-1F23-FF8C-0B9B-92D464BBF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810000"/>
          <a:ext cx="48942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500" imgH="127000" progId="Equation.3">
                  <p:embed/>
                </p:oleObj>
              </mc:Choice>
              <mc:Fallback>
                <p:oleObj name="Equation" r:id="rId8" imgW="1333500" imgH="127000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83217370-1F23-FF8C-0B9B-92D464BBF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10000"/>
                        <a:ext cx="48942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3A245E4-A9DF-35AD-FA31-5D64607041B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1730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4 Ways to prove identities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FC6FECC-52B2-3036-38D8-D30055202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563" y="1879600"/>
            <a:ext cx="5049837" cy="14478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using a membership table.</a:t>
            </a:r>
          </a:p>
          <a:p>
            <a:pPr marL="457200" indent="-457200" eaLnBrk="1" hangingPunct="1">
              <a:lnSpc>
                <a:spcPct val="90000"/>
              </a:lnSpc>
              <a:buFont typeface="Times"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0 : x is not in the specified set</a:t>
            </a:r>
          </a:p>
          <a:p>
            <a:pPr marL="457200" indent="-457200" eaLnBrk="1" hangingPunct="1">
              <a:lnSpc>
                <a:spcPct val="90000"/>
              </a:lnSpc>
              <a:buFont typeface="Times"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1 : otherwise</a:t>
            </a:r>
          </a:p>
          <a:p>
            <a:pPr marL="457200" indent="-457200" eaLnBrk="1" hangingPunct="1">
              <a:lnSpc>
                <a:spcPct val="90000"/>
              </a:lnSpc>
              <a:buFont typeface="Times"/>
              <a:buNone/>
              <a:defRPr/>
            </a:pPr>
            <a:endParaRPr lang="en-US" sz="2800">
              <a:latin typeface="Times New Roman" pitchFamily="18" charset="0"/>
              <a:sym typeface="Symbol" pitchFamily="18" charset="2"/>
            </a:endParaRPr>
          </a:p>
          <a:p>
            <a:pPr marL="457200" indent="-457200" eaLnBrk="1" hangingPunct="1">
              <a:lnSpc>
                <a:spcPct val="90000"/>
              </a:lnSpc>
              <a:buFont typeface="Times"/>
              <a:buNone/>
              <a:defRPr/>
            </a:pPr>
            <a:endParaRPr lang="en-US" sz="28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38916" name="Group 4">
            <a:extLst>
              <a:ext uri="{FF2B5EF4-FFF2-40B4-BE49-F238E27FC236}">
                <a16:creationId xmlns:a16="http://schemas.microsoft.com/office/drawing/2014/main" id="{78000843-165A-3A23-5E41-DD8B12B62227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3479800"/>
          <a:ext cx="6096000" cy="2695575"/>
        </p:xfrm>
        <a:graphic>
          <a:graphicData uri="http://schemas.openxmlformats.org/drawingml/2006/table">
            <a:tbl>
              <a:tblPr/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6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24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marT="45731" marB="4573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</a:t>
                      </a: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 B</a:t>
                      </a: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8972" name="Group 60">
            <a:extLst>
              <a:ext uri="{FF2B5EF4-FFF2-40B4-BE49-F238E27FC236}">
                <a16:creationId xmlns:a16="http://schemas.microsoft.com/office/drawing/2014/main" id="{7FC0DDB2-A3A1-02CB-3E08-F2BF7E1DA270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574800"/>
            <a:ext cx="2895600" cy="1150938"/>
            <a:chOff x="3408" y="2544"/>
            <a:chExt cx="1296" cy="1536"/>
          </a:xfrm>
        </p:grpSpPr>
        <p:sp>
          <p:nvSpPr>
            <p:cNvPr id="16443" name="Oval 61">
              <a:extLst>
                <a:ext uri="{FF2B5EF4-FFF2-40B4-BE49-F238E27FC236}">
                  <a16:creationId xmlns:a16="http://schemas.microsoft.com/office/drawing/2014/main" id="{DD0F8D9B-C100-8BED-9618-B7992FCBB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44"/>
              <a:ext cx="1296" cy="15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44" name="Text Box 62">
              <a:extLst>
                <a:ext uri="{FF2B5EF4-FFF2-40B4-BE49-F238E27FC236}">
                  <a16:creationId xmlns:a16="http://schemas.microsoft.com/office/drawing/2014/main" id="{464E1D0F-7741-8E75-ED05-08E1D6D86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92"/>
              <a:ext cx="1104" cy="10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Haven’t we seen this before?</a:t>
              </a:r>
            </a:p>
          </p:txBody>
        </p:sp>
      </p:grpSp>
      <p:sp>
        <p:nvSpPr>
          <p:cNvPr id="38975" name="Rectangle 63">
            <a:extLst>
              <a:ext uri="{FF2B5EF4-FFF2-40B4-BE49-F238E27FC236}">
                <a16:creationId xmlns:a16="http://schemas.microsoft.com/office/drawing/2014/main" id="{D1BD61F0-BF31-84C2-DE4C-C7EFFF53A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33500"/>
            <a:ext cx="2098675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Prove that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	</a:t>
            </a:r>
          </a:p>
        </p:txBody>
      </p:sp>
      <p:graphicFrame>
        <p:nvGraphicFramePr>
          <p:cNvPr id="38976" name="Object 64">
            <a:extLst>
              <a:ext uri="{FF2B5EF4-FFF2-40B4-BE49-F238E27FC236}">
                <a16:creationId xmlns:a16="http://schemas.microsoft.com/office/drawing/2014/main" id="{B863D813-67CE-14F0-2C64-DAF8A62362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333500"/>
          <a:ext cx="24511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127000" progId="Equation.3">
                  <p:embed/>
                </p:oleObj>
              </mc:Choice>
              <mc:Fallback>
                <p:oleObj name="Equation" r:id="rId2" imgW="711200" imgH="127000" progId="Equation.3">
                  <p:embed/>
                  <p:pic>
                    <p:nvPicPr>
                      <p:cNvPr id="38976" name="Object 64">
                        <a:extLst>
                          <a:ext uri="{FF2B5EF4-FFF2-40B4-BE49-F238E27FC236}">
                            <a16:creationId xmlns:a16="http://schemas.microsoft.com/office/drawing/2014/main" id="{B863D813-67CE-14F0-2C64-DAF8A62362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33500"/>
                        <a:ext cx="24511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77" name="Object 65">
            <a:extLst>
              <a:ext uri="{FF2B5EF4-FFF2-40B4-BE49-F238E27FC236}">
                <a16:creationId xmlns:a16="http://schemas.microsoft.com/office/drawing/2014/main" id="{3CF95F5F-F52F-D811-5D6A-589A546410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7775" y="3448050"/>
          <a:ext cx="10636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" imgH="127000" progId="Equation.3">
                  <p:embed/>
                </p:oleObj>
              </mc:Choice>
              <mc:Fallback>
                <p:oleObj name="Equation" r:id="rId4" imgW="304800" imgH="127000" progId="Equation.3">
                  <p:embed/>
                  <p:pic>
                    <p:nvPicPr>
                      <p:cNvPr id="38977" name="Object 65">
                        <a:extLst>
                          <a:ext uri="{FF2B5EF4-FFF2-40B4-BE49-F238E27FC236}">
                            <a16:creationId xmlns:a16="http://schemas.microsoft.com/office/drawing/2014/main" id="{3CF95F5F-F52F-D811-5D6A-589A54641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775" y="3448050"/>
                        <a:ext cx="10636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78" name="Object 66">
            <a:extLst>
              <a:ext uri="{FF2B5EF4-FFF2-40B4-BE49-F238E27FC236}">
                <a16:creationId xmlns:a16="http://schemas.microsoft.com/office/drawing/2014/main" id="{98DBBC13-2F72-DB55-3471-0BD656C2A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4288" y="3511550"/>
          <a:ext cx="112871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500" imgH="127000" progId="Equation.3">
                  <p:embed/>
                </p:oleObj>
              </mc:Choice>
              <mc:Fallback>
                <p:oleObj name="Equation" r:id="rId6" imgW="317500" imgH="127000" progId="Equation.3">
                  <p:embed/>
                  <p:pic>
                    <p:nvPicPr>
                      <p:cNvPr id="38978" name="Object 66">
                        <a:extLst>
                          <a:ext uri="{FF2B5EF4-FFF2-40B4-BE49-F238E27FC236}">
                            <a16:creationId xmlns:a16="http://schemas.microsoft.com/office/drawing/2014/main" id="{98DBBC13-2F72-DB55-3471-0BD656C2AE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3511550"/>
                        <a:ext cx="112871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79" name="Object 67">
            <a:extLst>
              <a:ext uri="{FF2B5EF4-FFF2-40B4-BE49-F238E27FC236}">
                <a16:creationId xmlns:a16="http://schemas.microsoft.com/office/drawing/2014/main" id="{B776966E-CFF1-73A3-316E-981763940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3511550"/>
          <a:ext cx="4191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600" imgH="127000" progId="Equation.3">
                  <p:embed/>
                </p:oleObj>
              </mc:Choice>
              <mc:Fallback>
                <p:oleObj name="Equation" r:id="rId8" imgW="101600" imgH="127000" progId="Equation.3">
                  <p:embed/>
                  <p:pic>
                    <p:nvPicPr>
                      <p:cNvPr id="38979" name="Object 67">
                        <a:extLst>
                          <a:ext uri="{FF2B5EF4-FFF2-40B4-BE49-F238E27FC236}">
                            <a16:creationId xmlns:a16="http://schemas.microsoft.com/office/drawing/2014/main" id="{B776966E-CFF1-73A3-316E-981763940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511550"/>
                        <a:ext cx="4191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80" name="Object 68">
            <a:extLst>
              <a:ext uri="{FF2B5EF4-FFF2-40B4-BE49-F238E27FC236}">
                <a16:creationId xmlns:a16="http://schemas.microsoft.com/office/drawing/2014/main" id="{D1741DF0-E880-FFDB-A20B-09B3D7AD1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0075" y="3479800"/>
          <a:ext cx="4191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600" imgH="127000" progId="Equation.3">
                  <p:embed/>
                </p:oleObj>
              </mc:Choice>
              <mc:Fallback>
                <p:oleObj name="Equation" r:id="rId10" imgW="101600" imgH="127000" progId="Equation.3">
                  <p:embed/>
                  <p:pic>
                    <p:nvPicPr>
                      <p:cNvPr id="38980" name="Object 68">
                        <a:extLst>
                          <a:ext uri="{FF2B5EF4-FFF2-40B4-BE49-F238E27FC236}">
                            <a16:creationId xmlns:a16="http://schemas.microsoft.com/office/drawing/2014/main" id="{D1741DF0-E880-FFDB-A20B-09B3D7AD17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3479800"/>
                        <a:ext cx="4191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81" name="Oval 69">
            <a:extLst>
              <a:ext uri="{FF2B5EF4-FFF2-40B4-BE49-F238E27FC236}">
                <a16:creationId xmlns:a16="http://schemas.microsoft.com/office/drawing/2014/main" id="{A1DF64E2-B9F7-DFAC-DE29-FB04C6D97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38600"/>
            <a:ext cx="838200" cy="2209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82" name="Oval 70">
            <a:extLst>
              <a:ext uri="{FF2B5EF4-FFF2-40B4-BE49-F238E27FC236}">
                <a16:creationId xmlns:a16="http://schemas.microsoft.com/office/drawing/2014/main" id="{3C023EA1-DB10-B984-A78F-D7F30F9DF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114800"/>
            <a:ext cx="838200" cy="2209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build="p" bldLvl="2" autoUpdateAnimBg="0"/>
      <p:bldP spid="38975" grpId="0" autoUpdateAnimBg="0"/>
      <p:bldP spid="38981" grpId="0" animBg="1"/>
      <p:bldP spid="3898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57BFA31-52A1-79F7-A461-0A7478B7A9D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4 Ways to prove identities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E9DCC0A-140E-7BCA-5ED9-D68ADA0B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33500"/>
            <a:ext cx="2098675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Prove that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	</a:t>
            </a:r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84FD1AAA-7CB6-F3AA-0F8A-665AE46AA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333500"/>
          <a:ext cx="24511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127000" progId="Equation.3">
                  <p:embed/>
                </p:oleObj>
              </mc:Choice>
              <mc:Fallback>
                <p:oleObj name="Equation" r:id="rId2" imgW="711200" imgH="127000" progId="Equation.3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84FD1AAA-7CB6-F3AA-0F8A-665AE46AA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33500"/>
                        <a:ext cx="24511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Rectangle 5">
            <a:extLst>
              <a:ext uri="{FF2B5EF4-FFF2-40B4-BE49-F238E27FC236}">
                <a16:creationId xmlns:a16="http://schemas.microsoft.com/office/drawing/2014/main" id="{C82089E1-140A-2576-DF5C-1EF98946C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2147888"/>
            <a:ext cx="5942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using logically equivalent set definitions</a:t>
            </a:r>
          </a:p>
        </p:txBody>
      </p:sp>
      <p:grpSp>
        <p:nvGrpSpPr>
          <p:cNvPr id="39942" name="Group 6">
            <a:extLst>
              <a:ext uri="{FF2B5EF4-FFF2-40B4-BE49-F238E27FC236}">
                <a16:creationId xmlns:a16="http://schemas.microsoft.com/office/drawing/2014/main" id="{D2921B1F-97EF-C200-31C8-9AFE580A9BC8}"/>
              </a:ext>
            </a:extLst>
          </p:cNvPr>
          <p:cNvGrpSpPr>
            <a:grpSpLocks/>
          </p:cNvGrpSpPr>
          <p:nvPr/>
        </p:nvGrpSpPr>
        <p:grpSpPr bwMode="auto">
          <a:xfrm>
            <a:off x="836613" y="2925763"/>
            <a:ext cx="6783387" cy="519112"/>
            <a:chOff x="480" y="1536"/>
            <a:chExt cx="4320" cy="327"/>
          </a:xfrm>
        </p:grpSpPr>
        <p:sp>
          <p:nvSpPr>
            <p:cNvPr id="17424" name="Text Box 7">
              <a:extLst>
                <a:ext uri="{FF2B5EF4-FFF2-40B4-BE49-F238E27FC236}">
                  <a16:creationId xmlns:a16="http://schemas.microsoft.com/office/drawing/2014/main" id="{0D8D94D7-D162-B552-F68E-E750B8EF9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536"/>
              <a:ext cx="43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imes New Roman" panose="02020603050405020304" pitchFamily="18" charset="0"/>
                </a:rPr>
                <a:t>(</a:t>
              </a:r>
              <a:r>
                <a:rPr lang="en-US" altLang="en-US" sz="2800" i="1">
                  <a:latin typeface="Times New Roman" panose="02020603050405020304" pitchFamily="18" charset="0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</a:rPr>
                <a:t>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</a:t>
              </a:r>
              <a:r>
                <a:rPr lang="en-US" altLang="en-US" sz="2800">
                  <a:latin typeface="Times New Roman" panose="02020603050405020304" pitchFamily="18" charset="0"/>
                </a:rPr>
                <a:t>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B)</a:t>
              </a:r>
              <a:r>
                <a:rPr lang="en-US" altLang="en-US" sz="2800">
                  <a:latin typeface="Times New Roman" panose="02020603050405020304" pitchFamily="18" charset="0"/>
                </a:rPr>
                <a:t> 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: (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</a:t>
              </a:r>
              <a:r>
                <a:rPr lang="en-US" altLang="en-US" sz="2800">
                  <a:sym typeface="Symbol" pitchFamily="2" charset="2"/>
                </a:rPr>
                <a:t>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)}</a:t>
              </a:r>
            </a:p>
          </p:txBody>
        </p:sp>
        <p:sp>
          <p:nvSpPr>
            <p:cNvPr id="17425" name="Line 8">
              <a:extLst>
                <a:ext uri="{FF2B5EF4-FFF2-40B4-BE49-F238E27FC236}">
                  <a16:creationId xmlns:a16="http://schemas.microsoft.com/office/drawing/2014/main" id="{8C6E0DAC-DADC-F312-DC54-E56F8759C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45" name="Text Box 9">
            <a:extLst>
              <a:ext uri="{FF2B5EF4-FFF2-40B4-BE49-F238E27FC236}">
                <a16:creationId xmlns:a16="http://schemas.microsoft.com/office/drawing/2014/main" id="{E1CB3B54-3E60-ADDC-A4DE-7599E077C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687763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= 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: (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  (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)} </a:t>
            </a:r>
          </a:p>
        </p:txBody>
      </p:sp>
      <p:grpSp>
        <p:nvGrpSpPr>
          <p:cNvPr id="39946" name="Group 10">
            <a:extLst>
              <a:ext uri="{FF2B5EF4-FFF2-40B4-BE49-F238E27FC236}">
                <a16:creationId xmlns:a16="http://schemas.microsoft.com/office/drawing/2014/main" id="{4F2C011A-500E-AB0F-AC54-43591D918A89}"/>
              </a:ext>
            </a:extLst>
          </p:cNvPr>
          <p:cNvGrpSpPr>
            <a:grpSpLocks/>
          </p:cNvGrpSpPr>
          <p:nvPr/>
        </p:nvGrpSpPr>
        <p:grpSpPr bwMode="auto">
          <a:xfrm>
            <a:off x="1893888" y="4343400"/>
            <a:ext cx="4116387" cy="519113"/>
            <a:chOff x="1200" y="2544"/>
            <a:chExt cx="2593" cy="327"/>
          </a:xfrm>
        </p:grpSpPr>
        <p:sp>
          <p:nvSpPr>
            <p:cNvPr id="17421" name="Text Box 11">
              <a:extLst>
                <a:ext uri="{FF2B5EF4-FFF2-40B4-BE49-F238E27FC236}">
                  <a16:creationId xmlns:a16="http://schemas.microsoft.com/office/drawing/2014/main" id="{5E1C4E6B-7651-412E-57DE-937B229EA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544"/>
              <a:ext cx="2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{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: (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)    (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)} </a:t>
              </a:r>
            </a:p>
          </p:txBody>
        </p:sp>
        <p:sp>
          <p:nvSpPr>
            <p:cNvPr id="17422" name="Line 12">
              <a:extLst>
                <a:ext uri="{FF2B5EF4-FFF2-40B4-BE49-F238E27FC236}">
                  <a16:creationId xmlns:a16="http://schemas.microsoft.com/office/drawing/2014/main" id="{B094C413-97D1-CD26-EC67-1E3D21184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9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13">
              <a:extLst>
                <a:ext uri="{FF2B5EF4-FFF2-40B4-BE49-F238E27FC236}">
                  <a16:creationId xmlns:a16="http://schemas.microsoft.com/office/drawing/2014/main" id="{A2EC442D-59C7-AEDC-62DB-B6708C57B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59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950" name="Group 14">
            <a:extLst>
              <a:ext uri="{FF2B5EF4-FFF2-40B4-BE49-F238E27FC236}">
                <a16:creationId xmlns:a16="http://schemas.microsoft.com/office/drawing/2014/main" id="{9BF2C082-261E-4DA5-C60A-EDB9E6A677D2}"/>
              </a:ext>
            </a:extLst>
          </p:cNvPr>
          <p:cNvGrpSpPr>
            <a:grpSpLocks/>
          </p:cNvGrpSpPr>
          <p:nvPr/>
        </p:nvGrpSpPr>
        <p:grpSpPr bwMode="auto">
          <a:xfrm>
            <a:off x="1893888" y="5105400"/>
            <a:ext cx="4116387" cy="519113"/>
            <a:chOff x="1200" y="2496"/>
            <a:chExt cx="2593" cy="327"/>
          </a:xfrm>
        </p:grpSpPr>
        <p:sp>
          <p:nvSpPr>
            <p:cNvPr id="17418" name="Text Box 15">
              <a:extLst>
                <a:ext uri="{FF2B5EF4-FFF2-40B4-BE49-F238E27FC236}">
                  <a16:creationId xmlns:a16="http://schemas.microsoft.com/office/drawing/2014/main" id="{47A5E76A-8E07-C4C1-6277-6BC8D02F7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496"/>
              <a:ext cx="2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=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A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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</a:p>
          </p:txBody>
        </p:sp>
        <p:sp>
          <p:nvSpPr>
            <p:cNvPr id="17419" name="Line 16">
              <a:extLst>
                <a:ext uri="{FF2B5EF4-FFF2-40B4-BE49-F238E27FC236}">
                  <a16:creationId xmlns:a16="http://schemas.microsoft.com/office/drawing/2014/main" id="{24E3ED03-0A87-D44B-D393-DF5B537A4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17">
              <a:extLst>
                <a:ext uri="{FF2B5EF4-FFF2-40B4-BE49-F238E27FC236}">
                  <a16:creationId xmlns:a16="http://schemas.microsoft.com/office/drawing/2014/main" id="{7B0FA5D1-4724-4800-EDC7-B6E624170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41" grpId="0" autoUpdateAnimBg="0"/>
      <p:bldP spid="3994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B914BFC-4767-5785-F60B-D350CA5BA6C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4 Ways to prove identities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B07ED-31AC-E85D-6D23-242BCF292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33500"/>
            <a:ext cx="2098675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Prove that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	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645E870C-7AE9-086F-EF19-584CB7414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1981200"/>
            <a:ext cx="340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using known identities</a:t>
            </a:r>
          </a:p>
        </p:txBody>
      </p:sp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67D47B15-CB8C-31FD-4190-4D44DF399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268413"/>
          <a:ext cx="38862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00" imgH="165100" progId="Equation.3">
                  <p:embed/>
                </p:oleObj>
              </mc:Choice>
              <mc:Fallback>
                <p:oleObj name="Equation" r:id="rId2" imgW="1295400" imgH="165100" progId="Equation.3">
                  <p:embed/>
                  <p:pic>
                    <p:nvPicPr>
                      <p:cNvPr id="40965" name="Object 5">
                        <a:extLst>
                          <a:ext uri="{FF2B5EF4-FFF2-40B4-BE49-F238E27FC236}">
                            <a16:creationId xmlns:a16="http://schemas.microsoft.com/office/drawing/2014/main" id="{67D47B15-CB8C-31FD-4190-4D44DF399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68413"/>
                        <a:ext cx="38862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94D363EF-D7EF-462E-CC5D-1D4B9B5015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2525" y="2936875"/>
          <a:ext cx="38004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165100" progId="Equation.3">
                  <p:embed/>
                </p:oleObj>
              </mc:Choice>
              <mc:Fallback>
                <p:oleObj name="Equation" r:id="rId4" imgW="1270000" imgH="165100" progId="Equation.3">
                  <p:embed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94D363EF-D7EF-462E-CC5D-1D4B9B501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2936875"/>
                        <a:ext cx="38004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32F6DB6A-D109-7CF3-ACBC-D1AFEDC86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476625"/>
          <a:ext cx="21431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200" imgH="152400" progId="Equation.3">
                  <p:embed/>
                </p:oleObj>
              </mc:Choice>
              <mc:Fallback>
                <p:oleObj name="Equation" r:id="rId6" imgW="711200" imgH="152400" progId="Equation.3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32F6DB6A-D109-7CF3-ACBC-D1AFEDC86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476625"/>
                        <a:ext cx="21431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647556B1-9554-1A40-7F8F-A9EEBD06C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141788"/>
          <a:ext cx="21431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200" imgH="152400" progId="Equation.3">
                  <p:embed/>
                </p:oleObj>
              </mc:Choice>
              <mc:Fallback>
                <p:oleObj name="Equation" r:id="rId8" imgW="711200" imgH="152400" progId="Equation.3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647556B1-9554-1A40-7F8F-A9EEBD06C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41788"/>
                        <a:ext cx="21431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CC58A93E-4135-452E-7970-8B43B408A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806950"/>
          <a:ext cx="21431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200" imgH="152400" progId="Equation.3">
                  <p:embed/>
                </p:oleObj>
              </mc:Choice>
              <mc:Fallback>
                <p:oleObj name="Equation" r:id="rId10" imgW="711200" imgH="152400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CC58A93E-4135-452E-7970-8B43B408A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806950"/>
                        <a:ext cx="21431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537AF8B4-CA21-E3A5-1410-D07A8024E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505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1B96D68-C44B-E004-4593-A861DE56F61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2.2.3 Generalized Set Operations</a:t>
            </a:r>
          </a:p>
        </p:txBody>
      </p:sp>
      <p:graphicFrame>
        <p:nvGraphicFramePr>
          <p:cNvPr id="41987" name="Object 3">
            <a:extLst>
              <a:ext uri="{FF2B5EF4-FFF2-40B4-BE49-F238E27FC236}">
                <a16:creationId xmlns:a16="http://schemas.microsoft.com/office/drawing/2014/main" id="{76EA2858-74B1-AA73-65D9-D6FAAAE36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1905000"/>
          <a:ext cx="5856287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482600" progId="Equation.3">
                  <p:embed/>
                </p:oleObj>
              </mc:Choice>
              <mc:Fallback>
                <p:oleObj name="Equation" r:id="rId2" imgW="1879600" imgH="482600" progId="Equation.3">
                  <p:embed/>
                  <p:pic>
                    <p:nvPicPr>
                      <p:cNvPr id="41987" name="Object 3">
                        <a:extLst>
                          <a:ext uri="{FF2B5EF4-FFF2-40B4-BE49-F238E27FC236}">
                            <a16:creationId xmlns:a16="http://schemas.microsoft.com/office/drawing/2014/main" id="{76EA2858-74B1-AA73-65D9-D6FAAAE36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1905000"/>
                        <a:ext cx="5856287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>
            <a:extLst>
              <a:ext uri="{FF2B5EF4-FFF2-40B4-BE49-F238E27FC236}">
                <a16:creationId xmlns:a16="http://schemas.microsoft.com/office/drawing/2014/main" id="{F23D0B8E-4368-CD62-936B-CCE3F2F75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052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Comic Sans MS" panose="030F0902030302020204" pitchFamily="66" charset="0"/>
              </a:rPr>
              <a:t>Ex. Let </a:t>
            </a:r>
            <a:r>
              <a:rPr lang="en-US" altLang="en-US" sz="2800" i="1">
                <a:latin typeface="Times New Roman" panose="02020603050405020304" pitchFamily="18" charset="0"/>
              </a:rPr>
              <a:t>U</a:t>
            </a:r>
            <a:r>
              <a:rPr lang="en-US" altLang="en-US" sz="2800">
                <a:latin typeface="Times New Roman" panose="02020603050405020304" pitchFamily="18" charset="0"/>
              </a:rPr>
              <a:t> = </a:t>
            </a:r>
            <a:r>
              <a:rPr lang="en-US" altLang="en-US" sz="2800" b="1">
                <a:latin typeface="Times New Roman" panose="02020603050405020304" pitchFamily="18" charset="0"/>
              </a:rPr>
              <a:t>N</a:t>
            </a:r>
            <a:r>
              <a:rPr lang="en-US" altLang="en-US" sz="2400">
                <a:latin typeface="Comic Sans MS" panose="030F0902030302020204" pitchFamily="66" charset="0"/>
              </a:rPr>
              <a:t>, and define: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BB39F76A-FE5B-6A1F-CE69-0BD744C25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00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Comic Sans MS" panose="030F0902030302020204" pitchFamily="66" charset="0"/>
              </a:rPr>
              <a:t>Then</a:t>
            </a:r>
          </a:p>
        </p:txBody>
      </p:sp>
      <p:graphicFrame>
        <p:nvGraphicFramePr>
          <p:cNvPr id="41990" name="Object 6">
            <a:extLst>
              <a:ext uri="{FF2B5EF4-FFF2-40B4-BE49-F238E27FC236}">
                <a16:creationId xmlns:a16="http://schemas.microsoft.com/office/drawing/2014/main" id="{9C42EE60-08A3-AA02-B278-77AA6D50D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257800"/>
          <a:ext cx="54832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304800" progId="Equation.3">
                  <p:embed/>
                </p:oleObj>
              </mc:Choice>
              <mc:Fallback>
                <p:oleObj name="Equation" r:id="rId4" imgW="1701800" imgH="304800" progId="Equation.3">
                  <p:embed/>
                  <p:pic>
                    <p:nvPicPr>
                      <p:cNvPr id="41990" name="Object 6">
                        <a:extLst>
                          <a:ext uri="{FF2B5EF4-FFF2-40B4-BE49-F238E27FC236}">
                            <a16:creationId xmlns:a16="http://schemas.microsoft.com/office/drawing/2014/main" id="{9C42EE60-08A3-AA02-B278-77AA6D50D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257800"/>
                        <a:ext cx="54832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>
            <a:extLst>
              <a:ext uri="{FF2B5EF4-FFF2-40B4-BE49-F238E27FC236}">
                <a16:creationId xmlns:a16="http://schemas.microsoft.com/office/drawing/2014/main" id="{0776B662-B623-3762-77C2-43C389629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8369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36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Generalized Union</a:t>
            </a:r>
          </a:p>
        </p:txBody>
      </p:sp>
      <p:sp>
        <p:nvSpPr>
          <p:cNvPr id="41992" name="Rectangle 8">
            <a:extLst>
              <a:ext uri="{FF2B5EF4-FFF2-40B4-BE49-F238E27FC236}">
                <a16:creationId xmlns:a16="http://schemas.microsoft.com/office/drawing/2014/main" id="{BF56FFA5-2D45-016A-9C2D-D8AF0A2E1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14800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={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i, 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+1,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+2, …}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88" grpId="0" autoUpdateAnimBg="0"/>
      <p:bldP spid="41989" grpId="0" autoUpdateAnimBg="0"/>
      <p:bldP spid="41991" grpId="0" autoUpdateAnimBg="0"/>
      <p:bldP spid="4199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81D882F-7019-AA2C-D2EC-DFF262124A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>
                <a:solidFill>
                  <a:schemeClr val="hlink"/>
                </a:solidFill>
              </a:rPr>
              <a:t>Generalized Intersection</a:t>
            </a:r>
          </a:p>
        </p:txBody>
      </p:sp>
      <p:graphicFrame>
        <p:nvGraphicFramePr>
          <p:cNvPr id="43011" name="Object 3">
            <a:extLst>
              <a:ext uri="{FF2B5EF4-FFF2-40B4-BE49-F238E27FC236}">
                <a16:creationId xmlns:a16="http://schemas.microsoft.com/office/drawing/2014/main" id="{593CB634-18CF-0D84-584B-75A0576C70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0938" y="996950"/>
          <a:ext cx="585470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482600" progId="Equation.3">
                  <p:embed/>
                </p:oleObj>
              </mc:Choice>
              <mc:Fallback>
                <p:oleObj name="Equation" r:id="rId2" imgW="1879600" imgH="482600" progId="Equation.3">
                  <p:embed/>
                  <p:pic>
                    <p:nvPicPr>
                      <p:cNvPr id="43011" name="Object 3">
                        <a:extLst>
                          <a:ext uri="{FF2B5EF4-FFF2-40B4-BE49-F238E27FC236}">
                            <a16:creationId xmlns:a16="http://schemas.microsoft.com/office/drawing/2014/main" id="{593CB634-18CF-0D84-584B-75A0576C7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996950"/>
                        <a:ext cx="5854700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4">
            <a:extLst>
              <a:ext uri="{FF2B5EF4-FFF2-40B4-BE49-F238E27FC236}">
                <a16:creationId xmlns:a16="http://schemas.microsoft.com/office/drawing/2014/main" id="{1C65AE24-D7D4-F18D-1DC6-1C887A774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194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Comic Sans MS" panose="030F0902030302020204" pitchFamily="66" charset="0"/>
              </a:rPr>
              <a:t>Ex. Let </a:t>
            </a:r>
            <a:r>
              <a:rPr lang="en-US" altLang="en-US" sz="2800" i="1">
                <a:latin typeface="Times New Roman" panose="02020603050405020304" pitchFamily="18" charset="0"/>
              </a:rPr>
              <a:t>U</a:t>
            </a:r>
            <a:r>
              <a:rPr lang="en-US" altLang="en-US" sz="2800">
                <a:latin typeface="Times New Roman" panose="02020603050405020304" pitchFamily="18" charset="0"/>
              </a:rPr>
              <a:t> = </a:t>
            </a:r>
            <a:r>
              <a:rPr lang="en-US" altLang="en-US" sz="2800" b="1">
                <a:latin typeface="Times New Roman" panose="02020603050405020304" pitchFamily="18" charset="0"/>
              </a:rPr>
              <a:t>N</a:t>
            </a:r>
            <a:r>
              <a:rPr lang="en-US" altLang="en-US" sz="2400">
                <a:latin typeface="Comic Sans MS" panose="030F0902030302020204" pitchFamily="66" charset="0"/>
              </a:rPr>
              <a:t>, and define: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EE98849B-E539-73E7-6A47-579EEA3F0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38600"/>
            <a:ext cx="9144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Comic Sans MS" panose="030F0902030302020204" pitchFamily="66" charset="0"/>
              </a:rPr>
              <a:t>Then</a:t>
            </a:r>
          </a:p>
        </p:txBody>
      </p:sp>
      <p:graphicFrame>
        <p:nvGraphicFramePr>
          <p:cNvPr id="43014" name="Object 6">
            <a:extLst>
              <a:ext uri="{FF2B5EF4-FFF2-40B4-BE49-F238E27FC236}">
                <a16:creationId xmlns:a16="http://schemas.microsoft.com/office/drawing/2014/main" id="{40C3DF95-1A22-E177-5C6D-9CFAC137D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572000"/>
          <a:ext cx="3573463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900" imgH="304800" progId="Equation.3">
                  <p:embed/>
                </p:oleObj>
              </mc:Choice>
              <mc:Fallback>
                <p:oleObj name="Equation" r:id="rId4" imgW="1104900" imgH="304800" progId="Equation.3">
                  <p:embed/>
                  <p:pic>
                    <p:nvPicPr>
                      <p:cNvPr id="43014" name="Object 6">
                        <a:extLst>
                          <a:ext uri="{FF2B5EF4-FFF2-40B4-BE49-F238E27FC236}">
                            <a16:creationId xmlns:a16="http://schemas.microsoft.com/office/drawing/2014/main" id="{40C3DF95-1A22-E177-5C6D-9CFAC137D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3573463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>
            <a:extLst>
              <a:ext uri="{FF2B5EF4-FFF2-40B4-BE49-F238E27FC236}">
                <a16:creationId xmlns:a16="http://schemas.microsoft.com/office/drawing/2014/main" id="{E50CBF26-2027-F6D8-42DF-C1B9A669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505200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={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i, 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+1,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+2, …}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2" grpId="0" autoUpdateAnimBg="0"/>
      <p:bldP spid="43013" grpId="0" autoUpdateAnimBg="0"/>
      <p:bldP spid="4301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D2F227AF-9EE8-D2A9-C8B4-7672CE86C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7864475" cy="336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>
            <a:extLst>
              <a:ext uri="{FF2B5EF4-FFF2-40B4-BE49-F238E27FC236}">
                <a16:creationId xmlns:a16="http://schemas.microsoft.com/office/drawing/2014/main" id="{7946CF5D-D7A9-B39C-BF33-F7D49D8F0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7864475" cy="29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4EAF416-6203-7D03-29C5-63A4DA05D0E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4582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2.2.4 Computer Representation of Sets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22D1F048-7625-715A-A4A5-C7317A5ED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95400"/>
            <a:ext cx="8458200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Let </a:t>
            </a:r>
            <a:r>
              <a:rPr lang="en-US" altLang="en-US" sz="2800" i="1">
                <a:latin typeface="Times New Roman" panose="02020603050405020304" pitchFamily="18" charset="0"/>
              </a:rPr>
              <a:t>U </a:t>
            </a:r>
            <a:r>
              <a:rPr lang="en-US" altLang="en-US" sz="2800">
                <a:latin typeface="Times New Roman" panose="02020603050405020304" pitchFamily="18" charset="0"/>
              </a:rPr>
              <a:t>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>
                <a:latin typeface="Times New Roman" panose="02020603050405020304" pitchFamily="18" charset="0"/>
              </a:rPr>
              <a:t>,…, x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n</a:t>
            </a:r>
            <a:r>
              <a:rPr lang="en-US" altLang="en-US" sz="2800">
                <a:latin typeface="Times New Roman" panose="02020603050405020304" pitchFamily="18" charset="0"/>
              </a:rPr>
              <a:t>}, and choose an arbitrary order of the elements of U, say</a:t>
            </a:r>
          </a:p>
          <a:p>
            <a:pPr algn="ctr">
              <a:spcBef>
                <a:spcPct val="50000"/>
              </a:spcBef>
            </a:pP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>
                <a:latin typeface="Times New Roman" panose="02020603050405020304" pitchFamily="18" charset="0"/>
              </a:rPr>
              <a:t>, 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>
                <a:latin typeface="Times New Roman" panose="02020603050405020304" pitchFamily="18" charset="0"/>
              </a:rPr>
              <a:t>,…, 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n</a:t>
            </a:r>
            <a:endParaRPr lang="en-US" altLang="en-US" sz="2800" i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Let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U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. </a:t>
            </a:r>
            <a:r>
              <a:rPr lang="en-US" altLang="en-US" sz="2800">
                <a:latin typeface="Times New Roman" panose="02020603050405020304" pitchFamily="18" charset="0"/>
              </a:rPr>
              <a:t>Then the </a:t>
            </a:r>
            <a:r>
              <a:rPr lang="en-US" altLang="en-US" sz="2800" i="1">
                <a:solidFill>
                  <a:schemeClr val="hlink"/>
                </a:solidFill>
                <a:latin typeface="Times New Roman" panose="02020603050405020304" pitchFamily="18" charset="0"/>
              </a:rPr>
              <a:t>bit string representation</a:t>
            </a:r>
            <a:r>
              <a:rPr lang="en-US" altLang="en-US" sz="2800" i="1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</a:rPr>
              <a:t>of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is the bit string of length </a:t>
            </a:r>
            <a:r>
              <a:rPr lang="en-US" altLang="en-US" sz="2800" i="1">
                <a:latin typeface="Times New Roman" panose="02020603050405020304" pitchFamily="18" charset="0"/>
              </a:rPr>
              <a:t>n</a:t>
            </a:r>
            <a:r>
              <a:rPr lang="en-US" altLang="en-US" sz="2800">
                <a:latin typeface="Times New Roman" panose="02020603050405020304" pitchFamily="18" charset="0"/>
              </a:rPr>
              <a:t> :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>
                <a:latin typeface="Times New Roman" panose="02020603050405020304" pitchFamily="18" charset="0"/>
              </a:rPr>
              <a:t>…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n</a:t>
            </a:r>
            <a:r>
              <a:rPr lang="en-US" altLang="en-US" sz="2800">
                <a:latin typeface="Times New Roman" panose="02020603050405020304" pitchFamily="18" charset="0"/>
              </a:rPr>
              <a:t> such that 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800">
                <a:latin typeface="Times New Roman" panose="02020603050405020304" pitchFamily="18" charset="0"/>
              </a:rPr>
              <a:t> =1 if 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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, and 0 otherwise.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2D65E138-94F0-9183-997A-B7BEF56F2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7772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Ex.</a:t>
            </a:r>
            <a:r>
              <a:rPr lang="en-US" altLang="en-US" sz="2800">
                <a:latin typeface="Times New Roman" panose="02020603050405020304" pitchFamily="18" charset="0"/>
              </a:rPr>
              <a:t> If </a:t>
            </a:r>
            <a:r>
              <a:rPr lang="en-US" altLang="en-US" sz="2800" i="1">
                <a:latin typeface="Times New Roman" panose="02020603050405020304" pitchFamily="18" charset="0"/>
              </a:rPr>
              <a:t>U </a:t>
            </a:r>
            <a:r>
              <a:rPr lang="en-US" altLang="en-US" sz="2800">
                <a:latin typeface="Times New Roman" panose="02020603050405020304" pitchFamily="18" charset="0"/>
              </a:rPr>
              <a:t>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>
                <a:latin typeface="Times New Roman" panose="02020603050405020304" pitchFamily="18" charset="0"/>
              </a:rPr>
              <a:t>,…,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6</a:t>
            </a:r>
            <a:r>
              <a:rPr lang="en-US" altLang="en-US" sz="2800">
                <a:latin typeface="Times New Roman" panose="02020603050405020304" pitchFamily="18" charset="0"/>
              </a:rPr>
              <a:t>}, and 	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3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5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6</a:t>
            </a:r>
            <a:r>
              <a:rPr lang="en-US" altLang="en-US" sz="2800">
                <a:latin typeface="Times New Roman" panose="02020603050405020304" pitchFamily="18" charset="0"/>
              </a:rPr>
              <a:t>},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then the bit string representation of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is </a:t>
            </a:r>
          </a:p>
        </p:txBody>
      </p:sp>
      <p:grpSp>
        <p:nvGrpSpPr>
          <p:cNvPr id="44037" name="Group 5">
            <a:extLst>
              <a:ext uri="{FF2B5EF4-FFF2-40B4-BE49-F238E27FC236}">
                <a16:creationId xmlns:a16="http://schemas.microsoft.com/office/drawing/2014/main" id="{8FDA92A2-A1F7-83DB-C5BC-0E9A8CCA462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6057900"/>
            <a:ext cx="2133600" cy="533400"/>
            <a:chOff x="288" y="3168"/>
            <a:chExt cx="4428" cy="768"/>
          </a:xfrm>
        </p:grpSpPr>
        <p:sp>
          <p:nvSpPr>
            <p:cNvPr id="23558" name="Oval 6">
              <a:extLst>
                <a:ext uri="{FF2B5EF4-FFF2-40B4-BE49-F238E27FC236}">
                  <a16:creationId xmlns:a16="http://schemas.microsoft.com/office/drawing/2014/main" id="{9E1C60A4-E0C4-62D8-6F94-81CDFA33B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59" name="Text Box 7">
              <a:extLst>
                <a:ext uri="{FF2B5EF4-FFF2-40B4-BE49-F238E27FC236}">
                  <a16:creationId xmlns:a16="http://schemas.microsoft.com/office/drawing/2014/main" id="{2BBBAFB8-4640-8BB9-A801-07C62C01E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94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(101011)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build="p" autoUpdateAnimBg="0"/>
      <p:bldP spid="44036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F487B68-8FA5-B758-EF88-45427A0F361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Sets as bit strings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E781D572-CB0A-7F2E-F86B-EF2F6B9C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8001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Ex. If U 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>
                <a:latin typeface="Times New Roman" panose="02020603050405020304" pitchFamily="18" charset="0"/>
              </a:rPr>
              <a:t>,…,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6</a:t>
            </a:r>
            <a:r>
              <a:rPr lang="en-US" altLang="en-US" sz="2800">
                <a:latin typeface="Times New Roman" panose="02020603050405020304" pitchFamily="18" charset="0"/>
              </a:rPr>
              <a:t>},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3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5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6</a:t>
            </a:r>
            <a:r>
              <a:rPr lang="en-US" altLang="en-US" sz="2800">
                <a:latin typeface="Times New Roman" panose="02020603050405020304" pitchFamily="18" charset="0"/>
              </a:rPr>
              <a:t>},            and </a:t>
            </a:r>
            <a:r>
              <a:rPr lang="en-US" altLang="en-US" sz="2800" i="1">
                <a:latin typeface="Times New Roman" panose="02020603050405020304" pitchFamily="18" charset="0"/>
              </a:rPr>
              <a:t>B</a:t>
            </a:r>
            <a:r>
              <a:rPr lang="en-US" altLang="en-US" sz="2800">
                <a:latin typeface="Times New Roman" panose="02020603050405020304" pitchFamily="18" charset="0"/>
              </a:rPr>
              <a:t> = {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3</a:t>
            </a:r>
            <a:r>
              <a:rPr lang="en-US" altLang="en-US" sz="2800" i="1">
                <a:latin typeface="Times New Roman" panose="02020603050405020304" pitchFamily="18" charset="0"/>
              </a:rPr>
              <a:t>, x</a:t>
            </a:r>
            <a:r>
              <a:rPr lang="en-US" altLang="en-US" sz="2800" baseline="-25000">
                <a:latin typeface="Times New Roman" panose="02020603050405020304" pitchFamily="18" charset="0"/>
              </a:rPr>
              <a:t>6</a:t>
            </a:r>
            <a:r>
              <a:rPr lang="en-US" altLang="en-US" sz="2800">
                <a:latin typeface="Times New Roman" panose="02020603050405020304" pitchFamily="18" charset="0"/>
              </a:rPr>
              <a:t>}.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Then we have a quick way of finding the bit string corresponding to of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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and </a:t>
            </a:r>
            <a:r>
              <a:rPr lang="en-US" altLang="en-US" sz="2800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sym typeface="Symbol" pitchFamily="2" charset="2"/>
              </a:rPr>
              <a:t> 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</a:rPr>
              <a:t>B</a:t>
            </a:r>
            <a:r>
              <a:rPr lang="en-US" altLang="en-US" sz="280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5168" name="Group 112">
            <a:extLst>
              <a:ext uri="{FF2B5EF4-FFF2-40B4-BE49-F238E27FC236}">
                <a16:creationId xmlns:a16="http://schemas.microsoft.com/office/drawing/2014/main" id="{2694FC0D-E21E-98AA-AA6F-F4929685C285}"/>
              </a:ext>
            </a:extLst>
          </p:cNvPr>
          <p:cNvGraphicFramePr>
            <a:graphicFrameLocks noGrp="1"/>
          </p:cNvGraphicFramePr>
          <p:nvPr/>
        </p:nvGraphicFramePr>
        <p:xfrm>
          <a:off x="3421063" y="4038600"/>
          <a:ext cx="4316412" cy="2316320"/>
        </p:xfrm>
        <a:graphic>
          <a:graphicData uri="http://schemas.openxmlformats.org/drawingml/2006/table">
            <a:tbl>
              <a:tblPr/>
              <a:tblGrid>
                <a:gridCol w="129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04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marT="45700" marB="457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marT="45700" marB="457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00" marB="45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00" marB="457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41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0" marB="457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5111" name="Group 55">
            <a:extLst>
              <a:ext uri="{FF2B5EF4-FFF2-40B4-BE49-F238E27FC236}">
                <a16:creationId xmlns:a16="http://schemas.microsoft.com/office/drawing/2014/main" id="{4A4F1678-FB2F-0676-FB40-3313C316AE2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311775"/>
            <a:ext cx="2286000" cy="533400"/>
            <a:chOff x="288" y="3168"/>
            <a:chExt cx="4428" cy="768"/>
          </a:xfrm>
        </p:grpSpPr>
        <p:sp>
          <p:nvSpPr>
            <p:cNvPr id="24674" name="Oval 56">
              <a:extLst>
                <a:ext uri="{FF2B5EF4-FFF2-40B4-BE49-F238E27FC236}">
                  <a16:creationId xmlns:a16="http://schemas.microsoft.com/office/drawing/2014/main" id="{ED426263-8811-2187-A9FB-37C851B3F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75" name="Text Box 57">
              <a:extLst>
                <a:ext uri="{FF2B5EF4-FFF2-40B4-BE49-F238E27FC236}">
                  <a16:creationId xmlns:a16="http://schemas.microsoft.com/office/drawing/2014/main" id="{6B4B5205-94B8-C910-F8C6-7F4391861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94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Bit-wise OR</a:t>
              </a:r>
            </a:p>
          </p:txBody>
        </p:sp>
      </p:grpSp>
      <p:grpSp>
        <p:nvGrpSpPr>
          <p:cNvPr id="45114" name="Group 58">
            <a:extLst>
              <a:ext uri="{FF2B5EF4-FFF2-40B4-BE49-F238E27FC236}">
                <a16:creationId xmlns:a16="http://schemas.microsoft.com/office/drawing/2014/main" id="{3FA58AC3-335C-0AD8-C439-12C5C4E1BEE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6049963"/>
            <a:ext cx="2286000" cy="533400"/>
            <a:chOff x="288" y="3168"/>
            <a:chExt cx="4428" cy="768"/>
          </a:xfrm>
        </p:grpSpPr>
        <p:sp>
          <p:nvSpPr>
            <p:cNvPr id="24672" name="Oval 59">
              <a:extLst>
                <a:ext uri="{FF2B5EF4-FFF2-40B4-BE49-F238E27FC236}">
                  <a16:creationId xmlns:a16="http://schemas.microsoft.com/office/drawing/2014/main" id="{3412402D-745C-E91A-460E-C9ADB27BC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73" name="Text Box 60">
              <a:extLst>
                <a:ext uri="{FF2B5EF4-FFF2-40B4-BE49-F238E27FC236}">
                  <a16:creationId xmlns:a16="http://schemas.microsoft.com/office/drawing/2014/main" id="{82814BD3-D6A7-5402-9BD3-17AAA5707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94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2400">
                  <a:latin typeface="Comic Sans MS" panose="030F0902030302020204" pitchFamily="66" charset="0"/>
                </a:rPr>
                <a:t>Bit-wise AND</a:t>
              </a:r>
            </a:p>
          </p:txBody>
        </p:sp>
      </p:grpSp>
      <p:graphicFrame>
        <p:nvGraphicFramePr>
          <p:cNvPr id="45117" name="Group 61">
            <a:extLst>
              <a:ext uri="{FF2B5EF4-FFF2-40B4-BE49-F238E27FC236}">
                <a16:creationId xmlns:a16="http://schemas.microsoft.com/office/drawing/2014/main" id="{DE371604-5E5E-6811-BFFF-B770B37CDB3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038600"/>
          <a:ext cx="4316413" cy="2322552"/>
        </p:xfrm>
        <a:graphic>
          <a:graphicData uri="http://schemas.openxmlformats.org/drawingml/2006/table">
            <a:tbl>
              <a:tblPr/>
              <a:tblGrid>
                <a:gridCol w="129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03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A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</a:t>
                      </a: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B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169" name="Group 113">
            <a:extLst>
              <a:ext uri="{FF2B5EF4-FFF2-40B4-BE49-F238E27FC236}">
                <a16:creationId xmlns:a16="http://schemas.microsoft.com/office/drawing/2014/main" id="{168CAFE2-E90B-BF8D-3602-6F1C2FCC20CF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038600"/>
          <a:ext cx="4316413" cy="2322552"/>
        </p:xfrm>
        <a:graphic>
          <a:graphicData uri="http://schemas.openxmlformats.org/drawingml/2006/table">
            <a:tbl>
              <a:tblPr/>
              <a:tblGrid>
                <a:gridCol w="129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03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</a:t>
                      </a: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 B</a:t>
                      </a:r>
                    </a:p>
                  </a:txBody>
                  <a:tcPr marT="45716" marB="4571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716" marB="45716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EF798CF8-AACF-22E8-8EFC-45B051DEB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0"/>
            <a:ext cx="8899525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A9F9657-9BA0-5D5F-D44F-BF95019D084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>
                <a:solidFill>
                  <a:schemeClr val="hlink"/>
                </a:solidFill>
                <a:cs typeface="Times New Roman" pitchFamily="18" charset="0"/>
              </a:rPr>
              <a:t>2.3</a:t>
            </a:r>
            <a:r>
              <a:rPr lang="en-US" sz="4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4800">
                <a:solidFill>
                  <a:schemeClr val="hlink"/>
                </a:solidFill>
                <a:cs typeface="Times New Roman" pitchFamily="18" charset="0"/>
              </a:rPr>
              <a:t>Functions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60549DE-761D-98BE-B2D1-A8E4ABA9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828800"/>
            <a:ext cx="7239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965200" indent="-965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</a:rPr>
              <a:t>2.3.1 Introduction</a:t>
            </a:r>
            <a:endParaRPr lang="en-US" altLang="en-US" sz="3600" dirty="0">
              <a:latin typeface="Times" pitchFamily="2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2.3.2</a:t>
            </a:r>
            <a:r>
              <a:rPr lang="en-US" altLang="en-US" sz="3600" dirty="0">
                <a:cs typeface="Times New Roman" panose="02020603050405020304" pitchFamily="18" charset="0"/>
              </a:rPr>
              <a:t> </a:t>
            </a: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One-to-One and Onto Functions.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2.3.3 Inverse Functions and Composition of Functions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2.3.4 The Graphs of Functions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2.3.5 Asymptotic Notation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latin typeface="Times" pitchFamily="2" charset="0"/>
                <a:cs typeface="Times New Roman" panose="02020603050405020304" pitchFamily="18" charset="0"/>
              </a:rPr>
              <a:t>2.3.6 Hash function</a:t>
            </a:r>
          </a:p>
          <a:p>
            <a:pPr>
              <a:lnSpc>
                <a:spcPct val="90000"/>
              </a:lnSpc>
            </a:pPr>
            <a:endParaRPr lang="en-US" altLang="en-US" sz="3600" dirty="0">
              <a:latin typeface="Times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build="p" autoUpdateAnimBg="0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18119CA-C5F9-2445-C8AC-B759E405CDF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381000"/>
            <a:ext cx="82296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>
                <a:solidFill>
                  <a:schemeClr val="hlink"/>
                </a:solidFill>
              </a:rPr>
              <a:t>2.3.1 Introduction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D0B0317E-7BB2-4705-B829-5842A15BB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47800"/>
            <a:ext cx="8763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Definition.</a:t>
            </a:r>
            <a:r>
              <a:rPr lang="en-US" altLang="en-US" sz="2800" b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altLang="en-US" sz="2800">
                <a:latin typeface="VNI-Times" pitchFamily="2" charset="0"/>
              </a:rPr>
              <a:t>A 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f</a:t>
            </a:r>
            <a:r>
              <a:rPr lang="en-US" altLang="en-US" sz="2800" b="1" i="1">
                <a:solidFill>
                  <a:schemeClr val="tx2"/>
                </a:solidFill>
                <a:latin typeface="VNI-Times" pitchFamily="2" charset="0"/>
              </a:rPr>
              <a:t>unction</a:t>
            </a:r>
            <a:r>
              <a:rPr lang="en-US" altLang="en-US" sz="2800">
                <a:latin typeface="VNI-Times" pitchFamily="2" charset="0"/>
              </a:rPr>
              <a:t>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 is a rule that assigns to each element 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 in a set 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</a:rPr>
              <a:t> exactly one element </a:t>
            </a:r>
            <a:r>
              <a:rPr lang="en-US" altLang="en-US" sz="2800" i="1">
                <a:latin typeface="VNI-Times" pitchFamily="2" charset="0"/>
              </a:rPr>
              <a:t>y</a:t>
            </a:r>
            <a:r>
              <a:rPr lang="en-US" altLang="en-US" sz="2800">
                <a:latin typeface="VNI-Times" pitchFamily="2" charset="0"/>
              </a:rPr>
              <a:t>=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 in a set </a:t>
            </a:r>
            <a:r>
              <a:rPr lang="en-US" altLang="en-US" sz="2800" i="1">
                <a:latin typeface="VNI-Times" pitchFamily="2" charset="0"/>
              </a:rPr>
              <a:t>B</a:t>
            </a:r>
          </a:p>
        </p:txBody>
      </p:sp>
      <p:sp>
        <p:nvSpPr>
          <p:cNvPr id="27652" name="Oval 4">
            <a:extLst>
              <a:ext uri="{FF2B5EF4-FFF2-40B4-BE49-F238E27FC236}">
                <a16:creationId xmlns:a16="http://schemas.microsoft.com/office/drawing/2014/main" id="{0F5E608D-0452-C47F-D351-8BC196255586}"/>
              </a:ext>
            </a:extLst>
          </p:cNvPr>
          <p:cNvSpPr>
            <a:spLocks noChangeArrowheads="1"/>
          </p:cNvSpPr>
          <p:nvPr/>
        </p:nvSpPr>
        <p:spPr bwMode="auto">
          <a:xfrm rot="-644854">
            <a:off x="1752600" y="2667000"/>
            <a:ext cx="1219200" cy="21336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Oval 5">
            <a:extLst>
              <a:ext uri="{FF2B5EF4-FFF2-40B4-BE49-F238E27FC236}">
                <a16:creationId xmlns:a16="http://schemas.microsoft.com/office/drawing/2014/main" id="{0420E9D5-391D-2BF4-2975-C32ED2F2F48B}"/>
              </a:ext>
            </a:extLst>
          </p:cNvPr>
          <p:cNvSpPr>
            <a:spLocks noChangeArrowheads="1"/>
          </p:cNvSpPr>
          <p:nvPr/>
        </p:nvSpPr>
        <p:spPr bwMode="auto">
          <a:xfrm rot="908668">
            <a:off x="5181600" y="2667000"/>
            <a:ext cx="1295400" cy="21336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4" name="Arc 6">
            <a:extLst>
              <a:ext uri="{FF2B5EF4-FFF2-40B4-BE49-F238E27FC236}">
                <a16:creationId xmlns:a16="http://schemas.microsoft.com/office/drawing/2014/main" id="{A0B67E73-2F96-2CE6-56D4-B4275B3065D9}"/>
              </a:ext>
            </a:extLst>
          </p:cNvPr>
          <p:cNvSpPr>
            <a:spLocks/>
          </p:cNvSpPr>
          <p:nvPr/>
        </p:nvSpPr>
        <p:spPr bwMode="auto">
          <a:xfrm rot="-305807">
            <a:off x="2362200" y="3505200"/>
            <a:ext cx="3276600" cy="381000"/>
          </a:xfrm>
          <a:custGeom>
            <a:avLst/>
            <a:gdLst>
              <a:gd name="T0" fmla="*/ 0 w 21600"/>
              <a:gd name="T1" fmla="*/ 0 h 21600"/>
              <a:gd name="T2" fmla="*/ 497042017 w 21600"/>
              <a:gd name="T3" fmla="*/ 6720417 h 21600"/>
              <a:gd name="T4" fmla="*/ 0 w 21600"/>
              <a:gd name="T5" fmla="*/ 672041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Arc 7">
            <a:extLst>
              <a:ext uri="{FF2B5EF4-FFF2-40B4-BE49-F238E27FC236}">
                <a16:creationId xmlns:a16="http://schemas.microsoft.com/office/drawing/2014/main" id="{63247A83-033D-115C-226D-733F42464D91}"/>
              </a:ext>
            </a:extLst>
          </p:cNvPr>
          <p:cNvSpPr>
            <a:spLocks/>
          </p:cNvSpPr>
          <p:nvPr/>
        </p:nvSpPr>
        <p:spPr bwMode="auto">
          <a:xfrm rot="-305807">
            <a:off x="2436813" y="3043238"/>
            <a:ext cx="3276600" cy="381000"/>
          </a:xfrm>
          <a:custGeom>
            <a:avLst/>
            <a:gdLst>
              <a:gd name="T0" fmla="*/ 0 w 21600"/>
              <a:gd name="T1" fmla="*/ 0 h 21600"/>
              <a:gd name="T2" fmla="*/ 497042017 w 21600"/>
              <a:gd name="T3" fmla="*/ 6720417 h 21600"/>
              <a:gd name="T4" fmla="*/ 0 w 21600"/>
              <a:gd name="T5" fmla="*/ 672041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Arc 8">
            <a:extLst>
              <a:ext uri="{FF2B5EF4-FFF2-40B4-BE49-F238E27FC236}">
                <a16:creationId xmlns:a16="http://schemas.microsoft.com/office/drawing/2014/main" id="{DBB96A7B-ED24-BC61-4DA7-19EA883751D4}"/>
              </a:ext>
            </a:extLst>
          </p:cNvPr>
          <p:cNvSpPr>
            <a:spLocks/>
          </p:cNvSpPr>
          <p:nvPr/>
        </p:nvSpPr>
        <p:spPr bwMode="auto">
          <a:xfrm flipV="1">
            <a:off x="2514600" y="4038600"/>
            <a:ext cx="2963863" cy="457200"/>
          </a:xfrm>
          <a:custGeom>
            <a:avLst/>
            <a:gdLst>
              <a:gd name="T0" fmla="*/ 0 w 19755"/>
              <a:gd name="T1" fmla="*/ 116036 h 21600"/>
              <a:gd name="T2" fmla="*/ 444671419 w 19755"/>
              <a:gd name="T3" fmla="*/ 3389778 h 21600"/>
              <a:gd name="T4" fmla="*/ 75068476 w 19755"/>
              <a:gd name="T5" fmla="*/ 96774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55" h="21600" fill="none" extrusionOk="0">
                <a:moveTo>
                  <a:pt x="0" y="259"/>
                </a:moveTo>
                <a:cubicBezTo>
                  <a:pt x="1103" y="86"/>
                  <a:pt x="2218" y="-1"/>
                  <a:pt x="3335" y="0"/>
                </a:cubicBezTo>
                <a:cubicBezTo>
                  <a:pt x="9651" y="0"/>
                  <a:pt x="15651" y="2764"/>
                  <a:pt x="19754" y="7566"/>
                </a:cubicBezTo>
              </a:path>
              <a:path w="19755" h="21600" stroke="0" extrusionOk="0">
                <a:moveTo>
                  <a:pt x="0" y="259"/>
                </a:moveTo>
                <a:cubicBezTo>
                  <a:pt x="1103" y="86"/>
                  <a:pt x="2218" y="-1"/>
                  <a:pt x="3335" y="0"/>
                </a:cubicBezTo>
                <a:cubicBezTo>
                  <a:pt x="9651" y="0"/>
                  <a:pt x="15651" y="2764"/>
                  <a:pt x="19754" y="7566"/>
                </a:cubicBezTo>
                <a:lnTo>
                  <a:pt x="3335" y="21600"/>
                </a:lnTo>
                <a:lnTo>
                  <a:pt x="0" y="259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13C5C549-EB77-ECE8-1BEE-DCA6786A0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895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x</a:t>
            </a: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4F47081A-E010-A561-D6DF-34317D061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429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a</a:t>
            </a:r>
          </a:p>
        </p:txBody>
      </p:sp>
      <p:sp>
        <p:nvSpPr>
          <p:cNvPr id="27659" name="Text Box 11">
            <a:extLst>
              <a:ext uri="{FF2B5EF4-FFF2-40B4-BE49-F238E27FC236}">
                <a16:creationId xmlns:a16="http://schemas.microsoft.com/office/drawing/2014/main" id="{28BEB4E0-5BD8-4694-DCDB-BE2F51AD2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124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y=f(x)</a:t>
            </a: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E9361BD4-B341-8C67-1A20-955010002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657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b=f(a)</a:t>
            </a:r>
          </a:p>
        </p:txBody>
      </p:sp>
      <p:sp>
        <p:nvSpPr>
          <p:cNvPr id="27661" name="Line 13">
            <a:extLst>
              <a:ext uri="{FF2B5EF4-FFF2-40B4-BE49-F238E27FC236}">
                <a16:creationId xmlns:a16="http://schemas.microsoft.com/office/drawing/2014/main" id="{555A92CA-0EDA-D4B3-477C-B14D1D9A7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1054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629804C8-7586-9358-1BF1-DC8B8DDB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876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A</a:t>
            </a:r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88D2696F-4963-0CB9-2F07-9C3073D22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876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B</a:t>
            </a:r>
          </a:p>
        </p:txBody>
      </p:sp>
      <p:sp>
        <p:nvSpPr>
          <p:cNvPr id="27664" name="Text Box 16">
            <a:extLst>
              <a:ext uri="{FF2B5EF4-FFF2-40B4-BE49-F238E27FC236}">
                <a16:creationId xmlns:a16="http://schemas.microsoft.com/office/drawing/2014/main" id="{064F7F60-2F9C-2C47-8A59-ED41ADC6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572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f</a:t>
            </a:r>
          </a:p>
        </p:txBody>
      </p:sp>
      <p:sp>
        <p:nvSpPr>
          <p:cNvPr id="27665" name="Text Box 17">
            <a:extLst>
              <a:ext uri="{FF2B5EF4-FFF2-40B4-BE49-F238E27FC236}">
                <a16:creationId xmlns:a16="http://schemas.microsoft.com/office/drawing/2014/main" id="{423C7658-8D6F-71BE-43A1-CCFC3E4A1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912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800" i="1">
                <a:latin typeface="VNI-Times" pitchFamily="2" charset="0"/>
              </a:rPr>
              <a:t> A</a:t>
            </a:r>
            <a:r>
              <a:rPr lang="en-US" altLang="en-US" sz="2800">
                <a:latin typeface="VNI-Times" pitchFamily="2" charset="0"/>
              </a:rPr>
              <a:t> is the </a:t>
            </a:r>
            <a:r>
              <a:rPr lang="en-US" altLang="en-US" sz="2800" b="1" i="1">
                <a:solidFill>
                  <a:schemeClr val="hlink"/>
                </a:solidFill>
                <a:latin typeface="VNI-Times" pitchFamily="2" charset="0"/>
              </a:rPr>
              <a:t>domain</a:t>
            </a:r>
            <a:r>
              <a:rPr lang="en-US" altLang="en-US" sz="2800">
                <a:latin typeface="VNI-Times" pitchFamily="2" charset="0"/>
              </a:rPr>
              <a:t>, </a:t>
            </a:r>
            <a:r>
              <a:rPr lang="en-US" altLang="en-US" sz="2800" i="1">
                <a:latin typeface="VNI-Times" pitchFamily="2" charset="0"/>
              </a:rPr>
              <a:t>B</a:t>
            </a:r>
            <a:r>
              <a:rPr lang="en-US" altLang="en-US" sz="2800">
                <a:latin typeface="VNI-Times" pitchFamily="2" charset="0"/>
              </a:rPr>
              <a:t> is the </a:t>
            </a:r>
            <a:r>
              <a:rPr lang="en-US" altLang="en-US" sz="2800" b="1" i="1">
                <a:solidFill>
                  <a:schemeClr val="hlink"/>
                </a:solidFill>
                <a:latin typeface="VNI-Times" pitchFamily="2" charset="0"/>
              </a:rPr>
              <a:t>codomain</a:t>
            </a:r>
            <a:r>
              <a:rPr lang="en-US" altLang="en-US" sz="2800">
                <a:latin typeface="VNI-Times" pitchFamily="2" charset="0"/>
              </a:rPr>
              <a:t> of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7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nimBg="1"/>
      <p:bldP spid="27653" grpId="0" animBg="1"/>
      <p:bldP spid="27657" grpId="0" autoUpdateAnimBg="0"/>
      <p:bldP spid="27658" grpId="0" autoUpdateAnimBg="0"/>
      <p:bldP spid="27659" grpId="0" autoUpdateAnimBg="0"/>
      <p:bldP spid="27660" grpId="0" autoUpdateAnimBg="0"/>
      <p:bldP spid="27662" grpId="0" autoUpdateAnimBg="0"/>
      <p:bldP spid="27663" grpId="0" autoUpdateAnimBg="0"/>
      <p:bldP spid="27664" grpId="0" autoUpdateAnimBg="0"/>
      <p:bldP spid="27665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FA5E2E6-F05E-3720-24E7-9776FBCC462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>
                <a:solidFill>
                  <a:schemeClr val="hlink"/>
                </a:solidFill>
              </a:rPr>
              <a:t>2.3.1 Introduction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9B243395-EA0B-4D29-DE65-2830E370F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53000"/>
            <a:ext cx="8534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b 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= 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f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a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) is the </a:t>
            </a:r>
            <a:r>
              <a:rPr lang="en-US" sz="2800" b="1" i="1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image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of 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a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and 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a 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is the </a:t>
            </a:r>
            <a:r>
              <a:rPr lang="en-US" sz="2800" b="1" i="1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preimage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of 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b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. </a:t>
            </a: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800">
                <a:latin typeface="Times New Roman" pitchFamily="18" charset="0"/>
                <a:cs typeface="Arial" charset="0"/>
              </a:rPr>
              <a:t>The </a:t>
            </a:r>
            <a:r>
              <a:rPr lang="en-US" sz="2800" b="1" i="1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range</a:t>
            </a:r>
            <a:r>
              <a:rPr lang="en-US" sz="2800">
                <a:latin typeface="Times New Roman" pitchFamily="18" charset="0"/>
                <a:cs typeface="Arial" charset="0"/>
              </a:rPr>
              <a:t> of </a:t>
            </a:r>
            <a:r>
              <a:rPr lang="en-US" sz="2800" i="1">
                <a:latin typeface="Times New Roman" pitchFamily="18" charset="0"/>
                <a:cs typeface="Arial" charset="0"/>
              </a:rPr>
              <a:t>f 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is the set {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f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a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), </a:t>
            </a:r>
            <a:r>
              <a:rPr lang="en-US" sz="2800" i="1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a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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}</a:t>
            </a:r>
            <a:endParaRPr lang="en-US" sz="2800" b="1">
              <a:solidFill>
                <a:schemeClr val="tx2"/>
              </a:solidFill>
              <a:latin typeface="Times New Roman" pitchFamily="18" charset="0"/>
              <a:cs typeface="Arial" charset="0"/>
            </a:endParaRPr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2C9C75C6-9E2F-67D9-A476-B3D26986700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05000"/>
            <a:ext cx="4800600" cy="2667000"/>
            <a:chOff x="960" y="1200"/>
            <a:chExt cx="3024" cy="1680"/>
          </a:xfrm>
        </p:grpSpPr>
        <p:sp>
          <p:nvSpPr>
            <p:cNvPr id="7173" name="Oval 5">
              <a:extLst>
                <a:ext uri="{FF2B5EF4-FFF2-40B4-BE49-F238E27FC236}">
                  <a16:creationId xmlns:a16="http://schemas.microsoft.com/office/drawing/2014/main" id="{3E7BF6C0-13BF-D773-EA5C-5BB7CD1185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44854">
              <a:off x="960" y="1200"/>
              <a:ext cx="768" cy="134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4" name="Oval 6">
              <a:extLst>
                <a:ext uri="{FF2B5EF4-FFF2-40B4-BE49-F238E27FC236}">
                  <a16:creationId xmlns:a16="http://schemas.microsoft.com/office/drawing/2014/main" id="{E6F627FB-18A3-EA5F-2C93-BA625BBE27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8668">
              <a:off x="3120" y="1200"/>
              <a:ext cx="816" cy="134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75" name="Arc 7">
              <a:extLst>
                <a:ext uri="{FF2B5EF4-FFF2-40B4-BE49-F238E27FC236}">
                  <a16:creationId xmlns:a16="http://schemas.microsoft.com/office/drawing/2014/main" id="{71E64FA0-6EBE-4ACC-FA99-4E504AD8CFD9}"/>
                </a:ext>
              </a:extLst>
            </p:cNvPr>
            <p:cNvSpPr>
              <a:spLocks/>
            </p:cNvSpPr>
            <p:nvPr/>
          </p:nvSpPr>
          <p:spPr bwMode="auto">
            <a:xfrm rot="-305807">
              <a:off x="1344" y="1728"/>
              <a:ext cx="2064" cy="240"/>
            </a:xfrm>
            <a:custGeom>
              <a:avLst/>
              <a:gdLst>
                <a:gd name="T0" fmla="*/ 0 w 21600"/>
                <a:gd name="T1" fmla="*/ 0 h 21600"/>
                <a:gd name="T2" fmla="*/ 197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Arc 8">
              <a:extLst>
                <a:ext uri="{FF2B5EF4-FFF2-40B4-BE49-F238E27FC236}">
                  <a16:creationId xmlns:a16="http://schemas.microsoft.com/office/drawing/2014/main" id="{A4FA8A13-DF91-D103-2C6F-FC6660FF9648}"/>
                </a:ext>
              </a:extLst>
            </p:cNvPr>
            <p:cNvSpPr>
              <a:spLocks/>
            </p:cNvSpPr>
            <p:nvPr/>
          </p:nvSpPr>
          <p:spPr bwMode="auto">
            <a:xfrm rot="-305807">
              <a:off x="1391" y="1437"/>
              <a:ext cx="2064" cy="240"/>
            </a:xfrm>
            <a:custGeom>
              <a:avLst/>
              <a:gdLst>
                <a:gd name="T0" fmla="*/ 0 w 21600"/>
                <a:gd name="T1" fmla="*/ 0 h 21600"/>
                <a:gd name="T2" fmla="*/ 197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Arc 9">
              <a:extLst>
                <a:ext uri="{FF2B5EF4-FFF2-40B4-BE49-F238E27FC236}">
                  <a16:creationId xmlns:a16="http://schemas.microsoft.com/office/drawing/2014/main" id="{BC4924AC-D939-6C8B-4249-F37AA5688AD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40" y="2064"/>
              <a:ext cx="1867" cy="288"/>
            </a:xfrm>
            <a:custGeom>
              <a:avLst/>
              <a:gdLst>
                <a:gd name="T0" fmla="*/ 0 w 19755"/>
                <a:gd name="T1" fmla="*/ 0 h 21600"/>
                <a:gd name="T2" fmla="*/ 176 w 19755"/>
                <a:gd name="T3" fmla="*/ 1 h 21600"/>
                <a:gd name="T4" fmla="*/ 30 w 19755"/>
                <a:gd name="T5" fmla="*/ 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755" h="21600" fill="none" extrusionOk="0">
                  <a:moveTo>
                    <a:pt x="0" y="259"/>
                  </a:moveTo>
                  <a:cubicBezTo>
                    <a:pt x="1103" y="86"/>
                    <a:pt x="2218" y="-1"/>
                    <a:pt x="3335" y="0"/>
                  </a:cubicBezTo>
                  <a:cubicBezTo>
                    <a:pt x="9651" y="0"/>
                    <a:pt x="15651" y="2764"/>
                    <a:pt x="19754" y="7566"/>
                  </a:cubicBezTo>
                </a:path>
                <a:path w="19755" h="21600" stroke="0" extrusionOk="0">
                  <a:moveTo>
                    <a:pt x="0" y="259"/>
                  </a:moveTo>
                  <a:cubicBezTo>
                    <a:pt x="1103" y="86"/>
                    <a:pt x="2218" y="-1"/>
                    <a:pt x="3335" y="0"/>
                  </a:cubicBezTo>
                  <a:cubicBezTo>
                    <a:pt x="9651" y="0"/>
                    <a:pt x="15651" y="2764"/>
                    <a:pt x="19754" y="7566"/>
                  </a:cubicBezTo>
                  <a:lnTo>
                    <a:pt x="3335" y="21600"/>
                  </a:lnTo>
                  <a:lnTo>
                    <a:pt x="0" y="259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Text Box 10">
              <a:extLst>
                <a:ext uri="{FF2B5EF4-FFF2-40B4-BE49-F238E27FC236}">
                  <a16:creationId xmlns:a16="http://schemas.microsoft.com/office/drawing/2014/main" id="{7F8A0923-93E8-1387-395D-911034823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3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x</a:t>
              </a:r>
            </a:p>
          </p:txBody>
        </p:sp>
        <p:sp>
          <p:nvSpPr>
            <p:cNvPr id="7179" name="Text Box 11">
              <a:extLst>
                <a:ext uri="{FF2B5EF4-FFF2-40B4-BE49-F238E27FC236}">
                  <a16:creationId xmlns:a16="http://schemas.microsoft.com/office/drawing/2014/main" id="{D83F3CC6-0580-4A5C-D5AE-98740C138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a</a:t>
              </a:r>
            </a:p>
          </p:txBody>
        </p:sp>
        <p:sp>
          <p:nvSpPr>
            <p:cNvPr id="7180" name="Text Box 12">
              <a:extLst>
                <a:ext uri="{FF2B5EF4-FFF2-40B4-BE49-F238E27FC236}">
                  <a16:creationId xmlns:a16="http://schemas.microsoft.com/office/drawing/2014/main" id="{64AE2295-0378-6CA8-05FD-3BDF462C1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4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y=f(x)</a:t>
              </a:r>
            </a:p>
          </p:txBody>
        </p:sp>
        <p:sp>
          <p:nvSpPr>
            <p:cNvPr id="7181" name="Text Box 13">
              <a:extLst>
                <a:ext uri="{FF2B5EF4-FFF2-40B4-BE49-F238E27FC236}">
                  <a16:creationId xmlns:a16="http://schemas.microsoft.com/office/drawing/2014/main" id="{421F7B6B-CBCD-77A5-2DA5-CC27E0D30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824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b=f(a)</a:t>
              </a:r>
            </a:p>
          </p:txBody>
        </p:sp>
        <p:sp>
          <p:nvSpPr>
            <p:cNvPr id="7182" name="Line 14">
              <a:extLst>
                <a:ext uri="{FF2B5EF4-FFF2-40B4-BE49-F238E27FC236}">
                  <a16:creationId xmlns:a16="http://schemas.microsoft.com/office/drawing/2014/main" id="{8241C141-D25A-A388-F548-E52F2341A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36"/>
              <a:ext cx="62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Text Box 15">
              <a:extLst>
                <a:ext uri="{FF2B5EF4-FFF2-40B4-BE49-F238E27FC236}">
                  <a16:creationId xmlns:a16="http://schemas.microsoft.com/office/drawing/2014/main" id="{4F1AD285-9EE2-6064-DAE5-8892616E4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5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A</a:t>
              </a:r>
            </a:p>
          </p:txBody>
        </p:sp>
        <p:sp>
          <p:nvSpPr>
            <p:cNvPr id="7184" name="Text Box 16">
              <a:extLst>
                <a:ext uri="{FF2B5EF4-FFF2-40B4-BE49-F238E27FC236}">
                  <a16:creationId xmlns:a16="http://schemas.microsoft.com/office/drawing/2014/main" id="{4B4B7A03-0BDC-D94A-B731-64C1C50DA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5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B</a:t>
              </a:r>
            </a:p>
          </p:txBody>
        </p:sp>
        <p:sp>
          <p:nvSpPr>
            <p:cNvPr id="7185" name="Text Box 17">
              <a:extLst>
                <a:ext uri="{FF2B5EF4-FFF2-40B4-BE49-F238E27FC236}">
                  <a16:creationId xmlns:a16="http://schemas.microsoft.com/office/drawing/2014/main" id="{1728AEEB-6511-5FCF-5367-9D4457FA1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i="1">
                  <a:latin typeface="VNI-Times" pitchFamily="2" charset="0"/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EB5BA4E-82CC-CBA3-7FB7-B08DC588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447800"/>
            <a:ext cx="8347075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= {Michael, Tito, Janet, Cindy, Bobby}</a:t>
            </a:r>
          </a:p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= {Katherine Scruse, Carol Brady, Mother Teresa}</a:t>
            </a:r>
          </a:p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Let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: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A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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B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be defined as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mother(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).</a:t>
            </a:r>
          </a:p>
        </p:txBody>
      </p:sp>
      <p:grpSp>
        <p:nvGrpSpPr>
          <p:cNvPr id="29699" name="Group 3">
            <a:extLst>
              <a:ext uri="{FF2B5EF4-FFF2-40B4-BE49-F238E27FC236}">
                <a16:creationId xmlns:a16="http://schemas.microsoft.com/office/drawing/2014/main" id="{AD16CD15-4534-6864-C108-F6E94D648AD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440113"/>
            <a:ext cx="1600200" cy="2971800"/>
            <a:chOff x="912" y="2160"/>
            <a:chExt cx="1008" cy="1872"/>
          </a:xfrm>
        </p:grpSpPr>
        <p:sp>
          <p:nvSpPr>
            <p:cNvPr id="8205" name="Oval 4">
              <a:extLst>
                <a:ext uri="{FF2B5EF4-FFF2-40B4-BE49-F238E27FC236}">
                  <a16:creationId xmlns:a16="http://schemas.microsoft.com/office/drawing/2014/main" id="{49BCB801-804B-EA2E-60D5-DFB12DF3C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160"/>
              <a:ext cx="1008" cy="187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6" name="Text Box 5">
              <a:extLst>
                <a:ext uri="{FF2B5EF4-FFF2-40B4-BE49-F238E27FC236}">
                  <a16:creationId xmlns:a16="http://schemas.microsoft.com/office/drawing/2014/main" id="{3384AA72-02E6-A549-E22B-DD9CA60CB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48"/>
              <a:ext cx="816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en-US" sz="2400">
                  <a:solidFill>
                    <a:schemeClr val="bg2"/>
                  </a:solidFill>
                  <a:latin typeface="Comic Sans MS" panose="030F0902030302020204" pitchFamily="66" charset="0"/>
                </a:rPr>
                <a:t>Michael Tito Janet Cindy Bobby</a:t>
              </a:r>
            </a:p>
          </p:txBody>
        </p:sp>
      </p:grpSp>
      <p:grpSp>
        <p:nvGrpSpPr>
          <p:cNvPr id="29702" name="Group 6">
            <a:extLst>
              <a:ext uri="{FF2B5EF4-FFF2-40B4-BE49-F238E27FC236}">
                <a16:creationId xmlns:a16="http://schemas.microsoft.com/office/drawing/2014/main" id="{541B3CD0-4AA6-EBF4-B18A-42B1242D9259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352800"/>
            <a:ext cx="3200400" cy="3138488"/>
            <a:chOff x="2736" y="2160"/>
            <a:chExt cx="1008" cy="1872"/>
          </a:xfrm>
        </p:grpSpPr>
        <p:sp>
          <p:nvSpPr>
            <p:cNvPr id="8203" name="Oval 7">
              <a:extLst>
                <a:ext uri="{FF2B5EF4-FFF2-40B4-BE49-F238E27FC236}">
                  <a16:creationId xmlns:a16="http://schemas.microsoft.com/office/drawing/2014/main" id="{84DDAE0D-07B1-4E29-FAA0-47C4FC438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60"/>
              <a:ext cx="1008" cy="18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4" name="Text Box 8">
              <a:extLst>
                <a:ext uri="{FF2B5EF4-FFF2-40B4-BE49-F238E27FC236}">
                  <a16:creationId xmlns:a16="http://schemas.microsoft.com/office/drawing/2014/main" id="{3F9CCC7F-2817-824E-7679-7FF493E2F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48"/>
              <a:ext cx="816" cy="1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Katherine Scruse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Carol Brady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Mother Teresa</a:t>
              </a:r>
            </a:p>
          </p:txBody>
        </p:sp>
      </p:grpSp>
      <p:sp>
        <p:nvSpPr>
          <p:cNvPr id="29705" name="Line 9">
            <a:extLst>
              <a:ext uri="{FF2B5EF4-FFF2-40B4-BE49-F238E27FC236}">
                <a16:creationId xmlns:a16="http://schemas.microsoft.com/office/drawing/2014/main" id="{9C116863-E625-52E6-EB68-53EF6967B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25913"/>
            <a:ext cx="1752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Line 10">
            <a:extLst>
              <a:ext uri="{FF2B5EF4-FFF2-40B4-BE49-F238E27FC236}">
                <a16:creationId xmlns:a16="http://schemas.microsoft.com/office/drawing/2014/main" id="{DE5024D1-2DC2-50FB-EFC7-C30256F2E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14800"/>
            <a:ext cx="1676400" cy="381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Line 11">
            <a:extLst>
              <a:ext uri="{FF2B5EF4-FFF2-40B4-BE49-F238E27FC236}">
                <a16:creationId xmlns:a16="http://schemas.microsoft.com/office/drawing/2014/main" id="{4EE790BC-D408-28DF-D209-1F3C45B7A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14800"/>
            <a:ext cx="1676400" cy="685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Line 12">
            <a:extLst>
              <a:ext uri="{FF2B5EF4-FFF2-40B4-BE49-F238E27FC236}">
                <a16:creationId xmlns:a16="http://schemas.microsoft.com/office/drawing/2014/main" id="{3C9C4382-1CDF-F281-2F44-8D4D5528EC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5116513"/>
            <a:ext cx="1676400" cy="1412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9" name="Line 13">
            <a:extLst>
              <a:ext uri="{FF2B5EF4-FFF2-40B4-BE49-F238E27FC236}">
                <a16:creationId xmlns:a16="http://schemas.microsoft.com/office/drawing/2014/main" id="{134B2C50-8520-8B16-A5DC-94644116CF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5105400"/>
            <a:ext cx="1752600" cy="533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03671776-B228-6083-A76B-17EAD6AD2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166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Example.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 autoUpdateAnimBg="0"/>
      <p:bldP spid="2971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91BF89B-6E53-11DB-4DD1-5219EC8C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14400"/>
            <a:ext cx="7391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So, image({Michael, Tito}) = {Katherine Scruse} image(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– {Mother Teresa}</a:t>
            </a:r>
          </a:p>
        </p:txBody>
      </p:sp>
      <p:grpSp>
        <p:nvGrpSpPr>
          <p:cNvPr id="30723" name="Group 3">
            <a:extLst>
              <a:ext uri="{FF2B5EF4-FFF2-40B4-BE49-F238E27FC236}">
                <a16:creationId xmlns:a16="http://schemas.microsoft.com/office/drawing/2014/main" id="{BE1F2CCC-301E-0950-3D2F-F1278D60254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410200"/>
            <a:ext cx="1905000" cy="1092200"/>
            <a:chOff x="288" y="3168"/>
            <a:chExt cx="4428" cy="768"/>
          </a:xfrm>
        </p:grpSpPr>
        <p:sp>
          <p:nvSpPr>
            <p:cNvPr id="9236" name="Oval 4">
              <a:extLst>
                <a:ext uri="{FF2B5EF4-FFF2-40B4-BE49-F238E27FC236}">
                  <a16:creationId xmlns:a16="http://schemas.microsoft.com/office/drawing/2014/main" id="{6CBA30ED-8C81-E042-7045-A5D132D7D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37" name="Text Box 5">
              <a:extLst>
                <a:ext uri="{FF2B5EF4-FFF2-40B4-BE49-F238E27FC236}">
                  <a16:creationId xmlns:a16="http://schemas.microsoft.com/office/drawing/2014/main" id="{4F8BE645-7CCC-7396-E169-AAF62026C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4" cy="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What about the range?</a:t>
              </a:r>
            </a:p>
          </p:txBody>
        </p:sp>
      </p:grpSp>
      <p:grpSp>
        <p:nvGrpSpPr>
          <p:cNvPr id="30742" name="Group 22">
            <a:extLst>
              <a:ext uri="{FF2B5EF4-FFF2-40B4-BE49-F238E27FC236}">
                <a16:creationId xmlns:a16="http://schemas.microsoft.com/office/drawing/2014/main" id="{BCC8502B-FADD-C19B-6C9F-3CF8F94A702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981200"/>
            <a:ext cx="6096000" cy="3138488"/>
            <a:chOff x="768" y="1248"/>
            <a:chExt cx="3840" cy="1977"/>
          </a:xfrm>
        </p:grpSpPr>
        <p:grpSp>
          <p:nvGrpSpPr>
            <p:cNvPr id="9225" name="Group 7">
              <a:extLst>
                <a:ext uri="{FF2B5EF4-FFF2-40B4-BE49-F238E27FC236}">
                  <a16:creationId xmlns:a16="http://schemas.microsoft.com/office/drawing/2014/main" id="{3B397A4E-C207-71E9-BD6E-3C64460529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303"/>
              <a:ext cx="1008" cy="1872"/>
              <a:chOff x="912" y="2160"/>
              <a:chExt cx="1008" cy="1872"/>
            </a:xfrm>
          </p:grpSpPr>
          <p:sp>
            <p:nvSpPr>
              <p:cNvPr id="9234" name="Oval 8">
                <a:extLst>
                  <a:ext uri="{FF2B5EF4-FFF2-40B4-BE49-F238E27FC236}">
                    <a16:creationId xmlns:a16="http://schemas.microsoft.com/office/drawing/2014/main" id="{C4AF320D-64AF-8E73-48E4-856EF4589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35" name="Text Box 9">
                <a:extLst>
                  <a:ext uri="{FF2B5EF4-FFF2-40B4-BE49-F238E27FC236}">
                    <a16:creationId xmlns:a16="http://schemas.microsoft.com/office/drawing/2014/main" id="{C16D0B94-0C20-B965-BC83-E85EDC0BE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48"/>
                <a:ext cx="816" cy="1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US" altLang="en-US" sz="2400">
                    <a:solidFill>
                      <a:schemeClr val="bg2"/>
                    </a:solidFill>
                    <a:latin typeface="Comic Sans MS" panose="030F0902030302020204" pitchFamily="66" charset="0"/>
                  </a:rPr>
                  <a:t>Michael Tito Janet Cindy Bobby</a:t>
                </a:r>
              </a:p>
            </p:txBody>
          </p:sp>
        </p:grpSp>
        <p:grpSp>
          <p:nvGrpSpPr>
            <p:cNvPr id="9226" name="Group 10">
              <a:extLst>
                <a:ext uri="{FF2B5EF4-FFF2-40B4-BE49-F238E27FC236}">
                  <a16:creationId xmlns:a16="http://schemas.microsoft.com/office/drawing/2014/main" id="{9B1C8BCC-713A-9161-0A6F-0B5E65B7BD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248"/>
              <a:ext cx="2016" cy="1977"/>
              <a:chOff x="2736" y="2160"/>
              <a:chExt cx="1008" cy="1872"/>
            </a:xfrm>
          </p:grpSpPr>
          <p:sp>
            <p:nvSpPr>
              <p:cNvPr id="9232" name="Oval 11">
                <a:extLst>
                  <a:ext uri="{FF2B5EF4-FFF2-40B4-BE49-F238E27FC236}">
                    <a16:creationId xmlns:a16="http://schemas.microsoft.com/office/drawing/2014/main" id="{E0202B72-5E0F-5A63-C330-777D6571C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1008" cy="187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33" name="Text Box 12">
                <a:extLst>
                  <a:ext uri="{FF2B5EF4-FFF2-40B4-BE49-F238E27FC236}">
                    <a16:creationId xmlns:a16="http://schemas.microsoft.com/office/drawing/2014/main" id="{70A57271-B274-1913-2948-31EC9FE281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448"/>
                <a:ext cx="816" cy="1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Katherine Scruse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Carol Brady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Mother Teresa</a:t>
                </a:r>
              </a:p>
            </p:txBody>
          </p:sp>
        </p:grpSp>
        <p:sp>
          <p:nvSpPr>
            <p:cNvPr id="9227" name="Line 13">
              <a:extLst>
                <a:ext uri="{FF2B5EF4-FFF2-40B4-BE49-F238E27FC236}">
                  <a16:creationId xmlns:a16="http://schemas.microsoft.com/office/drawing/2014/main" id="{97A13052-550A-524C-2145-1BB30FE32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735"/>
              <a:ext cx="110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Line 14">
              <a:extLst>
                <a:ext uri="{FF2B5EF4-FFF2-40B4-BE49-F238E27FC236}">
                  <a16:creationId xmlns:a16="http://schemas.microsoft.com/office/drawing/2014/main" id="{E2855497-ADDB-7C9E-3C57-D4F7F5087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735"/>
              <a:ext cx="1056" cy="18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9" name="Line 15">
              <a:extLst>
                <a:ext uri="{FF2B5EF4-FFF2-40B4-BE49-F238E27FC236}">
                  <a16:creationId xmlns:a16="http://schemas.microsoft.com/office/drawing/2014/main" id="{533B8A51-0D04-79DC-D07C-6597CE220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728"/>
              <a:ext cx="1056" cy="43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Line 16">
              <a:extLst>
                <a:ext uri="{FF2B5EF4-FFF2-40B4-BE49-F238E27FC236}">
                  <a16:creationId xmlns:a16="http://schemas.microsoft.com/office/drawing/2014/main" id="{4E33DEFA-DFAA-02F5-9AD6-5949A3C2A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359"/>
              <a:ext cx="1104" cy="4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Line 17">
              <a:extLst>
                <a:ext uri="{FF2B5EF4-FFF2-40B4-BE49-F238E27FC236}">
                  <a16:creationId xmlns:a16="http://schemas.microsoft.com/office/drawing/2014/main" id="{F04E7D4A-AFD8-0C12-7540-58F75D580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352"/>
              <a:ext cx="1104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38" name="Rectangle 18">
            <a:extLst>
              <a:ext uri="{FF2B5EF4-FFF2-40B4-BE49-F238E27FC236}">
                <a16:creationId xmlns:a16="http://schemas.microsoft.com/office/drawing/2014/main" id="{B2FA44EE-6507-70E9-D3E7-A9D0E10D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61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For any set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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, image(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{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: 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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,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}=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S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</a:t>
            </a:r>
          </a:p>
        </p:txBody>
      </p:sp>
      <p:grpSp>
        <p:nvGrpSpPr>
          <p:cNvPr id="30739" name="Group 19">
            <a:extLst>
              <a:ext uri="{FF2B5EF4-FFF2-40B4-BE49-F238E27FC236}">
                <a16:creationId xmlns:a16="http://schemas.microsoft.com/office/drawing/2014/main" id="{52033ABC-CC49-04C0-83C2-EB48C1FAD1E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486400"/>
            <a:ext cx="4419600" cy="1066800"/>
            <a:chOff x="288" y="3168"/>
            <a:chExt cx="4428" cy="768"/>
          </a:xfrm>
        </p:grpSpPr>
        <p:sp>
          <p:nvSpPr>
            <p:cNvPr id="9223" name="Oval 20">
              <a:extLst>
                <a:ext uri="{FF2B5EF4-FFF2-40B4-BE49-F238E27FC236}">
                  <a16:creationId xmlns:a16="http://schemas.microsoft.com/office/drawing/2014/main" id="{ACE5BA8B-565D-0281-153D-1F531E5CE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4" name="Text Box 21">
              <a:extLst>
                <a:ext uri="{FF2B5EF4-FFF2-40B4-BE49-F238E27FC236}">
                  <a16:creationId xmlns:a16="http://schemas.microsoft.com/office/drawing/2014/main" id="{BB442988-3884-E06A-DE3F-88677A350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3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Some say it means codomain, others say, image.  </a:t>
              </a:r>
              <a:endParaRPr lang="en-US" altLang="en-US" sz="2400">
                <a:latin typeface="Comic Sans MS" panose="030F0902030302020204" pitchFamily="66" charset="0"/>
                <a:sym typeface="Symbol" pitchFamily="2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3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39920B97-413F-D002-5BF7-2ABD98F1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7772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Algebra of functions:</a:t>
            </a:r>
            <a:r>
              <a:rPr lang="en-US" altLang="en-US" sz="2800">
                <a:latin typeface="VNI-Times" pitchFamily="2" charset="0"/>
              </a:rPr>
              <a:t> let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 and 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 be functions  with domains 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</a:rPr>
              <a:t> and </a:t>
            </a:r>
            <a:r>
              <a:rPr lang="en-US" altLang="en-US" sz="2800" i="1">
                <a:latin typeface="VNI-Times" pitchFamily="2" charset="0"/>
              </a:rPr>
              <a:t>B</a:t>
            </a:r>
            <a:r>
              <a:rPr lang="en-US" altLang="en-US" sz="2800">
                <a:latin typeface="VNI-Times" pitchFamily="2" charset="0"/>
              </a:rPr>
              <a:t>. Then the functions </a:t>
            </a:r>
            <a:r>
              <a:rPr lang="en-US" altLang="en-US" sz="2800" i="1">
                <a:latin typeface="VNI-Times" pitchFamily="2" charset="0"/>
              </a:rPr>
              <a:t>f+g</a:t>
            </a:r>
            <a:r>
              <a:rPr lang="en-US" altLang="en-US" sz="2800">
                <a:latin typeface="VNI-Times" pitchFamily="2" charset="0"/>
              </a:rPr>
              <a:t>, </a:t>
            </a:r>
            <a:r>
              <a:rPr lang="en-US" altLang="en-US" sz="2800" i="1">
                <a:latin typeface="VNI-Times" pitchFamily="2" charset="0"/>
              </a:rPr>
              <a:t>f –g </a:t>
            </a:r>
            <a:r>
              <a:rPr lang="en-US" altLang="en-US" sz="2800">
                <a:latin typeface="VNI-Times" pitchFamily="2" charset="0"/>
              </a:rPr>
              <a:t>, </a:t>
            </a:r>
            <a:r>
              <a:rPr lang="en-US" altLang="en-US" sz="2800" i="1">
                <a:latin typeface="VNI-Times" pitchFamily="2" charset="0"/>
              </a:rPr>
              <a:t>fg</a:t>
            </a:r>
            <a:r>
              <a:rPr lang="en-US" altLang="en-US" sz="2800">
                <a:latin typeface="VNI-Times" pitchFamily="2" charset="0"/>
              </a:rPr>
              <a:t> and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/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 are defined as follows:</a:t>
            </a:r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F54F8F47-B3C5-9A5F-0A6C-31B066E260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362200"/>
          <a:ext cx="35052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400" imgH="495300" progId="Equation.3">
                  <p:embed/>
                </p:oleObj>
              </mc:Choice>
              <mc:Fallback>
                <p:oleObj name="Equation" r:id="rId2" imgW="1168400" imgH="495300" progId="Equation.3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F54F8F47-B3C5-9A5F-0A6C-31B066E26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35052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4">
            <a:extLst>
              <a:ext uri="{FF2B5EF4-FFF2-40B4-BE49-F238E27FC236}">
                <a16:creationId xmlns:a16="http://schemas.microsoft.com/office/drawing/2014/main" id="{70B9327B-2C26-B9D3-8263-FAA6BB86A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86000"/>
            <a:ext cx="2895600" cy="158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domain = 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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B</a:t>
            </a:r>
          </a:p>
          <a:p>
            <a:pPr>
              <a:spcBef>
                <a:spcPct val="25000"/>
              </a:spcBef>
            </a:pPr>
            <a:r>
              <a:rPr lang="en-US" altLang="en-US" sz="2800">
                <a:latin typeface="VNI-Times" pitchFamily="2" charset="0"/>
              </a:rPr>
              <a:t>domain = 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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B</a:t>
            </a:r>
          </a:p>
          <a:p>
            <a:pPr>
              <a:spcBef>
                <a:spcPct val="25000"/>
              </a:spcBef>
            </a:pPr>
            <a:r>
              <a:rPr lang="en-US" altLang="en-US" sz="2800">
                <a:latin typeface="VNI-Times" pitchFamily="2" charset="0"/>
              </a:rPr>
              <a:t>domain = 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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B</a:t>
            </a:r>
          </a:p>
        </p:txBody>
      </p:sp>
      <p:graphicFrame>
        <p:nvGraphicFramePr>
          <p:cNvPr id="31749" name="Object 5">
            <a:extLst>
              <a:ext uri="{FF2B5EF4-FFF2-40B4-BE49-F238E27FC236}">
                <a16:creationId xmlns:a16="http://schemas.microsoft.com/office/drawing/2014/main" id="{89F5D204-ED82-D9B0-2FB7-08ECAFC36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886200"/>
          <a:ext cx="223043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342900" progId="Equation.3">
                  <p:embed/>
                </p:oleObj>
              </mc:Choice>
              <mc:Fallback>
                <p:oleObj name="Equation" r:id="rId4" imgW="736600" imgH="342900" progId="Equation.3">
                  <p:embed/>
                  <p:pic>
                    <p:nvPicPr>
                      <p:cNvPr id="31749" name="Object 5">
                        <a:extLst>
                          <a:ext uri="{FF2B5EF4-FFF2-40B4-BE49-F238E27FC236}">
                            <a16:creationId xmlns:a16="http://schemas.microsoft.com/office/drawing/2014/main" id="{89F5D204-ED82-D9B0-2FB7-08ECAFC36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86200"/>
                        <a:ext cx="2230438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6">
            <a:extLst>
              <a:ext uri="{FF2B5EF4-FFF2-40B4-BE49-F238E27FC236}">
                <a16:creationId xmlns:a16="http://schemas.microsoft.com/office/drawing/2014/main" id="{1EF462F1-15C6-2AFC-3253-84DC38D33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114800"/>
            <a:ext cx="4275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domain = {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</a:t>
            </a:r>
            <a:r>
              <a:rPr lang="en-US" altLang="en-US" sz="2800" i="1">
                <a:latin typeface="VNI-Times" pitchFamily="2" charset="0"/>
              </a:rPr>
              <a:t>A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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B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/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g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)0}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autoUpdateAnimBg="0"/>
      <p:bldP spid="31748" grpId="0" autoUpdateAnimBg="0"/>
      <p:bldP spid="3175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74A803E8-2223-B2BC-7270-4B2F5E010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Example:</a:t>
            </a:r>
            <a:r>
              <a:rPr lang="en-US" altLang="en-US" sz="2800">
                <a:latin typeface="VNI-Times" pitchFamily="2" charset="0"/>
              </a:rPr>
              <a:t> let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 = 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 baseline="30000">
                <a:latin typeface="VNI-Times" pitchFamily="2" charset="0"/>
              </a:rPr>
              <a:t>2</a:t>
            </a:r>
            <a:r>
              <a:rPr lang="en-US" altLang="en-US" sz="2800">
                <a:latin typeface="VNI-Times" pitchFamily="2" charset="0"/>
              </a:rPr>
              <a:t>, 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 = </a:t>
            </a:r>
            <a:r>
              <a:rPr lang="en-US" altLang="en-US" sz="2800" i="1">
                <a:latin typeface="VNI-Times" pitchFamily="2" charset="0"/>
              </a:rPr>
              <a:t>x – x</a:t>
            </a:r>
            <a:r>
              <a:rPr lang="en-US" altLang="en-US" sz="2800" baseline="30000">
                <a:latin typeface="VNI-Times" pitchFamily="2" charset="0"/>
              </a:rPr>
              <a:t>2</a:t>
            </a:r>
            <a:r>
              <a:rPr lang="en-US" altLang="en-US" sz="2800" i="1">
                <a:latin typeface="VNI-Times" pitchFamily="2" charset="0"/>
              </a:rPr>
              <a:t> </a:t>
            </a:r>
            <a:r>
              <a:rPr lang="en-US" altLang="en-US" sz="2800">
                <a:latin typeface="VNI-Times" pitchFamily="2" charset="0"/>
              </a:rPr>
              <a:t>be functions from </a:t>
            </a:r>
            <a:r>
              <a:rPr lang="en-US" altLang="en-US" sz="2800" b="1">
                <a:latin typeface="VNI-Times" pitchFamily="2" charset="0"/>
              </a:rPr>
              <a:t>R</a:t>
            </a:r>
            <a:r>
              <a:rPr lang="en-US" altLang="en-US" sz="2800">
                <a:latin typeface="VNI-Times" pitchFamily="2" charset="0"/>
              </a:rPr>
              <a:t> to </a:t>
            </a:r>
            <a:r>
              <a:rPr lang="en-US" altLang="en-US" sz="2800" b="1">
                <a:latin typeface="VNI-Times" pitchFamily="2" charset="0"/>
              </a:rPr>
              <a:t>R</a:t>
            </a:r>
            <a:r>
              <a:rPr lang="en-US" altLang="en-US" sz="2800">
                <a:latin typeface="VNI-Times" pitchFamily="2" charset="0"/>
              </a:rPr>
              <a:t>, find  </a:t>
            </a:r>
            <a:r>
              <a:rPr lang="en-US" altLang="en-US" sz="2800" i="1">
                <a:latin typeface="VNI-Times" pitchFamily="2" charset="0"/>
              </a:rPr>
              <a:t>f + g </a:t>
            </a:r>
            <a:r>
              <a:rPr lang="en-US" altLang="en-US" sz="2800">
                <a:latin typeface="VNI-Times" pitchFamily="2" charset="0"/>
              </a:rPr>
              <a:t>and</a:t>
            </a:r>
            <a:r>
              <a:rPr lang="en-US" altLang="en-US" sz="2800" i="1">
                <a:latin typeface="VNI-Times" pitchFamily="2" charset="0"/>
              </a:rPr>
              <a:t> fg</a:t>
            </a:r>
            <a:r>
              <a:rPr lang="en-US" altLang="en-US" sz="2800">
                <a:latin typeface="VNI-Times" pitchFamily="2" charset="0"/>
              </a:rPr>
              <a:t>.</a:t>
            </a:r>
            <a:endParaRPr lang="en-US" altLang="en-US" sz="2800" i="1">
              <a:latin typeface="VNI-Times" pitchFamily="2" charset="0"/>
            </a:endParaRP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D0FB0187-1421-61C3-DFA2-DD4E3A7D6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200400"/>
            <a:ext cx="64008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altLang="en-US" sz="2800">
                <a:latin typeface="VNI-Times" pitchFamily="2" charset="0"/>
              </a:rPr>
              <a:t> We have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 +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g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2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+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–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2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 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 </a:t>
            </a:r>
          </a:p>
          <a:p>
            <a:r>
              <a:rPr lang="en-US" altLang="en-US" sz="2800">
                <a:latin typeface="VNI-Times" pitchFamily="2" charset="0"/>
                <a:sym typeface="Symbol" pitchFamily="2" charset="2"/>
              </a:rPr>
              <a:t>And</a:t>
            </a:r>
          </a:p>
          <a:p>
            <a:r>
              <a:rPr lang="en-US" altLang="en-US" sz="2800">
                <a:latin typeface="VNI-Times" pitchFamily="2" charset="0"/>
                <a:sym typeface="Symbol" pitchFamily="2" charset="2"/>
              </a:rPr>
              <a:t>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fg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2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(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–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2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) 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3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–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4</a:t>
            </a:r>
            <a:endParaRPr lang="en-US" altLang="en-US" sz="2800">
              <a:latin typeface="VNI-Times" pitchFamily="2" charset="0"/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137B15C-E715-D560-1EE2-4C037F7A57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3810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2.3.2 One-to-One and Onto Functions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8B5E45F-3886-911A-4CF8-648D0FD33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61275" cy="1677988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Definition.</a:t>
            </a:r>
            <a:r>
              <a:rPr lang="en-US">
                <a:latin typeface="Times New Roman" pitchFamily="18" charset="0"/>
                <a:sym typeface="Symbol" pitchFamily="18" charset="2"/>
              </a:rPr>
              <a:t>A function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>
                <a:latin typeface="Times New Roman" pitchFamily="18" charset="0"/>
                <a:sym typeface="Symbol" pitchFamily="18" charset="2"/>
              </a:rPr>
              <a:t>: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>
                <a:latin typeface="Times New Roman" pitchFamily="18" charset="0"/>
                <a:sym typeface="Symbol" pitchFamily="18" charset="2"/>
              </a:rPr>
              <a:t> is 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one-to-one</a:t>
            </a:r>
            <a:r>
              <a:rPr lang="en-US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injective, an injection</a:t>
            </a:r>
            <a:r>
              <a:rPr lang="en-US">
                <a:latin typeface="Times New Roman" pitchFamily="18" charset="0"/>
                <a:sym typeface="Symbol" pitchFamily="18" charset="2"/>
              </a:rPr>
              <a:t>) if 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x,y</a:t>
            </a:r>
            <a:r>
              <a:rPr lang="en-US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>
                <a:latin typeface="Times New Roman" pitchFamily="18" charset="0"/>
                <a:sym typeface="Symbol" pitchFamily="18" charset="2"/>
              </a:rPr>
              <a:t>(x) =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>
                <a:latin typeface="Times New Roman" pitchFamily="18" charset="0"/>
                <a:sym typeface="Symbol" pitchFamily="18" charset="2"/>
              </a:rPr>
              <a:t>(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>
                <a:latin typeface="Times New Roman" pitchFamily="18" charset="0"/>
                <a:sym typeface="Symbol" pitchFamily="18" charset="2"/>
              </a:rPr>
              <a:t>) 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x = y</a:t>
            </a:r>
            <a:r>
              <a:rPr lang="en-US">
                <a:latin typeface="Times New Roman" pitchFamily="18" charset="0"/>
                <a:sym typeface="Symbol" pitchFamily="18" charset="2"/>
              </a:rPr>
              <a:t>)</a:t>
            </a:r>
            <a:endParaRPr lang="en-US" i="1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B2B51A0B-1820-23B8-8F5D-979ABB58D112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133725"/>
            <a:ext cx="1295400" cy="2362200"/>
            <a:chOff x="4656" y="1974"/>
            <a:chExt cx="816" cy="1488"/>
          </a:xfrm>
        </p:grpSpPr>
        <p:sp>
          <p:nvSpPr>
            <p:cNvPr id="12308" name="Oval 5">
              <a:extLst>
                <a:ext uri="{FF2B5EF4-FFF2-40B4-BE49-F238E27FC236}">
                  <a16:creationId xmlns:a16="http://schemas.microsoft.com/office/drawing/2014/main" id="{52EB1FEF-57A0-C24D-F5D4-6FFAA798B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74"/>
              <a:ext cx="816" cy="14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09" name="Text Box 6">
              <a:extLst>
                <a:ext uri="{FF2B5EF4-FFF2-40B4-BE49-F238E27FC236}">
                  <a16:creationId xmlns:a16="http://schemas.microsoft.com/office/drawing/2014/main" id="{83248548-E31B-785D-9EC1-70D20C600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52"/>
              <a:ext cx="808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Not one-to-one</a:t>
              </a:r>
            </a:p>
          </p:txBody>
        </p:sp>
      </p:grpSp>
      <p:grpSp>
        <p:nvGrpSpPr>
          <p:cNvPr id="33799" name="Group 7">
            <a:extLst>
              <a:ext uri="{FF2B5EF4-FFF2-40B4-BE49-F238E27FC236}">
                <a16:creationId xmlns:a16="http://schemas.microsoft.com/office/drawing/2014/main" id="{F63AE4ED-C7A5-6156-3DF8-16A7077101C5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867400"/>
            <a:ext cx="5638800" cy="838200"/>
            <a:chOff x="1104" y="3648"/>
            <a:chExt cx="3360" cy="528"/>
          </a:xfrm>
        </p:grpSpPr>
        <p:sp>
          <p:nvSpPr>
            <p:cNvPr id="12306" name="Oval 8">
              <a:extLst>
                <a:ext uri="{FF2B5EF4-FFF2-40B4-BE49-F238E27FC236}">
                  <a16:creationId xmlns:a16="http://schemas.microsoft.com/office/drawing/2014/main" id="{DBF7AE19-4299-8E4F-74A8-2B7BC9E7C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648"/>
              <a:ext cx="3360" cy="5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07" name="Text Box 9">
              <a:extLst>
                <a:ext uri="{FF2B5EF4-FFF2-40B4-BE49-F238E27FC236}">
                  <a16:creationId xmlns:a16="http://schemas.microsoft.com/office/drawing/2014/main" id="{22D6DCA5-3DFD-C65C-163F-3BFBB55A6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744"/>
              <a:ext cx="33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Every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 has at most 1 preimage.</a:t>
              </a:r>
              <a:endParaRPr lang="en-US" altLang="en-US" sz="2400">
                <a:latin typeface="Chalkboard" panose="03050602040202020205" pitchFamily="66" charset="77"/>
                <a:sym typeface="Symbol" pitchFamily="2" charset="2"/>
              </a:endParaRPr>
            </a:p>
          </p:txBody>
        </p:sp>
      </p:grpSp>
      <p:grpSp>
        <p:nvGrpSpPr>
          <p:cNvPr id="33802" name="Group 10">
            <a:extLst>
              <a:ext uri="{FF2B5EF4-FFF2-40B4-BE49-F238E27FC236}">
                <a16:creationId xmlns:a16="http://schemas.microsoft.com/office/drawing/2014/main" id="{C95F15D4-33E2-3130-98B8-5C733A6EF37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124200"/>
            <a:ext cx="5867400" cy="2590800"/>
            <a:chOff x="768" y="2112"/>
            <a:chExt cx="3840" cy="1977"/>
          </a:xfrm>
        </p:grpSpPr>
        <p:grpSp>
          <p:nvGrpSpPr>
            <p:cNvPr id="12295" name="Group 11">
              <a:extLst>
                <a:ext uri="{FF2B5EF4-FFF2-40B4-BE49-F238E27FC236}">
                  <a16:creationId xmlns:a16="http://schemas.microsoft.com/office/drawing/2014/main" id="{76F635C2-EC1C-893E-19BF-904DEACE8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167"/>
              <a:ext cx="1008" cy="1872"/>
              <a:chOff x="912" y="2160"/>
              <a:chExt cx="1008" cy="1872"/>
            </a:xfrm>
          </p:grpSpPr>
          <p:sp>
            <p:nvSpPr>
              <p:cNvPr id="12304" name="Oval 12">
                <a:extLst>
                  <a:ext uri="{FF2B5EF4-FFF2-40B4-BE49-F238E27FC236}">
                    <a16:creationId xmlns:a16="http://schemas.microsoft.com/office/drawing/2014/main" id="{11EB2DEA-201D-4532-D54D-DA4AE7A5F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305" name="Text Box 13">
                <a:extLst>
                  <a:ext uri="{FF2B5EF4-FFF2-40B4-BE49-F238E27FC236}">
                    <a16:creationId xmlns:a16="http://schemas.microsoft.com/office/drawing/2014/main" id="{E0E34BD5-06D8-1C7C-FADB-1B2043AAA4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48"/>
                <a:ext cx="816" cy="14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US" altLang="en-US" sz="2400">
                    <a:solidFill>
                      <a:schemeClr val="bg2"/>
                    </a:solidFill>
                    <a:latin typeface="Comic Sans MS" panose="030F0902030302020204" pitchFamily="66" charset="0"/>
                  </a:rPr>
                  <a:t>Michael Tito Janet Cindy Bobby</a:t>
                </a:r>
              </a:p>
            </p:txBody>
          </p:sp>
        </p:grpSp>
        <p:grpSp>
          <p:nvGrpSpPr>
            <p:cNvPr id="12296" name="Group 14">
              <a:extLst>
                <a:ext uri="{FF2B5EF4-FFF2-40B4-BE49-F238E27FC236}">
                  <a16:creationId xmlns:a16="http://schemas.microsoft.com/office/drawing/2014/main" id="{07BB0DA9-3CB9-2515-779A-2497CA8EE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112"/>
              <a:ext cx="2016" cy="1977"/>
              <a:chOff x="2736" y="2160"/>
              <a:chExt cx="1008" cy="1872"/>
            </a:xfrm>
          </p:grpSpPr>
          <p:sp>
            <p:nvSpPr>
              <p:cNvPr id="12302" name="Oval 15">
                <a:extLst>
                  <a:ext uri="{FF2B5EF4-FFF2-40B4-BE49-F238E27FC236}">
                    <a16:creationId xmlns:a16="http://schemas.microsoft.com/office/drawing/2014/main" id="{A6C63FB8-AFC4-F052-782C-826AFE6B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1008" cy="187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303" name="Text Box 16">
                <a:extLst>
                  <a:ext uri="{FF2B5EF4-FFF2-40B4-BE49-F238E27FC236}">
                    <a16:creationId xmlns:a16="http://schemas.microsoft.com/office/drawing/2014/main" id="{8820859D-810B-8433-50F5-92A0B449EE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448"/>
                <a:ext cx="816" cy="1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Katherine Scruse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Carol Brady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Mother Teresa</a:t>
                </a:r>
              </a:p>
            </p:txBody>
          </p:sp>
        </p:grpSp>
        <p:sp>
          <p:nvSpPr>
            <p:cNvPr id="12297" name="Line 17">
              <a:extLst>
                <a:ext uri="{FF2B5EF4-FFF2-40B4-BE49-F238E27FC236}">
                  <a16:creationId xmlns:a16="http://schemas.microsoft.com/office/drawing/2014/main" id="{A696FE28-ADA1-6454-4C87-121694E87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599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18">
              <a:extLst>
                <a:ext uri="{FF2B5EF4-FFF2-40B4-BE49-F238E27FC236}">
                  <a16:creationId xmlns:a16="http://schemas.microsoft.com/office/drawing/2014/main" id="{44B98783-8892-1AD6-81AB-595831CCF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599"/>
              <a:ext cx="1056" cy="3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Line 19">
              <a:extLst>
                <a:ext uri="{FF2B5EF4-FFF2-40B4-BE49-F238E27FC236}">
                  <a16:creationId xmlns:a16="http://schemas.microsoft.com/office/drawing/2014/main" id="{EF74C00C-FEC0-9DC8-825E-4783C2F61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2592"/>
              <a:ext cx="1104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20">
              <a:extLst>
                <a:ext uri="{FF2B5EF4-FFF2-40B4-BE49-F238E27FC236}">
                  <a16:creationId xmlns:a16="http://schemas.microsoft.com/office/drawing/2014/main" id="{8742930B-9521-AD01-FA95-D9E7050CD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3223"/>
              <a:ext cx="1152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21">
              <a:extLst>
                <a:ext uri="{FF2B5EF4-FFF2-40B4-BE49-F238E27FC236}">
                  <a16:creationId xmlns:a16="http://schemas.microsoft.com/office/drawing/2014/main" id="{901F2D10-E57E-B32A-05D0-1B6138919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216"/>
              <a:ext cx="120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5" grpId="0" build="p" bldLvl="2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BA4CFAE3-6A95-286D-A76E-217C99BDE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133600"/>
            <a:ext cx="7467600" cy="3938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en-US" sz="2800">
                <a:latin typeface="VNI-Times" pitchFamily="2" charset="0"/>
                <a:cs typeface="Arial" charset="0"/>
              </a:rPr>
              <a:t> A function </a:t>
            </a:r>
            <a:r>
              <a:rPr lang="en-US" sz="2800" i="1">
                <a:latin typeface="VNI-Times" pitchFamily="2" charset="0"/>
                <a:cs typeface="Arial" charset="0"/>
              </a:rPr>
              <a:t>f</a:t>
            </a:r>
            <a:r>
              <a:rPr lang="en-US" sz="2800">
                <a:latin typeface="VNI-Times" pitchFamily="2" charset="0"/>
                <a:cs typeface="Arial" charset="0"/>
              </a:rPr>
              <a:t> is </a:t>
            </a:r>
            <a:r>
              <a:rPr lang="en-US" sz="2800" b="1">
                <a:solidFill>
                  <a:schemeClr val="tx2"/>
                </a:solidFill>
                <a:latin typeface="VNI-Times" pitchFamily="2" charset="0"/>
                <a:cs typeface="Arial" charset="0"/>
              </a:rPr>
              <a:t>strictly increasing </a:t>
            </a:r>
            <a:r>
              <a:rPr lang="en-US" sz="2800">
                <a:latin typeface="VNI-Times" pitchFamily="2" charset="0"/>
                <a:cs typeface="Arial" charset="0"/>
              </a:rPr>
              <a:t>on an interval </a:t>
            </a:r>
            <a:r>
              <a:rPr lang="en-US" sz="2800" i="1">
                <a:latin typeface="VNI-Times" pitchFamily="2" charset="0"/>
                <a:cs typeface="Arial" charset="0"/>
              </a:rPr>
              <a:t>I</a:t>
            </a:r>
            <a:r>
              <a:rPr lang="en-US" sz="2800">
                <a:latin typeface="VNI-Times" pitchFamily="2" charset="0"/>
                <a:cs typeface="Arial" charset="0"/>
              </a:rPr>
              <a:t> </a:t>
            </a:r>
            <a:r>
              <a:rPr lang="en-US" sz="2800">
                <a:latin typeface="VNI-Times" pitchFamily="2" charset="0"/>
                <a:cs typeface="Arial" charset="0"/>
                <a:sym typeface="Symbol" pitchFamily="18" charset="2"/>
              </a:rPr>
              <a:t> </a:t>
            </a:r>
            <a:r>
              <a:rPr lang="en-US" sz="2800" b="1">
                <a:latin typeface="VNI-Times" pitchFamily="2" charset="0"/>
                <a:cs typeface="Arial" charset="0"/>
                <a:sym typeface="Symbol" pitchFamily="18" charset="2"/>
              </a:rPr>
              <a:t>R</a:t>
            </a:r>
            <a:r>
              <a:rPr lang="en-US" sz="2800">
                <a:latin typeface="VNI-Times" pitchFamily="2" charset="0"/>
                <a:cs typeface="Arial" charset="0"/>
              </a:rPr>
              <a:t> if </a:t>
            </a:r>
          </a:p>
          <a:p>
            <a:pPr algn="ct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sz="2800" i="1">
                <a:latin typeface="VNI-Times" pitchFamily="2" charset="0"/>
                <a:cs typeface="Arial" charset="0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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x,y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 &lt; 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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(x) &lt;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))</a:t>
            </a:r>
            <a:endParaRPr lang="en-US" sz="2800">
              <a:latin typeface="VNI-Times" pitchFamily="2" charset="0"/>
              <a:cs typeface="Arial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en-US" sz="2800" i="1">
                <a:latin typeface="VNI-Times" pitchFamily="2" charset="0"/>
                <a:cs typeface="Arial" charset="0"/>
              </a:rPr>
              <a:t> f</a:t>
            </a:r>
            <a:r>
              <a:rPr lang="en-US" sz="2800">
                <a:latin typeface="VNI-Times" pitchFamily="2" charset="0"/>
                <a:cs typeface="Arial" charset="0"/>
              </a:rPr>
              <a:t> is strictly </a:t>
            </a:r>
            <a:r>
              <a:rPr lang="en-US" sz="2800" b="1">
                <a:solidFill>
                  <a:schemeClr val="tx2"/>
                </a:solidFill>
                <a:latin typeface="VNI-Times" pitchFamily="2" charset="0"/>
                <a:cs typeface="Arial" charset="0"/>
              </a:rPr>
              <a:t>decreasing </a:t>
            </a:r>
            <a:r>
              <a:rPr lang="en-US" sz="2800">
                <a:latin typeface="VNI-Times" pitchFamily="2" charset="0"/>
                <a:cs typeface="Arial" charset="0"/>
              </a:rPr>
              <a:t>on </a:t>
            </a:r>
            <a:r>
              <a:rPr lang="en-US" sz="2800" i="1">
                <a:latin typeface="VNI-Times" pitchFamily="2" charset="0"/>
                <a:cs typeface="Arial" charset="0"/>
              </a:rPr>
              <a:t>I</a:t>
            </a:r>
            <a:r>
              <a:rPr lang="en-US" sz="2800">
                <a:latin typeface="VNI-Times" pitchFamily="2" charset="0"/>
                <a:cs typeface="Arial" charset="0"/>
              </a:rPr>
              <a:t> if </a:t>
            </a:r>
          </a:p>
          <a:p>
            <a:pPr algn="ct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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x,y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 &lt; 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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(x) &gt;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))</a:t>
            </a:r>
            <a:endParaRPr lang="en-US" sz="2800" i="1">
              <a:latin typeface="VNI-Times" pitchFamily="2" charset="0"/>
              <a:cs typeface="Arial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en-US" sz="2800">
                <a:latin typeface="VNI-Times" pitchFamily="2" charset="0"/>
                <a:cs typeface="Arial" charset="0"/>
              </a:rPr>
              <a:t> It is clear that a strictly increasing or strictly decreasing function is one-to-one.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F2241F5-D632-E6E7-6A3E-AE0B5F181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81000"/>
            <a:ext cx="7661275" cy="10668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Remark.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A function f: A  B is </a:t>
            </a:r>
            <a:r>
              <a:rPr lang="en-US" sz="2800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one-to-one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iff </a:t>
            </a:r>
          </a:p>
          <a:p>
            <a:pPr algn="ctr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x,y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  y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(x)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))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703230C-8AD9-B7DE-193C-A4FCA0C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71600"/>
            <a:ext cx="1779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latin typeface="VNI-Times" pitchFamily="2" charset="0"/>
              </a:rPr>
              <a:t>Recall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DC410A7-3A8C-2CDE-07D1-FBC4DB4817A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3820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Onto Functions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9F11A3F-3A28-83A2-2927-924FA1794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7661275" cy="9906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Definition.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A function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: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is </a:t>
            </a:r>
            <a:r>
              <a:rPr lang="en-US" sz="2800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onto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sz="2800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surjective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, a </a:t>
            </a:r>
            <a:r>
              <a:rPr lang="en-US" sz="2800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surjection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if 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, 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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11BF4A09-BDCE-2901-DDC7-AA8B15B678B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2819400" cy="609600"/>
            <a:chOff x="288" y="3168"/>
            <a:chExt cx="4428" cy="768"/>
          </a:xfrm>
        </p:grpSpPr>
        <p:sp>
          <p:nvSpPr>
            <p:cNvPr id="14355" name="Oval 5">
              <a:extLst>
                <a:ext uri="{FF2B5EF4-FFF2-40B4-BE49-F238E27FC236}">
                  <a16:creationId xmlns:a16="http://schemas.microsoft.com/office/drawing/2014/main" id="{5A5DE6A3-0E92-1E95-F091-62796B364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6" name="Text Box 6">
              <a:extLst>
                <a:ext uri="{FF2B5EF4-FFF2-40B4-BE49-F238E27FC236}">
                  <a16:creationId xmlns:a16="http://schemas.microsoft.com/office/drawing/2014/main" id="{9DDAEA66-3EE7-513D-9ED1-D0AF5E9F4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3" cy="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Not onto</a:t>
              </a:r>
            </a:p>
          </p:txBody>
        </p:sp>
      </p:grpSp>
      <p:grpSp>
        <p:nvGrpSpPr>
          <p:cNvPr id="35847" name="Group 7">
            <a:extLst>
              <a:ext uri="{FF2B5EF4-FFF2-40B4-BE49-F238E27FC236}">
                <a16:creationId xmlns:a16="http://schemas.microsoft.com/office/drawing/2014/main" id="{8FD45444-7362-10F9-1D8D-000E5EBD777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6019800" cy="838200"/>
            <a:chOff x="288" y="3168"/>
            <a:chExt cx="4428" cy="768"/>
          </a:xfrm>
        </p:grpSpPr>
        <p:sp>
          <p:nvSpPr>
            <p:cNvPr id="14353" name="Oval 8">
              <a:extLst>
                <a:ext uri="{FF2B5EF4-FFF2-40B4-BE49-F238E27FC236}">
                  <a16:creationId xmlns:a16="http://schemas.microsoft.com/office/drawing/2014/main" id="{8F0A5177-D6E9-E767-9FE9-6AE6C18EB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4" name="Text Box 9">
              <a:extLst>
                <a:ext uri="{FF2B5EF4-FFF2-40B4-BE49-F238E27FC236}">
                  <a16:creationId xmlns:a16="http://schemas.microsoft.com/office/drawing/2014/main" id="{56823D47-1728-EFDC-B697-1393C1D70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Every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800">
                  <a:latin typeface="Times New Roman" panose="02020603050405020304" pitchFamily="18" charset="0"/>
                  <a:sym typeface="Symbol" pitchFamily="2" charset="2"/>
                </a:rPr>
                <a:t>  </a:t>
              </a:r>
              <a:r>
                <a:rPr lang="en-US" altLang="en-US" sz="2800" i="1">
                  <a:latin typeface="Times New Roman" panose="02020603050405020304" pitchFamily="18" charset="0"/>
                  <a:sym typeface="Symbol" pitchFamily="2" charset="2"/>
                </a:rPr>
                <a:t>B</a:t>
              </a:r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 has at least 1 preimage.</a:t>
              </a:r>
              <a:endParaRPr lang="en-US" altLang="en-US" sz="2400">
                <a:latin typeface="Chalkboard" panose="03050602040202020205" pitchFamily="66" charset="77"/>
                <a:sym typeface="Symbol" pitchFamily="2" charset="2"/>
              </a:endParaRPr>
            </a:p>
          </p:txBody>
        </p:sp>
      </p:grpSp>
      <p:grpSp>
        <p:nvGrpSpPr>
          <p:cNvPr id="35851" name="Group 11">
            <a:extLst>
              <a:ext uri="{FF2B5EF4-FFF2-40B4-BE49-F238E27FC236}">
                <a16:creationId xmlns:a16="http://schemas.microsoft.com/office/drawing/2014/main" id="{E9380157-2D28-FFFC-CA85-C9FFA6C8A166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440113"/>
            <a:ext cx="1600200" cy="2971800"/>
            <a:chOff x="912" y="2160"/>
            <a:chExt cx="1008" cy="1872"/>
          </a:xfrm>
        </p:grpSpPr>
        <p:sp>
          <p:nvSpPr>
            <p:cNvPr id="14351" name="Oval 12">
              <a:extLst>
                <a:ext uri="{FF2B5EF4-FFF2-40B4-BE49-F238E27FC236}">
                  <a16:creationId xmlns:a16="http://schemas.microsoft.com/office/drawing/2014/main" id="{35DF12E5-A217-66D2-2A89-1A716634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160"/>
              <a:ext cx="1008" cy="187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2" name="Text Box 13">
              <a:extLst>
                <a:ext uri="{FF2B5EF4-FFF2-40B4-BE49-F238E27FC236}">
                  <a16:creationId xmlns:a16="http://schemas.microsoft.com/office/drawing/2014/main" id="{F59C9AE0-93E0-0F62-7FA5-3E5A32FAC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48"/>
              <a:ext cx="816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en-US" sz="2400">
                  <a:solidFill>
                    <a:schemeClr val="bg2"/>
                  </a:solidFill>
                  <a:latin typeface="Comic Sans MS" panose="030F0902030302020204" pitchFamily="66" charset="0"/>
                </a:rPr>
                <a:t>Michael Tito Janet Cindy Bobby</a:t>
              </a:r>
            </a:p>
          </p:txBody>
        </p:sp>
      </p:grpSp>
      <p:grpSp>
        <p:nvGrpSpPr>
          <p:cNvPr id="35854" name="Group 14">
            <a:extLst>
              <a:ext uri="{FF2B5EF4-FFF2-40B4-BE49-F238E27FC236}">
                <a16:creationId xmlns:a16="http://schemas.microsoft.com/office/drawing/2014/main" id="{DCAAD5A8-E4DE-B56C-0FC9-9C67AC31CEA1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352800"/>
            <a:ext cx="3200400" cy="3138488"/>
            <a:chOff x="2736" y="2160"/>
            <a:chExt cx="1008" cy="1872"/>
          </a:xfrm>
        </p:grpSpPr>
        <p:sp>
          <p:nvSpPr>
            <p:cNvPr id="14349" name="Oval 15">
              <a:extLst>
                <a:ext uri="{FF2B5EF4-FFF2-40B4-BE49-F238E27FC236}">
                  <a16:creationId xmlns:a16="http://schemas.microsoft.com/office/drawing/2014/main" id="{480A53BF-B64D-6F0D-E0D6-5FC71C464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60"/>
              <a:ext cx="1008" cy="18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0" name="Text Box 16">
              <a:extLst>
                <a:ext uri="{FF2B5EF4-FFF2-40B4-BE49-F238E27FC236}">
                  <a16:creationId xmlns:a16="http://schemas.microsoft.com/office/drawing/2014/main" id="{5013F238-8C8D-89E2-6881-0C55C4EBA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48"/>
              <a:ext cx="816" cy="1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Katherine Scruse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Carol Brady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Comic Sans MS" panose="030F0902030302020204" pitchFamily="66" charset="0"/>
                </a:rPr>
                <a:t>Mother Teresa</a:t>
              </a:r>
            </a:p>
          </p:txBody>
        </p:sp>
      </p:grpSp>
      <p:sp>
        <p:nvSpPr>
          <p:cNvPr id="35857" name="Line 17">
            <a:extLst>
              <a:ext uri="{FF2B5EF4-FFF2-40B4-BE49-F238E27FC236}">
                <a16:creationId xmlns:a16="http://schemas.microsoft.com/office/drawing/2014/main" id="{B43B6F5B-E6E0-0367-2167-30D40EB94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25913"/>
            <a:ext cx="1752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Line 18">
            <a:extLst>
              <a:ext uri="{FF2B5EF4-FFF2-40B4-BE49-F238E27FC236}">
                <a16:creationId xmlns:a16="http://schemas.microsoft.com/office/drawing/2014/main" id="{21D8BEA9-BBEF-2B07-77DE-FE54DDC035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25913"/>
            <a:ext cx="1676400" cy="29368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Line 19">
            <a:extLst>
              <a:ext uri="{FF2B5EF4-FFF2-40B4-BE49-F238E27FC236}">
                <a16:creationId xmlns:a16="http://schemas.microsoft.com/office/drawing/2014/main" id="{E2A7BE7B-3AFD-1889-FC77-3CC74463B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14800"/>
            <a:ext cx="16764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Line 20">
            <a:extLst>
              <a:ext uri="{FF2B5EF4-FFF2-40B4-BE49-F238E27FC236}">
                <a16:creationId xmlns:a16="http://schemas.microsoft.com/office/drawing/2014/main" id="{8A681E70-E997-0227-AEFA-8674BE8FFB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5029200"/>
            <a:ext cx="1752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Line 21">
            <a:extLst>
              <a:ext uri="{FF2B5EF4-FFF2-40B4-BE49-F238E27FC236}">
                <a16:creationId xmlns:a16="http://schemas.microsoft.com/office/drawing/2014/main" id="{2EE450DE-BA80-9EB3-9577-9FE55853E3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5029200"/>
            <a:ext cx="175260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EB79CCA-7657-55AE-0173-494416DDE45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3820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Onto Functions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6454D22-3E60-12AE-3EEC-6EFA3109E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077200" cy="6858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Example.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Is the function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 baseline="3000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from </a:t>
            </a:r>
            <a:r>
              <a:rPr lang="en-US" sz="2800" b="1">
                <a:latin typeface="Times New Roman" pitchFamily="18" charset="0"/>
                <a:sym typeface="Symbol" pitchFamily="18" charset="2"/>
              </a:rPr>
              <a:t>Z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to </a:t>
            </a:r>
            <a:r>
              <a:rPr lang="en-US" sz="2800" b="1">
                <a:latin typeface="Times New Roman" pitchFamily="18" charset="0"/>
                <a:sym typeface="Symbol" pitchFamily="18" charset="2"/>
              </a:rPr>
              <a:t>Z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onto? </a:t>
            </a:r>
            <a:endParaRPr lang="en-US" sz="2800" i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F9A59142-27F4-E4BE-D256-183C14D9B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5000"/>
            <a:ext cx="807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altLang="en-US" sz="2800">
                <a:latin typeface="VNI-Times" pitchFamily="2" charset="0"/>
              </a:rPr>
              <a:t> The function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 is not onto since there is no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in </a:t>
            </a:r>
            <a:r>
              <a:rPr lang="en-US" altLang="en-US" sz="2800" b="1">
                <a:latin typeface="VNI-Times" pitchFamily="2" charset="0"/>
                <a:sym typeface="Symbol" pitchFamily="2" charset="2"/>
              </a:rPr>
              <a:t>Z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such that 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 baseline="30000">
                <a:latin typeface="VNI-Times" pitchFamily="2" charset="0"/>
                <a:sym typeface="Symbol" pitchFamily="2" charset="2"/>
              </a:rPr>
              <a:t>2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= –1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B32E64A3-7BDF-6418-6D37-93BA3008F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124200"/>
            <a:ext cx="822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Example.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 the function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+ 1 from 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to </a:t>
            </a: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onto? </a:t>
            </a:r>
            <a:endParaRPr lang="en-US" sz="2800" i="1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Arial" charset="0"/>
              <a:sym typeface="Symbol" pitchFamily="18" charset="2"/>
            </a:endParaRP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3C3845FD-CB3E-935D-FB56-C8677BE0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7924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altLang="en-US" sz="2800">
                <a:latin typeface="VNI-Times" pitchFamily="2" charset="0"/>
              </a:rPr>
              <a:t> The function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 is onto since for every        </a:t>
            </a:r>
            <a:r>
              <a:rPr lang="en-US" altLang="en-US" sz="2800" i="1">
                <a:latin typeface="VNI-Times" pitchFamily="2" charset="0"/>
              </a:rPr>
              <a:t>y</a:t>
            </a:r>
            <a:r>
              <a:rPr lang="en-US" altLang="en-US" sz="2800">
                <a:latin typeface="VNI-Times" pitchFamily="2" charset="0"/>
              </a:rPr>
              <a:t> in  </a:t>
            </a:r>
            <a:r>
              <a:rPr lang="en-US" altLang="en-US" sz="2800" b="1">
                <a:latin typeface="VNI-Times" pitchFamily="2" charset="0"/>
              </a:rPr>
              <a:t>Z,</a:t>
            </a:r>
            <a:r>
              <a:rPr lang="en-US" altLang="en-US" sz="2800">
                <a:latin typeface="VNI-Times" pitchFamily="2" charset="0"/>
              </a:rPr>
              <a:t> there is an element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in </a:t>
            </a:r>
            <a:r>
              <a:rPr lang="en-US" altLang="en-US" sz="2800" b="1">
                <a:latin typeface="VNI-Times" pitchFamily="2" charset="0"/>
                <a:sym typeface="Symbol" pitchFamily="2" charset="2"/>
              </a:rPr>
              <a:t>Z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such that 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+ 1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y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(by taking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x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= 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y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–1)</a:t>
            </a:r>
            <a:r>
              <a:rPr lang="en-US" altLang="en-US" sz="2800" i="1">
                <a:latin typeface="VNI-Times" pitchFamily="2" charset="0"/>
                <a:sym typeface="Symbol" pitchFamily="2" charset="2"/>
              </a:rPr>
              <a:t> </a:t>
            </a:r>
            <a:r>
              <a:rPr lang="en-US" altLang="en-US" sz="2800">
                <a:latin typeface="VNI-Times" pitchFamily="2" charset="0"/>
                <a:sym typeface="Symbol" pitchFamily="2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build="p" autoUpdateAnimBg="0" advAuto="0"/>
      <p:bldP spid="36868" grpId="0" build="p" autoUpdateAnimBg="0"/>
      <p:bldP spid="36869" grpId="0" autoUpdateAnimBg="0"/>
      <p:bldP spid="36870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F01C2E5-59B7-789C-1B11-7613C50BE62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33400" y="38100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hlink"/>
                </a:solidFill>
              </a:rPr>
              <a:t>Bijection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3C25A48-8254-A118-6A14-735794750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91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Definition.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A function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: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is bijective if it is one-to-one and onto. We also say that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is a </a:t>
            </a:r>
            <a:r>
              <a:rPr lang="en-US" sz="2800" b="1" i="1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bijection</a:t>
            </a:r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74989E73-6042-9EAE-DF6B-38D32E83743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362200"/>
            <a:ext cx="5867400" cy="838200"/>
            <a:chOff x="288" y="3168"/>
            <a:chExt cx="4428" cy="768"/>
          </a:xfrm>
        </p:grpSpPr>
        <p:sp>
          <p:nvSpPr>
            <p:cNvPr id="16408" name="Oval 5">
              <a:extLst>
                <a:ext uri="{FF2B5EF4-FFF2-40B4-BE49-F238E27FC236}">
                  <a16:creationId xmlns:a16="http://schemas.microsoft.com/office/drawing/2014/main" id="{FD921365-46B8-7B3D-364E-71D3B08AF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9" name="Text Box 6">
              <a:extLst>
                <a:ext uri="{FF2B5EF4-FFF2-40B4-BE49-F238E27FC236}">
                  <a16:creationId xmlns:a16="http://schemas.microsoft.com/office/drawing/2014/main" id="{CAE71960-E9FE-A32D-488A-80054E4F7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64"/>
              <a:ext cx="4382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Every b  B has exactly 1 preimage.</a:t>
              </a:r>
            </a:p>
          </p:txBody>
        </p:sp>
      </p:grpSp>
      <p:grpSp>
        <p:nvGrpSpPr>
          <p:cNvPr id="37895" name="Group 7">
            <a:extLst>
              <a:ext uri="{FF2B5EF4-FFF2-40B4-BE49-F238E27FC236}">
                <a16:creationId xmlns:a16="http://schemas.microsoft.com/office/drawing/2014/main" id="{1922D176-3ADE-89C2-3DBC-BCB6C76944E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503613"/>
            <a:ext cx="1600200" cy="2973387"/>
            <a:chOff x="1536" y="2207"/>
            <a:chExt cx="1008" cy="1873"/>
          </a:xfrm>
        </p:grpSpPr>
        <p:grpSp>
          <p:nvGrpSpPr>
            <p:cNvPr id="16402" name="Group 8">
              <a:extLst>
                <a:ext uri="{FF2B5EF4-FFF2-40B4-BE49-F238E27FC236}">
                  <a16:creationId xmlns:a16="http://schemas.microsoft.com/office/drawing/2014/main" id="{E1AAAA10-C60C-0EDD-9364-5E11391B92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207"/>
              <a:ext cx="1008" cy="1872"/>
              <a:chOff x="912" y="2160"/>
              <a:chExt cx="1008" cy="1872"/>
            </a:xfrm>
          </p:grpSpPr>
          <p:sp>
            <p:nvSpPr>
              <p:cNvPr id="16406" name="Oval 9">
                <a:extLst>
                  <a:ext uri="{FF2B5EF4-FFF2-40B4-BE49-F238E27FC236}">
                    <a16:creationId xmlns:a16="http://schemas.microsoft.com/office/drawing/2014/main" id="{54D7302D-57C6-4328-B5FC-458261935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07" name="Text Box 10">
                <a:extLst>
                  <a:ext uri="{FF2B5EF4-FFF2-40B4-BE49-F238E27FC236}">
                    <a16:creationId xmlns:a16="http://schemas.microsoft.com/office/drawing/2014/main" id="{E01B7716-96A7-A34E-1583-7DCAD121A8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48"/>
                <a:ext cx="816" cy="1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Isaak Bri Lynette Aidan Evan</a:t>
                </a:r>
              </a:p>
            </p:txBody>
          </p:sp>
        </p:grpSp>
        <p:grpSp>
          <p:nvGrpSpPr>
            <p:cNvPr id="16403" name="Group 11">
              <a:extLst>
                <a:ext uri="{FF2B5EF4-FFF2-40B4-BE49-F238E27FC236}">
                  <a16:creationId xmlns:a16="http://schemas.microsoft.com/office/drawing/2014/main" id="{39FAC47C-D91A-27C3-0E6F-EBD4F6F0C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208"/>
              <a:ext cx="1008" cy="1872"/>
              <a:chOff x="912" y="2160"/>
              <a:chExt cx="1008" cy="1872"/>
            </a:xfrm>
          </p:grpSpPr>
          <p:sp>
            <p:nvSpPr>
              <p:cNvPr id="16404" name="Oval 12">
                <a:extLst>
                  <a:ext uri="{FF2B5EF4-FFF2-40B4-BE49-F238E27FC236}">
                    <a16:creationId xmlns:a16="http://schemas.microsoft.com/office/drawing/2014/main" id="{F69863CF-4F54-9B31-56D0-348C087D1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05" name="Text Box 13">
                <a:extLst>
                  <a:ext uri="{FF2B5EF4-FFF2-40B4-BE49-F238E27FC236}">
                    <a16:creationId xmlns:a16="http://schemas.microsoft.com/office/drawing/2014/main" id="{A6F7A035-0DD8-DD30-506E-7D792DDB1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48"/>
                <a:ext cx="816" cy="10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2400">
                    <a:solidFill>
                      <a:schemeClr val="bg2"/>
                    </a:solidFill>
                    <a:latin typeface="Comic Sans MS" panose="030F0902030302020204" pitchFamily="66" charset="0"/>
                  </a:rPr>
                  <a:t>Isaak Bri Lynette Aidan Evan</a:t>
                </a:r>
              </a:p>
            </p:txBody>
          </p:sp>
        </p:grpSp>
      </p:grpSp>
      <p:grpSp>
        <p:nvGrpSpPr>
          <p:cNvPr id="37902" name="Group 14">
            <a:extLst>
              <a:ext uri="{FF2B5EF4-FFF2-40B4-BE49-F238E27FC236}">
                <a16:creationId xmlns:a16="http://schemas.microsoft.com/office/drawing/2014/main" id="{D073361D-CAE1-B52B-3120-3DF1966E5130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505200"/>
            <a:ext cx="1600200" cy="2973388"/>
            <a:chOff x="3360" y="2208"/>
            <a:chExt cx="1008" cy="1873"/>
          </a:xfrm>
        </p:grpSpPr>
        <p:grpSp>
          <p:nvGrpSpPr>
            <p:cNvPr id="16396" name="Group 15">
              <a:extLst>
                <a:ext uri="{FF2B5EF4-FFF2-40B4-BE49-F238E27FC236}">
                  <a16:creationId xmlns:a16="http://schemas.microsoft.com/office/drawing/2014/main" id="{4125099B-556B-2641-BE14-397BBA178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208"/>
              <a:ext cx="1008" cy="1872"/>
              <a:chOff x="2736" y="2160"/>
              <a:chExt cx="1008" cy="1872"/>
            </a:xfrm>
          </p:grpSpPr>
          <p:sp>
            <p:nvSpPr>
              <p:cNvPr id="16400" name="Oval 16">
                <a:extLst>
                  <a:ext uri="{FF2B5EF4-FFF2-40B4-BE49-F238E27FC236}">
                    <a16:creationId xmlns:a16="http://schemas.microsoft.com/office/drawing/2014/main" id="{BD7CF1CE-DC31-B7C8-B716-27EED4E52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1008" cy="187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01" name="Text Box 17">
                <a:extLst>
                  <a:ext uri="{FF2B5EF4-FFF2-40B4-BE49-F238E27FC236}">
                    <a16:creationId xmlns:a16="http://schemas.microsoft.com/office/drawing/2014/main" id="{7C723531-ADBF-BD06-1016-3FAAD2688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448"/>
                <a:ext cx="816" cy="1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Cinda Dee Deb Katrina Dawn</a:t>
                </a:r>
              </a:p>
            </p:txBody>
          </p:sp>
        </p:grpSp>
        <p:grpSp>
          <p:nvGrpSpPr>
            <p:cNvPr id="16397" name="Group 18">
              <a:extLst>
                <a:ext uri="{FF2B5EF4-FFF2-40B4-BE49-F238E27FC236}">
                  <a16:creationId xmlns:a16="http://schemas.microsoft.com/office/drawing/2014/main" id="{5F16B017-65A1-1E56-B4FF-A04653B2EA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209"/>
              <a:ext cx="1008" cy="1872"/>
              <a:chOff x="2736" y="2160"/>
              <a:chExt cx="1008" cy="1872"/>
            </a:xfrm>
          </p:grpSpPr>
          <p:sp>
            <p:nvSpPr>
              <p:cNvPr id="16398" name="Oval 19">
                <a:extLst>
                  <a:ext uri="{FF2B5EF4-FFF2-40B4-BE49-F238E27FC236}">
                    <a16:creationId xmlns:a16="http://schemas.microsoft.com/office/drawing/2014/main" id="{63C86BCF-D943-83A1-124B-9BA52C350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1008" cy="187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399" name="Text Box 20">
                <a:extLst>
                  <a:ext uri="{FF2B5EF4-FFF2-40B4-BE49-F238E27FC236}">
                    <a16:creationId xmlns:a16="http://schemas.microsoft.com/office/drawing/2014/main" id="{C501E755-A94B-02C7-D67E-BDD7E2D03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448"/>
                <a:ext cx="816" cy="10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Cinda Dee Deb Katrina Dawn</a:t>
                </a:r>
              </a:p>
            </p:txBody>
          </p:sp>
        </p:grpSp>
      </p:grpSp>
      <p:sp>
        <p:nvSpPr>
          <p:cNvPr id="37909" name="Line 21">
            <a:extLst>
              <a:ext uri="{FF2B5EF4-FFF2-40B4-BE49-F238E27FC236}">
                <a16:creationId xmlns:a16="http://schemas.microsoft.com/office/drawing/2014/main" id="{BED96085-46DB-40CE-0B2A-35E9D5DF00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191000"/>
            <a:ext cx="1752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Line 22">
            <a:extLst>
              <a:ext uri="{FF2B5EF4-FFF2-40B4-BE49-F238E27FC236}">
                <a16:creationId xmlns:a16="http://schemas.microsoft.com/office/drawing/2014/main" id="{D17D2581-6C02-9F38-FF82-E11C1BC500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4495800"/>
            <a:ext cx="1676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Line 23">
            <a:extLst>
              <a:ext uri="{FF2B5EF4-FFF2-40B4-BE49-F238E27FC236}">
                <a16:creationId xmlns:a16="http://schemas.microsoft.com/office/drawing/2014/main" id="{95840403-16BA-AE13-4743-53D0AD9CF8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4876800"/>
            <a:ext cx="1676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Line 24">
            <a:extLst>
              <a:ext uri="{FF2B5EF4-FFF2-40B4-BE49-F238E27FC236}">
                <a16:creationId xmlns:a16="http://schemas.microsoft.com/office/drawing/2014/main" id="{8CE5D093-0817-6597-3E75-C38B65D84C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5181600"/>
            <a:ext cx="1676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Line 25">
            <a:extLst>
              <a:ext uri="{FF2B5EF4-FFF2-40B4-BE49-F238E27FC236}">
                <a16:creationId xmlns:a16="http://schemas.microsoft.com/office/drawing/2014/main" id="{A4449E5F-1B20-0CB3-D84B-D0824D8E66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5486400"/>
            <a:ext cx="1676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BB5E7D2-8CA9-1131-ADEF-2DF30F2642E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2.3.3 Inverse Functions and Compositions of Functions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174C89B-0C2B-775D-E806-3072E531C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1676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Definition.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Let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: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be a bijection. Then the inverse function of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, denoted by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aseline="30000">
                <a:latin typeface="Times New Roman" pitchFamily="18" charset="0"/>
                <a:sym typeface="Symbol" pitchFamily="18" charset="2"/>
              </a:rPr>
              <a:t> –1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>
                <a:latin typeface="Times New Roman" pitchFamily="18" charset="0"/>
                <a:sym typeface="Symbol" pitchFamily="18" charset="2"/>
              </a:rPr>
              <a:t>is the function that assigns each element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the unique element 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such that 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= 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. Thus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aseline="30000">
                <a:latin typeface="Times New Roman" pitchFamily="18" charset="0"/>
                <a:sym typeface="Symbol" pitchFamily="18" charset="2"/>
              </a:rPr>
              <a:t> –1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= 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. 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ABE66A0-7E9D-0F6D-8FD9-156BBDA2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096000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–1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(Cinda)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=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Isaak,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–1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(Dee)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= Bri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, …,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–1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(Dawn)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=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Evan </a:t>
            </a:r>
          </a:p>
        </p:txBody>
      </p:sp>
      <p:grpSp>
        <p:nvGrpSpPr>
          <p:cNvPr id="38917" name="Group 5">
            <a:extLst>
              <a:ext uri="{FF2B5EF4-FFF2-40B4-BE49-F238E27FC236}">
                <a16:creationId xmlns:a16="http://schemas.microsoft.com/office/drawing/2014/main" id="{E792C1A7-20AD-1DD5-A723-EB9D6C78B880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200400"/>
            <a:ext cx="4495800" cy="2744788"/>
            <a:chOff x="1440" y="1872"/>
            <a:chExt cx="2832" cy="1873"/>
          </a:xfrm>
        </p:grpSpPr>
        <p:grpSp>
          <p:nvGrpSpPr>
            <p:cNvPr id="17421" name="Group 6">
              <a:extLst>
                <a:ext uri="{FF2B5EF4-FFF2-40B4-BE49-F238E27FC236}">
                  <a16:creationId xmlns:a16="http://schemas.microsoft.com/office/drawing/2014/main" id="{B41E2C50-5A8A-647F-CCE1-4A8033805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872"/>
              <a:ext cx="1008" cy="1872"/>
              <a:chOff x="912" y="2160"/>
              <a:chExt cx="1008" cy="1872"/>
            </a:xfrm>
          </p:grpSpPr>
          <p:sp>
            <p:nvSpPr>
              <p:cNvPr id="17430" name="Oval 7">
                <a:extLst>
                  <a:ext uri="{FF2B5EF4-FFF2-40B4-BE49-F238E27FC236}">
                    <a16:creationId xmlns:a16="http://schemas.microsoft.com/office/drawing/2014/main" id="{17350F93-7565-CE9B-1611-C48FE45DD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31" name="Text Box 8">
                <a:extLst>
                  <a:ext uri="{FF2B5EF4-FFF2-40B4-BE49-F238E27FC236}">
                    <a16:creationId xmlns:a16="http://schemas.microsoft.com/office/drawing/2014/main" id="{C2A763CB-2709-10C0-E1DE-0ADD0C760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48"/>
                <a:ext cx="816" cy="11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2400">
                    <a:solidFill>
                      <a:schemeClr val="bg2"/>
                    </a:solidFill>
                    <a:latin typeface="Comic Sans MS" panose="030F0902030302020204" pitchFamily="66" charset="0"/>
                  </a:rPr>
                  <a:t>Isaak Bri Lynette Aidan Evan</a:t>
                </a:r>
              </a:p>
            </p:txBody>
          </p:sp>
        </p:grpSp>
        <p:grpSp>
          <p:nvGrpSpPr>
            <p:cNvPr id="17422" name="Group 9">
              <a:extLst>
                <a:ext uri="{FF2B5EF4-FFF2-40B4-BE49-F238E27FC236}">
                  <a16:creationId xmlns:a16="http://schemas.microsoft.com/office/drawing/2014/main" id="{ECC5D73A-4B96-78FE-8500-30E5E545D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873"/>
              <a:ext cx="1008" cy="1872"/>
              <a:chOff x="2736" y="2160"/>
              <a:chExt cx="1008" cy="1872"/>
            </a:xfrm>
          </p:grpSpPr>
          <p:sp>
            <p:nvSpPr>
              <p:cNvPr id="17428" name="Oval 10">
                <a:extLst>
                  <a:ext uri="{FF2B5EF4-FFF2-40B4-BE49-F238E27FC236}">
                    <a16:creationId xmlns:a16="http://schemas.microsoft.com/office/drawing/2014/main" id="{2A40E36E-5352-6AF8-B29A-644ECBB77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1008" cy="187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9" name="Text Box 11">
                <a:extLst>
                  <a:ext uri="{FF2B5EF4-FFF2-40B4-BE49-F238E27FC236}">
                    <a16:creationId xmlns:a16="http://schemas.microsoft.com/office/drawing/2014/main" id="{2F95D4F8-B270-8F34-8839-42EBE196C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448"/>
                <a:ext cx="816" cy="11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2400">
                    <a:latin typeface="Comic Sans MS" panose="030F0902030302020204" pitchFamily="66" charset="0"/>
                  </a:rPr>
                  <a:t>Cinda Dee Deb Katrina Dawn</a:t>
                </a:r>
              </a:p>
            </p:txBody>
          </p:sp>
        </p:grpSp>
        <p:sp>
          <p:nvSpPr>
            <p:cNvPr id="17423" name="Line 12">
              <a:extLst>
                <a:ext uri="{FF2B5EF4-FFF2-40B4-BE49-F238E27FC236}">
                  <a16:creationId xmlns:a16="http://schemas.microsoft.com/office/drawing/2014/main" id="{40C59547-556A-17FC-39CF-44ABB6F8E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304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13">
              <a:extLst>
                <a:ext uri="{FF2B5EF4-FFF2-40B4-BE49-F238E27FC236}">
                  <a16:creationId xmlns:a16="http://schemas.microsoft.com/office/drawing/2014/main" id="{DAA20A1E-B42E-C0FA-3854-B72CDF223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2537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5" name="Line 14">
              <a:extLst>
                <a:ext uri="{FF2B5EF4-FFF2-40B4-BE49-F238E27FC236}">
                  <a16:creationId xmlns:a16="http://schemas.microsoft.com/office/drawing/2014/main" id="{68EA8AE6-FEA2-6E16-D4AA-468BEC3A9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278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Line 15">
              <a:extLst>
                <a:ext uri="{FF2B5EF4-FFF2-40B4-BE49-F238E27FC236}">
                  <a16:creationId xmlns:a16="http://schemas.microsoft.com/office/drawing/2014/main" id="{C66AA7CF-96D0-182C-1759-4AFBAA085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302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Line 16">
              <a:extLst>
                <a:ext uri="{FF2B5EF4-FFF2-40B4-BE49-F238E27FC236}">
                  <a16:creationId xmlns:a16="http://schemas.microsoft.com/office/drawing/2014/main" id="{B42B4CD0-2CF2-BC1D-C3B6-00F2FC759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3265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29" name="Group 17">
            <a:extLst>
              <a:ext uri="{FF2B5EF4-FFF2-40B4-BE49-F238E27FC236}">
                <a16:creationId xmlns:a16="http://schemas.microsoft.com/office/drawing/2014/main" id="{8CAA7F0F-E246-09DE-7D30-3E577813760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775075"/>
            <a:ext cx="1752600" cy="1408113"/>
            <a:chOff x="192" y="2255"/>
            <a:chExt cx="1104" cy="961"/>
          </a:xfrm>
        </p:grpSpPr>
        <p:sp>
          <p:nvSpPr>
            <p:cNvPr id="17416" name="Line 18">
              <a:extLst>
                <a:ext uri="{FF2B5EF4-FFF2-40B4-BE49-F238E27FC236}">
                  <a16:creationId xmlns:a16="http://schemas.microsoft.com/office/drawing/2014/main" id="{EAA14F0D-1D9D-69E1-B9AE-87E58C542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2255"/>
              <a:ext cx="110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19">
              <a:extLst>
                <a:ext uri="{FF2B5EF4-FFF2-40B4-BE49-F238E27FC236}">
                  <a16:creationId xmlns:a16="http://schemas.microsoft.com/office/drawing/2014/main" id="{6B0BD1F2-DCDF-9F51-9DBA-5398445D2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" y="2488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Line 20">
              <a:extLst>
                <a:ext uri="{FF2B5EF4-FFF2-40B4-BE49-F238E27FC236}">
                  <a16:creationId xmlns:a16="http://schemas.microsoft.com/office/drawing/2014/main" id="{7972C05D-A4AE-F383-6A93-BDCF2533EB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" y="273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21">
              <a:extLst>
                <a:ext uri="{FF2B5EF4-FFF2-40B4-BE49-F238E27FC236}">
                  <a16:creationId xmlns:a16="http://schemas.microsoft.com/office/drawing/2014/main" id="{2D94ACE8-D368-4101-8298-EF366CEFC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" y="297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22">
              <a:extLst>
                <a:ext uri="{FF2B5EF4-FFF2-40B4-BE49-F238E27FC236}">
                  <a16:creationId xmlns:a16="http://schemas.microsoft.com/office/drawing/2014/main" id="{4444110C-0863-7232-67AD-93E5EEFD4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" y="321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35" name="Rectangle 23">
            <a:extLst>
              <a:ext uri="{FF2B5EF4-FFF2-40B4-BE49-F238E27FC236}">
                <a16:creationId xmlns:a16="http://schemas.microsoft.com/office/drawing/2014/main" id="{1BC57F50-81D7-EA3A-2257-4664B30A2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915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build="p" bldLvl="2" autoUpdateAnimBg="0"/>
      <p:bldP spid="38916" grpId="0" autoUpdateAnimBg="0"/>
      <p:bldP spid="3893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3A78617-4AFC-0792-D92E-FFA4005D1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807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Example.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 the function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2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from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to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invertible? (i.e. the inverse function exists)</a:t>
            </a:r>
            <a:endParaRPr lang="en-US" sz="3200" i="1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Arial" charset="0"/>
              <a:sym typeface="Symbol" pitchFamily="18" charset="2"/>
            </a:endParaRP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F13A98A7-FAF2-CA0C-70BE-99A572350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81200"/>
            <a:ext cx="807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altLang="en-US" sz="3200">
                <a:latin typeface="VNI-Times" pitchFamily="2" charset="0"/>
              </a:rPr>
              <a:t> The function </a:t>
            </a:r>
            <a:r>
              <a:rPr lang="en-US" altLang="en-US" sz="3200" i="1">
                <a:latin typeface="VNI-Times" pitchFamily="2" charset="0"/>
              </a:rPr>
              <a:t>f</a:t>
            </a:r>
            <a:r>
              <a:rPr lang="en-US" altLang="en-US" sz="3200">
                <a:latin typeface="VNI-Times" pitchFamily="2" charset="0"/>
              </a:rPr>
              <a:t> is not onto. Therefore it is not a bijection, and hence not invertible</a:t>
            </a:r>
            <a:endParaRPr lang="en-US" altLang="en-US" sz="3200">
              <a:latin typeface="VNI-Times" pitchFamily="2" charset="0"/>
              <a:sym typeface="Symbol" pitchFamily="2" charset="2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6E89C329-19C3-953A-39CF-34FA6CAB1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3528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Example.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 the function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+ 1 from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to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invertible? 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2D1B542F-A0F1-2B28-BF3B-090FF487D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724400"/>
            <a:ext cx="838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2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altLang="en-US" sz="3200">
                <a:latin typeface="VNI-Times" pitchFamily="2" charset="0"/>
              </a:rPr>
              <a:t> The function </a:t>
            </a:r>
            <a:r>
              <a:rPr lang="en-US" altLang="en-US" sz="3200" i="1">
                <a:latin typeface="VNI-Times" pitchFamily="2" charset="0"/>
              </a:rPr>
              <a:t>f</a:t>
            </a:r>
            <a:r>
              <a:rPr lang="en-US" altLang="en-US" sz="3200">
                <a:latin typeface="VNI-Times" pitchFamily="2" charset="0"/>
              </a:rPr>
              <a:t> is a bijection so it is invertible.</a:t>
            </a:r>
            <a:endParaRPr lang="en-US" altLang="en-US" sz="3200" i="1">
              <a:latin typeface="VNI-Times" pitchFamily="2" charset="0"/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build="p" autoUpdateAnimBg="0"/>
      <p:bldP spid="39940" grpId="0" autoUpdateAnimBg="0"/>
      <p:bldP spid="39941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3BFAA21-58B3-CE93-AB4E-9573F77D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96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buClr>
                <a:schemeClr val="bg1"/>
              </a:buClr>
              <a:buSzPct val="70000"/>
              <a:defRPr/>
            </a:pPr>
            <a:r>
              <a:rPr 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Example.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Is the function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+ 1 from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to </a:t>
            </a:r>
            <a:r>
              <a:rPr 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Z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invertible? What is its inverse?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058121F8-657A-F697-FA49-5AC7657CD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57400"/>
            <a:ext cx="86868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966788" indent="-457200"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538288" indent="-457200"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2109788" indent="-457200"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681288" indent="-457200"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3138488" indent="-457200" fontAlgn="base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595688" indent="-457200" fontAlgn="base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4052888" indent="-457200" fontAlgn="base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510088" indent="-457200" fontAlgn="base">
              <a:spcBef>
                <a:spcPct val="0"/>
              </a:spcBef>
              <a:spcAft>
                <a:spcPct val="0"/>
              </a:spcAft>
              <a:tabLst>
                <a:tab pos="4227513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>
              <a:defRPr/>
            </a:pPr>
            <a:r>
              <a:rPr lang="en-US" sz="3200" b="1">
                <a:solidFill>
                  <a:schemeClr val="hlink"/>
                </a:solidFill>
                <a:latin typeface="VNI-Times" pitchFamily="2" charset="0"/>
              </a:rPr>
              <a:t>Solution:</a:t>
            </a:r>
            <a:r>
              <a:rPr lang="en-US" sz="3200">
                <a:latin typeface="VNI-Times" pitchFamily="2" charset="0"/>
              </a:rPr>
              <a:t> The function </a:t>
            </a:r>
            <a:r>
              <a:rPr lang="en-US" sz="3200" i="1">
                <a:latin typeface="VNI-Times" pitchFamily="2" charset="0"/>
              </a:rPr>
              <a:t>f</a:t>
            </a:r>
            <a:r>
              <a:rPr lang="en-US" sz="3200">
                <a:latin typeface="VNI-Times" pitchFamily="2" charset="0"/>
              </a:rPr>
              <a:t> is a bijection so it is invertible.</a:t>
            </a:r>
          </a:p>
          <a:p>
            <a:pPr eaLnBrk="0" hangingPunct="0">
              <a:defRPr/>
            </a:pPr>
            <a:r>
              <a:rPr lang="en-US" sz="3200">
                <a:latin typeface="VNI-Times" pitchFamily="2" charset="0"/>
              </a:rPr>
              <a:t>To find the inverse, let </a:t>
            </a:r>
            <a:r>
              <a:rPr lang="en-US" sz="3200" i="1">
                <a:latin typeface="VNI-Times" pitchFamily="2" charset="0"/>
              </a:rPr>
              <a:t>y</a:t>
            </a:r>
            <a:r>
              <a:rPr lang="en-US" sz="3200">
                <a:latin typeface="VNI-Times" pitchFamily="2" charset="0"/>
              </a:rPr>
              <a:t> be any element in </a:t>
            </a:r>
            <a:r>
              <a:rPr lang="en-US" sz="3200" b="1">
                <a:latin typeface="VNI-Times" pitchFamily="2" charset="0"/>
              </a:rPr>
              <a:t>Z,</a:t>
            </a:r>
            <a:r>
              <a:rPr lang="en-US" sz="3200">
                <a:latin typeface="VNI-Times" pitchFamily="2" charset="0"/>
              </a:rPr>
              <a:t> we find the element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x</a:t>
            </a:r>
            <a:r>
              <a:rPr lang="en-US" sz="3200">
                <a:latin typeface="VNI-Times" pitchFamily="2" charset="0"/>
                <a:sym typeface="Symbol" pitchFamily="18" charset="2"/>
              </a:rPr>
              <a:t> in </a:t>
            </a:r>
            <a:r>
              <a:rPr lang="en-US" sz="3200" b="1">
                <a:latin typeface="VNI-Times" pitchFamily="2" charset="0"/>
                <a:sym typeface="Symbol" pitchFamily="18" charset="2"/>
              </a:rPr>
              <a:t>Z</a:t>
            </a:r>
            <a:r>
              <a:rPr lang="en-US" sz="3200">
                <a:latin typeface="VNI-Times" pitchFamily="2" charset="0"/>
                <a:sym typeface="Symbol" pitchFamily="18" charset="2"/>
              </a:rPr>
              <a:t> such that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y </a:t>
            </a:r>
            <a:r>
              <a:rPr lang="en-US" sz="3200">
                <a:latin typeface="VNI-Times" pitchFamily="2" charset="0"/>
                <a:sym typeface="Symbol" pitchFamily="18" charset="2"/>
              </a:rPr>
              <a:t>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+ 1. </a:t>
            </a:r>
          </a:p>
          <a:p>
            <a:pPr eaLnBrk="0" hangingPunct="0">
              <a:defRPr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Solving this equation we obtain</a:t>
            </a:r>
            <a:r>
              <a:rPr lang="en-US" sz="3200">
                <a:latin typeface="VNI-Times" pitchFamily="2" charset="0"/>
                <a:sym typeface="Symbol" pitchFamily="18" charset="2"/>
              </a:rPr>
              <a:t>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x</a:t>
            </a:r>
            <a:r>
              <a:rPr lang="en-US" sz="3200">
                <a:latin typeface="VNI-Times" pitchFamily="2" charset="0"/>
                <a:sym typeface="Symbol" pitchFamily="18" charset="2"/>
              </a:rPr>
              <a:t> =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y </a:t>
            </a:r>
            <a:r>
              <a:rPr lang="en-US" sz="3200">
                <a:latin typeface="VNI-Times" pitchFamily="2" charset="0"/>
                <a:sym typeface="Symbol" pitchFamily="18" charset="2"/>
              </a:rPr>
              <a:t>–1.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 </a:t>
            </a:r>
          </a:p>
          <a:p>
            <a:pPr eaLnBrk="0" hangingPunct="0">
              <a:defRPr/>
            </a:pPr>
            <a:r>
              <a:rPr lang="en-US" sz="3200">
                <a:latin typeface="VNI-Times" pitchFamily="2" charset="0"/>
                <a:sym typeface="Symbol" pitchFamily="18" charset="2"/>
              </a:rPr>
              <a:t>Hence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–1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y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=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y </a:t>
            </a:r>
            <a:r>
              <a:rPr lang="en-US" sz="3200">
                <a:latin typeface="VNI-Times" pitchFamily="2" charset="0"/>
                <a:sym typeface="Symbol" pitchFamily="18" charset="2"/>
              </a:rPr>
              <a:t>–1.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 </a:t>
            </a:r>
          </a:p>
          <a:p>
            <a:pPr eaLnBrk="0" hangingPunct="0">
              <a:defRPr/>
            </a:pPr>
            <a:endParaRPr lang="en-US" sz="3200">
              <a:latin typeface="VNI-Times" pitchFamily="2" charset="0"/>
              <a:sym typeface="Symbol" pitchFamily="18" charset="2"/>
            </a:endParaRPr>
          </a:p>
          <a:p>
            <a:pPr eaLnBrk="0" hangingPunct="0">
              <a:defRPr/>
            </a:pPr>
            <a:r>
              <a:rPr lang="en-US" sz="3200">
                <a:latin typeface="VNI-Times" pitchFamily="2" charset="0"/>
                <a:sym typeface="Symbol" pitchFamily="18" charset="2"/>
              </a:rPr>
              <a:t>We also write 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32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–1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32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= 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x </a:t>
            </a:r>
            <a:r>
              <a:rPr lang="en-US" sz="3200">
                <a:latin typeface="VNI-Times" pitchFamily="2" charset="0"/>
                <a:sym typeface="Symbol" pitchFamily="18" charset="2"/>
              </a:rPr>
              <a:t>–1.</a:t>
            </a:r>
            <a:r>
              <a:rPr lang="en-US" sz="3200" i="1">
                <a:latin typeface="VNI-Times" pitchFamily="2" charset="0"/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CE87CFC-9099-4DB5-D968-7A6C9B180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VNI-Times" pitchFamily="2" charset="0"/>
                <a:cs typeface="Arial" charset="0"/>
              </a:rPr>
              <a:t>Definition.</a:t>
            </a:r>
            <a:r>
              <a:rPr lang="en-US" sz="2800">
                <a:solidFill>
                  <a:schemeClr val="tx2"/>
                </a:solidFill>
                <a:latin typeface="VNI-Times" pitchFamily="2" charset="0"/>
                <a:cs typeface="Arial" charset="0"/>
              </a:rPr>
              <a:t> </a:t>
            </a:r>
            <a:r>
              <a:rPr lang="en-US" sz="2800">
                <a:latin typeface="VNI-Times" pitchFamily="2" charset="0"/>
                <a:cs typeface="Arial" charset="0"/>
              </a:rPr>
              <a:t>The composition of a function </a:t>
            </a:r>
            <a:r>
              <a:rPr lang="en-US" sz="2800" i="1">
                <a:latin typeface="VNI-Times" pitchFamily="2" charset="0"/>
                <a:cs typeface="Arial" charset="0"/>
              </a:rPr>
              <a:t>g</a:t>
            </a:r>
            <a:r>
              <a:rPr lang="en-US" sz="2800">
                <a:latin typeface="VNI-Times" pitchFamily="2" charset="0"/>
                <a:cs typeface="Arial" charset="0"/>
              </a:rPr>
              <a:t>: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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latin typeface="VNI-Times" pitchFamily="2" charset="0"/>
                <a:cs typeface="Arial" charset="0"/>
              </a:rPr>
              <a:t>and a function </a:t>
            </a:r>
            <a:r>
              <a:rPr lang="en-US" sz="2800" i="1">
                <a:latin typeface="VNI-Times" pitchFamily="2" charset="0"/>
                <a:cs typeface="Arial" charset="0"/>
              </a:rPr>
              <a:t>f</a:t>
            </a:r>
            <a:r>
              <a:rPr lang="en-US" sz="2800">
                <a:latin typeface="VNI-Times" pitchFamily="2" charset="0"/>
                <a:cs typeface="Arial" charset="0"/>
              </a:rPr>
              <a:t> :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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C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latin typeface="VNI-Times" pitchFamily="2" charset="0"/>
                <a:cs typeface="Arial" charset="0"/>
              </a:rPr>
              <a:t>is the function </a:t>
            </a:r>
            <a:r>
              <a:rPr lang="en-US" sz="2800" i="1">
                <a:solidFill>
                  <a:schemeClr val="tx2"/>
                </a:solidFill>
                <a:latin typeface="VNI-Times" pitchFamily="2" charset="0"/>
                <a:cs typeface="Arial" charset="0"/>
              </a:rPr>
              <a:t>f</a:t>
            </a:r>
            <a:r>
              <a:rPr lang="en-US" sz="2000">
                <a:solidFill>
                  <a:schemeClr val="tx2"/>
                </a:solidFill>
                <a:latin typeface="VNI-Times" pitchFamily="2" charset="0"/>
                <a:cs typeface="Arial" charset="0"/>
                <a:sym typeface="Symbol" pitchFamily="18" charset="2"/>
              </a:rPr>
              <a:t>o</a:t>
            </a:r>
            <a:r>
              <a:rPr lang="en-US" sz="2800" i="1">
                <a:solidFill>
                  <a:schemeClr val="tx2"/>
                </a:solidFill>
                <a:latin typeface="VNI-Times" pitchFamily="2" charset="0"/>
                <a:cs typeface="Arial" charset="0"/>
              </a:rPr>
              <a:t>g</a:t>
            </a:r>
            <a:r>
              <a:rPr lang="en-US" sz="2800" i="1">
                <a:latin typeface="VNI-Times" pitchFamily="2" charset="0"/>
                <a:cs typeface="Arial" charset="0"/>
              </a:rPr>
              <a:t> </a:t>
            </a:r>
            <a:r>
              <a:rPr lang="en-US" sz="2800">
                <a:latin typeface="VNI-Times" pitchFamily="2" charset="0"/>
                <a:cs typeface="Arial" charset="0"/>
              </a:rPr>
              <a:t>: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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C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latin typeface="VNI-Times" pitchFamily="2" charset="0"/>
                <a:cs typeface="Arial" charset="0"/>
              </a:rPr>
              <a:t>defined by 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88B07016-5B57-7A4D-F7C2-33B1F42F0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Note.</a:t>
            </a:r>
            <a:r>
              <a:rPr lang="en-US" altLang="en-US" sz="2800">
                <a:latin typeface="VNI-Times" pitchFamily="2" charset="0"/>
              </a:rPr>
              <a:t> The domain of 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g </a:t>
            </a:r>
            <a:r>
              <a:rPr lang="en-US" altLang="en-US" sz="2800">
                <a:latin typeface="VNI-Times" pitchFamily="2" charset="0"/>
              </a:rPr>
              <a:t>is also the domain of 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, and the codomain of 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g </a:t>
            </a:r>
            <a:r>
              <a:rPr lang="en-US" altLang="en-US" sz="2800">
                <a:latin typeface="VNI-Times" pitchFamily="2" charset="0"/>
              </a:rPr>
              <a:t>is also the codomain of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. 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52EC14B-9B68-5FEA-3FD8-CF89D0345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648200"/>
            <a:ext cx="1676400" cy="762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FBD00979-B992-E893-3CCB-5FCBB0E3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648200"/>
            <a:ext cx="1676400" cy="762000"/>
          </a:xfrm>
          <a:prstGeom prst="rect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DC5E4433-A681-A5ED-221E-D7DE58253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bg2"/>
                </a:solidFill>
                <a:latin typeface="VNI-Times" pitchFamily="2" charset="0"/>
              </a:rPr>
              <a:t>g</a:t>
            </a:r>
          </a:p>
        </p:txBody>
      </p:sp>
      <p:sp>
        <p:nvSpPr>
          <p:cNvPr id="41991" name="Line 7">
            <a:extLst>
              <a:ext uri="{FF2B5EF4-FFF2-40B4-BE49-F238E27FC236}">
                <a16:creationId xmlns:a16="http://schemas.microsoft.com/office/drawing/2014/main" id="{0EF60728-0128-EDAE-10BD-6D4814E939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50292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2" name="Line 8">
            <a:extLst>
              <a:ext uri="{FF2B5EF4-FFF2-40B4-BE49-F238E27FC236}">
                <a16:creationId xmlns:a16="http://schemas.microsoft.com/office/drawing/2014/main" id="{91C5F745-66E9-9E34-5DB2-A48BFAD40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0292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9ECEB1AA-33EE-E389-20DE-0A24C2958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50292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49BAD9FC-A2F8-82AA-0E7A-1047AB467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5029200"/>
            <a:ext cx="53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5" name="Text Box 11">
            <a:extLst>
              <a:ext uri="{FF2B5EF4-FFF2-40B4-BE49-F238E27FC236}">
                <a16:creationId xmlns:a16="http://schemas.microsoft.com/office/drawing/2014/main" id="{BC73B92D-E0F4-00A6-A54A-6A4529F52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00600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x</a:t>
            </a:r>
            <a:r>
              <a:rPr lang="en-US" altLang="en-US" sz="2400">
                <a:latin typeface="VNI-Times" pitchFamily="2" charset="0"/>
              </a:rPr>
              <a:t> (input)</a:t>
            </a:r>
          </a:p>
        </p:txBody>
      </p:sp>
      <p:sp>
        <p:nvSpPr>
          <p:cNvPr id="41996" name="Text Box 12">
            <a:extLst>
              <a:ext uri="{FF2B5EF4-FFF2-40B4-BE49-F238E27FC236}">
                <a16:creationId xmlns:a16="http://schemas.microsoft.com/office/drawing/2014/main" id="{69F2EC9D-12F3-6D70-83F5-47BBE70BE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800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g(x)</a:t>
            </a:r>
          </a:p>
        </p:txBody>
      </p:sp>
      <p:sp>
        <p:nvSpPr>
          <p:cNvPr id="41997" name="Text Box 13">
            <a:extLst>
              <a:ext uri="{FF2B5EF4-FFF2-40B4-BE49-F238E27FC236}">
                <a16:creationId xmlns:a16="http://schemas.microsoft.com/office/drawing/2014/main" id="{567EAD3F-3B64-36A2-8EB9-26455D665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724400"/>
            <a:ext cx="1219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f(g(x))</a:t>
            </a:r>
            <a:r>
              <a:rPr lang="en-US" altLang="en-US" sz="2400">
                <a:latin typeface="VNI-Times" pitchFamily="2" charset="0"/>
              </a:rPr>
              <a:t> (output)</a:t>
            </a:r>
          </a:p>
        </p:txBody>
      </p:sp>
      <p:sp>
        <p:nvSpPr>
          <p:cNvPr id="41998" name="Rectangle 14">
            <a:extLst>
              <a:ext uri="{FF2B5EF4-FFF2-40B4-BE49-F238E27FC236}">
                <a16:creationId xmlns:a16="http://schemas.microsoft.com/office/drawing/2014/main" id="{650E4A67-344D-B0FD-5795-52C89204A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676400"/>
            <a:ext cx="2343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10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f</a:t>
            </a:r>
            <a:r>
              <a:rPr lang="en-US" altLang="en-US" sz="2000">
                <a:solidFill>
                  <a:schemeClr val="tx2"/>
                </a:solidFill>
                <a:latin typeface="VNI-Times" pitchFamily="2" charset="0"/>
                <a:sym typeface="Symbol" pitchFamily="2" charset="2"/>
              </a:rPr>
              <a:t>o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g(x) = f(g(x))</a:t>
            </a:r>
          </a:p>
        </p:txBody>
      </p:sp>
      <p:sp>
        <p:nvSpPr>
          <p:cNvPr id="41999" name="Text Box 15">
            <a:extLst>
              <a:ext uri="{FF2B5EF4-FFF2-40B4-BE49-F238E27FC236}">
                <a16:creationId xmlns:a16="http://schemas.microsoft.com/office/drawing/2014/main" id="{D16F9421-0DD5-3C55-96AB-9685C50EB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800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bg2"/>
                </a:solidFill>
                <a:latin typeface="VNI-Times" pitchFamily="2" charset="0"/>
              </a:rPr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 autoUpdateAnimBg="0" advAuto="0"/>
      <p:bldP spid="41987" grpId="0" autoUpdateAnimBg="0"/>
      <p:bldP spid="41988" grpId="0" animBg="1"/>
      <p:bldP spid="41989" grpId="0" animBg="1"/>
      <p:bldP spid="41990" grpId="0" autoUpdateAnimBg="0"/>
      <p:bldP spid="41995" grpId="0" autoUpdateAnimBg="0"/>
      <p:bldP spid="41996" grpId="0" autoUpdateAnimBg="0"/>
      <p:bldP spid="41997" grpId="0" autoUpdateAnimBg="0"/>
      <p:bldP spid="41998" grpId="0" autoUpdateAnimBg="0"/>
      <p:bldP spid="41999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Oval 2">
            <a:extLst>
              <a:ext uri="{FF2B5EF4-FFF2-40B4-BE49-F238E27FC236}">
                <a16:creationId xmlns:a16="http://schemas.microsoft.com/office/drawing/2014/main" id="{75EB9E3F-9E63-B56B-203E-D15EF6603A50}"/>
              </a:ext>
            </a:extLst>
          </p:cNvPr>
          <p:cNvSpPr>
            <a:spLocks noChangeArrowheads="1"/>
          </p:cNvSpPr>
          <p:nvPr/>
        </p:nvSpPr>
        <p:spPr bwMode="auto">
          <a:xfrm rot="-1057593">
            <a:off x="1143000" y="2286000"/>
            <a:ext cx="1295400" cy="2438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600"/>
          </a:p>
        </p:txBody>
      </p:sp>
      <p:sp>
        <p:nvSpPr>
          <p:cNvPr id="43011" name="Oval 3">
            <a:extLst>
              <a:ext uri="{FF2B5EF4-FFF2-40B4-BE49-F238E27FC236}">
                <a16:creationId xmlns:a16="http://schemas.microsoft.com/office/drawing/2014/main" id="{BC4C1461-D44D-3C53-59F9-4CE810851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286000"/>
            <a:ext cx="1295400" cy="2438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12" name="Oval 4">
            <a:extLst>
              <a:ext uri="{FF2B5EF4-FFF2-40B4-BE49-F238E27FC236}">
                <a16:creationId xmlns:a16="http://schemas.microsoft.com/office/drawing/2014/main" id="{20324033-9F7C-E115-D8AC-681BD44B70CA}"/>
              </a:ext>
            </a:extLst>
          </p:cNvPr>
          <p:cNvSpPr>
            <a:spLocks noChangeArrowheads="1"/>
          </p:cNvSpPr>
          <p:nvPr/>
        </p:nvSpPr>
        <p:spPr bwMode="auto">
          <a:xfrm rot="1088301">
            <a:off x="6858000" y="2362200"/>
            <a:ext cx="1295400" cy="2438400"/>
          </a:xfrm>
          <a:prstGeom prst="ellipse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13" name="Arc 5">
            <a:extLst>
              <a:ext uri="{FF2B5EF4-FFF2-40B4-BE49-F238E27FC236}">
                <a16:creationId xmlns:a16="http://schemas.microsoft.com/office/drawing/2014/main" id="{7A43EC7C-7829-B0DF-765E-AA7A797B49B2}"/>
              </a:ext>
            </a:extLst>
          </p:cNvPr>
          <p:cNvSpPr>
            <a:spLocks/>
          </p:cNvSpPr>
          <p:nvPr/>
        </p:nvSpPr>
        <p:spPr bwMode="auto">
          <a:xfrm rot="-1187642">
            <a:off x="2019300" y="3013075"/>
            <a:ext cx="2514600" cy="1017588"/>
          </a:xfrm>
          <a:custGeom>
            <a:avLst/>
            <a:gdLst>
              <a:gd name="T0" fmla="*/ 0 w 21571"/>
              <a:gd name="T1" fmla="*/ 0 h 21600"/>
              <a:gd name="T2" fmla="*/ 293134911 w 21571"/>
              <a:gd name="T3" fmla="*/ 45453395 h 21600"/>
              <a:gd name="T4" fmla="*/ 0 w 21571"/>
              <a:gd name="T5" fmla="*/ 4793913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71" h="21600" fill="none" extrusionOk="0">
                <a:moveTo>
                  <a:pt x="0" y="0"/>
                </a:moveTo>
                <a:cubicBezTo>
                  <a:pt x="11494" y="0"/>
                  <a:pt x="20974" y="9001"/>
                  <a:pt x="21570" y="20480"/>
                </a:cubicBezTo>
              </a:path>
              <a:path w="21571" h="21600" stroke="0" extrusionOk="0">
                <a:moveTo>
                  <a:pt x="0" y="0"/>
                </a:moveTo>
                <a:cubicBezTo>
                  <a:pt x="11494" y="0"/>
                  <a:pt x="20974" y="9001"/>
                  <a:pt x="21570" y="2048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" name="Arc 6">
            <a:extLst>
              <a:ext uri="{FF2B5EF4-FFF2-40B4-BE49-F238E27FC236}">
                <a16:creationId xmlns:a16="http://schemas.microsoft.com/office/drawing/2014/main" id="{7BFC592E-463C-1D54-8803-5CA2F2F181D1}"/>
              </a:ext>
            </a:extLst>
          </p:cNvPr>
          <p:cNvSpPr>
            <a:spLocks/>
          </p:cNvSpPr>
          <p:nvPr/>
        </p:nvSpPr>
        <p:spPr bwMode="auto">
          <a:xfrm rot="-1641683">
            <a:off x="2209800" y="1905000"/>
            <a:ext cx="4938713" cy="2438400"/>
          </a:xfrm>
          <a:custGeom>
            <a:avLst/>
            <a:gdLst>
              <a:gd name="T0" fmla="*/ 0 w 21600"/>
              <a:gd name="T1" fmla="*/ 0 h 21600"/>
              <a:gd name="T2" fmla="*/ 1129207690 w 21600"/>
              <a:gd name="T3" fmla="*/ 275268267 h 21600"/>
              <a:gd name="T4" fmla="*/ 0 w 21600"/>
              <a:gd name="T5" fmla="*/ 27526826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Arc 7">
            <a:extLst>
              <a:ext uri="{FF2B5EF4-FFF2-40B4-BE49-F238E27FC236}">
                <a16:creationId xmlns:a16="http://schemas.microsoft.com/office/drawing/2014/main" id="{C1AB47F6-F65B-2FBE-0AE6-B01C006997A4}"/>
              </a:ext>
            </a:extLst>
          </p:cNvPr>
          <p:cNvSpPr>
            <a:spLocks/>
          </p:cNvSpPr>
          <p:nvPr/>
        </p:nvSpPr>
        <p:spPr bwMode="auto">
          <a:xfrm rot="-1832484">
            <a:off x="5029200" y="2895600"/>
            <a:ext cx="2146300" cy="914400"/>
          </a:xfrm>
          <a:custGeom>
            <a:avLst/>
            <a:gdLst>
              <a:gd name="T0" fmla="*/ 0 w 21600"/>
              <a:gd name="T1" fmla="*/ 0 h 21600"/>
              <a:gd name="T2" fmla="*/ 213268689 w 21600"/>
              <a:gd name="T3" fmla="*/ 38709600 h 21600"/>
              <a:gd name="T4" fmla="*/ 0 w 21600"/>
              <a:gd name="T5" fmla="*/ 38709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9A416EDD-A8E2-DC2A-E70D-A0E7F324C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200400"/>
            <a:ext cx="45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  <a:latin typeface="VNI-Times" pitchFamily="2" charset="0"/>
                <a:sym typeface="Symbol" pitchFamily="2" charset="2"/>
              </a:rPr>
              <a:t></a:t>
            </a:r>
            <a:r>
              <a:rPr lang="en-US" altLang="en-US" sz="2400" i="1">
                <a:solidFill>
                  <a:schemeClr val="bg2"/>
                </a:solidFill>
                <a:latin typeface="VNI-Times" pitchFamily="2" charset="0"/>
              </a:rPr>
              <a:t>x</a:t>
            </a: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F1E88378-796C-81D1-F27E-13302DF58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429000"/>
            <a:ext cx="762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  <a:latin typeface="VNI-Times" pitchFamily="2" charset="0"/>
                <a:sym typeface="Symbol" pitchFamily="2" charset="2"/>
              </a:rPr>
              <a:t></a:t>
            </a:r>
            <a:r>
              <a:rPr lang="en-US" altLang="en-US" sz="2400">
                <a:solidFill>
                  <a:schemeClr val="bg2"/>
                </a:solidFill>
                <a:latin typeface="VNI-Times" pitchFamily="2" charset="0"/>
              </a:rPr>
              <a:t> </a:t>
            </a:r>
            <a:r>
              <a:rPr lang="en-US" altLang="en-US" sz="2400" i="1">
                <a:solidFill>
                  <a:schemeClr val="bg2"/>
                </a:solidFill>
                <a:latin typeface="VNI-Times" pitchFamily="2" charset="0"/>
              </a:rPr>
              <a:t>g(x)</a:t>
            </a: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857DD618-67BB-5AC9-D9ED-DC9ABE0FB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124200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  <a:latin typeface="VNI-Times" pitchFamily="2" charset="0"/>
                <a:sym typeface="Symbol" pitchFamily="2" charset="2"/>
              </a:rPr>
              <a:t></a:t>
            </a:r>
            <a:r>
              <a:rPr lang="en-US" altLang="en-US" sz="2400">
                <a:solidFill>
                  <a:schemeClr val="bg2"/>
                </a:solidFill>
                <a:latin typeface="VNI-Times" pitchFamily="2" charset="0"/>
              </a:rPr>
              <a:t> </a:t>
            </a:r>
            <a:r>
              <a:rPr lang="en-US" altLang="en-US" sz="2400" i="1">
                <a:solidFill>
                  <a:schemeClr val="bg2"/>
                </a:solidFill>
                <a:latin typeface="VNI-Times" pitchFamily="2" charset="0"/>
              </a:rPr>
              <a:t>f(g(x))</a:t>
            </a:r>
          </a:p>
        </p:txBody>
      </p:sp>
      <p:sp>
        <p:nvSpPr>
          <p:cNvPr id="43019" name="Text Box 11">
            <a:extLst>
              <a:ext uri="{FF2B5EF4-FFF2-40B4-BE49-F238E27FC236}">
                <a16:creationId xmlns:a16="http://schemas.microsoft.com/office/drawing/2014/main" id="{8F37C3D3-9CE8-3011-F2F2-A2F0E6616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200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g</a:t>
            </a:r>
          </a:p>
        </p:txBody>
      </p:sp>
      <p:sp>
        <p:nvSpPr>
          <p:cNvPr id="43020" name="Text Box 12">
            <a:extLst>
              <a:ext uri="{FF2B5EF4-FFF2-40B4-BE49-F238E27FC236}">
                <a16:creationId xmlns:a16="http://schemas.microsoft.com/office/drawing/2014/main" id="{E7A6327B-C90A-51F7-7FC7-0753A1DE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1242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f</a:t>
            </a:r>
          </a:p>
        </p:txBody>
      </p:sp>
      <p:sp>
        <p:nvSpPr>
          <p:cNvPr id="43021" name="Text Box 13">
            <a:extLst>
              <a:ext uri="{FF2B5EF4-FFF2-40B4-BE49-F238E27FC236}">
                <a16:creationId xmlns:a16="http://schemas.microsoft.com/office/drawing/2014/main" id="{3754CE25-C0BF-0318-23E5-439F0EE9B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75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i="1">
                <a:latin typeface="VNI-Times" pitchFamily="2" charset="0"/>
              </a:rPr>
              <a:t>f 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400" i="1">
                <a:latin typeface="VNI-Times" pitchFamily="2" charset="0"/>
              </a:rPr>
              <a:t>g</a:t>
            </a:r>
          </a:p>
        </p:txBody>
      </p:sp>
      <p:sp>
        <p:nvSpPr>
          <p:cNvPr id="43022" name="Rectangle 14">
            <a:extLst>
              <a:ext uri="{FF2B5EF4-FFF2-40B4-BE49-F238E27FC236}">
                <a16:creationId xmlns:a16="http://schemas.microsoft.com/office/drawing/2014/main" id="{FF1BC2C2-5D8D-6B9B-ACF3-900FC0B52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4267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en-US" sz="2800">
                <a:latin typeface="VNI-Times" pitchFamily="2" charset="0"/>
              </a:rPr>
              <a:t>Arrow diagram for  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f </a:t>
            </a:r>
            <a:r>
              <a:rPr lang="en-US" altLang="en-US" sz="2000">
                <a:solidFill>
                  <a:schemeClr val="tx2"/>
                </a:solidFill>
                <a:latin typeface="VNI-Times" pitchFamily="2" charset="0"/>
                <a:sym typeface="Symbol" pitchFamily="2" charset="2"/>
              </a:rPr>
              <a:t>o</a:t>
            </a:r>
            <a:r>
              <a:rPr lang="en-US" altLang="en-US" sz="2800">
                <a:solidFill>
                  <a:schemeClr val="tx2"/>
                </a:solidFill>
                <a:latin typeface="VNI-Times" pitchFamily="2" charset="0"/>
                <a:sym typeface="Symbol" pitchFamily="2" charset="2"/>
              </a:rPr>
              <a:t> 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g</a:t>
            </a:r>
            <a:r>
              <a:rPr lang="en-US" altLang="en-US" sz="2800" i="1">
                <a:latin typeface="VNI-Times" pitchFamily="2" charset="0"/>
              </a:rPr>
              <a:t> </a:t>
            </a:r>
            <a:endParaRPr lang="en-US" altLang="en-US" sz="2800" i="1">
              <a:solidFill>
                <a:schemeClr val="tx2"/>
              </a:solidFill>
              <a:latin typeface="VNI-Times" pitchFamily="2" charset="0"/>
            </a:endParaRPr>
          </a:p>
        </p:txBody>
      </p:sp>
      <p:sp>
        <p:nvSpPr>
          <p:cNvPr id="43023" name="Rectangle 15">
            <a:extLst>
              <a:ext uri="{FF2B5EF4-FFF2-40B4-BE49-F238E27FC236}">
                <a16:creationId xmlns:a16="http://schemas.microsoft.com/office/drawing/2014/main" id="{DC9C6565-D626-A6F2-13E7-F6D05826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8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A</a:t>
            </a:r>
          </a:p>
        </p:txBody>
      </p:sp>
      <p:sp>
        <p:nvSpPr>
          <p:cNvPr id="43024" name="Rectangle 16">
            <a:extLst>
              <a:ext uri="{FF2B5EF4-FFF2-40B4-BE49-F238E27FC236}">
                <a16:creationId xmlns:a16="http://schemas.microsoft.com/office/drawing/2014/main" id="{84CE8B1E-B1BD-913D-D347-23C1BB4CE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590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B</a:t>
            </a:r>
          </a:p>
        </p:txBody>
      </p:sp>
      <p:sp>
        <p:nvSpPr>
          <p:cNvPr id="43025" name="Rectangle 17">
            <a:extLst>
              <a:ext uri="{FF2B5EF4-FFF2-40B4-BE49-F238E27FC236}">
                <a16:creationId xmlns:a16="http://schemas.microsoft.com/office/drawing/2014/main" id="{FFDDA92B-BE79-2CD1-7C85-8EBA4E72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5908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 autoUpdateAnimBg="0"/>
      <p:bldP spid="43011" grpId="0" animBg="1"/>
      <p:bldP spid="43012" grpId="0" animBg="1"/>
      <p:bldP spid="43016" grpId="0" autoUpdateAnimBg="0"/>
      <p:bldP spid="43017" grpId="0" autoUpdateAnimBg="0"/>
      <p:bldP spid="43018" grpId="0" autoUpdateAnimBg="0"/>
      <p:bldP spid="43019" grpId="0" autoUpdateAnimBg="0"/>
      <p:bldP spid="43020" grpId="0" autoUpdateAnimBg="0"/>
      <p:bldP spid="43021" grpId="0" autoUpdateAnimBg="0"/>
      <p:bldP spid="43022" grpId="0" autoUpdateAnimBg="0"/>
      <p:bldP spid="43023" grpId="0" autoUpdateAnimBg="0"/>
      <p:bldP spid="43024" grpId="0" autoUpdateAnimBg="0"/>
      <p:bldP spid="4302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F0B7C47D-173E-042B-0199-6CA074301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Example.</a:t>
            </a:r>
            <a:r>
              <a:rPr lang="en-US" altLang="en-US" sz="2800">
                <a:latin typeface="VNI-Times" pitchFamily="2" charset="0"/>
              </a:rPr>
              <a:t> let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</a:t>
            </a:r>
            <a:r>
              <a:rPr lang="en-US" altLang="en-US" sz="2800" i="1">
                <a:latin typeface="VNI-Times" pitchFamily="2" charset="0"/>
              </a:rPr>
              <a:t> = x</a:t>
            </a:r>
            <a:r>
              <a:rPr lang="en-US" altLang="en-US" sz="2800" i="1" baseline="30000">
                <a:latin typeface="VNI-Times" pitchFamily="2" charset="0"/>
              </a:rPr>
              <a:t>2</a:t>
            </a:r>
            <a:r>
              <a:rPr lang="en-US" altLang="en-US" sz="2800">
                <a:latin typeface="VNI-Times" pitchFamily="2" charset="0"/>
              </a:rPr>
              <a:t> and 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</a:t>
            </a:r>
            <a:r>
              <a:rPr lang="en-US" altLang="en-US" sz="2800" i="1">
                <a:latin typeface="VNI-Times" pitchFamily="2" charset="0"/>
              </a:rPr>
              <a:t> = x </a:t>
            </a:r>
            <a:r>
              <a:rPr lang="en-US" altLang="en-US" sz="2800">
                <a:latin typeface="VNI-Times" pitchFamily="2" charset="0"/>
              </a:rPr>
              <a:t>– 3 are functions from </a:t>
            </a:r>
            <a:r>
              <a:rPr lang="en-US" altLang="en-US" sz="2800" b="1">
                <a:latin typeface="VNI-Times" pitchFamily="2" charset="0"/>
              </a:rPr>
              <a:t>R</a:t>
            </a:r>
            <a:r>
              <a:rPr lang="en-US" altLang="en-US" sz="2800">
                <a:latin typeface="VNI-Times" pitchFamily="2" charset="0"/>
              </a:rPr>
              <a:t> to </a:t>
            </a:r>
            <a:r>
              <a:rPr lang="en-US" altLang="en-US" sz="2800" b="1">
                <a:latin typeface="VNI-Times" pitchFamily="2" charset="0"/>
              </a:rPr>
              <a:t>R</a:t>
            </a:r>
            <a:r>
              <a:rPr lang="en-US" altLang="en-US" sz="2800">
                <a:latin typeface="VNI-Times" pitchFamily="2" charset="0"/>
              </a:rPr>
              <a:t>. </a:t>
            </a:r>
            <a:endParaRPr lang="en-US" altLang="en-US" sz="2800" i="1">
              <a:latin typeface="VNI-Times" pitchFamily="2" charset="0"/>
            </a:endParaRP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B3463259-1210-B466-31F8-C2DF47FBA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38400"/>
            <a:ext cx="72390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Solution.</a:t>
            </a:r>
            <a:r>
              <a:rPr lang="en-US" altLang="en-US" sz="2800">
                <a:latin typeface="VNI-Times" pitchFamily="2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 (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)(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</a:t>
            </a:r>
            <a:r>
              <a:rPr lang="en-US" altLang="en-US" sz="2800" i="1">
                <a:latin typeface="VNI-Times" pitchFamily="2" charset="0"/>
              </a:rPr>
              <a:t> = 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))</a:t>
            </a:r>
            <a:r>
              <a:rPr lang="en-US" altLang="en-US" sz="2800" i="1">
                <a:latin typeface="VNI-Times" pitchFamily="2" charset="0"/>
              </a:rPr>
              <a:t> = 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 – </a:t>
            </a:r>
            <a:r>
              <a:rPr lang="en-US" altLang="en-US" sz="2800">
                <a:latin typeface="VNI-Times" pitchFamily="2" charset="0"/>
              </a:rPr>
              <a:t>3) = (</a:t>
            </a:r>
            <a:r>
              <a:rPr lang="en-US" altLang="en-US" sz="2800" i="1">
                <a:latin typeface="VNI-Times" pitchFamily="2" charset="0"/>
              </a:rPr>
              <a:t>x </a:t>
            </a:r>
            <a:r>
              <a:rPr lang="en-US" altLang="en-US" sz="2800">
                <a:latin typeface="VNI-Times" pitchFamily="2" charset="0"/>
              </a:rPr>
              <a:t>–3)</a:t>
            </a:r>
            <a:r>
              <a:rPr lang="en-US" altLang="en-US" sz="2800" baseline="30000">
                <a:latin typeface="VNI-Times" pitchFamily="2" charset="0"/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)(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</a:t>
            </a:r>
            <a:r>
              <a:rPr lang="en-US" altLang="en-US" sz="2800" i="1">
                <a:latin typeface="VNI-Times" pitchFamily="2" charset="0"/>
              </a:rPr>
              <a:t> = g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>
                <a:latin typeface="VNI-Times" pitchFamily="2" charset="0"/>
              </a:rPr>
              <a:t>))</a:t>
            </a:r>
            <a:r>
              <a:rPr lang="en-US" altLang="en-US" sz="2800" i="1">
                <a:latin typeface="VNI-Times" pitchFamily="2" charset="0"/>
              </a:rPr>
              <a:t> = g</a:t>
            </a:r>
            <a:r>
              <a:rPr lang="en-US" altLang="en-US" sz="2800">
                <a:latin typeface="VNI-Times" pitchFamily="2" charset="0"/>
              </a:rPr>
              <a:t>(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 baseline="30000">
                <a:latin typeface="VNI-Times" pitchFamily="2" charset="0"/>
              </a:rPr>
              <a:t>2</a:t>
            </a:r>
            <a:r>
              <a:rPr lang="en-US" altLang="en-US" sz="2800">
                <a:latin typeface="VNI-Times" pitchFamily="2" charset="0"/>
              </a:rPr>
              <a:t>) = </a:t>
            </a:r>
            <a:r>
              <a:rPr lang="en-US" altLang="en-US" sz="2800" i="1">
                <a:latin typeface="VNI-Times" pitchFamily="2" charset="0"/>
              </a:rPr>
              <a:t>x</a:t>
            </a:r>
            <a:r>
              <a:rPr lang="en-US" altLang="en-US" sz="2800" baseline="30000">
                <a:latin typeface="VNI-Times" pitchFamily="2" charset="0"/>
              </a:rPr>
              <a:t>2</a:t>
            </a:r>
            <a:r>
              <a:rPr lang="en-US" altLang="en-US" sz="2800">
                <a:latin typeface="VNI-Times" pitchFamily="2" charset="0"/>
              </a:rPr>
              <a:t> – 3 		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This shows that in general: 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f</a:t>
            </a:r>
            <a:r>
              <a:rPr lang="en-US" altLang="en-US" sz="2000">
                <a:solidFill>
                  <a:schemeClr val="tx2"/>
                </a:solidFill>
                <a:latin typeface="VNI-Times" pitchFamily="2" charset="0"/>
              </a:rPr>
              <a:t>o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g </a:t>
            </a:r>
            <a:r>
              <a:rPr lang="en-US" altLang="en-US" sz="2800">
                <a:solidFill>
                  <a:schemeClr val="tx2"/>
                </a:solidFill>
                <a:latin typeface="VNI-Times" pitchFamily="2" charset="0"/>
                <a:sym typeface="Symbol" pitchFamily="2" charset="2"/>
              </a:rPr>
              <a:t> 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g</a:t>
            </a:r>
            <a:r>
              <a:rPr lang="en-US" altLang="en-US" sz="2000">
                <a:solidFill>
                  <a:schemeClr val="tx2"/>
                </a:solidFill>
                <a:latin typeface="VNI-Times" pitchFamily="2" charset="0"/>
              </a:rPr>
              <a:t>o</a:t>
            </a:r>
            <a:r>
              <a:rPr lang="en-US" altLang="en-US" sz="2800" i="1">
                <a:solidFill>
                  <a:schemeClr val="tx2"/>
                </a:solidFill>
                <a:latin typeface="VNI-Times" pitchFamily="2" charset="0"/>
              </a:rPr>
              <a:t>f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2AE6420C-7452-2DF1-0F4B-BEEEC86A0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5400"/>
            <a:ext cx="5037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VNI-Times" pitchFamily="2" charset="0"/>
              </a:rPr>
              <a:t>Find the compositions </a:t>
            </a:r>
            <a:r>
              <a:rPr lang="en-US" altLang="en-US" sz="2800" i="1">
                <a:latin typeface="VNI-Times" pitchFamily="2" charset="0"/>
              </a:rPr>
              <a:t>f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g </a:t>
            </a:r>
            <a:r>
              <a:rPr lang="en-US" altLang="en-US" sz="2800">
                <a:latin typeface="VNI-Times" pitchFamily="2" charset="0"/>
              </a:rPr>
              <a:t>and </a:t>
            </a:r>
            <a:r>
              <a:rPr lang="en-US" altLang="en-US" sz="2800" i="1">
                <a:latin typeface="VNI-Times" pitchFamily="2" charset="0"/>
              </a:rPr>
              <a:t>g</a:t>
            </a:r>
            <a:r>
              <a:rPr lang="en-US" altLang="en-US" sz="2000">
                <a:latin typeface="VNI-Times" pitchFamily="2" charset="0"/>
              </a:rPr>
              <a:t>o</a:t>
            </a:r>
            <a:r>
              <a:rPr lang="en-US" altLang="en-US" sz="2800" i="1">
                <a:latin typeface="VNI-Times" pitchFamily="2" charset="0"/>
              </a:rPr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build="p" autoUpdateAnimBg="0"/>
      <p:bldP spid="4403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0240A-30C5-DCEA-C04B-28FF26C40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399"/>
            <a:ext cx="7391400" cy="652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630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2C0CB2-E4E2-4155-E7F1-E54BA467F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457200"/>
            <a:ext cx="890016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210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61763B4-D912-1B76-9863-30641C50C77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chemeClr val="hlink"/>
                </a:solidFill>
              </a:rPr>
              <a:t>2.3.4 The Graph of a Function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675B441-61E5-7F91-7907-5DD9FD4A6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661275" cy="1295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sz="2800" b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Definition. 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Let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: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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be a function. Then the </a:t>
            </a:r>
            <a:r>
              <a:rPr lang="en-US" sz="2800" i="1">
                <a:solidFill>
                  <a:schemeClr val="hlink"/>
                </a:solidFill>
                <a:latin typeface="Times New Roman" pitchFamily="18" charset="0"/>
                <a:sym typeface="Symbol" pitchFamily="18" charset="2"/>
              </a:rPr>
              <a:t>graph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of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, is the set of ordered pair 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 with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in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 and  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 i="1">
                <a:latin typeface="Times New Roman" pitchFamily="18" charset="0"/>
                <a:sym typeface="Symbol" pitchFamily="18" charset="2"/>
              </a:rPr>
              <a:t> = b</a:t>
            </a:r>
            <a:r>
              <a:rPr lang="en-US" sz="280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45060" name="Line 4">
            <a:extLst>
              <a:ext uri="{FF2B5EF4-FFF2-40B4-BE49-F238E27FC236}">
                <a16:creationId xmlns:a16="http://schemas.microsoft.com/office/drawing/2014/main" id="{BA643CB5-DE31-8126-9C5A-0DA3FBDE6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9624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Line 5">
            <a:extLst>
              <a:ext uri="{FF2B5EF4-FFF2-40B4-BE49-F238E27FC236}">
                <a16:creationId xmlns:a16="http://schemas.microsoft.com/office/drawing/2014/main" id="{8B5DCA33-99A1-D9FF-639C-400866C00A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5181600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Line 6">
            <a:extLst>
              <a:ext uri="{FF2B5EF4-FFF2-40B4-BE49-F238E27FC236}">
                <a16:creationId xmlns:a16="http://schemas.microsoft.com/office/drawing/2014/main" id="{8F058476-6A04-2390-A246-4AC25DCD5D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95600" y="4572000"/>
            <a:ext cx="2362200" cy="1295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1E72E30E-57CD-2EEB-5421-A421710A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7848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Example.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  The graph of the function </a:t>
            </a:r>
            <a:r>
              <a:rPr lang="en-US" altLang="en-US" sz="2400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 : </a:t>
            </a:r>
            <a:r>
              <a:rPr lang="en-US" altLang="en-US" sz="2400" b="1"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en-US" sz="2400" b="1"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 such that     </a:t>
            </a:r>
            <a:r>
              <a:rPr lang="en-US" altLang="en-US" sz="2400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) = – </a:t>
            </a:r>
            <a:r>
              <a:rPr lang="en-US" altLang="en-US" sz="2400" i="1">
                <a:latin typeface="Times New Roman" panose="02020603050405020304" pitchFamily="18" charset="0"/>
                <a:sym typeface="Symbol" pitchFamily="2" charset="2"/>
              </a:rPr>
              <a:t>x </a:t>
            </a:r>
            <a:r>
              <a:rPr lang="en-US" altLang="en-US" sz="2400" b="1">
                <a:latin typeface="Times New Roman" panose="02020603050405020304" pitchFamily="18" charset="0"/>
                <a:sym typeface="Symbol" pitchFamily="2" charset="2"/>
              </a:rPr>
              <a:t>/</a:t>
            </a:r>
            <a:r>
              <a:rPr lang="en-US" altLang="en-US" sz="2400">
                <a:latin typeface="Times New Roman" panose="02020603050405020304" pitchFamily="18" charset="0"/>
                <a:sym typeface="Symbol" pitchFamily="2" charset="2"/>
              </a:rPr>
              <a:t> 2 – 25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build="p" bldLvl="2" autoUpdateAnimBg="0"/>
      <p:bldP spid="4506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>
            <a:extLst>
              <a:ext uri="{FF2B5EF4-FFF2-40B4-BE49-F238E27FC236}">
                <a16:creationId xmlns:a16="http://schemas.microsoft.com/office/drawing/2014/main" id="{E804515B-6965-1216-5A44-C6D1B5450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71800"/>
            <a:ext cx="36957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3" name="Rectangle 3">
            <a:extLst>
              <a:ext uri="{FF2B5EF4-FFF2-40B4-BE49-F238E27FC236}">
                <a16:creationId xmlns:a16="http://schemas.microsoft.com/office/drawing/2014/main" id="{45F02C4A-479C-35E1-01F7-12031F903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09600"/>
            <a:ext cx="7848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200" b="1">
                <a:solidFill>
                  <a:schemeClr val="hlink"/>
                </a:solidFill>
                <a:latin typeface="Times New Roman" panose="02020603050405020304" pitchFamily="18" charset="0"/>
                <a:sym typeface="Symbol" pitchFamily="2" charset="2"/>
              </a:rPr>
              <a:t>Example.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 The graph of the function                </a:t>
            </a:r>
            <a:r>
              <a:rPr lang="en-US" altLang="en-US" sz="3200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: </a:t>
            </a:r>
            <a:r>
              <a:rPr lang="en-US" altLang="en-US" sz="3200" b="1"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en-US" sz="3200" b="1"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 sz="3200">
                <a:latin typeface="Times New Roman" panose="02020603050405020304" pitchFamily="18" charset="0"/>
                <a:sym typeface="Symbol" pitchFamily="2" charset="2"/>
              </a:rPr>
              <a:t> such that </a:t>
            </a:r>
            <a:r>
              <a:rPr lang="en-US" altLang="en-US" sz="3200" i="1">
                <a:latin typeface="VNI-Times" pitchFamily="2" charset="0"/>
              </a:rPr>
              <a:t>f</a:t>
            </a:r>
            <a:r>
              <a:rPr lang="en-US" altLang="en-US" sz="3200">
                <a:latin typeface="VNI-Times" pitchFamily="2" charset="0"/>
              </a:rPr>
              <a:t>(</a:t>
            </a:r>
            <a:r>
              <a:rPr lang="en-US" altLang="en-US" sz="3200" i="1">
                <a:latin typeface="VNI-Times" pitchFamily="2" charset="0"/>
              </a:rPr>
              <a:t>x</a:t>
            </a:r>
            <a:r>
              <a:rPr lang="en-US" altLang="en-US" sz="3200">
                <a:latin typeface="VNI-Times" pitchFamily="2" charset="0"/>
              </a:rPr>
              <a:t>)=</a:t>
            </a:r>
            <a:r>
              <a:rPr lang="en-US" altLang="en-US" sz="3200" i="1">
                <a:latin typeface="VNI-Times" pitchFamily="2" charset="0"/>
              </a:rPr>
              <a:t>x</a:t>
            </a:r>
            <a:r>
              <a:rPr lang="en-US" altLang="en-US" sz="3200" baseline="30000">
                <a:latin typeface="VNI-Times" pitchFamily="2" charset="0"/>
              </a:rPr>
              <a:t>2</a:t>
            </a:r>
            <a:r>
              <a:rPr lang="en-US" altLang="en-US" sz="3200">
                <a:latin typeface="VNI-Times" pitchFamily="2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0A5D38BA-052A-B92B-3120-5F3D2D904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hlink"/>
                </a:solidFill>
                <a:latin typeface="VNI-Times" pitchFamily="2" charset="0"/>
              </a:rPr>
              <a:t>Example.</a:t>
            </a:r>
            <a:r>
              <a:rPr lang="en-US" altLang="en-US" sz="2800">
                <a:latin typeface="VNI-Times" pitchFamily="2" charset="0"/>
              </a:rPr>
              <a:t> The average CO</a:t>
            </a:r>
            <a:r>
              <a:rPr lang="en-US" altLang="en-US" sz="2800" baseline="-25000">
                <a:latin typeface="VNI-Times" pitchFamily="2" charset="0"/>
              </a:rPr>
              <a:t>2</a:t>
            </a:r>
            <a:r>
              <a:rPr lang="en-US" altLang="en-US" sz="2800">
                <a:latin typeface="VNI-Times" pitchFamily="2" charset="0"/>
              </a:rPr>
              <a:t> level in the atmosphere is a function of time given by the following table </a:t>
            </a:r>
          </a:p>
        </p:txBody>
      </p:sp>
      <p:graphicFrame>
        <p:nvGraphicFramePr>
          <p:cNvPr id="47107" name="Group 3">
            <a:extLst>
              <a:ext uri="{FF2B5EF4-FFF2-40B4-BE49-F238E27FC236}">
                <a16:creationId xmlns:a16="http://schemas.microsoft.com/office/drawing/2014/main" id="{C120F7BF-B778-4939-89A4-36DAC9B91604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1752600"/>
          <a:ext cx="2895600" cy="5394616"/>
        </p:xfrm>
        <a:graphic>
          <a:graphicData uri="http://schemas.openxmlformats.org/drawingml/2006/table">
            <a:tbl>
              <a:tblPr/>
              <a:tblGrid>
                <a:gridCol w="109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Year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CO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(in ppm)</a:t>
                      </a:r>
                      <a:endParaRPr kumimoji="0" lang="en-US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NI-Times" pitchFamily="2" charset="0"/>
                        <a:cs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1980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338.5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1982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341.0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1984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344.3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1986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347.0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1988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351.3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1990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354.0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1992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356.3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1994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358.9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1996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362.7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1998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NI-Times" pitchFamily="2" charset="0"/>
                          <a:cs typeface="Arial" charset="0"/>
                        </a:rPr>
                        <a:t>366.7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7145" name="Object 41">
            <a:extLst>
              <a:ext uri="{FF2B5EF4-FFF2-40B4-BE49-F238E27FC236}">
                <a16:creationId xmlns:a16="http://schemas.microsoft.com/office/drawing/2014/main" id="{317A7442-6DC6-CEDE-4E09-0EF3AD1FF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295400"/>
          <a:ext cx="55626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108700" imgH="4076700" progId="MSGraph.Chart.8">
                  <p:embed followColorScheme="full"/>
                </p:oleObj>
              </mc:Choice>
              <mc:Fallback>
                <p:oleObj name="Chart" r:id="rId2" imgW="6108700" imgH="4076700" progId="MSGraph.Chart.8">
                  <p:embed followColorScheme="full"/>
                  <p:pic>
                    <p:nvPicPr>
                      <p:cNvPr id="47145" name="Object 41">
                        <a:extLst>
                          <a:ext uri="{FF2B5EF4-FFF2-40B4-BE49-F238E27FC236}">
                            <a16:creationId xmlns:a16="http://schemas.microsoft.com/office/drawing/2014/main" id="{317A7442-6DC6-CEDE-4E09-0EF3AD1FF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55626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6" name="Text Box 42">
            <a:extLst>
              <a:ext uri="{FF2B5EF4-FFF2-40B4-BE49-F238E27FC236}">
                <a16:creationId xmlns:a16="http://schemas.microsoft.com/office/drawing/2014/main" id="{C7563B49-4159-A8A0-A976-50DCE3C0C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4102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tx2"/>
                </a:solidFill>
                <a:latin typeface="VNI-Times" pitchFamily="2" charset="0"/>
              </a:rPr>
              <a:t>The graph of this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utoUpdateAnimBg="0"/>
      <p:bldOleChart spid="47145" grpId="0"/>
      <p:bldP spid="47146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4A3853D-F06D-A6A6-5B39-9A4B247E635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7200" y="274638"/>
            <a:ext cx="82296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2.3.5 Some Important Functions</a:t>
            </a:r>
            <a:endParaRPr lang="en-US" sz="3600" b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AC80A7C-043D-1D41-19A5-AD4B76095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601788"/>
            <a:ext cx="80645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Ceiling.</a:t>
            </a: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algn="ctr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</a:t>
            </a:r>
            <a:r>
              <a:rPr lang="en-US" sz="2800">
                <a:cs typeface="Arial" charset="0"/>
                <a:sym typeface="Symbol" pitchFamily="18" charset="2"/>
              </a:rPr>
              <a:t>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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the least integer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so that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 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.</a:t>
            </a:r>
            <a:endParaRPr lang="en-US" sz="2800" baseline="300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algn="ctr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endParaRPr lang="en-US" sz="2800" baseline="300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Ex: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1.2 = 2; -1.2 = -1; 1 = 1</a:t>
            </a: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Floor.</a:t>
            </a: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algn="ctr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f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(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) = 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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the greatest integer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so that </a:t>
            </a:r>
            <a:r>
              <a:rPr lang="en-US" sz="280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y  x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.</a:t>
            </a:r>
            <a:endParaRPr lang="en-US" sz="2800" baseline="300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algn="ctr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endParaRPr lang="en-US" sz="2800" baseline="300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Ex: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1.8 = 1; -1.8 = -2; -5 = -5</a:t>
            </a: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  <a:cs typeface="Arial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90000"/>
              </a:lnSpc>
              <a:buClr>
                <a:schemeClr val="bg1"/>
              </a:buClr>
              <a:buSzPct val="70000"/>
              <a:defRPr/>
            </a:pPr>
            <a:r>
              <a:rPr 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Quiz: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what is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  <a:sym typeface="Symbol" pitchFamily="18" charset="2"/>
              </a:rPr>
              <a:t>-1.2 + 1.1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charset="0"/>
                <a:sym typeface="Symbol" pitchFamily="18" charset="2"/>
              </a:rPr>
              <a:t> ?</a:t>
            </a:r>
          </a:p>
        </p:txBody>
      </p:sp>
      <p:grpSp>
        <p:nvGrpSpPr>
          <p:cNvPr id="48132" name="Group 4">
            <a:extLst>
              <a:ext uri="{FF2B5EF4-FFF2-40B4-BE49-F238E27FC236}">
                <a16:creationId xmlns:a16="http://schemas.microsoft.com/office/drawing/2014/main" id="{808893A1-0F01-E799-DFF9-D1C44C9C68D8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5410200"/>
            <a:ext cx="762000" cy="598488"/>
            <a:chOff x="286" y="3168"/>
            <a:chExt cx="4428" cy="768"/>
          </a:xfrm>
        </p:grpSpPr>
        <p:sp>
          <p:nvSpPr>
            <p:cNvPr id="26629" name="Oval 5">
              <a:extLst>
                <a:ext uri="{FF2B5EF4-FFF2-40B4-BE49-F238E27FC236}">
                  <a16:creationId xmlns:a16="http://schemas.microsoft.com/office/drawing/2014/main" id="{753CB209-5EC0-A3EF-AAAF-3C4012B37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0" name="Text Box 6">
              <a:extLst>
                <a:ext uri="{FF2B5EF4-FFF2-40B4-BE49-F238E27FC236}">
                  <a16:creationId xmlns:a16="http://schemas.microsoft.com/office/drawing/2014/main" id="{B76BAECC-FC7C-EB55-58E8-41BAC3A87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2" cy="5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anose="02020404030301010803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Comic Sans MS" panose="030F0902030302020204" pitchFamily="66" charset="0"/>
                  <a:sym typeface="Symbol" pitchFamily="2" charset="2"/>
                </a:rPr>
                <a:t>0</a:t>
              </a:r>
              <a:endParaRPr lang="en-US" altLang="en-US" sz="2000">
                <a:latin typeface="Comic Sans MS" panose="030F0902030302020204" pitchFamily="66" charset="0"/>
                <a:sym typeface="Symbol" pitchFamily="2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AA82309E-6173-8DEB-B675-FD6608862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620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800">
                <a:latin typeface="VNI-Times" pitchFamily="2" charset="0"/>
              </a:rPr>
              <a:t> The graph of the floor function</a:t>
            </a:r>
          </a:p>
        </p:txBody>
      </p:sp>
      <p:grpSp>
        <p:nvGrpSpPr>
          <p:cNvPr id="49155" name="Group 3">
            <a:extLst>
              <a:ext uri="{FF2B5EF4-FFF2-40B4-BE49-F238E27FC236}">
                <a16:creationId xmlns:a16="http://schemas.microsoft.com/office/drawing/2014/main" id="{B3440139-B9DE-A5F9-971F-BE2B5038F5B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752600"/>
            <a:ext cx="3695700" cy="2743200"/>
            <a:chOff x="480" y="192"/>
            <a:chExt cx="2328" cy="1728"/>
          </a:xfrm>
        </p:grpSpPr>
        <p:pic>
          <p:nvPicPr>
            <p:cNvPr id="27661" name="Picture 4">
              <a:extLst>
                <a:ext uri="{FF2B5EF4-FFF2-40B4-BE49-F238E27FC236}">
                  <a16:creationId xmlns:a16="http://schemas.microsoft.com/office/drawing/2014/main" id="{F02CB976-A407-FE60-1FC4-86732AD0E3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92"/>
              <a:ext cx="2328" cy="1728"/>
            </a:xfrm>
            <a:prstGeom prst="rect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662" name="Line 5">
              <a:extLst>
                <a:ext uri="{FF2B5EF4-FFF2-40B4-BE49-F238E27FC236}">
                  <a16:creationId xmlns:a16="http://schemas.microsoft.com/office/drawing/2014/main" id="{05DAA957-F2B8-BD98-93E0-A5347ED86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72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Line 6">
              <a:extLst>
                <a:ext uri="{FF2B5EF4-FFF2-40B4-BE49-F238E27FC236}">
                  <a16:creationId xmlns:a16="http://schemas.microsoft.com/office/drawing/2014/main" id="{15D41570-0165-B7B7-43C4-CFCADED68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4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Line 7">
              <a:extLst>
                <a:ext uri="{FF2B5EF4-FFF2-40B4-BE49-F238E27FC236}">
                  <a16:creationId xmlns:a16="http://schemas.microsoft.com/office/drawing/2014/main" id="{540979F5-F94E-33F4-AACF-058A5A6BF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296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Line 8">
              <a:extLst>
                <a:ext uri="{FF2B5EF4-FFF2-40B4-BE49-F238E27FC236}">
                  <a16:creationId xmlns:a16="http://schemas.microsoft.com/office/drawing/2014/main" id="{E340DE38-F0A9-6240-E3C8-6BD07B92C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056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Line 9">
              <a:extLst>
                <a:ext uri="{FF2B5EF4-FFF2-40B4-BE49-F238E27FC236}">
                  <a16:creationId xmlns:a16="http://schemas.microsoft.com/office/drawing/2014/main" id="{92D24FA1-1381-A8FA-1C40-A1FE806DB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68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Line 10">
              <a:extLst>
                <a:ext uri="{FF2B5EF4-FFF2-40B4-BE49-F238E27FC236}">
                  <a16:creationId xmlns:a16="http://schemas.microsoft.com/office/drawing/2014/main" id="{A7BADF6C-EF2E-F7AB-178B-EB49F5CF7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480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163" name="Group 11">
            <a:extLst>
              <a:ext uri="{FF2B5EF4-FFF2-40B4-BE49-F238E27FC236}">
                <a16:creationId xmlns:a16="http://schemas.microsoft.com/office/drawing/2014/main" id="{D8AAFF3F-1A1A-45FD-26FA-B9E5B52A3DB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752600"/>
            <a:ext cx="3695700" cy="2743200"/>
            <a:chOff x="3120" y="192"/>
            <a:chExt cx="2328" cy="1728"/>
          </a:xfrm>
        </p:grpSpPr>
        <p:pic>
          <p:nvPicPr>
            <p:cNvPr id="27654" name="Picture 12">
              <a:extLst>
                <a:ext uri="{FF2B5EF4-FFF2-40B4-BE49-F238E27FC236}">
                  <a16:creationId xmlns:a16="http://schemas.microsoft.com/office/drawing/2014/main" id="{4C2C6A44-3ED4-069C-535F-88965C0EB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192"/>
              <a:ext cx="2328" cy="1728"/>
            </a:xfrm>
            <a:prstGeom prst="rect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655" name="Line 13">
              <a:extLst>
                <a:ext uri="{FF2B5EF4-FFF2-40B4-BE49-F238E27FC236}">
                  <a16:creationId xmlns:a16="http://schemas.microsoft.com/office/drawing/2014/main" id="{4D87CC7F-FC4C-5EFB-EEDE-1F6001820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72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14">
              <a:extLst>
                <a:ext uri="{FF2B5EF4-FFF2-40B4-BE49-F238E27FC236}">
                  <a16:creationId xmlns:a16="http://schemas.microsoft.com/office/drawing/2014/main" id="{984FAD87-0F9F-FA36-9DB0-F5F36FA8C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56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15">
              <a:extLst>
                <a:ext uri="{FF2B5EF4-FFF2-40B4-BE49-F238E27FC236}">
                  <a16:creationId xmlns:a16="http://schemas.microsoft.com/office/drawing/2014/main" id="{6D80CD42-FB23-B86F-998E-949591F2D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768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Line 16">
              <a:extLst>
                <a:ext uri="{FF2B5EF4-FFF2-40B4-BE49-F238E27FC236}">
                  <a16:creationId xmlns:a16="http://schemas.microsoft.com/office/drawing/2014/main" id="{C5B05D69-95B0-28ED-34EC-AE3FC158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480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Line 17">
              <a:extLst>
                <a:ext uri="{FF2B5EF4-FFF2-40B4-BE49-F238E27FC236}">
                  <a16:creationId xmlns:a16="http://schemas.microsoft.com/office/drawing/2014/main" id="{01FFA029-8256-E9BE-D285-CAF287585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584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Line 18">
              <a:extLst>
                <a:ext uri="{FF2B5EF4-FFF2-40B4-BE49-F238E27FC236}">
                  <a16:creationId xmlns:a16="http://schemas.microsoft.com/office/drawing/2014/main" id="{57AD9EC8-2F7F-1B67-E879-8BA99E79C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296"/>
              <a:ext cx="96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71" name="Text Box 19">
            <a:extLst>
              <a:ext uri="{FF2B5EF4-FFF2-40B4-BE49-F238E27FC236}">
                <a16:creationId xmlns:a16="http://schemas.microsoft.com/office/drawing/2014/main" id="{A04A8B7E-746B-F450-86A9-CB704419D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953000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800">
                <a:latin typeface="VNI-Times" pitchFamily="2" charset="0"/>
              </a:rPr>
              <a:t> The graph of the ceiling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 autoUpdateAnimBg="0" advAuto="0"/>
      <p:bldP spid="49171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DD2D8-9B06-328C-C248-972776E2C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304800"/>
            <a:ext cx="883055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87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009B444A-B666-C247-16FC-AF1B5DC2F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830580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5E7C7-331B-E2F2-42FE-434F38AC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700"/>
            <a:ext cx="9117875" cy="1828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365E65-D070-B980-1E92-00BA8379EC7C}"/>
              </a:ext>
            </a:extLst>
          </p:cNvPr>
          <p:cNvSpPr txBox="1"/>
          <p:nvPr/>
        </p:nvSpPr>
        <p:spPr>
          <a:xfrm>
            <a:off x="762000" y="3810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Big-O, Big-Omega, Big-Theta notation</a:t>
            </a:r>
          </a:p>
        </p:txBody>
      </p:sp>
    </p:spTree>
    <p:extLst>
      <p:ext uri="{BB962C8B-B14F-4D97-AF65-F5344CB8AC3E}">
        <p14:creationId xmlns:p14="http://schemas.microsoft.com/office/powerpoint/2010/main" val="35420842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EE17F1-1155-03FF-9497-9504C39A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8" y="381000"/>
            <a:ext cx="8623024" cy="441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E46ABF-B485-E095-80DB-6564A40E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88" y="4800600"/>
            <a:ext cx="8648424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24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F1115F-3288-6E8B-BA92-05628E45A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1" y="533400"/>
            <a:ext cx="8675077" cy="1143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55D999-3FF6-CB12-5473-EA070F148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2286000"/>
            <a:ext cx="8987366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FD8E23-7B07-04D6-6B63-1D8FDD689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1" y="3505200"/>
            <a:ext cx="8782750" cy="683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2D048A-D44E-3C11-F6ED-271B8423E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61" y="4569582"/>
            <a:ext cx="8743100" cy="61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51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17EB84-6D77-4E51-B900-AB93A984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867400"/>
            <a:ext cx="6737145" cy="730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77D0E2-39AF-DB14-5BFA-0CA362D05CAA}"/>
              </a:ext>
            </a:extLst>
          </p:cNvPr>
          <p:cNvSpPr txBox="1"/>
          <p:nvPr/>
        </p:nvSpPr>
        <p:spPr>
          <a:xfrm>
            <a:off x="152400" y="4913293"/>
            <a:ext cx="899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effectLst/>
                <a:latin typeface="+mn-lt"/>
              </a:rPr>
              <a:t>The functions used in these estimates often include the following: </a:t>
            </a:r>
            <a:endParaRPr lang="en-AU" sz="28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45B64-B33A-4548-14B4-3A2CAE7C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0"/>
            <a:ext cx="74295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22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EC3FE0-FD71-45DB-E867-15306E0E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3" y="1600200"/>
            <a:ext cx="8873613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3A1D99-9078-5156-52B7-091BA2048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33400"/>
            <a:ext cx="161544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511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B90E88-11F1-4DE5-2FCD-08A22759F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9115426" cy="17888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8531FE-D76B-9066-F723-7AF273B20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0" y="2542235"/>
            <a:ext cx="9110665" cy="127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413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F6BFDA-6BB1-5860-70C4-48EDB5B1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8858250" cy="152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BF08E7-026A-A003-E562-B52E68C2C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3200400"/>
            <a:ext cx="8877300" cy="197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1069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0">
      <a:dk1>
        <a:srgbClr val="000514"/>
      </a:dk1>
      <a:lt1>
        <a:srgbClr val="FFFFFF"/>
      </a:lt1>
      <a:dk2>
        <a:srgbClr val="003399"/>
      </a:dk2>
      <a:lt2>
        <a:srgbClr val="FECE00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10">
        <a:dk1>
          <a:srgbClr val="000514"/>
        </a:dk1>
        <a:lt1>
          <a:srgbClr val="FFFFFF"/>
        </a:lt1>
        <a:dk2>
          <a:srgbClr val="003399"/>
        </a:dk2>
        <a:lt2>
          <a:srgbClr val="FECE00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1144</TotalTime>
  <Words>3589</Words>
  <Application>Microsoft Macintosh PowerPoint</Application>
  <PresentationFormat>On-screen Show (4:3)</PresentationFormat>
  <Paragraphs>472</Paragraphs>
  <Slides>71</Slides>
  <Notes>0</Notes>
  <HiddenSlides>6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3" baseType="lpstr">
      <vt:lpstr>Arial</vt:lpstr>
      <vt:lpstr>Chalkboard</vt:lpstr>
      <vt:lpstr>Comic Sans MS</vt:lpstr>
      <vt:lpstr>Garamond</vt:lpstr>
      <vt:lpstr>Symbol</vt:lpstr>
      <vt:lpstr>Times</vt:lpstr>
      <vt:lpstr>Times New Roman</vt:lpstr>
      <vt:lpstr>VNI-Times</vt:lpstr>
      <vt:lpstr>Wingdings</vt:lpstr>
      <vt:lpstr>Stream</vt:lpstr>
      <vt:lpstr>Equation</vt:lpstr>
      <vt:lpstr>Chart</vt:lpstr>
      <vt:lpstr>CHAPTER 2</vt:lpstr>
      <vt:lpstr>CONTENTS</vt:lpstr>
      <vt:lpstr>2.1 Sets</vt:lpstr>
      <vt:lpstr>2.1.1 Definitions and notation</vt:lpstr>
      <vt:lpstr>2.1.1 Definitions and notation</vt:lpstr>
      <vt:lpstr>2.1.1 Definitions and notation</vt:lpstr>
      <vt:lpstr>2.1.1 Definitions and notation</vt:lpstr>
      <vt:lpstr>2.1.1 Definitions and notation</vt:lpstr>
      <vt:lpstr>2.1.1 Definitions and notation</vt:lpstr>
      <vt:lpstr>Ways to define sets</vt:lpstr>
      <vt:lpstr>Ways to define sets</vt:lpstr>
      <vt:lpstr> Cardinality</vt:lpstr>
      <vt:lpstr> Power sets</vt:lpstr>
      <vt:lpstr> Cartesian Product</vt:lpstr>
      <vt:lpstr> Cartesian Product</vt:lpstr>
      <vt:lpstr>2.2.1 Set operation</vt:lpstr>
      <vt:lpstr>PowerPoint Presentation</vt:lpstr>
      <vt:lpstr>PowerPoint Presentation</vt:lpstr>
      <vt:lpstr>PowerPoint Presentation</vt:lpstr>
      <vt:lpstr>PowerPoint Presentation</vt:lpstr>
      <vt:lpstr>2.2.2 Set  Identities</vt:lpstr>
      <vt:lpstr>2.2.2 Set  Identities</vt:lpstr>
      <vt:lpstr>2.2.2 Set  Identities</vt:lpstr>
      <vt:lpstr>PowerPoint Presentation</vt:lpstr>
      <vt:lpstr>2.2.2 Set  Identities</vt:lpstr>
      <vt:lpstr>4 Ways to prove identities </vt:lpstr>
      <vt:lpstr>4 Ways to prove identities</vt:lpstr>
      <vt:lpstr>4 Ways to prove identities</vt:lpstr>
      <vt:lpstr>4 Ways to prove identities</vt:lpstr>
      <vt:lpstr>4 Ways to prove identities</vt:lpstr>
      <vt:lpstr>PowerPoint Presentation</vt:lpstr>
      <vt:lpstr>2.2.3 Generalized Set Operations</vt:lpstr>
      <vt:lpstr>Generalized Intersection</vt:lpstr>
      <vt:lpstr>PowerPoint Presentation</vt:lpstr>
      <vt:lpstr>2.2.4 Computer Representation of Sets</vt:lpstr>
      <vt:lpstr>Sets as bit strings</vt:lpstr>
      <vt:lpstr>PowerPoint Presentation</vt:lpstr>
      <vt:lpstr>2.3 Functions</vt:lpstr>
      <vt:lpstr>2.3.1 Introduction</vt:lpstr>
      <vt:lpstr>2.3.1 Introduction</vt:lpstr>
      <vt:lpstr>PowerPoint Presentation</vt:lpstr>
      <vt:lpstr>PowerPoint Presentation</vt:lpstr>
      <vt:lpstr>PowerPoint Presentation</vt:lpstr>
      <vt:lpstr>PowerPoint Presentation</vt:lpstr>
      <vt:lpstr>2.3.2 One-to-One and Onto Functions</vt:lpstr>
      <vt:lpstr>PowerPoint Presentation</vt:lpstr>
      <vt:lpstr>Onto Functions</vt:lpstr>
      <vt:lpstr>Onto Functions</vt:lpstr>
      <vt:lpstr>Bijection</vt:lpstr>
      <vt:lpstr>2.3.3 Inverse Functions and Compositions of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2.3.4 The Graph of a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Nguyen Huu Anh</dc:creator>
  <cp:lastModifiedBy>Nguyễn Ngọc Ái Vân</cp:lastModifiedBy>
  <cp:revision>13</cp:revision>
  <dcterms:created xsi:type="dcterms:W3CDTF">2005-03-14T03:41:39Z</dcterms:created>
  <dcterms:modified xsi:type="dcterms:W3CDTF">2025-08-20T08:31:31Z</dcterms:modified>
</cp:coreProperties>
</file>