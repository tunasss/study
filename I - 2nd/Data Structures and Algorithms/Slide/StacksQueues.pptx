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829" r:id="rId1"/>
  </p:sldMasterIdLst>
  <p:notesMasterIdLst>
    <p:notesMasterId r:id="rId48"/>
  </p:notesMasterIdLst>
  <p:handoutMasterIdLst>
    <p:handoutMasterId r:id="rId49"/>
  </p:handoutMasterIdLst>
  <p:sldIdLst>
    <p:sldId id="317" r:id="rId2"/>
    <p:sldId id="320" r:id="rId3"/>
    <p:sldId id="318" r:id="rId4"/>
    <p:sldId id="319" r:id="rId5"/>
    <p:sldId id="321" r:id="rId6"/>
    <p:sldId id="323" r:id="rId7"/>
    <p:sldId id="322" r:id="rId8"/>
    <p:sldId id="324" r:id="rId9"/>
    <p:sldId id="325" r:id="rId10"/>
    <p:sldId id="326" r:id="rId11"/>
    <p:sldId id="327" r:id="rId12"/>
    <p:sldId id="332" r:id="rId13"/>
    <p:sldId id="328" r:id="rId14"/>
    <p:sldId id="329" r:id="rId15"/>
    <p:sldId id="330" r:id="rId16"/>
    <p:sldId id="335" r:id="rId17"/>
    <p:sldId id="331" r:id="rId18"/>
    <p:sldId id="333" r:id="rId19"/>
    <p:sldId id="334" r:id="rId20"/>
    <p:sldId id="341" r:id="rId21"/>
    <p:sldId id="342" r:id="rId22"/>
    <p:sldId id="340" r:id="rId23"/>
    <p:sldId id="338" r:id="rId24"/>
    <p:sldId id="347" r:id="rId25"/>
    <p:sldId id="337" r:id="rId26"/>
    <p:sldId id="343" r:id="rId27"/>
    <p:sldId id="350" r:id="rId28"/>
    <p:sldId id="351" r:id="rId29"/>
    <p:sldId id="346" r:id="rId30"/>
    <p:sldId id="344" r:id="rId31"/>
    <p:sldId id="348" r:id="rId32"/>
    <p:sldId id="363" r:id="rId33"/>
    <p:sldId id="364" r:id="rId34"/>
    <p:sldId id="349" r:id="rId35"/>
    <p:sldId id="352" r:id="rId36"/>
    <p:sldId id="353" r:id="rId37"/>
    <p:sldId id="354" r:id="rId38"/>
    <p:sldId id="355" r:id="rId39"/>
    <p:sldId id="356" r:id="rId40"/>
    <p:sldId id="357" r:id="rId41"/>
    <p:sldId id="358" r:id="rId42"/>
    <p:sldId id="365" r:id="rId43"/>
    <p:sldId id="359" r:id="rId44"/>
    <p:sldId id="360" r:id="rId45"/>
    <p:sldId id="361" r:id="rId46"/>
    <p:sldId id="362" r:id="rId47"/>
  </p:sldIdLst>
  <p:sldSz cx="9144000" cy="6858000" type="screen4x3"/>
  <p:notesSz cx="7038975" cy="91852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ZapfHumnst BT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ZapfHumnst BT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ZapfHumnst BT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ZapfHumnst BT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ZapfHumnst BT" pitchFamily="34" charset="0"/>
        <a:ea typeface="+mn-ea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ZapfHumnst BT" pitchFamily="34" charset="0"/>
        <a:ea typeface="+mn-ea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ZapfHumnst BT" pitchFamily="34" charset="0"/>
        <a:ea typeface="+mn-ea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ZapfHumnst BT" pitchFamily="34" charset="0"/>
        <a:ea typeface="+mn-ea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ZapfHumnst BT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93">
          <p15:clr>
            <a:srgbClr val="A4A3A4"/>
          </p15:clr>
        </p15:guide>
        <p15:guide id="2" pos="221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  <a:srgbClr val="8A0E5E"/>
    <a:srgbClr val="CCCC00"/>
    <a:srgbClr val="0033CC"/>
    <a:srgbClr val="00008E"/>
    <a:srgbClr val="000042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59" autoAdjust="0"/>
    <p:restoredTop sz="77887" autoAdjust="0"/>
  </p:normalViewPr>
  <p:slideViewPr>
    <p:cSldViewPr>
      <p:cViewPr varScale="1">
        <p:scale>
          <a:sx n="90" d="100"/>
          <a:sy n="90" d="100"/>
        </p:scale>
        <p:origin x="229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114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66" d="100"/>
          <a:sy n="66" d="100"/>
        </p:scale>
        <p:origin x="-1566" y="-72"/>
      </p:cViewPr>
      <p:guideLst>
        <p:guide orient="horz" pos="2893"/>
        <p:guide pos="221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95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05" tIns="0" rIns="19305" bIns="0" numCol="1" anchor="t" anchorCtr="0" compatLnSpc="1">
            <a:prstTxWarp prst="textNoShape">
              <a:avLst/>
            </a:prstTxWarp>
          </a:bodyPr>
          <a:lstStyle>
            <a:lvl1pPr defTabSz="927100">
              <a:defRPr i="1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'XYZ' Instructor Notes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89388" y="0"/>
            <a:ext cx="30495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05" tIns="0" rIns="19305" bIns="0" numCol="1" anchor="t" anchorCtr="0" compatLnSpc="1">
            <a:prstTxWarp prst="textNoShape">
              <a:avLst/>
            </a:prstTxWarp>
          </a:bodyPr>
          <a:lstStyle>
            <a:lvl1pPr algn="r" defTabSz="927100">
              <a:defRPr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24900"/>
            <a:ext cx="30495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05" tIns="0" rIns="19305" bIns="0" numCol="1" anchor="b" anchorCtr="0" compatLnSpc="1">
            <a:prstTxWarp prst="textNoShape">
              <a:avLst/>
            </a:prstTxWarp>
          </a:bodyPr>
          <a:lstStyle>
            <a:lvl1pPr defTabSz="927100">
              <a:defRPr i="1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Module 'X' - &lt;name of module&gt;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89388" y="8724900"/>
            <a:ext cx="30495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05" tIns="0" rIns="19305" bIns="0" numCol="1" anchor="b" anchorCtr="0" compatLnSpc="1">
            <a:prstTxWarp prst="textNoShape">
              <a:avLst/>
            </a:prstTxWarp>
          </a:bodyPr>
          <a:lstStyle>
            <a:lvl1pPr algn="r" defTabSz="927100">
              <a:defRPr i="1">
                <a:latin typeface="Arial" charset="0"/>
              </a:defRPr>
            </a:lvl1pPr>
          </a:lstStyle>
          <a:p>
            <a:pPr>
              <a:defRPr/>
            </a:pPr>
            <a:fld id="{22E6E58A-1764-41D4-B9DE-77AAC6FD1C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3127375" y="8750300"/>
            <a:ext cx="781050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8482" tIns="45046" rIns="88482" bIns="45046">
            <a:spAutoFit/>
          </a:bodyPr>
          <a:lstStyle/>
          <a:p>
            <a:pPr algn="ctr" defTabSz="879475">
              <a:lnSpc>
                <a:spcPct val="90000"/>
              </a:lnSpc>
              <a:defRPr/>
            </a:pPr>
            <a:r>
              <a:rPr lang="en-US" sz="1200">
                <a:latin typeface="Arial" charset="0"/>
              </a:rPr>
              <a:t>Page </a:t>
            </a:r>
            <a:fld id="{6B71DD5D-27C6-4425-A61C-9C183909F856}" type="slidenum">
              <a:rPr lang="en-US" sz="1200">
                <a:latin typeface="Arial" charset="0"/>
              </a:rPr>
              <a:pPr algn="ctr" defTabSz="879475">
                <a:lnSpc>
                  <a:spcPct val="90000"/>
                </a:lnSpc>
                <a:defRPr/>
              </a:pPr>
              <a:t>‹#›</a:t>
            </a:fld>
            <a:endParaRPr lang="en-US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9207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70389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05" tIns="0" rIns="19305" bIns="0" numCol="1" anchor="t" anchorCtr="0" compatLnSpc="1">
            <a:prstTxWarp prst="textNoShape">
              <a:avLst/>
            </a:prstTxWarp>
          </a:bodyPr>
          <a:lstStyle>
            <a:lvl1pPr algn="ctr" defTabSz="927100">
              <a:defRPr sz="2800"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OOADv4.2 Instructor Notes</a:t>
            </a:r>
            <a:endParaRPr lang="en-US" i="1">
              <a:latin typeface="Arial" charset="0"/>
            </a:endParaRP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57163" y="8561388"/>
            <a:ext cx="30495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05" tIns="0" rIns="19305" bIns="0" numCol="1" anchor="b" anchorCtr="0" compatLnSpc="1">
            <a:prstTxWarp prst="textNoShape">
              <a:avLst/>
            </a:prstTxWarp>
          </a:bodyPr>
          <a:lstStyle>
            <a:lvl1pPr defTabSz="927100">
              <a:defRPr i="1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Module 5 - Analysis and Design Overview</a:t>
            </a: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6134100" y="8828088"/>
            <a:ext cx="661988" cy="22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8482" tIns="45046" rIns="88482" bIns="45046">
            <a:spAutoFit/>
          </a:bodyPr>
          <a:lstStyle/>
          <a:p>
            <a:pPr algn="ctr" defTabSz="879475">
              <a:lnSpc>
                <a:spcPct val="90000"/>
              </a:lnSpc>
              <a:defRPr/>
            </a:pPr>
            <a:r>
              <a:rPr lang="en-US">
                <a:latin typeface="Arial" charset="0"/>
              </a:rPr>
              <a:t>Page </a:t>
            </a:r>
            <a:fld id="{76607E00-A1D5-401E-AEDA-86019740118A}" type="slidenum">
              <a:rPr lang="en-US">
                <a:latin typeface="Arial" charset="0"/>
              </a:rPr>
              <a:pPr algn="ctr" defTabSz="879475"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charset="0"/>
            </a:endParaRPr>
          </a:p>
        </p:txBody>
      </p:sp>
      <p:sp>
        <p:nvSpPr>
          <p:cNvPr id="50181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63825" y="836613"/>
            <a:ext cx="4057650" cy="30432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9" name="Line 11"/>
          <p:cNvSpPr>
            <a:spLocks noChangeShapeType="1"/>
          </p:cNvSpPr>
          <p:nvPr/>
        </p:nvSpPr>
        <p:spPr bwMode="auto">
          <a:xfrm>
            <a:off x="157163" y="457200"/>
            <a:ext cx="6724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107950" tIns="53975" rIns="107950" bIns="53975" anchor="ctr"/>
          <a:lstStyle/>
          <a:p>
            <a:pPr>
              <a:defRPr/>
            </a:pPr>
            <a:endParaRPr lang="en-US"/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649538" y="4184650"/>
            <a:ext cx="4076700" cy="395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09" tIns="46655" rIns="93309" bIns="466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2060" name="Text Box 12"/>
          <p:cNvSpPr txBox="1">
            <a:spLocks noChangeArrowheads="1"/>
          </p:cNvSpPr>
          <p:nvPr/>
        </p:nvSpPr>
        <p:spPr bwMode="auto">
          <a:xfrm>
            <a:off x="53975" y="836613"/>
            <a:ext cx="19558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9397" tIns="54698" rIns="109397" bIns="54698">
            <a:spAutoFit/>
          </a:bodyPr>
          <a:lstStyle/>
          <a:p>
            <a:pPr defTabSz="927100">
              <a:spcBef>
                <a:spcPct val="50000"/>
              </a:spcBef>
              <a:defRPr/>
            </a:pPr>
            <a:r>
              <a:rPr lang="en-US" sz="1400">
                <a:latin typeface="Arial" charset="0"/>
              </a:rPr>
              <a:t>Instructor Notes:</a:t>
            </a:r>
            <a:endParaRPr lang="en-US">
              <a:latin typeface="Arial" charset="0"/>
            </a:endParaRPr>
          </a:p>
        </p:txBody>
      </p:sp>
      <p:sp>
        <p:nvSpPr>
          <p:cNvPr id="2061" name="Line 13"/>
          <p:cNvSpPr>
            <a:spLocks noChangeShapeType="1"/>
          </p:cNvSpPr>
          <p:nvPr/>
        </p:nvSpPr>
        <p:spPr bwMode="auto">
          <a:xfrm>
            <a:off x="2581275" y="836613"/>
            <a:ext cx="0" cy="7456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107950" tIns="53975" rIns="107950" bIns="53975" anchor="ctr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058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lnSpc>
        <a:spcPct val="87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lnSpc>
        <a:spcPct val="87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lnSpc>
        <a:spcPct val="87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lnSpc>
        <a:spcPct val="87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lnSpc>
        <a:spcPct val="87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OOADv4.2 Instructor Notes</a:t>
            </a:r>
            <a:endParaRPr lang="en-US" i="1"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Module 5 - Analysis and Design Overview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OOADv4.2 Instructor Notes</a:t>
            </a:r>
            <a:endParaRPr lang="en-US" i="1"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Module 5 - Analysis and Design Overview</a:t>
            </a:r>
          </a:p>
        </p:txBody>
      </p:sp>
    </p:spTree>
    <p:extLst>
      <p:ext uri="{BB962C8B-B14F-4D97-AF65-F5344CB8AC3E}">
        <p14:creationId xmlns:p14="http://schemas.microsoft.com/office/powerpoint/2010/main" val="209701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OOADv4.2 Instructor Notes</a:t>
            </a:r>
            <a:endParaRPr lang="en-US" i="1"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Module 5 - Analysis and Design Overview</a:t>
            </a:r>
          </a:p>
        </p:txBody>
      </p:sp>
    </p:spTree>
    <p:extLst>
      <p:ext uri="{BB962C8B-B14F-4D97-AF65-F5344CB8AC3E}">
        <p14:creationId xmlns:p14="http://schemas.microsoft.com/office/powerpoint/2010/main" val="271727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OOADv4.2 Instructor Notes</a:t>
            </a:r>
            <a:endParaRPr lang="en-US" sz="1000" i="1">
              <a:latin typeface="Arial" charset="0"/>
            </a:endParaRPr>
          </a:p>
        </p:txBody>
      </p:sp>
      <p:sp>
        <p:nvSpPr>
          <p:cNvPr id="68611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Module 5 - Analysis and Design Overview</a:t>
            </a:r>
            <a:endParaRPr lang="en-US">
              <a:latin typeface="ZapfHumnst BT" pitchFamily="34" charset="0"/>
            </a:endParaRPr>
          </a:p>
        </p:txBody>
      </p:sp>
      <p:sp>
        <p:nvSpPr>
          <p:cNvPr id="686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B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OOADv4.2 Instructor Notes</a:t>
            </a:r>
            <a:endParaRPr lang="en-US" sz="1000" i="1">
              <a:latin typeface="Arial" charset="0"/>
            </a:endParaRPr>
          </a:p>
        </p:txBody>
      </p:sp>
      <p:sp>
        <p:nvSpPr>
          <p:cNvPr id="69635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Module 5 - Analysis and Design Overview</a:t>
            </a:r>
            <a:endParaRPr lang="en-US">
              <a:latin typeface="ZapfHumnst BT" pitchFamily="34" charset="0"/>
            </a:endParaRPr>
          </a:p>
        </p:txBody>
      </p:sp>
      <p:sp>
        <p:nvSpPr>
          <p:cNvPr id="696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B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OOADv4.2 Instructor Notes</a:t>
            </a:r>
            <a:endParaRPr lang="en-US" sz="1000" i="1">
              <a:latin typeface="Arial" charset="0"/>
            </a:endParaRPr>
          </a:p>
        </p:txBody>
      </p:sp>
      <p:sp>
        <p:nvSpPr>
          <p:cNvPr id="70659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Module 5 - Analysis and Design Overview</a:t>
            </a:r>
            <a:endParaRPr lang="en-US">
              <a:latin typeface="ZapfHumnst BT" pitchFamily="34" charset="0"/>
            </a:endParaRPr>
          </a:p>
        </p:txBody>
      </p:sp>
      <p:sp>
        <p:nvSpPr>
          <p:cNvPr id="7066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nl-BE"/>
              <a:t>A-B*C/(D+E)-(F*G)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Redundancy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OOADv4.2 Instructor Notes</a:t>
            </a:r>
            <a:endParaRPr lang="en-US" i="1"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Module 5 - Analysis and Design Overview</a:t>
            </a:r>
          </a:p>
        </p:txBody>
      </p:sp>
    </p:spTree>
    <p:extLst>
      <p:ext uri="{BB962C8B-B14F-4D97-AF65-F5344CB8AC3E}">
        <p14:creationId xmlns:p14="http://schemas.microsoft.com/office/powerpoint/2010/main" val="1182986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/>
        </p:nvSpPr>
        <p:spPr>
          <a:xfrm flipV="1">
            <a:off x="228600" y="4724400"/>
            <a:ext cx="8686800" cy="1828800"/>
          </a:xfrm>
          <a:prstGeom prst="round2SameRect">
            <a:avLst>
              <a:gd name="adj1" fmla="val 10784"/>
              <a:gd name="adj2" fmla="val 0"/>
            </a:avLst>
          </a:prstGeom>
          <a:solidFill>
            <a:schemeClr val="tx2"/>
          </a:soli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ound Same Side Corner Rectangle 4"/>
          <p:cNvSpPr/>
          <p:nvPr/>
        </p:nvSpPr>
        <p:spPr>
          <a:xfrm>
            <a:off x="228600" y="228600"/>
            <a:ext cx="8686800" cy="4419600"/>
          </a:xfrm>
          <a:prstGeom prst="round2SameRect">
            <a:avLst>
              <a:gd name="adj1" fmla="val 2821"/>
              <a:gd name="adj2" fmla="val 0"/>
            </a:avLst>
          </a:prstGeom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609600" y="533400"/>
            <a:ext cx="7924800" cy="3886201"/>
          </a:xfrm>
        </p:spPr>
        <p:txBody>
          <a:bodyPr>
            <a:norm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subTitle" idx="1"/>
          </p:nvPr>
        </p:nvSpPr>
        <p:spPr>
          <a:xfrm>
            <a:off x="304800" y="4800600"/>
            <a:ext cx="8534400" cy="16002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Rectangle 5"/>
          <p:cNvSpPr>
            <a:spLocks noGrp="1"/>
          </p:cNvSpPr>
          <p:nvPr>
            <p:ph type="dt" sz="half" idx="10"/>
          </p:nvPr>
        </p:nvSpPr>
        <p:spPr>
          <a:xfrm>
            <a:off x="228600" y="6553200"/>
            <a:ext cx="2133600" cy="287338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89BC689-C10E-4775-AAB5-3AA7BA6F4499}" type="datetime1">
              <a:rPr lang="en-US"/>
              <a:pPr>
                <a:defRPr/>
              </a:pPr>
              <a:t>9/30/25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11"/>
          </p:nvPr>
        </p:nvSpPr>
        <p:spPr>
          <a:xfrm>
            <a:off x="2895600" y="6553200"/>
            <a:ext cx="3429000" cy="2873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12"/>
          </p:nvPr>
        </p:nvSpPr>
        <p:spPr>
          <a:xfrm>
            <a:off x="6858000" y="6553200"/>
            <a:ext cx="2057400" cy="2873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19D7B3-7A7D-4BF9-8918-BEF36913A1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46E192-EFA9-4F88-9453-0109421C18C4}" type="datetime1">
              <a:rPr lang="en-US"/>
              <a:pPr>
                <a:defRPr/>
              </a:pPr>
              <a:t>9/30/25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5ADF2-A38C-4FB5-B988-60690B731E4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/>
        </p:nvSpPr>
        <p:spPr>
          <a:xfrm>
            <a:off x="228600" y="228600"/>
            <a:ext cx="8686800" cy="4953000"/>
          </a:xfrm>
          <a:prstGeom prst="round2SameRect">
            <a:avLst>
              <a:gd name="adj1" fmla="val 2821"/>
              <a:gd name="adj2" fmla="val 0"/>
            </a:avLst>
          </a:prstGeom>
          <a:solidFill>
            <a:schemeClr val="tx2"/>
          </a:soli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ound Same Side Corner Rectangle 4"/>
          <p:cNvSpPr/>
          <p:nvPr/>
        </p:nvSpPr>
        <p:spPr>
          <a:xfrm flipV="1">
            <a:off x="228600" y="5257800"/>
            <a:ext cx="8686800" cy="1295400"/>
          </a:xfrm>
          <a:prstGeom prst="round2SameRect">
            <a:avLst>
              <a:gd name="adj1" fmla="val 10784"/>
              <a:gd name="adj2" fmla="val 0"/>
            </a:avLst>
          </a:prstGeom>
          <a:solidFill>
            <a:schemeClr val="accent1"/>
          </a:soli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685800" y="838200"/>
            <a:ext cx="7772400" cy="4191000"/>
          </a:xfrm>
        </p:spPr>
        <p:txBody>
          <a:bodyPr/>
          <a:lstStyle>
            <a:lvl1pPr algn="ctr">
              <a:defRPr sz="4800" b="0" cap="none" baseline="0">
                <a:solidFill>
                  <a:schemeClr val="bg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>
          <a:xfrm>
            <a:off x="722313" y="5410200"/>
            <a:ext cx="7772400" cy="10429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AA6A074-9AFA-4F6A-A341-00788C80FB55}" type="datetime1">
              <a:rPr lang="en-US"/>
              <a:pPr>
                <a:defRPr/>
              </a:pPr>
              <a:t>9/30/25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E3A54F-2697-46DC-95CB-D4D92C0046E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/>
          </p:cNvSpPr>
          <p:nvPr>
            <p:ph sz="half" idx="1"/>
          </p:nvPr>
        </p:nvSpPr>
        <p:spPr>
          <a:xfrm>
            <a:off x="301752" y="1600200"/>
            <a:ext cx="4160520" cy="47548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60520" cy="47548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D88A14-DDC1-4723-B624-E9DD1E605EF9}" type="datetime1">
              <a:rPr lang="en-US"/>
              <a:pPr>
                <a:defRPr/>
              </a:pPr>
              <a:t>9/30/25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EB8887-F15F-47D7-8832-988FC4B768B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>
          <a:xfrm>
            <a:off x="301752" y="1535112"/>
            <a:ext cx="4160520" cy="827087"/>
          </a:xfrm>
        </p:spPr>
        <p:txBody>
          <a:bodyPr anchor="ctr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>
              <a:contourClr>
                <a:schemeClr val="accent2">
                  <a:shade val="75000"/>
                </a:schemeClr>
              </a:contourClr>
            </a:sp3d>
          </a:bodyPr>
          <a:lstStyle>
            <a:lvl1pPr marL="0" indent="0" algn="ctr">
              <a:buNone/>
              <a:defRPr lang="en-US" sz="2400" b="0" dirty="0" smtClean="0">
                <a:ln w="11430"/>
                <a:solidFill>
                  <a:schemeClr val="tx2"/>
                </a:solidFill>
                <a:effectLst/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/>
          </p:cNvSpPr>
          <p:nvPr>
            <p:ph sz="half" idx="2"/>
          </p:nvPr>
        </p:nvSpPr>
        <p:spPr>
          <a:xfrm>
            <a:off x="301752" y="2373312"/>
            <a:ext cx="41605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body" sz="quarter" idx="3"/>
          </p:nvPr>
        </p:nvSpPr>
        <p:spPr>
          <a:xfrm>
            <a:off x="4645024" y="1535112"/>
            <a:ext cx="4160520" cy="827087"/>
          </a:xfrm>
        </p:spPr>
        <p:txBody>
          <a:bodyPr anchor="ctr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>
              <a:contourClr>
                <a:schemeClr val="accent2">
                  <a:shade val="75000"/>
                </a:schemeClr>
              </a:contourClr>
            </a:sp3d>
          </a:bodyPr>
          <a:lstStyle>
            <a:lvl1pPr marL="0" indent="0" algn="ctr">
              <a:buNone/>
              <a:defRPr lang="en-US" sz="2400" b="0" dirty="0" smtClean="0">
                <a:ln w="11430"/>
                <a:solidFill>
                  <a:schemeClr val="tx2"/>
                </a:solidFill>
                <a:effectLst/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5"/>
          <p:cNvSpPr>
            <a:spLocks noGrp="1"/>
          </p:cNvSpPr>
          <p:nvPr>
            <p:ph sz="quarter" idx="4"/>
          </p:nvPr>
        </p:nvSpPr>
        <p:spPr>
          <a:xfrm>
            <a:off x="4645024" y="2373312"/>
            <a:ext cx="41605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4A59A8-5832-4B22-BB8C-8C64CB2AD31B}" type="datetime1">
              <a:rPr lang="en-US"/>
              <a:pPr>
                <a:defRPr/>
              </a:pPr>
              <a:t>9/30/25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56C708-213F-49CE-9FD8-52E0A74E20C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D1848A-1D4C-4FCB-AB8C-705A54B9BF5E}" type="datetime1">
              <a:rPr lang="en-US"/>
              <a:pPr>
                <a:defRPr/>
              </a:pPr>
              <a:t>9/30/25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58737E-7E89-4D25-99E3-F64F7CA5AF9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9B608D-C54C-4711-9CEA-7E6BDD7ABE71}" type="datetime1">
              <a:rPr lang="en-US"/>
              <a:pPr>
                <a:defRPr/>
              </a:pPr>
              <a:t>9/30/25</a:t>
            </a:fld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080655-7B96-4643-A033-1F127884B67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Same Side Corner Rectangle 4"/>
          <p:cNvSpPr/>
          <p:nvPr/>
        </p:nvSpPr>
        <p:spPr>
          <a:xfrm>
            <a:off x="228600" y="152400"/>
            <a:ext cx="8686800" cy="1295400"/>
          </a:xfrm>
          <a:prstGeom prst="round2SameRect">
            <a:avLst>
              <a:gd name="adj1" fmla="val 4902"/>
              <a:gd name="adj2" fmla="val 0"/>
            </a:avLst>
          </a:prstGeom>
          <a:solidFill>
            <a:schemeClr val="accent1"/>
          </a:soli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228600" y="6529388"/>
            <a:ext cx="8686800" cy="1587"/>
          </a:xfrm>
          <a:prstGeom prst="line">
            <a:avLst/>
          </a:prstGeom>
          <a:ln w="12700" cap="rnd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Rectangle 6"/>
          <p:cNvSpPr/>
          <p:nvPr/>
        </p:nvSpPr>
        <p:spPr>
          <a:xfrm>
            <a:off x="4876800" y="152400"/>
            <a:ext cx="3581400" cy="1295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967288" y="152400"/>
            <a:ext cx="3400425" cy="1295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4495800" cy="1143000"/>
          </a:xfrm>
        </p:spPr>
        <p:txBody>
          <a:bodyPr/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7244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type="body" sz="half" idx="2"/>
          </p:nvPr>
        </p:nvSpPr>
        <p:spPr>
          <a:xfrm>
            <a:off x="5105400" y="228600"/>
            <a:ext cx="3200400" cy="1143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4C43067-9788-49C0-AB6D-4F139C184A04}" type="datetime1">
              <a:rPr lang="en-US"/>
              <a:pPr>
                <a:defRPr/>
              </a:pPr>
              <a:t>9/30/25</a:t>
            </a:fld>
            <a:endParaRPr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A86E4C-BE6B-4749-B9F1-179B070B57D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Same Side Corner Rectangle 4"/>
          <p:cNvSpPr/>
          <p:nvPr/>
        </p:nvSpPr>
        <p:spPr>
          <a:xfrm>
            <a:off x="228600" y="152400"/>
            <a:ext cx="8686800" cy="1295400"/>
          </a:xfrm>
          <a:prstGeom prst="round2SameRect">
            <a:avLst>
              <a:gd name="adj1" fmla="val 4902"/>
              <a:gd name="adj2" fmla="val 0"/>
            </a:avLst>
          </a:prstGeom>
          <a:solidFill>
            <a:schemeClr val="accent1"/>
          </a:soli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6" name="Rectangle 5"/>
          <p:cNvSpPr/>
          <p:nvPr/>
        </p:nvSpPr>
        <p:spPr>
          <a:xfrm>
            <a:off x="4876800" y="152400"/>
            <a:ext cx="3581400" cy="1295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967288" y="152400"/>
            <a:ext cx="3400425" cy="1295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228600" y="6529388"/>
            <a:ext cx="8686800" cy="1587"/>
          </a:xfrm>
          <a:prstGeom prst="line">
            <a:avLst/>
          </a:prstGeom>
          <a:ln w="12700" cap="rnd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>
            <a:spLocks noGrp="1"/>
          </p:cNvSpPr>
          <p:nvPr>
            <p:ph type="pic" idx="1"/>
          </p:nvPr>
        </p:nvSpPr>
        <p:spPr>
          <a:xfrm>
            <a:off x="228600" y="1524000"/>
            <a:ext cx="8686800" cy="4910328"/>
          </a:xfrm>
          <a:solidFill>
            <a:schemeClr val="bg2"/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4495800" cy="1143000"/>
          </a:xfrm>
        </p:spPr>
        <p:txBody>
          <a:bodyPr/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type="body" sz="half" idx="2"/>
          </p:nvPr>
        </p:nvSpPr>
        <p:spPr>
          <a:xfrm>
            <a:off x="5105400" y="228600"/>
            <a:ext cx="3200400" cy="1143000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DF340F5-1B14-4A2B-87CE-C3EBFEF65FDF}" type="datetime1">
              <a:rPr lang="en-US"/>
              <a:pPr>
                <a:defRPr/>
              </a:pPr>
              <a:t>9/30/25</a:t>
            </a:fld>
            <a:endParaRPr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4D8BF7-1EF9-4934-A727-4D7A3E8792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C3F9BC-A2A0-4CA8-99CE-8675C90B8EC6}" type="datetime1">
              <a:rPr lang="en-US"/>
              <a:pPr>
                <a:defRPr/>
              </a:pPr>
              <a:t>9/30/25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736BB9-4DEE-44AE-A891-6B3FE85D71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/>
        </p:nvSpPr>
        <p:spPr>
          <a:xfrm rot="5400000">
            <a:off x="4862513" y="2300287"/>
            <a:ext cx="6096000" cy="1952625"/>
          </a:xfrm>
          <a:prstGeom prst="round2SameRect">
            <a:avLst>
              <a:gd name="adj1" fmla="val 4902"/>
              <a:gd name="adj2" fmla="val 0"/>
            </a:avLst>
          </a:prstGeom>
          <a:solidFill>
            <a:schemeClr val="accent1"/>
          </a:soli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228600" y="6529388"/>
            <a:ext cx="8686800" cy="1587"/>
          </a:xfrm>
          <a:prstGeom prst="line">
            <a:avLst/>
          </a:prstGeom>
          <a:ln w="12700" cap="rnd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400800" cy="6049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/>
          <p:cNvSpPr>
            <a:spLocks noGrp="1"/>
          </p:cNvSpPr>
          <p:nvPr>
            <p:ph type="title" orient="vert"/>
          </p:nvPr>
        </p:nvSpPr>
        <p:spPr>
          <a:xfrm>
            <a:off x="7029450" y="274638"/>
            <a:ext cx="1752600" cy="5973762"/>
          </a:xfrm>
        </p:spPr>
        <p:txBody>
          <a:bodyPr vert="eaVert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4B94DBC-D913-4695-9EC7-780C10EE742C}" type="datetime1">
              <a:rPr lang="en-US"/>
              <a:pPr>
                <a:defRPr/>
              </a:pPr>
              <a:t>9/30/25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5DD3BD-B0A7-4CE1-9B0F-65DD504F7D6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/>
          <p:cNvSpPr/>
          <p:nvPr/>
        </p:nvSpPr>
        <p:spPr>
          <a:xfrm>
            <a:off x="228600" y="152400"/>
            <a:ext cx="8686800" cy="1295400"/>
          </a:xfrm>
          <a:prstGeom prst="round2SameRect">
            <a:avLst>
              <a:gd name="adj1" fmla="val 4902"/>
              <a:gd name="adj2" fmla="val 0"/>
            </a:avLst>
          </a:prstGeom>
          <a:solidFill>
            <a:schemeClr val="accent1"/>
          </a:soli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304800" y="274638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04800" y="1600200"/>
            <a:ext cx="85344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6521450"/>
            <a:ext cx="2133600" cy="3190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AB6FC9BD-A27E-4C04-BB85-351BACCEBBD6}" type="datetime1">
              <a:rPr lang="en-US"/>
              <a:pPr>
                <a:defRPr/>
              </a:pPr>
              <a:t>9/30/25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600" y="6521450"/>
            <a:ext cx="3429000" cy="3190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1800" y="6521450"/>
            <a:ext cx="2133600" cy="3190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0412214-86A2-4026-B676-E45B25427FB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28600" y="6524625"/>
            <a:ext cx="8686800" cy="1588"/>
          </a:xfrm>
          <a:prstGeom prst="line">
            <a:avLst/>
          </a:prstGeom>
          <a:ln w="12700" cap="rnd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64" r:id="rId2"/>
    <p:sldLayoutId id="2147483870" r:id="rId3"/>
    <p:sldLayoutId id="2147483865" r:id="rId4"/>
    <p:sldLayoutId id="2147483866" r:id="rId5"/>
    <p:sldLayoutId id="2147483867" r:id="rId6"/>
    <p:sldLayoutId id="2147483871" r:id="rId7"/>
    <p:sldLayoutId id="2147483872" r:id="rId8"/>
    <p:sldLayoutId id="2147483873" r:id="rId9"/>
    <p:sldLayoutId id="2147483868" r:id="rId10"/>
    <p:sldLayoutId id="214748387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FFFF"/>
          </a:solidFill>
          <a:latin typeface="Arial Black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FFFF"/>
          </a:solidFill>
          <a:latin typeface="Arial Black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FFFF"/>
          </a:solidFill>
          <a:latin typeface="Arial Black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FFFF"/>
          </a:solidFill>
          <a:latin typeface="Arial Black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FFFFFF"/>
          </a:solidFill>
          <a:latin typeface="Arial Black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FFFFFF"/>
          </a:solidFill>
          <a:latin typeface="Arial Black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FFFFFF"/>
          </a:solidFill>
          <a:latin typeface="Arial Black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FFFFFF"/>
          </a:solidFill>
          <a:latin typeface="Arial Black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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0250" indent="-182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4888" indent="-182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100000"/>
        <a:buFont typeface="Arial" charset="0"/>
        <a:buChar char="•"/>
        <a:defRPr kern="1200">
          <a:solidFill>
            <a:schemeClr val="tx2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4630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73736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194560" indent="-182880" algn="l" defTabSz="914400" rtl="0" eaLnBrk="1" latinLnBrk="0" hangingPunct="1">
        <a:spcBef>
          <a:spcPts val="310"/>
        </a:spcBef>
        <a:buClr>
          <a:schemeClr val="accent2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3"/>
          <p:cNvSpPr>
            <a:spLocks noGrp="1"/>
          </p:cNvSpPr>
          <p:nvPr>
            <p:ph type="ctrTitle"/>
          </p:nvPr>
        </p:nvSpPr>
        <p:spPr>
          <a:xfrm>
            <a:off x="609600" y="533400"/>
            <a:ext cx="7924800" cy="3886200"/>
          </a:xfrm>
        </p:spPr>
        <p:txBody>
          <a:bodyPr/>
          <a:lstStyle/>
          <a:p>
            <a:pPr eaLnBrk="1" hangingPunct="1"/>
            <a:r>
              <a:rPr lang="en-US"/>
              <a:t>Stack &amp; queue</a:t>
            </a:r>
          </a:p>
        </p:txBody>
      </p:sp>
      <p:sp>
        <p:nvSpPr>
          <p:cNvPr id="819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Kind of structure</a:t>
            </a:r>
          </a:p>
        </p:txBody>
      </p:sp>
      <p:sp>
        <p:nvSpPr>
          <p:cNvPr id="9219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/>
              <a:t>Data storage structure that is </a:t>
            </a:r>
          </a:p>
          <a:p>
            <a:pPr eaLnBrk="1" hangingPunct="1"/>
            <a:r>
              <a:rPr lang="en-US"/>
              <a:t>Used in database application </a:t>
            </a:r>
            <a:br>
              <a:rPr lang="en-US"/>
            </a:br>
            <a:r>
              <a:rPr lang="en-US"/>
              <a:t>	Array, linked lists, trees, etc</a:t>
            </a:r>
          </a:p>
          <a:p>
            <a:pPr lvl="1" eaLnBrk="1" hangingPunct="1">
              <a:buFont typeface="Wingdings" pitchFamily="2" charset="2"/>
              <a:buChar char="à"/>
            </a:pPr>
            <a:r>
              <a:rPr lang="en-US"/>
              <a:t> Easy to Insert, Delete and Search</a:t>
            </a:r>
          </a:p>
          <a:p>
            <a:pPr eaLnBrk="1" hangingPunct="1"/>
            <a:r>
              <a:rPr lang="en-US"/>
              <a:t>Used as programmer’s tools</a:t>
            </a:r>
            <a:br>
              <a:rPr lang="en-US"/>
            </a:br>
            <a:r>
              <a:rPr lang="en-US"/>
              <a:t>	Stacks, queues, etc</a:t>
            </a:r>
          </a:p>
          <a:p>
            <a:pPr lvl="1" eaLnBrk="1" hangingPunct="1">
              <a:buFont typeface="Wingdings" pitchFamily="2" charset="2"/>
              <a:buChar char="à"/>
            </a:pPr>
            <a:r>
              <a:rPr lang="en-US">
                <a:sym typeface="Wingdings" pitchFamily="2" charset="2"/>
              </a:rPr>
              <a:t> Restricted access</a:t>
            </a:r>
          </a:p>
          <a:p>
            <a:pPr lvl="1" eaLnBrk="1" hangingPunct="1">
              <a:buFont typeface="Wingdings" pitchFamily="2" charset="2"/>
              <a:buChar char="à"/>
            </a:pPr>
            <a:r>
              <a:rPr lang="en-US"/>
              <a:t> More abstract: underlying mechanism can be array or list, ..</a:t>
            </a:r>
          </a:p>
          <a:p>
            <a:pPr lvl="1" eaLnBrk="1" hangingPunct="1"/>
            <a:endParaRPr lang="en-US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B26B5E4-70D6-456C-94D1-C97FDA0A5B01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Outline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Stacks</a:t>
            </a:r>
          </a:p>
          <a:p>
            <a:pPr eaLnBrk="1" hangingPunct="1"/>
            <a:r>
              <a:rPr lang="en-US"/>
              <a:t>Queues</a:t>
            </a:r>
          </a:p>
          <a:p>
            <a:pPr eaLnBrk="1" hangingPunct="1"/>
            <a:r>
              <a:rPr lang="en-US"/>
              <a:t>Priority Queues</a:t>
            </a:r>
          </a:p>
          <a:p>
            <a:pPr eaLnBrk="1" hangingPunct="1"/>
            <a:r>
              <a:rPr lang="en-US"/>
              <a:t>Parsing Arithmetic Expressions</a:t>
            </a: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548A801-4143-4F95-A042-56757E4D1A3D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Stack</a:t>
            </a:r>
          </a:p>
        </p:txBody>
      </p:sp>
      <p:sp>
        <p:nvSpPr>
          <p:cNvPr id="11267" name="Text Placeholder 5"/>
          <p:cNvSpPr>
            <a:spLocks noGrp="1"/>
          </p:cNvSpPr>
          <p:nvPr>
            <p:ph type="body" idx="1"/>
          </p:nvPr>
        </p:nvSpPr>
        <p:spPr>
          <a:xfrm>
            <a:off x="722313" y="5410200"/>
            <a:ext cx="7772400" cy="1042988"/>
          </a:xfrm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0F5268E-205A-47FF-97D1-E7CCBC827BA8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Introduction</a:t>
            </a:r>
          </a:p>
        </p:txBody>
      </p:sp>
      <p:pic>
        <p:nvPicPr>
          <p:cNvPr id="12291" name="Picture 2" descr="D:\Teaching\DataStructureAndAlgorithmInJava\Img\MessageSpike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 l="35210" r="1077" b="7018"/>
          <a:stretch>
            <a:fillRect/>
          </a:stretch>
        </p:blipFill>
        <p:spPr>
          <a:xfrm>
            <a:off x="309563" y="1524000"/>
            <a:ext cx="4144962" cy="4906963"/>
          </a:xfrm>
        </p:spPr>
      </p:pic>
      <p:sp>
        <p:nvSpPr>
          <p:cNvPr id="12292" name="Content Placeholder 10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60838" cy="4754563"/>
          </a:xfrm>
        </p:spPr>
        <p:txBody>
          <a:bodyPr/>
          <a:lstStyle/>
          <a:p>
            <a:pPr eaLnBrk="1" hangingPunct="1"/>
            <a:r>
              <a:rPr lang="en-US"/>
              <a:t>Accessible item ?</a:t>
            </a:r>
          </a:p>
          <a:p>
            <a:pPr lvl="1" eaLnBrk="1" hangingPunct="1">
              <a:buFont typeface="Wingdings" pitchFamily="2" charset="2"/>
              <a:buChar char="à"/>
            </a:pPr>
            <a:r>
              <a:rPr lang="en-US"/>
              <a:t>Last inserted item</a:t>
            </a:r>
          </a:p>
          <a:p>
            <a:pPr lvl="1" eaLnBrk="1" hangingPunct="1">
              <a:buFont typeface="Wingdings" pitchFamily="2" charset="2"/>
              <a:buChar char="à"/>
            </a:pPr>
            <a:r>
              <a:rPr lang="en-US"/>
              <a:t>Last in, first out (LIFO)</a:t>
            </a:r>
          </a:p>
          <a:p>
            <a:pPr eaLnBrk="1" hangingPunct="1"/>
            <a:r>
              <a:rPr lang="en-US"/>
              <a:t>Operations</a:t>
            </a:r>
          </a:p>
          <a:p>
            <a:pPr lvl="1" eaLnBrk="1" hangingPunct="1"/>
            <a:r>
              <a:rPr lang="en-US"/>
              <a:t>Push ?</a:t>
            </a:r>
          </a:p>
          <a:p>
            <a:pPr lvl="1" eaLnBrk="1" hangingPunct="1"/>
            <a:r>
              <a:rPr lang="en-US"/>
              <a:t>Pop ?</a:t>
            </a:r>
          </a:p>
          <a:p>
            <a:pPr lvl="1" eaLnBrk="1" hangingPunct="1"/>
            <a:r>
              <a:rPr lang="en-US"/>
              <a:t>Peek ?</a:t>
            </a:r>
          </a:p>
          <a:p>
            <a:pPr eaLnBrk="1" hangingPunct="1"/>
            <a:r>
              <a:rPr lang="en-US"/>
              <a:t>Properties</a:t>
            </a:r>
          </a:p>
          <a:p>
            <a:pPr lvl="1" eaLnBrk="1" hangingPunct="1"/>
            <a:r>
              <a:rPr lang="en-US"/>
              <a:t>Stack Overflow (Full)</a:t>
            </a:r>
          </a:p>
          <a:p>
            <a:pPr lvl="1" eaLnBrk="1" hangingPunct="1"/>
            <a:r>
              <a:rPr lang="en-US"/>
              <a:t>Stack Underflow (Empty)</a:t>
            </a:r>
          </a:p>
        </p:txBody>
      </p:sp>
      <p:sp>
        <p:nvSpPr>
          <p:cNvPr id="12293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1BE44AB-98AB-42BC-9187-BEDD7119A7A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Stack info</a:t>
            </a:r>
          </a:p>
        </p:txBody>
      </p:sp>
      <p:sp>
        <p:nvSpPr>
          <p:cNvPr id="13315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Info must be managed?</a:t>
            </a:r>
          </a:p>
          <a:p>
            <a:pPr lvl="1" eaLnBrk="1" hangingPunct="1"/>
            <a:r>
              <a:rPr lang="en-US"/>
              <a:t>Stack size (is full?)</a:t>
            </a:r>
          </a:p>
          <a:p>
            <a:pPr lvl="1" eaLnBrk="1" hangingPunct="1"/>
            <a:r>
              <a:rPr lang="en-US"/>
              <a:t>Number of element (is empty?)</a:t>
            </a:r>
          </a:p>
          <a:p>
            <a:pPr lvl="1" eaLnBrk="1" hangingPunct="1"/>
            <a:r>
              <a:rPr lang="en-US"/>
              <a:t>Top item (accessible item)</a:t>
            </a:r>
          </a:p>
          <a:p>
            <a:pPr lvl="1" eaLnBrk="1" hangingPunct="1"/>
            <a:endParaRPr lang="en-US"/>
          </a:p>
        </p:txBody>
      </p:sp>
      <p:sp>
        <p:nvSpPr>
          <p:cNvPr id="13316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63D9C28-127A-414A-8B52-BCD7399D4DF9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Operations</a:t>
            </a:r>
          </a:p>
        </p:txBody>
      </p:sp>
      <p:sp>
        <p:nvSpPr>
          <p:cNvPr id="14339" name="Content Placeholder 6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en-US"/>
              <a:t>Push</a:t>
            </a:r>
          </a:p>
        </p:txBody>
      </p:sp>
      <p:sp>
        <p:nvSpPr>
          <p:cNvPr id="14340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7EB452A-9253-4482-B5C9-02ECE387A0C4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4341" name="Picture 4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 cstate="print"/>
          <a:srcRect l="1613" t="401" r="3226" b="-848"/>
          <a:stretch>
            <a:fillRect/>
          </a:stretch>
        </p:blipFill>
        <p:spPr>
          <a:xfrm>
            <a:off x="1219200" y="1524000"/>
            <a:ext cx="6494463" cy="4953000"/>
          </a:xfr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Operations</a:t>
            </a:r>
          </a:p>
        </p:txBody>
      </p:sp>
      <p:sp>
        <p:nvSpPr>
          <p:cNvPr id="15363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en-US"/>
              <a:t>Pop</a:t>
            </a:r>
          </a:p>
        </p:txBody>
      </p:sp>
      <p:sp>
        <p:nvSpPr>
          <p:cNvPr id="1536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AB60A65-4808-4EE9-AEE2-9C4DB33CA72D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5365" name="Picture 2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 cstate="print"/>
          <a:srcRect l="2470" r="2472" b="684"/>
          <a:stretch>
            <a:fillRect/>
          </a:stretch>
        </p:blipFill>
        <p:spPr>
          <a:xfrm>
            <a:off x="228600" y="1778000"/>
            <a:ext cx="8686800" cy="4368800"/>
          </a:xfr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Application</a:t>
            </a:r>
          </a:p>
        </p:txBody>
      </p:sp>
      <p:sp>
        <p:nvSpPr>
          <p:cNvPr id="1638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Reversing an array/ a word 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Delimiter Matching</a:t>
            </a:r>
          </a:p>
          <a:p>
            <a:pPr lvl="1" eaLnBrk="1" hangingPunct="1"/>
            <a:r>
              <a:rPr lang="en-US" dirty="0"/>
              <a:t>100 * (100 – 50)		</a:t>
            </a:r>
            <a:r>
              <a:rPr lang="en-US" dirty="0">
                <a:sym typeface="Wingdings" pitchFamily="2" charset="2"/>
              </a:rPr>
              <a:t> Correct</a:t>
            </a:r>
            <a:endParaRPr lang="en-US" dirty="0"/>
          </a:p>
          <a:p>
            <a:pPr lvl="1" eaLnBrk="1" hangingPunct="1"/>
            <a:r>
              <a:rPr lang="en-US" dirty="0"/>
              <a:t>[100 * (100 – 50)] /2	</a:t>
            </a:r>
            <a:r>
              <a:rPr lang="en-US" dirty="0">
                <a:sym typeface="Wingdings" pitchFamily="2" charset="2"/>
              </a:rPr>
              <a:t> Correct</a:t>
            </a:r>
            <a:endParaRPr lang="en-US" dirty="0"/>
          </a:p>
          <a:p>
            <a:pPr lvl="1" eaLnBrk="1" hangingPunct="1"/>
            <a:r>
              <a:rPr lang="en-US" dirty="0"/>
              <a:t>[100 * (100 – 50)} /2	</a:t>
            </a:r>
            <a:r>
              <a:rPr lang="en-US" dirty="0">
                <a:sym typeface="Wingdings" pitchFamily="2" charset="2"/>
              </a:rPr>
              <a:t> Incorrect, error on }</a:t>
            </a:r>
            <a:endParaRPr lang="en-US" dirty="0"/>
          </a:p>
          <a:p>
            <a:pPr lvl="1" eaLnBrk="1" hangingPunct="1"/>
            <a:r>
              <a:rPr lang="en-US" dirty="0"/>
              <a:t>[100 * (100 – 50) /2	</a:t>
            </a:r>
            <a:r>
              <a:rPr lang="en-US" dirty="0">
                <a:sym typeface="Wingdings" pitchFamily="2" charset="2"/>
              </a:rPr>
              <a:t> Incorrect, error on [</a:t>
            </a:r>
            <a:endParaRPr lang="en-US" dirty="0"/>
          </a:p>
          <a:p>
            <a:pPr lvl="1" eaLnBrk="1" hangingPunct="1"/>
            <a:r>
              <a:rPr lang="en-US" dirty="0"/>
              <a:t>(100 * (100 – 50))) /2	</a:t>
            </a:r>
            <a:r>
              <a:rPr lang="en-US" dirty="0">
                <a:sym typeface="Wingdings" pitchFamily="2" charset="2"/>
              </a:rPr>
              <a:t> Incorrect, error on )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16388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FDA0903-B156-4DE5-9218-98E0C1A4A105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04800" y="2193925"/>
          <a:ext cx="8534400" cy="556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100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120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150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200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250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How would you do it?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Reversing an array</a:t>
            </a: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2548209-8783-4546-889F-D268578C1670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800" y="2193925"/>
          <a:ext cx="8534400" cy="556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100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120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150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200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250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47800" y="3052763"/>
          <a:ext cx="1371600" cy="2726765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45353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250</a:t>
                      </a:r>
                    </a:p>
                  </a:txBody>
                  <a:tcPr marL="134471" marR="134471" marT="67235" marB="6723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353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200</a:t>
                      </a:r>
                    </a:p>
                  </a:txBody>
                  <a:tcPr marL="134471" marR="134471" marT="67235" marB="6723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353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150</a:t>
                      </a:r>
                    </a:p>
                  </a:txBody>
                  <a:tcPr marL="134471" marR="134471" marT="67235" marB="6723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353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120</a:t>
                      </a:r>
                    </a:p>
                  </a:txBody>
                  <a:tcPr marL="134471" marR="134471" marT="67235" marB="6723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353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100</a:t>
                      </a:r>
                    </a:p>
                  </a:txBody>
                  <a:tcPr marL="134471" marR="134471" marT="67235" marB="6723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505200" y="4572000"/>
          <a:ext cx="4876800" cy="556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250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200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150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120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100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Curved Up Arrow 9"/>
          <p:cNvSpPr/>
          <p:nvPr/>
        </p:nvSpPr>
        <p:spPr>
          <a:xfrm rot="4058217">
            <a:off x="381000" y="2971800"/>
            <a:ext cx="914400" cy="7620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urved Down Arrow 10"/>
          <p:cNvSpPr/>
          <p:nvPr/>
        </p:nvSpPr>
        <p:spPr>
          <a:xfrm rot="2846230">
            <a:off x="3063875" y="3313113"/>
            <a:ext cx="1341437" cy="82073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How would you do it?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Delimiter Matching</a:t>
            </a:r>
          </a:p>
          <a:p>
            <a:pPr marL="273050" lvl="1" indent="-273050" eaLnBrk="1" hangingPunct="1">
              <a:buFont typeface="Wingdings 2" pitchFamily="18" charset="2"/>
              <a:buNone/>
            </a:pPr>
            <a:r>
              <a:rPr lang="en-US" sz="4000"/>
              <a:t>(a * [b – c]) / d</a:t>
            </a: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DEE61F3-8E0C-4A17-8C65-394423C41F17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48400" y="1524000"/>
          <a:ext cx="2667000" cy="499872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4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Character</a:t>
                      </a:r>
                      <a:r>
                        <a:rPr lang="en-US" baseline="0" dirty="0"/>
                        <a:t> Read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Stack contents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57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(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57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(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57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(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57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([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57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([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57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([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57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([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57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(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657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657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657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code in page 130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5ADF2-A38C-4FB5-B988-60690B731E4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Efficiency of Stacks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Complexity of </a:t>
            </a:r>
          </a:p>
          <a:p>
            <a:pPr lvl="1" eaLnBrk="1" hangingPunct="1"/>
            <a:r>
              <a:rPr lang="en-US"/>
              <a:t>Push</a:t>
            </a:r>
          </a:p>
          <a:p>
            <a:pPr lvl="1" eaLnBrk="1" hangingPunct="1"/>
            <a:r>
              <a:rPr lang="en-US"/>
              <a:t>Pop</a:t>
            </a:r>
          </a:p>
          <a:p>
            <a:pPr lvl="1" eaLnBrk="1" hangingPunct="1"/>
            <a:r>
              <a:rPr lang="en-US"/>
              <a:t>Peek</a:t>
            </a:r>
          </a:p>
          <a:p>
            <a:pPr lvl="1" eaLnBrk="1" hangingPunct="1"/>
            <a:endParaRPr lang="en-US"/>
          </a:p>
          <a:p>
            <a:pPr lvl="1" eaLnBrk="1" hangingPunct="1"/>
            <a:r>
              <a:rPr lang="en-US">
                <a:sym typeface="Wingdings" pitchFamily="2" charset="2"/>
              </a:rPr>
              <a:t> All of them are O(1)</a:t>
            </a:r>
            <a:endParaRPr lang="en-US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528002C-907D-4F7E-AFC3-FC9ADAAFDC13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Queue</a:t>
            </a:r>
          </a:p>
        </p:txBody>
      </p:sp>
      <p:sp>
        <p:nvSpPr>
          <p:cNvPr id="20483" name="Text Placeholder 5"/>
          <p:cNvSpPr>
            <a:spLocks noGrp="1"/>
          </p:cNvSpPr>
          <p:nvPr>
            <p:ph type="body" idx="1"/>
          </p:nvPr>
        </p:nvSpPr>
        <p:spPr>
          <a:xfrm>
            <a:off x="722313" y="5410200"/>
            <a:ext cx="7772400" cy="1042988"/>
          </a:xfrm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4A61281-19A4-49A0-BDBF-F5E35236EC15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Introduction</a:t>
            </a:r>
          </a:p>
        </p:txBody>
      </p:sp>
      <p:sp>
        <p:nvSpPr>
          <p:cNvPr id="21507" name="Content Placeholder 7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60838" cy="4754563"/>
          </a:xfrm>
        </p:spPr>
        <p:txBody>
          <a:bodyPr/>
          <a:lstStyle/>
          <a:p>
            <a:pPr eaLnBrk="1" hangingPunct="1"/>
            <a:r>
              <a:rPr lang="en-US" dirty="0"/>
              <a:t>Accessible item ?</a:t>
            </a:r>
          </a:p>
          <a:p>
            <a:pPr lvl="1" eaLnBrk="1" hangingPunct="1">
              <a:buFont typeface="Wingdings" pitchFamily="2" charset="2"/>
              <a:buChar char="à"/>
            </a:pPr>
            <a:r>
              <a:rPr lang="en-US" dirty="0"/>
              <a:t>First inserted item</a:t>
            </a:r>
          </a:p>
          <a:p>
            <a:pPr lvl="1" eaLnBrk="1" hangingPunct="1">
              <a:buFont typeface="Wingdings" pitchFamily="2" charset="2"/>
              <a:buChar char="à"/>
            </a:pPr>
            <a:r>
              <a:rPr lang="en-US" dirty="0"/>
              <a:t>First in, first out (FIFO)</a:t>
            </a:r>
          </a:p>
          <a:p>
            <a:pPr eaLnBrk="1" hangingPunct="1"/>
            <a:r>
              <a:rPr lang="en-US" dirty="0"/>
              <a:t>Tail / Head of queue</a:t>
            </a:r>
          </a:p>
          <a:p>
            <a:pPr eaLnBrk="1" hangingPunct="1"/>
            <a:r>
              <a:rPr lang="en-US" dirty="0"/>
              <a:t>Operations</a:t>
            </a:r>
          </a:p>
          <a:p>
            <a:pPr lvl="1" eaLnBrk="1" hangingPunct="1"/>
            <a:r>
              <a:rPr lang="en-US" dirty="0"/>
              <a:t>Insert / </a:t>
            </a:r>
            <a:r>
              <a:rPr lang="en-US" dirty="0" err="1"/>
              <a:t>Enqueue</a:t>
            </a:r>
            <a:endParaRPr lang="en-US" dirty="0"/>
          </a:p>
          <a:p>
            <a:pPr lvl="1" eaLnBrk="1" hangingPunct="1"/>
            <a:r>
              <a:rPr lang="en-US" dirty="0"/>
              <a:t>Remove / </a:t>
            </a:r>
            <a:r>
              <a:rPr lang="en-US" dirty="0" err="1"/>
              <a:t>Dequeue</a:t>
            </a:r>
            <a:endParaRPr lang="en-US" dirty="0"/>
          </a:p>
          <a:p>
            <a:pPr eaLnBrk="1" hangingPunct="1"/>
            <a:r>
              <a:rPr lang="en-US" dirty="0"/>
              <a:t>Properties</a:t>
            </a:r>
          </a:p>
          <a:p>
            <a:pPr lvl="1" eaLnBrk="1" hangingPunct="1"/>
            <a:r>
              <a:rPr lang="en-US" dirty="0"/>
              <a:t>Full</a:t>
            </a:r>
          </a:p>
          <a:p>
            <a:pPr lvl="1" eaLnBrk="1" hangingPunct="1"/>
            <a:r>
              <a:rPr lang="en-US" dirty="0"/>
              <a:t>Empty</a:t>
            </a: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55FBE25-220D-4DEC-B0D5-CDB7A498184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21509" name="Picture 2" descr="D:\Teaching\DataStructureAndAlgorithmInJava\Img\Queue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23850" y="2667000"/>
            <a:ext cx="4116388" cy="2620963"/>
          </a:xfr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Queue info</a:t>
            </a:r>
          </a:p>
        </p:txBody>
      </p:sp>
      <p:sp>
        <p:nvSpPr>
          <p:cNvPr id="13315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Info must be managed?</a:t>
            </a:r>
          </a:p>
          <a:p>
            <a:pPr lvl="1" eaLnBrk="1" hangingPunct="1"/>
            <a:r>
              <a:rPr lang="en-US" dirty="0"/>
              <a:t>Queue size (is full?)</a:t>
            </a:r>
          </a:p>
          <a:p>
            <a:pPr lvl="1" eaLnBrk="1" hangingPunct="1"/>
            <a:r>
              <a:rPr lang="en-US" dirty="0"/>
              <a:t>Number of element (is empty?)</a:t>
            </a:r>
          </a:p>
          <a:p>
            <a:pPr lvl="1" eaLnBrk="1" hangingPunct="1"/>
            <a:r>
              <a:rPr lang="en-US" dirty="0"/>
              <a:t>Head / tail item (accessible item)</a:t>
            </a:r>
          </a:p>
          <a:p>
            <a:pPr lvl="1" eaLnBrk="1" hangingPunct="1"/>
            <a:endParaRPr lang="en-US" dirty="0"/>
          </a:p>
        </p:txBody>
      </p:sp>
      <p:sp>
        <p:nvSpPr>
          <p:cNvPr id="13316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63D9C28-127A-414A-8B52-BCD7399D4DF9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Operations</a:t>
            </a:r>
          </a:p>
        </p:txBody>
      </p:sp>
      <p:sp>
        <p:nvSpPr>
          <p:cNvPr id="22532" name="Text Placeholder 7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en-US"/>
              <a:t>Enqueue</a:t>
            </a:r>
          </a:p>
        </p:txBody>
      </p:sp>
      <p:sp>
        <p:nvSpPr>
          <p:cNvPr id="22533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9631DB7-2DA4-4E11-AF3C-B678557176B3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22534" name="Picture 6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 cstate="print"/>
          <a:srcRect t="570" r="877" b="-73"/>
          <a:stretch>
            <a:fillRect/>
          </a:stretch>
        </p:blipFill>
        <p:spPr bwMode="auto">
          <a:xfrm>
            <a:off x="1295400" y="1524000"/>
            <a:ext cx="6324600" cy="4869382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err="1"/>
              <a:t>Dequeue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4D8BF7-1EF9-4934-A727-4D7A3E8792D1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pic>
        <p:nvPicPr>
          <p:cNvPr id="75778" name="Picture 2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 cstate="print"/>
          <a:srcRect l="352" r="351"/>
          <a:stretch>
            <a:fillRect/>
          </a:stretch>
        </p:blipFill>
        <p:spPr bwMode="auto">
          <a:xfrm>
            <a:off x="0" y="1712859"/>
            <a:ext cx="9144000" cy="453261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Printer queue</a:t>
            </a:r>
          </a:p>
          <a:p>
            <a:r>
              <a:rPr lang="en-US" dirty="0"/>
              <a:t>File queue</a:t>
            </a:r>
          </a:p>
          <a:p>
            <a:r>
              <a:rPr lang="en-US" dirty="0"/>
              <a:t>Request queue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4D8BF7-1EF9-4934-A727-4D7A3E8792D1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Empty cells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5ADF2-A38C-4FB5-B988-60690B731E4B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type="pic" idx="1"/>
          </p:nvPr>
        </p:nvPicPr>
        <p:blipFill>
          <a:blip r:embed="rId3" cstate="print"/>
          <a:srcRect t="657" b="1026"/>
          <a:stretch>
            <a:fillRect/>
          </a:stretch>
        </p:blipFill>
        <p:spPr bwMode="auto">
          <a:xfrm>
            <a:off x="2344615" y="1600200"/>
            <a:ext cx="445477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Circular queue (Wrap around)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4D8BF7-1EF9-4934-A727-4D7A3E8792D1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600200"/>
            <a:ext cx="434737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1637400"/>
            <a:ext cx="3808686" cy="478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 at some code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Textbox – p.137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4D8BF7-1EF9-4934-A727-4D7A3E8792D1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 of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r>
              <a:rPr lang="en-US" dirty="0" err="1"/>
              <a:t>Enqueue</a:t>
            </a:r>
            <a:r>
              <a:rPr lang="en-US" dirty="0"/>
              <a:t>?</a:t>
            </a:r>
          </a:p>
          <a:p>
            <a:r>
              <a:rPr lang="en-US" dirty="0" err="1"/>
              <a:t>Dequeue</a:t>
            </a:r>
            <a:r>
              <a:rPr lang="en-US" dirty="0"/>
              <a:t>?</a:t>
            </a:r>
          </a:p>
          <a:p>
            <a:endParaRPr lang="en-US" dirty="0"/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 O(1)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5ADF2-A38C-4FB5-B988-60690B731E4B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Which of the following is true?</a:t>
            </a:r>
          </a:p>
          <a:p>
            <a:pPr>
              <a:buNone/>
            </a:pPr>
            <a:r>
              <a:rPr lang="en-US" dirty="0"/>
              <a:t>a. The pop operation on a stack is considerably simpler than the remove operation on a queue.</a:t>
            </a:r>
          </a:p>
          <a:p>
            <a:pPr>
              <a:buNone/>
            </a:pPr>
            <a:r>
              <a:rPr lang="en-US" dirty="0"/>
              <a:t>b. The contents of a queue can wrap around, while those of a stack cannot.</a:t>
            </a:r>
          </a:p>
          <a:p>
            <a:pPr>
              <a:buNone/>
            </a:pPr>
            <a:r>
              <a:rPr lang="en-US" dirty="0"/>
              <a:t>c. The top of a stack corresponds to the front of a queue.</a:t>
            </a:r>
          </a:p>
          <a:p>
            <a:pPr>
              <a:buNone/>
            </a:pPr>
            <a:r>
              <a:rPr lang="en-US" dirty="0"/>
              <a:t>d. In both the stack and the queue, items removed in sequence are taken from increasingly high index cells in the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5ADF2-A38C-4FB5-B988-60690B731E4B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Head / tail</a:t>
            </a:r>
          </a:p>
          <a:p>
            <a:r>
              <a:rPr lang="en-US" dirty="0" err="1"/>
              <a:t>Enqueue</a:t>
            </a:r>
            <a:r>
              <a:rPr lang="en-US" dirty="0"/>
              <a:t> / </a:t>
            </a:r>
            <a:r>
              <a:rPr lang="en-US" dirty="0" err="1"/>
              <a:t>Dequeue</a:t>
            </a:r>
            <a:r>
              <a:rPr lang="en-US" dirty="0"/>
              <a:t> with criteria</a:t>
            </a:r>
          </a:p>
          <a:p>
            <a:r>
              <a:rPr lang="en-US" dirty="0" err="1"/>
              <a:t>E.g</a:t>
            </a:r>
            <a:r>
              <a:rPr lang="en-US" dirty="0"/>
              <a:t>, </a:t>
            </a:r>
            <a:r>
              <a:rPr lang="en-US" dirty="0" err="1"/>
              <a:t>dequeue</a:t>
            </a:r>
            <a:endParaRPr lang="en-US" dirty="0"/>
          </a:p>
          <a:p>
            <a:pPr lvl="1"/>
            <a:r>
              <a:rPr lang="en-US" dirty="0"/>
              <a:t>Highest value, or</a:t>
            </a:r>
          </a:p>
          <a:p>
            <a:pPr lvl="1"/>
            <a:r>
              <a:rPr lang="en-US" dirty="0"/>
              <a:t>Most severe patient, …</a:t>
            </a:r>
          </a:p>
          <a:p>
            <a:r>
              <a:rPr lang="en-US" dirty="0"/>
              <a:t>Ascending-priority / descending-priority queue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5ADF2-A38C-4FB5-B988-60690B731E4B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pic>
        <p:nvPicPr>
          <p:cNvPr id="1027" name="Picture 3" descr="D:\Teaching\DataStructureAndAlgorithmInJava\Img\PriorityQueue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1625" y="2835331"/>
            <a:ext cx="4160838" cy="2284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 of Priority queue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Insertion ?</a:t>
            </a:r>
          </a:p>
          <a:p>
            <a:pPr lvl="1"/>
            <a:r>
              <a:rPr lang="en-US" dirty="0">
                <a:sym typeface="Wingdings" pitchFamily="2" charset="2"/>
              </a:rPr>
              <a:t>If use ARRAY: O(N) </a:t>
            </a:r>
          </a:p>
          <a:p>
            <a:pPr lvl="1"/>
            <a:endParaRPr lang="en-US" dirty="0"/>
          </a:p>
          <a:p>
            <a:r>
              <a:rPr lang="en-US" dirty="0"/>
              <a:t>Deletion ?</a:t>
            </a:r>
          </a:p>
          <a:p>
            <a:pPr lvl="1"/>
            <a:r>
              <a:rPr lang="en-US" dirty="0"/>
              <a:t>O(1)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EB8887-F15F-47D7-8832-988FC4B768B9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err="1"/>
              <a:t>Enqueue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5ADF2-A38C-4FB5-B988-60690B731E4B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1" y="1574284"/>
            <a:ext cx="7467598" cy="4776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err="1"/>
              <a:t>Dequeue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A86E4C-BE6B-4749-B9F1-179B070B57DB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6522" y="1828801"/>
            <a:ext cx="8890956" cy="4267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5ADF2-A38C-4FB5-B988-60690B731E4B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One difference between a priority queue and an ordered array is that</a:t>
            </a:r>
          </a:p>
          <a:p>
            <a:pPr>
              <a:buNone/>
            </a:pPr>
            <a:r>
              <a:rPr lang="en-US" dirty="0"/>
              <a:t>a. the lowest-priority item cannot be extracted easily from the array as it can from the priority queue.</a:t>
            </a:r>
          </a:p>
          <a:p>
            <a:pPr>
              <a:buNone/>
            </a:pPr>
            <a:r>
              <a:rPr lang="en-US" dirty="0"/>
              <a:t>b. the array must be ordered while the priority queue need not be.</a:t>
            </a:r>
          </a:p>
          <a:p>
            <a:pPr>
              <a:buNone/>
            </a:pPr>
            <a:r>
              <a:rPr lang="en-US" dirty="0"/>
              <a:t>c. the highest priority item can be extracted easily from the priority queue but not from the array.</a:t>
            </a:r>
          </a:p>
          <a:p>
            <a:pPr>
              <a:buNone/>
            </a:pPr>
            <a:r>
              <a:rPr lang="en-US" dirty="0"/>
              <a:t>d. All of the above.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</a:t>
            </a:r>
            <a:r>
              <a:rPr lang="en-US"/>
              <a:t>Arithmetic Expression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5ADF2-A38C-4FB5-B988-60690B731E4B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would you evaluate an expression?</a:t>
            </a:r>
          </a:p>
          <a:p>
            <a:pPr lvl="1" algn="ctr">
              <a:buNone/>
            </a:pPr>
            <a:r>
              <a:rPr lang="en-US" dirty="0"/>
              <a:t>3 + 4 - 5</a:t>
            </a:r>
          </a:p>
          <a:p>
            <a:pPr lvl="1" algn="ctr">
              <a:buNone/>
            </a:pPr>
            <a:r>
              <a:rPr lang="en-US" dirty="0"/>
              <a:t>Or (10-5)*2 + (6+4)*3</a:t>
            </a:r>
          </a:p>
          <a:p>
            <a:pPr lvl="1" algn="ctr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E3A54F-2697-46DC-95CB-D4D92C0046EF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Evaluate 3 + 4 - 5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5ADF2-A38C-4FB5-B988-60690B731E4B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pic>
        <p:nvPicPr>
          <p:cNvPr id="8" name="Picture 2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9" b="3509"/>
          <a:stretch>
            <a:fillRect/>
          </a:stretch>
        </p:blipFill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5397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Evaluate 3 + 4 - 5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5ADF2-A38C-4FB5-B988-60690B731E4B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pic>
        <p:nvPicPr>
          <p:cNvPr id="8" name="Picture 2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9" b="4589"/>
          <a:stretch>
            <a:fillRect/>
          </a:stretch>
        </p:blipFill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1494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Wingdings" pitchFamily="2" charset="2"/>
              </a:rPr>
              <a:t>For computer algorithms: 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difficult to evaluate arithmetic expression directly 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Solution</a:t>
            </a:r>
          </a:p>
          <a:p>
            <a:r>
              <a:rPr lang="en-US" dirty="0"/>
              <a:t>Transform arithmetic expression into a different format – POSTFIX</a:t>
            </a:r>
          </a:p>
          <a:p>
            <a:r>
              <a:rPr lang="en-US" dirty="0"/>
              <a:t>Evaluation the postfix expression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5ADF2-A38C-4FB5-B988-60690B731E4B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Postfix Notation</a:t>
            </a:r>
            <a:endParaRPr lang="en-US" dirty="0"/>
          </a:p>
        </p:txBody>
      </p:sp>
      <p:sp>
        <p:nvSpPr>
          <p:cNvPr id="4659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To develop a string where the operators (*, -, +,…) appear ‘last’ (hence the term:  postfix).   </a:t>
            </a:r>
          </a:p>
          <a:p>
            <a:pPr lvl="1"/>
            <a:r>
              <a:rPr lang="en-US" dirty="0"/>
              <a:t>e.g.  </a:t>
            </a:r>
            <a:r>
              <a:rPr lang="en-US" dirty="0" err="1"/>
              <a:t>ab</a:t>
            </a:r>
            <a:r>
              <a:rPr lang="en-US" dirty="0"/>
              <a:t>+.  </a:t>
            </a:r>
          </a:p>
          <a:p>
            <a:pPr lvl="1"/>
            <a:r>
              <a:rPr lang="en-US" dirty="0"/>
              <a:t>Also known as Reverse Polish Notation</a:t>
            </a:r>
          </a:p>
          <a:p>
            <a:r>
              <a:rPr lang="en-US" dirty="0"/>
              <a:t>Normally use infix notation</a:t>
            </a:r>
          </a:p>
          <a:p>
            <a:pPr lvl="1"/>
            <a:r>
              <a:rPr lang="en-US" dirty="0" err="1"/>
              <a:t>a+b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Most of the operators we use are binary.</a:t>
            </a:r>
          </a:p>
          <a:p>
            <a:r>
              <a:rPr lang="en-US" dirty="0"/>
              <a:t>There is also a ‘prefix’ notation, which has more limited applications.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Infix and postfix notations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In postfix notation, an operator operates on the two previous operands.  That is the rule.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Table:  infix to postfix notations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Parentheses override normal hierarchical evaluation</a:t>
            </a:r>
          </a:p>
          <a:p>
            <a:r>
              <a:rPr lang="en-US" dirty="0"/>
              <a:t>	</a:t>
            </a:r>
          </a:p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615790"/>
              </p:ext>
            </p:extLst>
          </p:nvPr>
        </p:nvGraphicFramePr>
        <p:xfrm>
          <a:off x="1219200" y="2652523"/>
          <a:ext cx="6705600" cy="3671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9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Infix</a:t>
                      </a:r>
                    </a:p>
                  </a:txBody>
                  <a:tcPr marL="100584" marR="100584" marT="50292" marB="5029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Postfix</a:t>
                      </a:r>
                    </a:p>
                  </a:txBody>
                  <a:tcPr marL="100584" marR="100584" marT="50292" marB="5029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r>
                        <a:rPr lang="en-US" sz="2000" dirty="0" err="1"/>
                        <a:t>a+b</a:t>
                      </a:r>
                      <a:r>
                        <a:rPr lang="en-US" sz="2000" dirty="0"/>
                        <a:t>-c</a:t>
                      </a:r>
                    </a:p>
                  </a:txBody>
                  <a:tcPr marL="100584" marR="100584" marT="50292" marB="5029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/>
                        <a:t>ab+c</a:t>
                      </a:r>
                      <a:r>
                        <a:rPr lang="en-US" sz="2000" dirty="0"/>
                        <a:t>-</a:t>
                      </a:r>
                    </a:p>
                  </a:txBody>
                  <a:tcPr marL="100584" marR="100584" marT="50292" marB="5029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r>
                        <a:rPr lang="en-US" sz="2000" dirty="0"/>
                        <a:t>a*b/c</a:t>
                      </a:r>
                    </a:p>
                  </a:txBody>
                  <a:tcPr marL="100584" marR="100584" marT="50292" marB="5029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/>
                        <a:t>ab</a:t>
                      </a:r>
                      <a:r>
                        <a:rPr lang="en-US" sz="2000" dirty="0"/>
                        <a:t>*c/</a:t>
                      </a:r>
                    </a:p>
                  </a:txBody>
                  <a:tcPr marL="100584" marR="100584" marT="50292" marB="5029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r>
                        <a:rPr lang="en-US" sz="2000" dirty="0" err="1"/>
                        <a:t>a+b</a:t>
                      </a:r>
                      <a:r>
                        <a:rPr lang="en-US" sz="2000" dirty="0"/>
                        <a:t>*c</a:t>
                      </a:r>
                    </a:p>
                  </a:txBody>
                  <a:tcPr marL="100584" marR="100584" marT="50292" marB="5029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/>
                        <a:t>abc</a:t>
                      </a:r>
                      <a:r>
                        <a:rPr lang="en-US" sz="2000" dirty="0"/>
                        <a:t>*+</a:t>
                      </a:r>
                    </a:p>
                  </a:txBody>
                  <a:tcPr marL="100584" marR="100584" marT="50292" marB="5029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r>
                        <a:rPr lang="en-US" sz="2000" dirty="0"/>
                        <a:t>a*</a:t>
                      </a:r>
                      <a:r>
                        <a:rPr lang="en-US" sz="2000" dirty="0" err="1"/>
                        <a:t>b+c</a:t>
                      </a:r>
                      <a:endParaRPr lang="en-US" sz="2000" dirty="0"/>
                    </a:p>
                  </a:txBody>
                  <a:tcPr marL="100584" marR="100584" marT="50292" marB="5029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/>
                        <a:t>ab</a:t>
                      </a:r>
                      <a:r>
                        <a:rPr lang="en-US" sz="2000" dirty="0"/>
                        <a:t>*c+</a:t>
                      </a:r>
                    </a:p>
                  </a:txBody>
                  <a:tcPr marL="100584" marR="100584" marT="50292" marB="5029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r>
                        <a:rPr lang="en-US" sz="2000" dirty="0"/>
                        <a:t>a*(</a:t>
                      </a:r>
                      <a:r>
                        <a:rPr lang="en-US" sz="2000" dirty="0" err="1"/>
                        <a:t>b+c</a:t>
                      </a:r>
                      <a:r>
                        <a:rPr lang="en-US" sz="2000" dirty="0"/>
                        <a:t>)</a:t>
                      </a:r>
                    </a:p>
                  </a:txBody>
                  <a:tcPr marL="100584" marR="100584" marT="50292" marB="5029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/>
                        <a:t>abc</a:t>
                      </a:r>
                      <a:r>
                        <a:rPr lang="en-US" sz="2000" dirty="0"/>
                        <a:t>+*</a:t>
                      </a:r>
                    </a:p>
                  </a:txBody>
                  <a:tcPr marL="100584" marR="100584" marT="50292" marB="5029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a*</a:t>
                      </a:r>
                      <a:r>
                        <a:rPr lang="en-US" sz="2000" dirty="0" err="1"/>
                        <a:t>b+c</a:t>
                      </a:r>
                      <a:r>
                        <a:rPr lang="en-US" sz="2000" dirty="0"/>
                        <a:t>*d</a:t>
                      </a:r>
                    </a:p>
                  </a:txBody>
                  <a:tcPr marL="100584" marR="100584" marT="50292" marB="5029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/>
                        <a:t>ab</a:t>
                      </a:r>
                      <a:r>
                        <a:rPr lang="en-US" sz="2000" dirty="0"/>
                        <a:t>*</a:t>
                      </a:r>
                      <a:r>
                        <a:rPr lang="en-US" sz="2000" dirty="0" err="1"/>
                        <a:t>cd</a:t>
                      </a:r>
                      <a:r>
                        <a:rPr lang="en-US" sz="2000" dirty="0"/>
                        <a:t>*+</a:t>
                      </a:r>
                    </a:p>
                  </a:txBody>
                  <a:tcPr marL="100584" marR="100584" marT="50292" marB="5029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((</a:t>
                      </a:r>
                      <a:r>
                        <a:rPr lang="en-US" sz="2000" dirty="0" err="1"/>
                        <a:t>a+b</a:t>
                      </a:r>
                      <a:r>
                        <a:rPr lang="en-US" sz="2000" dirty="0"/>
                        <a:t>)*c)-d</a:t>
                      </a:r>
                    </a:p>
                  </a:txBody>
                  <a:tcPr marL="100584" marR="100584" marT="50292" marB="5029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/>
                        <a:t>ab+c</a:t>
                      </a:r>
                      <a:r>
                        <a:rPr lang="en-US" sz="2000" dirty="0"/>
                        <a:t>*d-</a:t>
                      </a:r>
                    </a:p>
                  </a:txBody>
                  <a:tcPr marL="100584" marR="100584" marT="50292" marB="50292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/>
                        <a:t>a+b</a:t>
                      </a:r>
                      <a:r>
                        <a:rPr lang="en-US" sz="2000" dirty="0"/>
                        <a:t>*(c-d/(</a:t>
                      </a:r>
                      <a:r>
                        <a:rPr lang="en-US" sz="2000" dirty="0" err="1"/>
                        <a:t>e+f</a:t>
                      </a:r>
                      <a:r>
                        <a:rPr lang="en-US" sz="2000" dirty="0"/>
                        <a:t>))</a:t>
                      </a:r>
                    </a:p>
                  </a:txBody>
                  <a:tcPr marL="100584" marR="100584" marT="50292" marB="5029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/>
                        <a:t>abcdef</a:t>
                      </a:r>
                      <a:r>
                        <a:rPr lang="en-US" sz="2000"/>
                        <a:t>+/-*+</a:t>
                      </a:r>
                      <a:endParaRPr lang="en-US" sz="2000" dirty="0"/>
                    </a:p>
                  </a:txBody>
                  <a:tcPr marL="100584" marR="100584" marT="50292" marB="50292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How Humans Translate Infix into Postfix</a:t>
            </a:r>
          </a:p>
        </p:txBody>
      </p:sp>
      <p:pic>
        <p:nvPicPr>
          <p:cNvPr id="2662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 r="2604"/>
          <a:stretch>
            <a:fillRect/>
          </a:stretch>
        </p:blipFill>
        <p:spPr>
          <a:xfrm>
            <a:off x="0" y="1905000"/>
            <a:ext cx="9144000" cy="4343400"/>
          </a:xfrm>
          <a:noFill/>
        </p:spPr>
      </p:pic>
      <p:sp>
        <p:nvSpPr>
          <p:cNvPr id="26628" name="TextBox 3"/>
          <p:cNvSpPr txBox="1">
            <a:spLocks noChangeArrowheads="1"/>
          </p:cNvSpPr>
          <p:nvPr/>
        </p:nvSpPr>
        <p:spPr bwMode="auto">
          <a:xfrm>
            <a:off x="4457700" y="3276600"/>
            <a:ext cx="4648200" cy="120032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nl-BE" sz="2400" dirty="0"/>
              <a:t>“-” has the same </a:t>
            </a:r>
            <a:r>
              <a:rPr lang="nl-BE" sz="2400" b="1" u="sng" dirty="0"/>
              <a:t>priority</a:t>
            </a:r>
            <a:r>
              <a:rPr lang="nl-BE" sz="2400" dirty="0"/>
              <a:t> with ‘+’</a:t>
            </a:r>
          </a:p>
          <a:p>
            <a:endParaRPr lang="nl-BE" sz="2400" dirty="0"/>
          </a:p>
          <a:p>
            <a:r>
              <a:rPr lang="nl-BE" sz="2400" dirty="0"/>
              <a:t>How about ‘*’ or ‘/’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How Humans Translate Infix into Postfix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eaLnBrk="1" hangingPunct="1"/>
            <a:endParaRPr lang="nl-BE"/>
          </a:p>
        </p:txBody>
      </p:sp>
      <p:pic>
        <p:nvPicPr>
          <p:cNvPr id="2765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524000"/>
            <a:ext cx="8936038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How Humans Translate Infix into Postfix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eaLnBrk="1" hangingPunct="1"/>
            <a:endParaRPr lang="nl-BE"/>
          </a:p>
        </p:txBody>
      </p:sp>
      <p:pic>
        <p:nvPicPr>
          <p:cNvPr id="2867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47800"/>
            <a:ext cx="9144000" cy="506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Content Placeholder 2"/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eaLnBrk="1" hangingPunct="1"/>
            <a:endParaRPr lang="nl-B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715962"/>
          </a:xfrm>
        </p:spPr>
        <p:txBody>
          <a:bodyPr anchor="t"/>
          <a:lstStyle/>
          <a:p>
            <a:pPr eaLnBrk="1" hangingPunct="1">
              <a:defRPr/>
            </a:pPr>
            <a:r>
              <a:rPr lang="en-US" sz="2800" dirty="0"/>
              <a:t>How Humans Translate Infix into Postfix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1552575"/>
            <a:ext cx="88011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TextBox 4"/>
          <p:cNvSpPr txBox="1">
            <a:spLocks noChangeArrowheads="1"/>
          </p:cNvSpPr>
          <p:nvPr/>
        </p:nvSpPr>
        <p:spPr bwMode="auto">
          <a:xfrm>
            <a:off x="6553200" y="3124200"/>
            <a:ext cx="20574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nl-BE" sz="2400" dirty="0"/>
              <a:t>Saving Operators on a Stack</a:t>
            </a:r>
          </a:p>
        </p:txBody>
      </p:sp>
      <p:sp>
        <p:nvSpPr>
          <p:cNvPr id="29702" name="TextBox 5"/>
          <p:cNvSpPr txBox="1">
            <a:spLocks noChangeArrowheads="1"/>
          </p:cNvSpPr>
          <p:nvPr/>
        </p:nvSpPr>
        <p:spPr bwMode="auto">
          <a:xfrm>
            <a:off x="2057400" y="5181600"/>
            <a:ext cx="4876800" cy="2762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nl-BE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5ADF2-A38C-4FB5-B988-60690B731E4B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8098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5ADF2-A38C-4FB5-B988-60690B731E4B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701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ADF2-A38C-4FB5-B988-60690B731E4B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19" name="Picture 2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 cstate="print"/>
          <a:srcRect l="197" t="-1988" r="-1186" b="-3586"/>
          <a:stretch>
            <a:fillRect/>
          </a:stretch>
        </p:blipFill>
        <p:spPr bwMode="auto">
          <a:xfrm>
            <a:off x="24713" y="1676400"/>
            <a:ext cx="9170774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4D8BF7-1EF9-4934-A727-4D7A3E8792D1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 cstate="print"/>
          <a:srcRect l="1710" r="1710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4D8BF7-1EF9-4934-A727-4D7A3E8792D1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 r="7761"/>
          <a:stretch>
            <a:fillRect/>
          </a:stretch>
        </p:blipFill>
        <p:spPr bwMode="auto">
          <a:xfrm>
            <a:off x="0" y="1524000"/>
            <a:ext cx="8915400" cy="2652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 r="7004"/>
          <a:stretch>
            <a:fillRect/>
          </a:stretch>
        </p:blipFill>
        <p:spPr bwMode="auto">
          <a:xfrm>
            <a:off x="0" y="3910905"/>
            <a:ext cx="8915400" cy="2642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efab">
  <a:themeElements>
    <a:clrScheme name="Prefab">
      <a:dk1>
        <a:sysClr val="windowText" lastClr="000000"/>
      </a:dk1>
      <a:lt1>
        <a:sysClr val="window" lastClr="FFFFFF"/>
      </a:lt1>
      <a:dk2>
        <a:srgbClr val="5D5C64"/>
      </a:dk2>
      <a:lt2>
        <a:srgbClr val="E4D9BE"/>
      </a:lt2>
      <a:accent1>
        <a:srgbClr val="E0B62E"/>
      </a:accent1>
      <a:accent2>
        <a:srgbClr val="E6632E"/>
      </a:accent2>
      <a:accent3>
        <a:srgbClr val="73C1C7"/>
      </a:accent3>
      <a:accent4>
        <a:srgbClr val="75964C"/>
      </a:accent4>
      <a:accent5>
        <a:srgbClr val="C78C45"/>
      </a:accent5>
      <a:accent6>
        <a:srgbClr val="BCA076"/>
      </a:accent6>
      <a:hlink>
        <a:srgbClr val="CF3B0D"/>
      </a:hlink>
      <a:folHlink>
        <a:srgbClr val="7E756C"/>
      </a:folHlink>
    </a:clrScheme>
    <a:fontScheme name="Prefab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宋体"/>
        <a:font script="Hant" typeface="新細明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refab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00000"/>
              </a:schemeClr>
            </a:gs>
            <a:gs pos="30000">
              <a:schemeClr val="phClr">
                <a:tint val="60000"/>
                <a:satMod val="250000"/>
              </a:schemeClr>
            </a:gs>
            <a:gs pos="50000">
              <a:schemeClr val="phClr">
                <a:tint val="57000"/>
                <a:satMod val="250000"/>
              </a:schemeClr>
            </a:gs>
            <a:gs pos="100000">
              <a:schemeClr val="phClr">
                <a:tint val="17000"/>
                <a:satMod val="350000"/>
              </a:schemeClr>
            </a:gs>
          </a:gsLst>
          <a:lin ang="4000000" scaled="1"/>
        </a:gradFill>
        <a:gradFill rotWithShape="1">
          <a:gsLst>
            <a:gs pos="0">
              <a:schemeClr val="phClr">
                <a:tint val="75000"/>
                <a:satMod val="110000"/>
              </a:schemeClr>
            </a:gs>
            <a:gs pos="30000">
              <a:schemeClr val="phClr">
                <a:shade val="75000"/>
                <a:satMod val="130000"/>
              </a:schemeClr>
            </a:gs>
            <a:gs pos="50000">
              <a:schemeClr val="phClr">
                <a:shade val="70000"/>
                <a:satMod val="135000"/>
              </a:schemeClr>
            </a:gs>
            <a:gs pos="100000">
              <a:schemeClr val="phClr">
                <a:tint val="75000"/>
                <a:satMod val="110000"/>
              </a:schemeClr>
            </a:gs>
          </a:gsLst>
          <a:lin ang="40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0000" algn="ct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110000" algn="ctr" rotWithShape="0">
              <a:srgbClr val="000000">
                <a:alpha val="65000"/>
              </a:srgbClr>
            </a:outerShdw>
          </a:effectLst>
        </a:effectStyle>
        <a:effectStyle>
          <a:effectLst>
            <a:outerShdw blurRad="120000" algn="ctr" rotWithShape="0">
              <a:srgbClr val="000000">
                <a:alpha val="70000"/>
              </a:srgbClr>
            </a:outerShdw>
          </a:effectLst>
          <a:scene3d>
            <a:camera prst="orthographicFront"/>
            <a:lightRig rig="glow" dir="t">
              <a:rot lat="0" lon="0" rev="1800000"/>
            </a:lightRig>
          </a:scene3d>
          <a:sp3d contourW="12700" prstMaterial="dkEdge">
            <a:bevelT w="50800" h="44450" prst="angle"/>
            <a:contourClr>
              <a:schemeClr val="phClr">
                <a:shade val="4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110000"/>
              </a:schemeClr>
            </a:gs>
            <a:gs pos="30000">
              <a:schemeClr val="phClr">
                <a:shade val="75000"/>
                <a:satMod val="130000"/>
              </a:schemeClr>
            </a:gs>
            <a:gs pos="50000">
              <a:schemeClr val="phClr">
                <a:shade val="70000"/>
                <a:satMod val="135000"/>
              </a:schemeClr>
            </a:gs>
            <a:gs pos="100000">
              <a:schemeClr val="phClr">
                <a:tint val="75000"/>
                <a:satMod val="110000"/>
              </a:schemeClr>
            </a:gs>
          </a:gsLst>
          <a:lin ang="4000000" scaled="1"/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20000"/>
              </a:schemeClr>
              <a:schemeClr val="phClr">
                <a:tint val="94000"/>
                <a:satMod val="21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Prefab</Template>
  <TotalTime>3466</TotalTime>
  <Pages>13</Pages>
  <Words>1031</Words>
  <Application>Microsoft Macintosh PowerPoint</Application>
  <PresentationFormat>On-screen Show (4:3)</PresentationFormat>
  <Paragraphs>277</Paragraphs>
  <Slides>46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Arial</vt:lpstr>
      <vt:lpstr>Arial Black</vt:lpstr>
      <vt:lpstr>Arial Narrow</vt:lpstr>
      <vt:lpstr>Times New Roman</vt:lpstr>
      <vt:lpstr>Wingdings</vt:lpstr>
      <vt:lpstr>Wingdings 2</vt:lpstr>
      <vt:lpstr>ZapfHumnst BT</vt:lpstr>
      <vt:lpstr>Prefab</vt:lpstr>
      <vt:lpstr>Stack &amp; queue</vt:lpstr>
      <vt:lpstr>Kind of structure</vt:lpstr>
      <vt:lpstr>Outline</vt:lpstr>
      <vt:lpstr>Stack</vt:lpstr>
      <vt:lpstr>Introduction</vt:lpstr>
      <vt:lpstr>Stack info</vt:lpstr>
      <vt:lpstr>Operations</vt:lpstr>
      <vt:lpstr>Operations</vt:lpstr>
      <vt:lpstr>Application</vt:lpstr>
      <vt:lpstr>How would you do it?</vt:lpstr>
      <vt:lpstr>How would you do it?</vt:lpstr>
      <vt:lpstr>Implementation</vt:lpstr>
      <vt:lpstr>Efficiency of Stacks</vt:lpstr>
      <vt:lpstr>Queue</vt:lpstr>
      <vt:lpstr>Introduction</vt:lpstr>
      <vt:lpstr>Queue info</vt:lpstr>
      <vt:lpstr>Operations</vt:lpstr>
      <vt:lpstr>Operations</vt:lpstr>
      <vt:lpstr>Application</vt:lpstr>
      <vt:lpstr>Implementation</vt:lpstr>
      <vt:lpstr>Implementation</vt:lpstr>
      <vt:lpstr>Look at some code</vt:lpstr>
      <vt:lpstr>Efficiency of queue</vt:lpstr>
      <vt:lpstr>Question</vt:lpstr>
      <vt:lpstr>Priority queue</vt:lpstr>
      <vt:lpstr>Efficiency of Priority queue</vt:lpstr>
      <vt:lpstr>Operation</vt:lpstr>
      <vt:lpstr>Operation</vt:lpstr>
      <vt:lpstr>Question</vt:lpstr>
      <vt:lpstr>Parsing Arithmetic Expression</vt:lpstr>
      <vt:lpstr>Introduction</vt:lpstr>
      <vt:lpstr>Evaluate 3 + 4 - 5</vt:lpstr>
      <vt:lpstr>Evaluate 3 + 4 - 5</vt:lpstr>
      <vt:lpstr>Algorithm</vt:lpstr>
      <vt:lpstr>Postfix Notation</vt:lpstr>
      <vt:lpstr>Infix and postfix notations</vt:lpstr>
      <vt:lpstr>Table:  infix to postfix notations</vt:lpstr>
      <vt:lpstr>How Humans Translate Infix into Postfix</vt:lpstr>
      <vt:lpstr>How Humans Translate Infix into Postfix</vt:lpstr>
      <vt:lpstr>How Humans Translate Infix into Postfix</vt:lpstr>
      <vt:lpstr>How Humans Translate Infix into Postfix</vt:lpstr>
      <vt:lpstr>PowerPoint Presentation</vt:lpstr>
      <vt:lpstr>PowerPoint Presentation</vt:lpstr>
      <vt:lpstr>Example</vt:lpstr>
      <vt:lpstr>Example</vt:lpstr>
      <vt:lpstr>Example</vt:lpstr>
    </vt:vector>
  </TitlesOfParts>
  <Company>Rational Software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&amp; Queues</dc:title>
  <dc:subject>RU_SlideStandard</dc:subject>
  <dc:creator>TungTh</dc:creator>
  <dc:description>Revised Power Point master slide using the "standard" Rational Software logo</dc:description>
  <cp:lastModifiedBy>Van Ho Long</cp:lastModifiedBy>
  <cp:revision>389</cp:revision>
  <cp:lastPrinted>1999-09-03T18:35:49Z</cp:lastPrinted>
  <dcterms:created xsi:type="dcterms:W3CDTF">1999-07-20T01:08:26Z</dcterms:created>
  <dcterms:modified xsi:type="dcterms:W3CDTF">2025-09-30T12:15:11Z</dcterms:modified>
</cp:coreProperties>
</file>