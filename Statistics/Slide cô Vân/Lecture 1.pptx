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 id="2147483668" r:id="rId2"/>
  </p:sldMasterIdLst>
  <p:notesMasterIdLst>
    <p:notesMasterId r:id="rId48"/>
  </p:notesMasterIdLst>
  <p:sldIdLst>
    <p:sldId id="256" r:id="rId3"/>
    <p:sldId id="280" r:id="rId4"/>
    <p:sldId id="264" r:id="rId5"/>
    <p:sldId id="315" r:id="rId6"/>
    <p:sldId id="312" r:id="rId7"/>
    <p:sldId id="313" r:id="rId8"/>
    <p:sldId id="314" r:id="rId9"/>
    <p:sldId id="309" r:id="rId10"/>
    <p:sldId id="279" r:id="rId11"/>
    <p:sldId id="259" r:id="rId12"/>
    <p:sldId id="260" r:id="rId13"/>
    <p:sldId id="281" r:id="rId14"/>
    <p:sldId id="290" r:id="rId15"/>
    <p:sldId id="288" r:id="rId16"/>
    <p:sldId id="289" r:id="rId17"/>
    <p:sldId id="292" r:id="rId18"/>
    <p:sldId id="326" r:id="rId19"/>
    <p:sldId id="316" r:id="rId20"/>
    <p:sldId id="311" r:id="rId21"/>
    <p:sldId id="285" r:id="rId22"/>
    <p:sldId id="287" r:id="rId23"/>
    <p:sldId id="302" r:id="rId24"/>
    <p:sldId id="286" r:id="rId25"/>
    <p:sldId id="291" r:id="rId26"/>
    <p:sldId id="299" r:id="rId27"/>
    <p:sldId id="300" r:id="rId28"/>
    <p:sldId id="301" r:id="rId29"/>
    <p:sldId id="293" r:id="rId30"/>
    <p:sldId id="317" r:id="rId31"/>
    <p:sldId id="295" r:id="rId32"/>
    <p:sldId id="294" r:id="rId33"/>
    <p:sldId id="296" r:id="rId34"/>
    <p:sldId id="297" r:id="rId35"/>
    <p:sldId id="298" r:id="rId36"/>
    <p:sldId id="304" r:id="rId37"/>
    <p:sldId id="303" r:id="rId38"/>
    <p:sldId id="327" r:id="rId39"/>
    <p:sldId id="328" r:id="rId40"/>
    <p:sldId id="331" r:id="rId41"/>
    <p:sldId id="329" r:id="rId42"/>
    <p:sldId id="330" r:id="rId43"/>
    <p:sldId id="332" r:id="rId44"/>
    <p:sldId id="319" r:id="rId45"/>
    <p:sldId id="320" r:id="rId46"/>
    <p:sldId id="32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EBDC"/>
    <a:srgbClr val="005360"/>
    <a:srgbClr val="5EB2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9E2326-8966-3041-B4C3-87582EF8DB12}" v="2" dt="2024-02-16T03:30:08.9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97" autoAdjust="0"/>
    <p:restoredTop sz="94828"/>
  </p:normalViewPr>
  <p:slideViewPr>
    <p:cSldViewPr snapToGrid="0" snapToObjects="1">
      <p:cViewPr varScale="1">
        <p:scale>
          <a:sx n="114" d="100"/>
          <a:sy n="114" d="100"/>
        </p:scale>
        <p:origin x="408"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 Van" userId="a25a9d50-ca35-484a-bf75-d54b15bbb2bf" providerId="ADAL" clId="{DD9E2326-8966-3041-B4C3-87582EF8DB12}"/>
    <pc:docChg chg="custSel delSld modSld">
      <pc:chgData name="Ai Van" userId="a25a9d50-ca35-484a-bf75-d54b15bbb2bf" providerId="ADAL" clId="{DD9E2326-8966-3041-B4C3-87582EF8DB12}" dt="2024-02-27T06:11:20.877" v="77" actId="14100"/>
      <pc:docMkLst>
        <pc:docMk/>
      </pc:docMkLst>
      <pc:sldChg chg="del">
        <pc:chgData name="Ai Van" userId="a25a9d50-ca35-484a-bf75-d54b15bbb2bf" providerId="ADAL" clId="{DD9E2326-8966-3041-B4C3-87582EF8DB12}" dt="2024-02-27T06:10:47.601" v="50" actId="2696"/>
        <pc:sldMkLst>
          <pc:docMk/>
          <pc:sldMk cId="3920432107" sldId="307"/>
        </pc:sldMkLst>
      </pc:sldChg>
      <pc:sldChg chg="delSp modSp mod">
        <pc:chgData name="Ai Van" userId="a25a9d50-ca35-484a-bf75-d54b15bbb2bf" providerId="ADAL" clId="{DD9E2326-8966-3041-B4C3-87582EF8DB12}" dt="2024-02-27T06:11:20.877" v="77" actId="14100"/>
        <pc:sldMkLst>
          <pc:docMk/>
          <pc:sldMk cId="3606588189" sldId="329"/>
        </pc:sldMkLst>
        <pc:spChg chg="mod">
          <ac:chgData name="Ai Van" userId="a25a9d50-ca35-484a-bf75-d54b15bbb2bf" providerId="ADAL" clId="{DD9E2326-8966-3041-B4C3-87582EF8DB12}" dt="2024-02-27T06:11:20.877" v="77" actId="14100"/>
          <ac:spMkLst>
            <pc:docMk/>
            <pc:sldMk cId="3606588189" sldId="329"/>
            <ac:spMk id="7" creationId="{A9E362DB-8568-4CE8-A668-BDD03C52DC72}"/>
          </ac:spMkLst>
        </pc:spChg>
        <pc:picChg chg="del">
          <ac:chgData name="Ai Van" userId="a25a9d50-ca35-484a-bf75-d54b15bbb2bf" providerId="ADAL" clId="{DD9E2326-8966-3041-B4C3-87582EF8DB12}" dt="2024-02-27T06:11:00.298" v="51" actId="478"/>
          <ac:picMkLst>
            <pc:docMk/>
            <pc:sldMk cId="3606588189" sldId="329"/>
            <ac:picMk id="8" creationId="{82ABBE5E-4E1F-4367-87F2-DA7919A674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2BD19-34B5-4DD3-818A-925BCCCC4692}" type="datetimeFigureOut">
              <a:rPr lang="en-US" smtClean="0"/>
              <a:t>2/27/24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0192D-DEC4-4EB1-9735-3435A73A2156}" type="slidenum">
              <a:rPr lang="en-US" smtClean="0"/>
              <a:t>‹#›</a:t>
            </a:fld>
            <a:endParaRPr lang="en-US"/>
          </a:p>
        </p:txBody>
      </p:sp>
    </p:spTree>
    <p:extLst>
      <p:ext uri="{BB962C8B-B14F-4D97-AF65-F5344CB8AC3E}">
        <p14:creationId xmlns:p14="http://schemas.microsoft.com/office/powerpoint/2010/main" val="1043542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event: increasing market share</a:t>
            </a:r>
          </a:p>
          <a:p>
            <a:r>
              <a:rPr lang="en-US" dirty="0"/>
              <a:t>Negative event: failing to meet forecasted sales</a:t>
            </a:r>
          </a:p>
        </p:txBody>
      </p:sp>
      <p:sp>
        <p:nvSpPr>
          <p:cNvPr id="4" name="Slide Number Placeholder 3"/>
          <p:cNvSpPr>
            <a:spLocks noGrp="1"/>
          </p:cNvSpPr>
          <p:nvPr>
            <p:ph type="sldNum" sz="quarter" idx="5"/>
          </p:nvPr>
        </p:nvSpPr>
        <p:spPr/>
        <p:txBody>
          <a:bodyPr/>
          <a:lstStyle/>
          <a:p>
            <a:fld id="{8900192D-DEC4-4EB1-9735-3435A73A2156}" type="slidenum">
              <a:rPr lang="en-US" smtClean="0"/>
              <a:t>3</a:t>
            </a:fld>
            <a:endParaRPr lang="en-US"/>
          </a:p>
        </p:txBody>
      </p:sp>
    </p:spTree>
    <p:extLst>
      <p:ext uri="{BB962C8B-B14F-4D97-AF65-F5344CB8AC3E}">
        <p14:creationId xmlns:p14="http://schemas.microsoft.com/office/powerpoint/2010/main" val="286022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00192D-DEC4-4EB1-9735-3435A73A2156}" type="slidenum">
              <a:rPr lang="en-US" smtClean="0"/>
              <a:t>6</a:t>
            </a:fld>
            <a:endParaRPr lang="en-US"/>
          </a:p>
        </p:txBody>
      </p:sp>
    </p:spTree>
    <p:extLst>
      <p:ext uri="{BB962C8B-B14F-4D97-AF65-F5344CB8AC3E}">
        <p14:creationId xmlns:p14="http://schemas.microsoft.com/office/powerpoint/2010/main" val="3486750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00192D-DEC4-4EB1-9735-3435A73A2156}" type="slidenum">
              <a:rPr lang="en-US" smtClean="0"/>
              <a:t>36</a:t>
            </a:fld>
            <a:endParaRPr lang="en-US"/>
          </a:p>
        </p:txBody>
      </p:sp>
    </p:spTree>
    <p:extLst>
      <p:ext uri="{BB962C8B-B14F-4D97-AF65-F5344CB8AC3E}">
        <p14:creationId xmlns:p14="http://schemas.microsoft.com/office/powerpoint/2010/main" val="38605150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ED12A2-16A7-6843-9B63-1355399B1E28}"/>
              </a:ext>
            </a:extLst>
          </p:cNvPr>
          <p:cNvPicPr>
            <a:picLocks noChangeAspect="1"/>
          </p:cNvPicPr>
          <p:nvPr userDrawn="1"/>
        </p:nvPicPr>
        <p:blipFill>
          <a:blip r:embed="rId2"/>
          <a:stretch>
            <a:fillRect/>
          </a:stretch>
        </p:blipFill>
        <p:spPr>
          <a:xfrm>
            <a:off x="0" y="0"/>
            <a:ext cx="23861730" cy="6857999"/>
          </a:xfrm>
          <a:prstGeom prst="rect">
            <a:avLst/>
          </a:prstGeom>
        </p:spPr>
      </p:pic>
      <p:sp>
        <p:nvSpPr>
          <p:cNvPr id="11" name="Rectangle 10">
            <a:extLst>
              <a:ext uri="{FF2B5EF4-FFF2-40B4-BE49-F238E27FC236}">
                <a16:creationId xmlns:a16="http://schemas.microsoft.com/office/drawing/2014/main" id="{45F43BF2-A8EB-C342-BFB2-28AFB1781935}"/>
              </a:ext>
            </a:extLst>
          </p:cNvPr>
          <p:cNvSpPr/>
          <p:nvPr userDrawn="1"/>
        </p:nvSpPr>
        <p:spPr>
          <a:xfrm>
            <a:off x="0" y="787400"/>
            <a:ext cx="11455400" cy="5295900"/>
          </a:xfrm>
          <a:prstGeom prst="rect">
            <a:avLst/>
          </a:prstGeom>
          <a:solidFill>
            <a:schemeClr val="accent5">
              <a:lumMod val="60000"/>
              <a:lumOff val="4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1418BB35-F84D-7E4D-9F02-5B4CB837E1CB}"/>
              </a:ext>
            </a:extLst>
          </p:cNvPr>
          <p:cNvCxnSpPr/>
          <p:nvPr userDrawn="1"/>
        </p:nvCxnSpPr>
        <p:spPr>
          <a:xfrm>
            <a:off x="1778000" y="3435350"/>
            <a:ext cx="8661400" cy="0"/>
          </a:xfrm>
          <a:prstGeom prst="line">
            <a:avLst/>
          </a:prstGeom>
          <a:ln w="38100" cap="rnd">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FE6DCC-3681-AF43-B6B6-4A40A92581A5}"/>
              </a:ext>
            </a:extLst>
          </p:cNvPr>
          <p:cNvSpPr/>
          <p:nvPr userDrawn="1"/>
        </p:nvSpPr>
        <p:spPr>
          <a:xfrm>
            <a:off x="2260600" y="1647825"/>
            <a:ext cx="3562350" cy="3562350"/>
          </a:xfrm>
          <a:prstGeom prst="ellipse">
            <a:avLst/>
          </a:prstGeom>
          <a:solidFill>
            <a:schemeClr val="accent4">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A8E30CA-E181-3D4D-BB1E-9167FF0BE5D9}"/>
              </a:ext>
            </a:extLst>
          </p:cNvPr>
          <p:cNvSpPr/>
          <p:nvPr userDrawn="1"/>
        </p:nvSpPr>
        <p:spPr>
          <a:xfrm>
            <a:off x="2285627" y="1647121"/>
            <a:ext cx="3562350" cy="3562350"/>
          </a:xfrm>
          <a:prstGeom prst="ellipse">
            <a:avLst/>
          </a:prstGeom>
          <a:solidFill>
            <a:schemeClr val="accent4">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061463E-CF25-634A-89E2-4E3280BB9CEB}"/>
              </a:ext>
            </a:extLst>
          </p:cNvPr>
          <p:cNvSpPr/>
          <p:nvPr userDrawn="1"/>
        </p:nvSpPr>
        <p:spPr>
          <a:xfrm>
            <a:off x="0" y="0"/>
            <a:ext cx="2628900" cy="6858000"/>
          </a:xfrm>
          <a:prstGeom prst="triangle">
            <a:avLst>
              <a:gd name="adj" fmla="val 0"/>
            </a:avLst>
          </a:prstGeom>
          <a:gradFill>
            <a:gsLst>
              <a:gs pos="47000">
                <a:schemeClr val="accent4">
                  <a:lumMod val="50000"/>
                </a:schemeClr>
              </a:gs>
              <a:gs pos="98000">
                <a:schemeClr val="accent4">
                  <a:lumMod val="20000"/>
                  <a:lumOff val="80000"/>
                  <a:alpha val="10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81214215-C784-4548-BD1F-4BB3F0A84645}"/>
              </a:ext>
            </a:extLst>
          </p:cNvPr>
          <p:cNvSpPr/>
          <p:nvPr userDrawn="1"/>
        </p:nvSpPr>
        <p:spPr>
          <a:xfrm flipV="1">
            <a:off x="0" y="0"/>
            <a:ext cx="2628900" cy="6858000"/>
          </a:xfrm>
          <a:prstGeom prst="triangle">
            <a:avLst>
              <a:gd name="adj" fmla="val 0"/>
            </a:avLst>
          </a:prstGeom>
          <a:solidFill>
            <a:srgbClr val="5EB2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48B1337-BF6D-C04A-9C74-574FA33512D5}"/>
              </a:ext>
            </a:extLst>
          </p:cNvPr>
          <p:cNvSpPr/>
          <p:nvPr userDrawn="1"/>
        </p:nvSpPr>
        <p:spPr>
          <a:xfrm>
            <a:off x="2356553" y="1727201"/>
            <a:ext cx="3416300" cy="3416300"/>
          </a:xfrm>
          <a:prstGeom prst="ellipse">
            <a:avLst/>
          </a:prstGeom>
          <a:solidFill>
            <a:srgbClr val="005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0">
            <a:extLst>
              <a:ext uri="{FF2B5EF4-FFF2-40B4-BE49-F238E27FC236}">
                <a16:creationId xmlns:a16="http://schemas.microsoft.com/office/drawing/2014/main" id="{4C5EC980-0029-164A-926D-9ED33032D7F4}"/>
              </a:ext>
            </a:extLst>
          </p:cNvPr>
          <p:cNvSpPr>
            <a:spLocks noGrp="1"/>
          </p:cNvSpPr>
          <p:nvPr>
            <p:ph type="body" sz="quarter" idx="10"/>
          </p:nvPr>
        </p:nvSpPr>
        <p:spPr>
          <a:xfrm>
            <a:off x="2671763" y="3657600"/>
            <a:ext cx="2781300" cy="896368"/>
          </a:xfrm>
          <a:prstGeom prst="rect">
            <a:avLst/>
          </a:prstGeom>
        </p:spPr>
        <p:txBody>
          <a:bodyPr anchor="ctr"/>
          <a:lstStyle>
            <a:lvl1pPr marL="0" indent="0" algn="ctr">
              <a:buNone/>
              <a:defRPr sz="1800">
                <a:solidFill>
                  <a:schemeClr val="accent5"/>
                </a:solidFill>
              </a:defRPr>
            </a:lvl1pPr>
          </a:lstStyle>
          <a:p>
            <a:pPr lvl="0"/>
            <a:r>
              <a:rPr lang="en-US"/>
              <a:t>Edit Master text styles</a:t>
            </a:r>
          </a:p>
        </p:txBody>
      </p:sp>
      <p:sp>
        <p:nvSpPr>
          <p:cNvPr id="19" name="Title 18">
            <a:extLst>
              <a:ext uri="{FF2B5EF4-FFF2-40B4-BE49-F238E27FC236}">
                <a16:creationId xmlns:a16="http://schemas.microsoft.com/office/drawing/2014/main" id="{169DAC15-E0D1-2041-A923-17653DCA3339}"/>
              </a:ext>
            </a:extLst>
          </p:cNvPr>
          <p:cNvSpPr>
            <a:spLocks noGrp="1"/>
          </p:cNvSpPr>
          <p:nvPr>
            <p:ph type="title"/>
          </p:nvPr>
        </p:nvSpPr>
        <p:spPr>
          <a:xfrm>
            <a:off x="2671251" y="2452719"/>
            <a:ext cx="2773204" cy="1118618"/>
          </a:xfrm>
          <a:prstGeom prst="rect">
            <a:avLst/>
          </a:prstGeom>
        </p:spPr>
        <p:txBody>
          <a:bodyPr anchor="ctr"/>
          <a:lstStyle>
            <a:lvl1pPr algn="ctr">
              <a:defRPr sz="3600">
                <a:solidFill>
                  <a:schemeClr val="accent6"/>
                </a:solidFill>
              </a:defRPr>
            </a:lvl1pPr>
          </a:lstStyle>
          <a:p>
            <a:r>
              <a:rPr lang="en-US"/>
              <a:t>Click to edit Master title style</a:t>
            </a:r>
            <a:endParaRPr lang="en-US" dirty="0"/>
          </a:p>
        </p:txBody>
      </p:sp>
    </p:spTree>
    <p:extLst>
      <p:ext uri="{BB962C8B-B14F-4D97-AF65-F5344CB8AC3E}">
        <p14:creationId xmlns:p14="http://schemas.microsoft.com/office/powerpoint/2010/main" val="90428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4.375E-6 0 L -0.9056 0 " pathEditMode="relative" rAng="0" ptsTypes="AA">
                                      <p:cBhvr>
                                        <p:cTn id="6" dur="9500" fill="hold"/>
                                        <p:tgtEl>
                                          <p:spTgt spid="10"/>
                                        </p:tgtEl>
                                        <p:attrNameLst>
                                          <p:attrName>ppt_x</p:attrName>
                                          <p:attrName>ppt_y</p:attrName>
                                        </p:attrNameLst>
                                      </p:cBhvr>
                                      <p:rCtr x="-45286" y="0"/>
                                    </p:animMotion>
                                  </p:childTnLst>
                                </p:cTn>
                              </p:par>
                              <p:par>
                                <p:cTn id="7" presetID="10" presetClass="exit" presetSubtype="0" fill="hold" nodeType="withEffect">
                                  <p:stCondLst>
                                    <p:cond delay="9200"/>
                                  </p:stCondLst>
                                  <p:childTnLst>
                                    <p:animEffect transition="out" filter="fade">
                                      <p:cBhvr>
                                        <p:cTn id="8" dur="500"/>
                                        <p:tgtEl>
                                          <p:spTgt spid="10"/>
                                        </p:tgtEl>
                                      </p:cBhvr>
                                    </p:animEffect>
                                    <p:set>
                                      <p:cBhvr>
                                        <p:cTn id="9" dur="1" fill="hold">
                                          <p:stCondLst>
                                            <p:cond delay="499"/>
                                          </p:stCondLst>
                                        </p:cTn>
                                        <p:tgtEl>
                                          <p:spTgt spid="10"/>
                                        </p:tgtEl>
                                        <p:attrNameLst>
                                          <p:attrName>style.visibility</p:attrName>
                                        </p:attrNameLst>
                                      </p:cBhvr>
                                      <p:to>
                                        <p:strVal val="hidden"/>
                                      </p:to>
                                    </p:set>
                                  </p:childTnLst>
                                </p:cTn>
                              </p:par>
                              <p:par>
                                <p:cTn id="10" presetID="2" presetClass="entr" presetSubtype="8" fill="hold" grpId="0" nodeType="withEffect">
                                  <p:stCondLst>
                                    <p:cond delay="100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1000" fill="hold"/>
                                        <p:tgtEl>
                                          <p:spTgt spid="11"/>
                                        </p:tgtEl>
                                        <p:attrNameLst>
                                          <p:attrName>ppt_x</p:attrName>
                                        </p:attrNameLst>
                                      </p:cBhvr>
                                      <p:tavLst>
                                        <p:tav tm="0">
                                          <p:val>
                                            <p:strVal val="0-#ppt_w/2"/>
                                          </p:val>
                                        </p:tav>
                                        <p:tav tm="100000">
                                          <p:val>
                                            <p:strVal val="#ppt_x"/>
                                          </p:val>
                                        </p:tav>
                                      </p:tavLst>
                                    </p:anim>
                                    <p:anim calcmode="lin" valueType="num">
                                      <p:cBhvr additive="base">
                                        <p:cTn id="13" dur="1000" fill="hold"/>
                                        <p:tgtEl>
                                          <p:spTgt spid="11"/>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100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10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0-#ppt_w/2"/>
                                          </p:val>
                                        </p:tav>
                                        <p:tav tm="100000">
                                          <p:val>
                                            <p:strVal val="#ppt_x"/>
                                          </p:val>
                                        </p:tav>
                                      </p:tavLst>
                                    </p:anim>
                                    <p:anim calcmode="lin" valueType="num">
                                      <p:cBhvr additive="base">
                                        <p:cTn id="21" dur="1000" fill="hold"/>
                                        <p:tgtEl>
                                          <p:spTgt spid="13"/>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150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childTnLst>
                                </p:cTn>
                              </p:par>
                              <p:par>
                                <p:cTn id="25" presetID="10" presetClass="entr" presetSubtype="0" fill="hold" grpId="0" nodeType="withEffect">
                                  <p:stCondLst>
                                    <p:cond delay="15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childTnLst>
                                </p:cTn>
                              </p:par>
                              <p:par>
                                <p:cTn id="31" presetID="22" presetClass="entr" presetSubtype="8" fill="hold" grpId="0" nodeType="withEffect">
                                  <p:stCondLst>
                                    <p:cond delay="250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par>
                                <p:cTn id="34" presetID="22" presetClass="entr" presetSubtype="8" fill="hold" grpId="0" nodeType="withEffect">
                                  <p:stCondLst>
                                    <p:cond delay="2500"/>
                                  </p:stCondLst>
                                  <p:childTnLst>
                                    <p:set>
                                      <p:cBhvr>
                                        <p:cTn id="35" dur="1" fill="hold">
                                          <p:stCondLst>
                                            <p:cond delay="0"/>
                                          </p:stCondLst>
                                        </p:cTn>
                                        <p:tgtEl>
                                          <p:spTgt spid="21">
                                            <p:txEl>
                                              <p:pRg st="0" end="0"/>
                                            </p:txEl>
                                          </p:spTgt>
                                        </p:tgtEl>
                                        <p:attrNameLst>
                                          <p:attrName>style.visibility</p:attrName>
                                        </p:attrNameLst>
                                      </p:cBhvr>
                                      <p:to>
                                        <p:strVal val="visible"/>
                                      </p:to>
                                    </p:set>
                                    <p:animEffect transition="in" filter="wipe(left)">
                                      <p:cBhvr>
                                        <p:cTn id="36" dur="500"/>
                                        <p:tgtEl>
                                          <p:spTgt spid="21">
                                            <p:txEl>
                                              <p:pRg st="0" end="0"/>
                                            </p:txEl>
                                          </p:spTgt>
                                        </p:tgtEl>
                                      </p:cBhvr>
                                    </p:animEffect>
                                  </p:childTnLst>
                                </p:cTn>
                              </p:par>
                              <p:par>
                                <p:cTn id="37" presetID="22" presetClass="entr" presetSubtype="4" fill="hold" nodeType="withEffect">
                                  <p:stCondLst>
                                    <p:cond delay="250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 presetClass="exit" presetSubtype="8" fill="hold" grpId="1" nodeType="withEffect">
                                  <p:stCondLst>
                                    <p:cond delay="7500"/>
                                  </p:stCondLst>
                                  <p:childTnLst>
                                    <p:anim calcmode="lin" valueType="num">
                                      <p:cBhvr additive="base">
                                        <p:cTn id="41" dur="1000"/>
                                        <p:tgtEl>
                                          <p:spTgt spid="13"/>
                                        </p:tgtEl>
                                        <p:attrNameLst>
                                          <p:attrName>ppt_x</p:attrName>
                                        </p:attrNameLst>
                                      </p:cBhvr>
                                      <p:tavLst>
                                        <p:tav tm="0">
                                          <p:val>
                                            <p:strVal val="ppt_x"/>
                                          </p:val>
                                        </p:tav>
                                        <p:tav tm="100000">
                                          <p:val>
                                            <p:strVal val="0-ppt_w/2"/>
                                          </p:val>
                                        </p:tav>
                                      </p:tavLst>
                                    </p:anim>
                                    <p:anim calcmode="lin" valueType="num">
                                      <p:cBhvr additive="base">
                                        <p:cTn id="42" dur="1000"/>
                                        <p:tgtEl>
                                          <p:spTgt spid="13"/>
                                        </p:tgtEl>
                                        <p:attrNameLst>
                                          <p:attrName>ppt_y</p:attrName>
                                        </p:attrNameLst>
                                      </p:cBhvr>
                                      <p:tavLst>
                                        <p:tav tm="0">
                                          <p:val>
                                            <p:strVal val="ppt_y"/>
                                          </p:val>
                                        </p:tav>
                                        <p:tav tm="100000">
                                          <p:val>
                                            <p:strVal val="ppt_y"/>
                                          </p:val>
                                        </p:tav>
                                      </p:tavLst>
                                    </p:anim>
                                    <p:set>
                                      <p:cBhvr>
                                        <p:cTn id="43" dur="1" fill="hold">
                                          <p:stCondLst>
                                            <p:cond delay="999"/>
                                          </p:stCondLst>
                                        </p:cTn>
                                        <p:tgtEl>
                                          <p:spTgt spid="13"/>
                                        </p:tgtEl>
                                        <p:attrNameLst>
                                          <p:attrName>style.visibility</p:attrName>
                                        </p:attrNameLst>
                                      </p:cBhvr>
                                      <p:to>
                                        <p:strVal val="hidden"/>
                                      </p:to>
                                    </p:set>
                                  </p:childTnLst>
                                </p:cTn>
                              </p:par>
                              <p:par>
                                <p:cTn id="44" presetID="2" presetClass="exit" presetSubtype="8" fill="hold" grpId="1" nodeType="withEffect">
                                  <p:stCondLst>
                                    <p:cond delay="7500"/>
                                  </p:stCondLst>
                                  <p:childTnLst>
                                    <p:anim calcmode="lin" valueType="num">
                                      <p:cBhvr additive="base">
                                        <p:cTn id="45" dur="1000"/>
                                        <p:tgtEl>
                                          <p:spTgt spid="12"/>
                                        </p:tgtEl>
                                        <p:attrNameLst>
                                          <p:attrName>ppt_x</p:attrName>
                                        </p:attrNameLst>
                                      </p:cBhvr>
                                      <p:tavLst>
                                        <p:tav tm="0">
                                          <p:val>
                                            <p:strVal val="ppt_x"/>
                                          </p:val>
                                        </p:tav>
                                        <p:tav tm="100000">
                                          <p:val>
                                            <p:strVal val="0-ppt_w/2"/>
                                          </p:val>
                                        </p:tav>
                                      </p:tavLst>
                                    </p:anim>
                                    <p:anim calcmode="lin" valueType="num">
                                      <p:cBhvr additive="base">
                                        <p:cTn id="46" dur="1000"/>
                                        <p:tgtEl>
                                          <p:spTgt spid="12"/>
                                        </p:tgtEl>
                                        <p:attrNameLst>
                                          <p:attrName>ppt_y</p:attrName>
                                        </p:attrNameLst>
                                      </p:cBhvr>
                                      <p:tavLst>
                                        <p:tav tm="0">
                                          <p:val>
                                            <p:strVal val="ppt_y"/>
                                          </p:val>
                                        </p:tav>
                                        <p:tav tm="100000">
                                          <p:val>
                                            <p:strVal val="ppt_y"/>
                                          </p:val>
                                        </p:tav>
                                      </p:tavLst>
                                    </p:anim>
                                    <p:set>
                                      <p:cBhvr>
                                        <p:cTn id="47" dur="1" fill="hold">
                                          <p:stCondLst>
                                            <p:cond delay="999"/>
                                          </p:stCondLst>
                                        </p:cTn>
                                        <p:tgtEl>
                                          <p:spTgt spid="12"/>
                                        </p:tgtEl>
                                        <p:attrNameLst>
                                          <p:attrName>style.visibility</p:attrName>
                                        </p:attrNameLst>
                                      </p:cBhvr>
                                      <p:to>
                                        <p:strVal val="hidden"/>
                                      </p:to>
                                    </p:set>
                                  </p:childTnLst>
                                </p:cTn>
                              </p:par>
                              <p:par>
                                <p:cTn id="48" presetID="2" presetClass="exit" presetSubtype="8" fill="hold" grpId="1" nodeType="withEffect">
                                  <p:stCondLst>
                                    <p:cond delay="7500"/>
                                  </p:stCondLst>
                                  <p:childTnLst>
                                    <p:anim calcmode="lin" valueType="num">
                                      <p:cBhvr additive="base">
                                        <p:cTn id="49" dur="1000"/>
                                        <p:tgtEl>
                                          <p:spTgt spid="11"/>
                                        </p:tgtEl>
                                        <p:attrNameLst>
                                          <p:attrName>ppt_x</p:attrName>
                                        </p:attrNameLst>
                                      </p:cBhvr>
                                      <p:tavLst>
                                        <p:tav tm="0">
                                          <p:val>
                                            <p:strVal val="ppt_x"/>
                                          </p:val>
                                        </p:tav>
                                        <p:tav tm="100000">
                                          <p:val>
                                            <p:strVal val="0-ppt_w/2"/>
                                          </p:val>
                                        </p:tav>
                                      </p:tavLst>
                                    </p:anim>
                                    <p:anim calcmode="lin" valueType="num">
                                      <p:cBhvr additive="base">
                                        <p:cTn id="50" dur="1000"/>
                                        <p:tgtEl>
                                          <p:spTgt spid="11"/>
                                        </p:tgtEl>
                                        <p:attrNameLst>
                                          <p:attrName>ppt_y</p:attrName>
                                        </p:attrNameLst>
                                      </p:cBhvr>
                                      <p:tavLst>
                                        <p:tav tm="0">
                                          <p:val>
                                            <p:strVal val="ppt_y"/>
                                          </p:val>
                                        </p:tav>
                                        <p:tav tm="100000">
                                          <p:val>
                                            <p:strVal val="ppt_y"/>
                                          </p:val>
                                        </p:tav>
                                      </p:tavLst>
                                    </p:anim>
                                    <p:set>
                                      <p:cBhvr>
                                        <p:cTn id="51" dur="1" fill="hold">
                                          <p:stCondLst>
                                            <p:cond delay="999"/>
                                          </p:stCondLst>
                                        </p:cTn>
                                        <p:tgtEl>
                                          <p:spTgt spid="11"/>
                                        </p:tgtEl>
                                        <p:attrNameLst>
                                          <p:attrName>style.visibility</p:attrName>
                                        </p:attrNameLst>
                                      </p:cBhvr>
                                      <p:to>
                                        <p:strVal val="hidden"/>
                                      </p:to>
                                    </p:set>
                                  </p:childTnLst>
                                </p:cTn>
                              </p:par>
                              <p:par>
                                <p:cTn id="52" presetID="22" presetClass="exit" presetSubtype="8" fill="hold" grpId="1" nodeType="withEffect">
                                  <p:stCondLst>
                                    <p:cond delay="7500"/>
                                  </p:stCondLst>
                                  <p:childTnLst>
                                    <p:animEffect transition="out" filter="wipe(left)">
                                      <p:cBhvr>
                                        <p:cTn id="53" dur="1000"/>
                                        <p:tgtEl>
                                          <p:spTgt spid="19"/>
                                        </p:tgtEl>
                                      </p:cBhvr>
                                    </p:animEffect>
                                    <p:set>
                                      <p:cBhvr>
                                        <p:cTn id="54" dur="1" fill="hold">
                                          <p:stCondLst>
                                            <p:cond delay="999"/>
                                          </p:stCondLst>
                                        </p:cTn>
                                        <p:tgtEl>
                                          <p:spTgt spid="19"/>
                                        </p:tgtEl>
                                        <p:attrNameLst>
                                          <p:attrName>style.visibility</p:attrName>
                                        </p:attrNameLst>
                                      </p:cBhvr>
                                      <p:to>
                                        <p:strVal val="hidden"/>
                                      </p:to>
                                    </p:set>
                                  </p:childTnLst>
                                </p:cTn>
                              </p:par>
                              <p:par>
                                <p:cTn id="55" presetID="22" presetClass="exit" presetSubtype="8" fill="hold" grpId="1" nodeType="withEffect">
                                  <p:stCondLst>
                                    <p:cond delay="7500"/>
                                  </p:stCondLst>
                                  <p:childTnLst>
                                    <p:animEffect transition="out" filter="wipe(left)">
                                      <p:cBhvr>
                                        <p:cTn id="56" dur="750"/>
                                        <p:tgtEl>
                                          <p:spTgt spid="21">
                                            <p:txEl>
                                              <p:pRg st="0" end="0"/>
                                            </p:txEl>
                                          </p:spTgt>
                                        </p:tgtEl>
                                      </p:cBhvr>
                                    </p:animEffect>
                                    <p:set>
                                      <p:cBhvr>
                                        <p:cTn id="57" dur="1" fill="hold">
                                          <p:stCondLst>
                                            <p:cond delay="749"/>
                                          </p:stCondLst>
                                        </p:cTn>
                                        <p:tgtEl>
                                          <p:spTgt spid="21">
                                            <p:txEl>
                                              <p:pRg st="0" end="0"/>
                                            </p:txEl>
                                          </p:spTgt>
                                        </p:tgtEl>
                                        <p:attrNameLst>
                                          <p:attrName>style.visibility</p:attrName>
                                        </p:attrNameLst>
                                      </p:cBhvr>
                                      <p:to>
                                        <p:strVal val="hidden"/>
                                      </p:to>
                                    </p:set>
                                  </p:childTnLst>
                                </p:cTn>
                              </p:par>
                              <p:par>
                                <p:cTn id="58" presetID="22" presetClass="exit" presetSubtype="8" fill="hold" nodeType="withEffect">
                                  <p:stCondLst>
                                    <p:cond delay="7500"/>
                                  </p:stCondLst>
                                  <p:childTnLst>
                                    <p:animEffect transition="out" filter="wipe(left)">
                                      <p:cBhvr>
                                        <p:cTn id="59" dur="750"/>
                                        <p:tgtEl>
                                          <p:spTgt spid="17"/>
                                        </p:tgtEl>
                                      </p:cBhvr>
                                    </p:animEffect>
                                    <p:set>
                                      <p:cBhvr>
                                        <p:cTn id="60" dur="1" fill="hold">
                                          <p:stCondLst>
                                            <p:cond delay="749"/>
                                          </p:stCondLst>
                                        </p:cTn>
                                        <p:tgtEl>
                                          <p:spTgt spid="17"/>
                                        </p:tgtEl>
                                        <p:attrNameLst>
                                          <p:attrName>style.visibility</p:attrName>
                                        </p:attrNameLst>
                                      </p:cBhvr>
                                      <p:to>
                                        <p:strVal val="hidden"/>
                                      </p:to>
                                    </p:set>
                                  </p:childTnLst>
                                </p:cTn>
                              </p:par>
                              <p:par>
                                <p:cTn id="61" presetID="10" presetClass="exit" presetSubtype="0" fill="hold" grpId="1" nodeType="withEffect">
                                  <p:stCondLst>
                                    <p:cond delay="7500"/>
                                  </p:stCondLst>
                                  <p:childTnLst>
                                    <p:animEffect transition="out" filter="fade">
                                      <p:cBhvr>
                                        <p:cTn id="62" dur="1000"/>
                                        <p:tgtEl>
                                          <p:spTgt spid="14"/>
                                        </p:tgtEl>
                                      </p:cBhvr>
                                    </p:animEffect>
                                    <p:set>
                                      <p:cBhvr>
                                        <p:cTn id="63" dur="1" fill="hold">
                                          <p:stCondLst>
                                            <p:cond delay="999"/>
                                          </p:stCondLst>
                                        </p:cTn>
                                        <p:tgtEl>
                                          <p:spTgt spid="14"/>
                                        </p:tgtEl>
                                        <p:attrNameLst>
                                          <p:attrName>style.visibility</p:attrName>
                                        </p:attrNameLst>
                                      </p:cBhvr>
                                      <p:to>
                                        <p:strVal val="hidden"/>
                                      </p:to>
                                    </p:set>
                                  </p:childTnLst>
                                </p:cTn>
                              </p:par>
                              <p:par>
                                <p:cTn id="64" presetID="10" presetClass="exit" presetSubtype="0" fill="hold" grpId="1" nodeType="withEffect">
                                  <p:stCondLst>
                                    <p:cond delay="7500"/>
                                  </p:stCondLst>
                                  <p:childTnLst>
                                    <p:animEffect transition="out" filter="fade">
                                      <p:cBhvr>
                                        <p:cTn id="65" dur="1000"/>
                                        <p:tgtEl>
                                          <p:spTgt spid="18"/>
                                        </p:tgtEl>
                                      </p:cBhvr>
                                    </p:animEffect>
                                    <p:set>
                                      <p:cBhvr>
                                        <p:cTn id="66" dur="1" fill="hold">
                                          <p:stCondLst>
                                            <p:cond delay="999"/>
                                          </p:stCondLst>
                                        </p:cTn>
                                        <p:tgtEl>
                                          <p:spTgt spid="18"/>
                                        </p:tgtEl>
                                        <p:attrNameLst>
                                          <p:attrName>style.visibility</p:attrName>
                                        </p:attrNameLst>
                                      </p:cBhvr>
                                      <p:to>
                                        <p:strVal val="hidden"/>
                                      </p:to>
                                    </p:set>
                                  </p:childTnLst>
                                </p:cTn>
                              </p:par>
                              <p:par>
                                <p:cTn id="67" presetID="10" presetClass="exit" presetSubtype="0" fill="hold" grpId="1" nodeType="withEffect">
                                  <p:stCondLst>
                                    <p:cond delay="7500"/>
                                  </p:stCondLst>
                                  <p:childTnLst>
                                    <p:animEffect transition="out" filter="fade">
                                      <p:cBhvr>
                                        <p:cTn id="68" dur="1000"/>
                                        <p:tgtEl>
                                          <p:spTgt spid="15"/>
                                        </p:tgtEl>
                                      </p:cBhvr>
                                    </p:animEffect>
                                    <p:set>
                                      <p:cBhvr>
                                        <p:cTn id="69"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4" grpId="0" animBg="1"/>
      <p:bldP spid="14" grpId="1" animBg="1"/>
      <p:bldP spid="18" grpId="0" animBg="1"/>
      <p:bldP spid="18" grpId="1" animBg="1"/>
      <p:bldP spid="12" grpId="0" animBg="1"/>
      <p:bldP spid="12" grpId="1" animBg="1"/>
      <p:bldP spid="13" grpId="0" animBg="1"/>
      <p:bldP spid="13" grpId="1" animBg="1"/>
      <p:bldP spid="15" grpId="0" animBg="1"/>
      <p:bldP spid="15" grpId="1" animBg="1"/>
      <p:bldP spid="21" grpId="0" build="p">
        <p:tmplLst>
          <p:tmpl lvl="1">
            <p:tnLst>
              <p:par>
                <p:cTn presetID="22" presetClass="entr" presetSubtype="8" fill="hold" nodeType="withEffect">
                  <p:stCondLst>
                    <p:cond delay="250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1" grpId="1" build="p">
        <p:tmplLst>
          <p:tmpl lvl="1">
            <p:tnLst>
              <p:par>
                <p:cTn presetID="22" presetClass="exit" presetSubtype="8" fill="hold" nodeType="withEffect">
                  <p:stCondLst>
                    <p:cond delay="7500"/>
                  </p:stCondLst>
                  <p:childTnLst>
                    <p:animEffect transition="out" filter="wipe(left)">
                      <p:cBhvr>
                        <p:cTn dur="750"/>
                        <p:tgtEl>
                          <p:spTgt spid="21"/>
                        </p:tgtEl>
                      </p:cBhvr>
                    </p:animEffect>
                    <p:set>
                      <p:cBhvr>
                        <p:cTn dur="1" fill="hold">
                          <p:stCondLst>
                            <p:cond delay="749"/>
                          </p:stCondLst>
                        </p:cTn>
                        <p:tgtEl>
                          <p:spTgt spid="21"/>
                        </p:tgtEl>
                        <p:attrNameLst>
                          <p:attrName>style.visibility</p:attrName>
                        </p:attrNameLst>
                      </p:cBhvr>
                      <p:to>
                        <p:strVal val="hidden"/>
                      </p:to>
                    </p:set>
                  </p:childTnLst>
                </p:cTn>
              </p:par>
            </p:tnLst>
          </p:tmpl>
        </p:tmplLst>
      </p:bldP>
      <p:bldP spid="19" grpId="0"/>
      <p:bldP spid="19" grpId="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8DBD5F-C6EC-485E-8ECE-A5152736C43A}"/>
              </a:ext>
            </a:extLst>
          </p:cNvPr>
          <p:cNvSpPr>
            <a:spLocks noGrp="1"/>
          </p:cNvSpPr>
          <p:nvPr>
            <p:ph type="dt" sz="half" idx="10"/>
          </p:nvPr>
        </p:nvSpPr>
        <p:spPr/>
        <p:txBody>
          <a:bodyPr/>
          <a:lstStyle/>
          <a:p>
            <a:fld id="{F0668671-D130-4D8E-B684-7439248A6B89}" type="datetime1">
              <a:rPr lang="en-US" smtClean="0"/>
              <a:t>2/27/24</a:t>
            </a:fld>
            <a:endParaRPr lang="en-US"/>
          </a:p>
        </p:txBody>
      </p:sp>
      <p:sp>
        <p:nvSpPr>
          <p:cNvPr id="3" name="Footer Placeholder 2">
            <a:extLst>
              <a:ext uri="{FF2B5EF4-FFF2-40B4-BE49-F238E27FC236}">
                <a16:creationId xmlns:a16="http://schemas.microsoft.com/office/drawing/2014/main" id="{FB6C0BE6-E24A-4679-B786-AAB41ADCCD5D}"/>
              </a:ext>
            </a:extLst>
          </p:cNvPr>
          <p:cNvSpPr>
            <a:spLocks noGrp="1"/>
          </p:cNvSpPr>
          <p:nvPr>
            <p:ph type="ftr" sz="quarter" idx="11"/>
          </p:nvPr>
        </p:nvSpPr>
        <p:spPr/>
        <p:txBody>
          <a:bodyPr/>
          <a:lstStyle/>
          <a:p>
            <a:r>
              <a:rPr lang="en-US"/>
              <a:t>Dr. Nguyễn Ngọc Ái Vân</a:t>
            </a:r>
          </a:p>
        </p:txBody>
      </p:sp>
      <p:sp>
        <p:nvSpPr>
          <p:cNvPr id="4" name="Slide Number Placeholder 3">
            <a:extLst>
              <a:ext uri="{FF2B5EF4-FFF2-40B4-BE49-F238E27FC236}">
                <a16:creationId xmlns:a16="http://schemas.microsoft.com/office/drawing/2014/main" id="{73FB9417-93D4-4C41-8E0E-1553E0B5D0CE}"/>
              </a:ext>
            </a:extLst>
          </p:cNvPr>
          <p:cNvSpPr>
            <a:spLocks noGrp="1"/>
          </p:cNvSpPr>
          <p:nvPr>
            <p:ph type="sldNum" sz="quarter" idx="12"/>
          </p:nvPr>
        </p:nvSpPr>
        <p:spPr/>
        <p:txBody>
          <a:bodyPr/>
          <a:lstStyle/>
          <a:p>
            <a:fld id="{DA64F31B-23FA-4075-AF7D-6228CFD12F03}" type="slidenum">
              <a:rPr lang="en-US" smtClean="0"/>
              <a:t>‹#›</a:t>
            </a:fld>
            <a:endParaRPr lang="en-US"/>
          </a:p>
        </p:txBody>
      </p:sp>
    </p:spTree>
    <p:extLst>
      <p:ext uri="{BB962C8B-B14F-4D97-AF65-F5344CB8AC3E}">
        <p14:creationId xmlns:p14="http://schemas.microsoft.com/office/powerpoint/2010/main" val="710684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1573" y="76200"/>
            <a:ext cx="11204027" cy="685800"/>
          </a:xfrm>
        </p:spPr>
        <p:txBody>
          <a:bodyPr anchor="ctr" anchorCtr="0">
            <a:normAutofit/>
          </a:bodyPr>
          <a:lstStyle>
            <a:lvl1pPr algn="l">
              <a:defRPr sz="3600" b="0">
                <a:solidFill>
                  <a:srgbClr val="215B2F"/>
                </a:solidFill>
              </a:defRPr>
            </a:lvl1pPr>
          </a:lstStyle>
          <a:p>
            <a:r>
              <a:rPr lang="en-US"/>
              <a:t>Click to edit Master title style</a:t>
            </a:r>
            <a:endParaRPr lang="en-US" dirty="0"/>
          </a:p>
        </p:txBody>
      </p:sp>
      <p:sp>
        <p:nvSpPr>
          <p:cNvPr id="3" name="Content Placeholder 2"/>
          <p:cNvSpPr>
            <a:spLocks noGrp="1"/>
          </p:cNvSpPr>
          <p:nvPr>
            <p:ph idx="1"/>
          </p:nvPr>
        </p:nvSpPr>
        <p:spPr>
          <a:xfrm>
            <a:off x="609600" y="1143000"/>
            <a:ext cx="10972800" cy="5105400"/>
          </a:xfrm>
        </p:spPr>
        <p:txBody>
          <a:bodyPr/>
          <a:lstStyle>
            <a:lvl1pPr>
              <a:defRPr b="0">
                <a:solidFill>
                  <a:schemeClr val="tx1">
                    <a:lumMod val="85000"/>
                    <a:lumOff val="15000"/>
                  </a:schemeClr>
                </a:solidFill>
              </a:defRPr>
            </a:lvl1pPr>
            <a:lvl2pPr>
              <a:defRPr b="0">
                <a:solidFill>
                  <a:schemeClr val="tx1">
                    <a:lumMod val="85000"/>
                    <a:lumOff val="15000"/>
                  </a:schemeClr>
                </a:solidFill>
              </a:defRPr>
            </a:lvl2pPr>
            <a:lvl3pPr>
              <a:defRPr b="0">
                <a:solidFill>
                  <a:schemeClr val="tx1">
                    <a:lumMod val="85000"/>
                    <a:lumOff val="15000"/>
                  </a:schemeClr>
                </a:solidFill>
              </a:defRPr>
            </a:lvl3pPr>
            <a:lvl4pPr>
              <a:defRPr b="0">
                <a:solidFill>
                  <a:schemeClr val="tx1">
                    <a:lumMod val="85000"/>
                    <a:lumOff val="15000"/>
                  </a:schemeClr>
                </a:solidFill>
              </a:defRPr>
            </a:lvl4pPr>
            <a:lvl5pPr>
              <a:defRPr b="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609600" y="6553200"/>
            <a:ext cx="2844800" cy="304800"/>
          </a:xfrm>
        </p:spPr>
        <p:txBody>
          <a:bodyPr/>
          <a:lstStyle/>
          <a:p>
            <a:fld id="{92C0E061-6953-49B4-8B78-3C633BEBEEF9}" type="datetime1">
              <a:rPr lang="en-US" smtClean="0"/>
              <a:t>2/27/24</a:t>
            </a:fld>
            <a:endParaRPr lang="en-US"/>
          </a:p>
        </p:txBody>
      </p:sp>
      <p:sp>
        <p:nvSpPr>
          <p:cNvPr id="11" name="Footer Placeholder 10"/>
          <p:cNvSpPr>
            <a:spLocks noGrp="1"/>
          </p:cNvSpPr>
          <p:nvPr>
            <p:ph type="ftr" sz="quarter" idx="11"/>
          </p:nvPr>
        </p:nvSpPr>
        <p:spPr>
          <a:xfrm>
            <a:off x="4165600" y="6553200"/>
            <a:ext cx="3860800" cy="304800"/>
          </a:xfrm>
        </p:spPr>
        <p:txBody>
          <a:bodyPr/>
          <a:lstStyle/>
          <a:p>
            <a:r>
              <a:rPr lang="en-US"/>
              <a:t>Dr. Nguyễn Ngọc Ái Vân</a:t>
            </a:r>
            <a:endParaRPr lang="en-US" dirty="0"/>
          </a:p>
        </p:txBody>
      </p:sp>
      <p:sp>
        <p:nvSpPr>
          <p:cNvPr id="12" name="Slide Number Placeholder 11"/>
          <p:cNvSpPr>
            <a:spLocks noGrp="1"/>
          </p:cNvSpPr>
          <p:nvPr>
            <p:ph type="sldNum" sz="quarter" idx="12"/>
          </p:nvPr>
        </p:nvSpPr>
        <p:spPr>
          <a:xfrm>
            <a:off x="8737600" y="6553200"/>
            <a:ext cx="2844800" cy="304800"/>
          </a:xfrm>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24430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ED12A2-16A7-6843-9B63-1355399B1E28}"/>
              </a:ext>
            </a:extLst>
          </p:cNvPr>
          <p:cNvPicPr>
            <a:picLocks noChangeAspect="1"/>
          </p:cNvPicPr>
          <p:nvPr userDrawn="1"/>
        </p:nvPicPr>
        <p:blipFill>
          <a:blip r:embed="rId2"/>
          <a:stretch>
            <a:fillRect/>
          </a:stretch>
        </p:blipFill>
        <p:spPr>
          <a:xfrm>
            <a:off x="0" y="0"/>
            <a:ext cx="23861730" cy="6857999"/>
          </a:xfrm>
          <a:prstGeom prst="rect">
            <a:avLst/>
          </a:prstGeom>
        </p:spPr>
      </p:pic>
      <p:sp>
        <p:nvSpPr>
          <p:cNvPr id="11" name="Rectangle 10">
            <a:extLst>
              <a:ext uri="{FF2B5EF4-FFF2-40B4-BE49-F238E27FC236}">
                <a16:creationId xmlns:a16="http://schemas.microsoft.com/office/drawing/2014/main" id="{45F43BF2-A8EB-C342-BFB2-28AFB1781935}"/>
              </a:ext>
            </a:extLst>
          </p:cNvPr>
          <p:cNvSpPr/>
          <p:nvPr userDrawn="1"/>
        </p:nvSpPr>
        <p:spPr>
          <a:xfrm>
            <a:off x="0" y="787400"/>
            <a:ext cx="11455400" cy="5295900"/>
          </a:xfrm>
          <a:prstGeom prst="rect">
            <a:avLst/>
          </a:prstGeom>
          <a:solidFill>
            <a:schemeClr val="accent5">
              <a:lumMod val="60000"/>
              <a:lumOff val="4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1418BB35-F84D-7E4D-9F02-5B4CB837E1CB}"/>
              </a:ext>
            </a:extLst>
          </p:cNvPr>
          <p:cNvCxnSpPr/>
          <p:nvPr userDrawn="1"/>
        </p:nvCxnSpPr>
        <p:spPr>
          <a:xfrm>
            <a:off x="1778000" y="3435350"/>
            <a:ext cx="8661400" cy="0"/>
          </a:xfrm>
          <a:prstGeom prst="line">
            <a:avLst/>
          </a:prstGeom>
          <a:ln w="38100" cap="rnd">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FE6DCC-3681-AF43-B6B6-4A40A92581A5}"/>
              </a:ext>
            </a:extLst>
          </p:cNvPr>
          <p:cNvSpPr/>
          <p:nvPr userDrawn="1"/>
        </p:nvSpPr>
        <p:spPr>
          <a:xfrm>
            <a:off x="2260600" y="1647825"/>
            <a:ext cx="3562350" cy="3562350"/>
          </a:xfrm>
          <a:prstGeom prst="ellipse">
            <a:avLst/>
          </a:prstGeom>
          <a:solidFill>
            <a:schemeClr val="accent4">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A8E30CA-E181-3D4D-BB1E-9167FF0BE5D9}"/>
              </a:ext>
            </a:extLst>
          </p:cNvPr>
          <p:cNvSpPr/>
          <p:nvPr userDrawn="1"/>
        </p:nvSpPr>
        <p:spPr>
          <a:xfrm>
            <a:off x="2285627" y="1647121"/>
            <a:ext cx="3562350" cy="3562350"/>
          </a:xfrm>
          <a:prstGeom prst="ellipse">
            <a:avLst/>
          </a:prstGeom>
          <a:solidFill>
            <a:schemeClr val="accent4">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061463E-CF25-634A-89E2-4E3280BB9CEB}"/>
              </a:ext>
            </a:extLst>
          </p:cNvPr>
          <p:cNvSpPr/>
          <p:nvPr userDrawn="1"/>
        </p:nvSpPr>
        <p:spPr>
          <a:xfrm>
            <a:off x="0" y="0"/>
            <a:ext cx="2628900" cy="6858000"/>
          </a:xfrm>
          <a:prstGeom prst="triangle">
            <a:avLst>
              <a:gd name="adj" fmla="val 0"/>
            </a:avLst>
          </a:prstGeom>
          <a:gradFill>
            <a:gsLst>
              <a:gs pos="47000">
                <a:schemeClr val="accent4">
                  <a:lumMod val="50000"/>
                </a:schemeClr>
              </a:gs>
              <a:gs pos="98000">
                <a:schemeClr val="accent4">
                  <a:lumMod val="20000"/>
                  <a:lumOff val="80000"/>
                  <a:alpha val="10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81214215-C784-4548-BD1F-4BB3F0A84645}"/>
              </a:ext>
            </a:extLst>
          </p:cNvPr>
          <p:cNvSpPr/>
          <p:nvPr userDrawn="1"/>
        </p:nvSpPr>
        <p:spPr>
          <a:xfrm flipV="1">
            <a:off x="0" y="0"/>
            <a:ext cx="2628900" cy="6858000"/>
          </a:xfrm>
          <a:prstGeom prst="triangle">
            <a:avLst>
              <a:gd name="adj" fmla="val 0"/>
            </a:avLst>
          </a:prstGeom>
          <a:solidFill>
            <a:srgbClr val="5EB2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48B1337-BF6D-C04A-9C74-574FA33512D5}"/>
              </a:ext>
            </a:extLst>
          </p:cNvPr>
          <p:cNvSpPr/>
          <p:nvPr userDrawn="1"/>
        </p:nvSpPr>
        <p:spPr>
          <a:xfrm>
            <a:off x="2356553" y="1727201"/>
            <a:ext cx="3416300" cy="3416300"/>
          </a:xfrm>
          <a:prstGeom prst="ellipse">
            <a:avLst/>
          </a:prstGeom>
          <a:solidFill>
            <a:srgbClr val="005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0">
            <a:extLst>
              <a:ext uri="{FF2B5EF4-FFF2-40B4-BE49-F238E27FC236}">
                <a16:creationId xmlns:a16="http://schemas.microsoft.com/office/drawing/2014/main" id="{4C5EC980-0029-164A-926D-9ED33032D7F4}"/>
              </a:ext>
            </a:extLst>
          </p:cNvPr>
          <p:cNvSpPr>
            <a:spLocks noGrp="1"/>
          </p:cNvSpPr>
          <p:nvPr>
            <p:ph type="body" sz="quarter" idx="10"/>
          </p:nvPr>
        </p:nvSpPr>
        <p:spPr>
          <a:xfrm>
            <a:off x="2671763" y="3657600"/>
            <a:ext cx="2781300" cy="896368"/>
          </a:xfrm>
          <a:prstGeom prst="rect">
            <a:avLst/>
          </a:prstGeom>
        </p:spPr>
        <p:txBody>
          <a:bodyPr anchor="ctr"/>
          <a:lstStyle>
            <a:lvl1pPr marL="0" indent="0" algn="ctr">
              <a:buNone/>
              <a:defRPr sz="1800">
                <a:solidFill>
                  <a:schemeClr val="accent5"/>
                </a:solidFill>
              </a:defRPr>
            </a:lvl1pPr>
          </a:lstStyle>
          <a:p>
            <a:pPr lvl="0"/>
            <a:r>
              <a:rPr lang="en-US"/>
              <a:t>Edit Master text styles</a:t>
            </a:r>
          </a:p>
        </p:txBody>
      </p:sp>
      <p:sp>
        <p:nvSpPr>
          <p:cNvPr id="19" name="Title 18">
            <a:extLst>
              <a:ext uri="{FF2B5EF4-FFF2-40B4-BE49-F238E27FC236}">
                <a16:creationId xmlns:a16="http://schemas.microsoft.com/office/drawing/2014/main" id="{169DAC15-E0D1-2041-A923-17653DCA3339}"/>
              </a:ext>
            </a:extLst>
          </p:cNvPr>
          <p:cNvSpPr>
            <a:spLocks noGrp="1"/>
          </p:cNvSpPr>
          <p:nvPr>
            <p:ph type="title"/>
          </p:nvPr>
        </p:nvSpPr>
        <p:spPr>
          <a:xfrm>
            <a:off x="2671251" y="2452719"/>
            <a:ext cx="2773204" cy="1118618"/>
          </a:xfrm>
          <a:prstGeom prst="rect">
            <a:avLst/>
          </a:prstGeom>
        </p:spPr>
        <p:txBody>
          <a:bodyPr anchor="ctr"/>
          <a:lstStyle>
            <a:lvl1pPr algn="ctr">
              <a:defRPr sz="3600">
                <a:solidFill>
                  <a:schemeClr val="accent6"/>
                </a:solidFill>
              </a:defRPr>
            </a:lvl1pPr>
          </a:lstStyle>
          <a:p>
            <a:r>
              <a:rPr lang="en-US"/>
              <a:t>Click to edit Master title style</a:t>
            </a:r>
            <a:endParaRPr lang="en-US" dirty="0"/>
          </a:p>
        </p:txBody>
      </p:sp>
    </p:spTree>
    <p:extLst>
      <p:ext uri="{BB962C8B-B14F-4D97-AF65-F5344CB8AC3E}">
        <p14:creationId xmlns:p14="http://schemas.microsoft.com/office/powerpoint/2010/main" val="180585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4.375E-6 0 L -0.9056 0 " pathEditMode="relative" rAng="0" ptsTypes="AA">
                                      <p:cBhvr>
                                        <p:cTn id="6" dur="9500" fill="hold"/>
                                        <p:tgtEl>
                                          <p:spTgt spid="10"/>
                                        </p:tgtEl>
                                        <p:attrNameLst>
                                          <p:attrName>ppt_x</p:attrName>
                                          <p:attrName>ppt_y</p:attrName>
                                        </p:attrNameLst>
                                      </p:cBhvr>
                                      <p:rCtr x="-45286" y="0"/>
                                    </p:animMotion>
                                  </p:childTnLst>
                                </p:cTn>
                              </p:par>
                              <p:par>
                                <p:cTn id="7" presetID="10" presetClass="exit" presetSubtype="0" fill="hold" nodeType="withEffect">
                                  <p:stCondLst>
                                    <p:cond delay="9200"/>
                                  </p:stCondLst>
                                  <p:childTnLst>
                                    <p:animEffect transition="out" filter="fade">
                                      <p:cBhvr>
                                        <p:cTn id="8" dur="500"/>
                                        <p:tgtEl>
                                          <p:spTgt spid="10"/>
                                        </p:tgtEl>
                                      </p:cBhvr>
                                    </p:animEffect>
                                    <p:set>
                                      <p:cBhvr>
                                        <p:cTn id="9" dur="1" fill="hold">
                                          <p:stCondLst>
                                            <p:cond delay="499"/>
                                          </p:stCondLst>
                                        </p:cTn>
                                        <p:tgtEl>
                                          <p:spTgt spid="10"/>
                                        </p:tgtEl>
                                        <p:attrNameLst>
                                          <p:attrName>style.visibility</p:attrName>
                                        </p:attrNameLst>
                                      </p:cBhvr>
                                      <p:to>
                                        <p:strVal val="hidden"/>
                                      </p:to>
                                    </p:set>
                                  </p:childTnLst>
                                </p:cTn>
                              </p:par>
                              <p:par>
                                <p:cTn id="10" presetID="2" presetClass="entr" presetSubtype="8" fill="hold" grpId="0" nodeType="withEffect">
                                  <p:stCondLst>
                                    <p:cond delay="100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1000" fill="hold"/>
                                        <p:tgtEl>
                                          <p:spTgt spid="11"/>
                                        </p:tgtEl>
                                        <p:attrNameLst>
                                          <p:attrName>ppt_x</p:attrName>
                                        </p:attrNameLst>
                                      </p:cBhvr>
                                      <p:tavLst>
                                        <p:tav tm="0">
                                          <p:val>
                                            <p:strVal val="0-#ppt_w/2"/>
                                          </p:val>
                                        </p:tav>
                                        <p:tav tm="100000">
                                          <p:val>
                                            <p:strVal val="#ppt_x"/>
                                          </p:val>
                                        </p:tav>
                                      </p:tavLst>
                                    </p:anim>
                                    <p:anim calcmode="lin" valueType="num">
                                      <p:cBhvr additive="base">
                                        <p:cTn id="13" dur="1000" fill="hold"/>
                                        <p:tgtEl>
                                          <p:spTgt spid="11"/>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100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10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0-#ppt_w/2"/>
                                          </p:val>
                                        </p:tav>
                                        <p:tav tm="100000">
                                          <p:val>
                                            <p:strVal val="#ppt_x"/>
                                          </p:val>
                                        </p:tav>
                                      </p:tavLst>
                                    </p:anim>
                                    <p:anim calcmode="lin" valueType="num">
                                      <p:cBhvr additive="base">
                                        <p:cTn id="21" dur="1000" fill="hold"/>
                                        <p:tgtEl>
                                          <p:spTgt spid="13"/>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150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childTnLst>
                                </p:cTn>
                              </p:par>
                              <p:par>
                                <p:cTn id="25" presetID="10" presetClass="entr" presetSubtype="0" fill="hold" grpId="0" nodeType="withEffect">
                                  <p:stCondLst>
                                    <p:cond delay="15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childTnLst>
                                </p:cTn>
                              </p:par>
                              <p:par>
                                <p:cTn id="31" presetID="22" presetClass="entr" presetSubtype="8" fill="hold" grpId="0" nodeType="withEffect">
                                  <p:stCondLst>
                                    <p:cond delay="250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par>
                                <p:cTn id="34" presetID="22" presetClass="entr" presetSubtype="8" fill="hold" grpId="0" nodeType="withEffect">
                                  <p:stCondLst>
                                    <p:cond delay="2500"/>
                                  </p:stCondLst>
                                  <p:childTnLst>
                                    <p:set>
                                      <p:cBhvr>
                                        <p:cTn id="35" dur="1" fill="hold">
                                          <p:stCondLst>
                                            <p:cond delay="0"/>
                                          </p:stCondLst>
                                        </p:cTn>
                                        <p:tgtEl>
                                          <p:spTgt spid="21">
                                            <p:txEl>
                                              <p:pRg st="0" end="0"/>
                                            </p:txEl>
                                          </p:spTgt>
                                        </p:tgtEl>
                                        <p:attrNameLst>
                                          <p:attrName>style.visibility</p:attrName>
                                        </p:attrNameLst>
                                      </p:cBhvr>
                                      <p:to>
                                        <p:strVal val="visible"/>
                                      </p:to>
                                    </p:set>
                                    <p:animEffect transition="in" filter="wipe(left)">
                                      <p:cBhvr>
                                        <p:cTn id="36" dur="500"/>
                                        <p:tgtEl>
                                          <p:spTgt spid="21">
                                            <p:txEl>
                                              <p:pRg st="0" end="0"/>
                                            </p:txEl>
                                          </p:spTgt>
                                        </p:tgtEl>
                                      </p:cBhvr>
                                    </p:animEffect>
                                  </p:childTnLst>
                                </p:cTn>
                              </p:par>
                              <p:par>
                                <p:cTn id="37" presetID="22" presetClass="entr" presetSubtype="4" fill="hold" nodeType="withEffect">
                                  <p:stCondLst>
                                    <p:cond delay="250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 presetClass="exit" presetSubtype="8" fill="hold" grpId="1" nodeType="withEffect">
                                  <p:stCondLst>
                                    <p:cond delay="7500"/>
                                  </p:stCondLst>
                                  <p:childTnLst>
                                    <p:anim calcmode="lin" valueType="num">
                                      <p:cBhvr additive="base">
                                        <p:cTn id="41" dur="1000"/>
                                        <p:tgtEl>
                                          <p:spTgt spid="13"/>
                                        </p:tgtEl>
                                        <p:attrNameLst>
                                          <p:attrName>ppt_x</p:attrName>
                                        </p:attrNameLst>
                                      </p:cBhvr>
                                      <p:tavLst>
                                        <p:tav tm="0">
                                          <p:val>
                                            <p:strVal val="ppt_x"/>
                                          </p:val>
                                        </p:tav>
                                        <p:tav tm="100000">
                                          <p:val>
                                            <p:strVal val="0-ppt_w/2"/>
                                          </p:val>
                                        </p:tav>
                                      </p:tavLst>
                                    </p:anim>
                                    <p:anim calcmode="lin" valueType="num">
                                      <p:cBhvr additive="base">
                                        <p:cTn id="42" dur="1000"/>
                                        <p:tgtEl>
                                          <p:spTgt spid="13"/>
                                        </p:tgtEl>
                                        <p:attrNameLst>
                                          <p:attrName>ppt_y</p:attrName>
                                        </p:attrNameLst>
                                      </p:cBhvr>
                                      <p:tavLst>
                                        <p:tav tm="0">
                                          <p:val>
                                            <p:strVal val="ppt_y"/>
                                          </p:val>
                                        </p:tav>
                                        <p:tav tm="100000">
                                          <p:val>
                                            <p:strVal val="ppt_y"/>
                                          </p:val>
                                        </p:tav>
                                      </p:tavLst>
                                    </p:anim>
                                    <p:set>
                                      <p:cBhvr>
                                        <p:cTn id="43" dur="1" fill="hold">
                                          <p:stCondLst>
                                            <p:cond delay="999"/>
                                          </p:stCondLst>
                                        </p:cTn>
                                        <p:tgtEl>
                                          <p:spTgt spid="13"/>
                                        </p:tgtEl>
                                        <p:attrNameLst>
                                          <p:attrName>style.visibility</p:attrName>
                                        </p:attrNameLst>
                                      </p:cBhvr>
                                      <p:to>
                                        <p:strVal val="hidden"/>
                                      </p:to>
                                    </p:set>
                                  </p:childTnLst>
                                </p:cTn>
                              </p:par>
                              <p:par>
                                <p:cTn id="44" presetID="2" presetClass="exit" presetSubtype="8" fill="hold" grpId="1" nodeType="withEffect">
                                  <p:stCondLst>
                                    <p:cond delay="7500"/>
                                  </p:stCondLst>
                                  <p:childTnLst>
                                    <p:anim calcmode="lin" valueType="num">
                                      <p:cBhvr additive="base">
                                        <p:cTn id="45" dur="1000"/>
                                        <p:tgtEl>
                                          <p:spTgt spid="12"/>
                                        </p:tgtEl>
                                        <p:attrNameLst>
                                          <p:attrName>ppt_x</p:attrName>
                                        </p:attrNameLst>
                                      </p:cBhvr>
                                      <p:tavLst>
                                        <p:tav tm="0">
                                          <p:val>
                                            <p:strVal val="ppt_x"/>
                                          </p:val>
                                        </p:tav>
                                        <p:tav tm="100000">
                                          <p:val>
                                            <p:strVal val="0-ppt_w/2"/>
                                          </p:val>
                                        </p:tav>
                                      </p:tavLst>
                                    </p:anim>
                                    <p:anim calcmode="lin" valueType="num">
                                      <p:cBhvr additive="base">
                                        <p:cTn id="46" dur="1000"/>
                                        <p:tgtEl>
                                          <p:spTgt spid="12"/>
                                        </p:tgtEl>
                                        <p:attrNameLst>
                                          <p:attrName>ppt_y</p:attrName>
                                        </p:attrNameLst>
                                      </p:cBhvr>
                                      <p:tavLst>
                                        <p:tav tm="0">
                                          <p:val>
                                            <p:strVal val="ppt_y"/>
                                          </p:val>
                                        </p:tav>
                                        <p:tav tm="100000">
                                          <p:val>
                                            <p:strVal val="ppt_y"/>
                                          </p:val>
                                        </p:tav>
                                      </p:tavLst>
                                    </p:anim>
                                    <p:set>
                                      <p:cBhvr>
                                        <p:cTn id="47" dur="1" fill="hold">
                                          <p:stCondLst>
                                            <p:cond delay="999"/>
                                          </p:stCondLst>
                                        </p:cTn>
                                        <p:tgtEl>
                                          <p:spTgt spid="12"/>
                                        </p:tgtEl>
                                        <p:attrNameLst>
                                          <p:attrName>style.visibility</p:attrName>
                                        </p:attrNameLst>
                                      </p:cBhvr>
                                      <p:to>
                                        <p:strVal val="hidden"/>
                                      </p:to>
                                    </p:set>
                                  </p:childTnLst>
                                </p:cTn>
                              </p:par>
                              <p:par>
                                <p:cTn id="48" presetID="2" presetClass="exit" presetSubtype="8" fill="hold" grpId="1" nodeType="withEffect">
                                  <p:stCondLst>
                                    <p:cond delay="7500"/>
                                  </p:stCondLst>
                                  <p:childTnLst>
                                    <p:anim calcmode="lin" valueType="num">
                                      <p:cBhvr additive="base">
                                        <p:cTn id="49" dur="1000"/>
                                        <p:tgtEl>
                                          <p:spTgt spid="11"/>
                                        </p:tgtEl>
                                        <p:attrNameLst>
                                          <p:attrName>ppt_x</p:attrName>
                                        </p:attrNameLst>
                                      </p:cBhvr>
                                      <p:tavLst>
                                        <p:tav tm="0">
                                          <p:val>
                                            <p:strVal val="ppt_x"/>
                                          </p:val>
                                        </p:tav>
                                        <p:tav tm="100000">
                                          <p:val>
                                            <p:strVal val="0-ppt_w/2"/>
                                          </p:val>
                                        </p:tav>
                                      </p:tavLst>
                                    </p:anim>
                                    <p:anim calcmode="lin" valueType="num">
                                      <p:cBhvr additive="base">
                                        <p:cTn id="50" dur="1000"/>
                                        <p:tgtEl>
                                          <p:spTgt spid="11"/>
                                        </p:tgtEl>
                                        <p:attrNameLst>
                                          <p:attrName>ppt_y</p:attrName>
                                        </p:attrNameLst>
                                      </p:cBhvr>
                                      <p:tavLst>
                                        <p:tav tm="0">
                                          <p:val>
                                            <p:strVal val="ppt_y"/>
                                          </p:val>
                                        </p:tav>
                                        <p:tav tm="100000">
                                          <p:val>
                                            <p:strVal val="ppt_y"/>
                                          </p:val>
                                        </p:tav>
                                      </p:tavLst>
                                    </p:anim>
                                    <p:set>
                                      <p:cBhvr>
                                        <p:cTn id="51" dur="1" fill="hold">
                                          <p:stCondLst>
                                            <p:cond delay="999"/>
                                          </p:stCondLst>
                                        </p:cTn>
                                        <p:tgtEl>
                                          <p:spTgt spid="11"/>
                                        </p:tgtEl>
                                        <p:attrNameLst>
                                          <p:attrName>style.visibility</p:attrName>
                                        </p:attrNameLst>
                                      </p:cBhvr>
                                      <p:to>
                                        <p:strVal val="hidden"/>
                                      </p:to>
                                    </p:set>
                                  </p:childTnLst>
                                </p:cTn>
                              </p:par>
                              <p:par>
                                <p:cTn id="52" presetID="22" presetClass="exit" presetSubtype="8" fill="hold" grpId="1" nodeType="withEffect">
                                  <p:stCondLst>
                                    <p:cond delay="7500"/>
                                  </p:stCondLst>
                                  <p:childTnLst>
                                    <p:animEffect transition="out" filter="wipe(left)">
                                      <p:cBhvr>
                                        <p:cTn id="53" dur="1000"/>
                                        <p:tgtEl>
                                          <p:spTgt spid="19"/>
                                        </p:tgtEl>
                                      </p:cBhvr>
                                    </p:animEffect>
                                    <p:set>
                                      <p:cBhvr>
                                        <p:cTn id="54" dur="1" fill="hold">
                                          <p:stCondLst>
                                            <p:cond delay="999"/>
                                          </p:stCondLst>
                                        </p:cTn>
                                        <p:tgtEl>
                                          <p:spTgt spid="19"/>
                                        </p:tgtEl>
                                        <p:attrNameLst>
                                          <p:attrName>style.visibility</p:attrName>
                                        </p:attrNameLst>
                                      </p:cBhvr>
                                      <p:to>
                                        <p:strVal val="hidden"/>
                                      </p:to>
                                    </p:set>
                                  </p:childTnLst>
                                </p:cTn>
                              </p:par>
                              <p:par>
                                <p:cTn id="55" presetID="22" presetClass="exit" presetSubtype="8" fill="hold" grpId="1" nodeType="withEffect">
                                  <p:stCondLst>
                                    <p:cond delay="7500"/>
                                  </p:stCondLst>
                                  <p:childTnLst>
                                    <p:animEffect transition="out" filter="wipe(left)">
                                      <p:cBhvr>
                                        <p:cTn id="56" dur="750"/>
                                        <p:tgtEl>
                                          <p:spTgt spid="21">
                                            <p:txEl>
                                              <p:pRg st="0" end="0"/>
                                            </p:txEl>
                                          </p:spTgt>
                                        </p:tgtEl>
                                      </p:cBhvr>
                                    </p:animEffect>
                                    <p:set>
                                      <p:cBhvr>
                                        <p:cTn id="57" dur="1" fill="hold">
                                          <p:stCondLst>
                                            <p:cond delay="749"/>
                                          </p:stCondLst>
                                        </p:cTn>
                                        <p:tgtEl>
                                          <p:spTgt spid="21">
                                            <p:txEl>
                                              <p:pRg st="0" end="0"/>
                                            </p:txEl>
                                          </p:spTgt>
                                        </p:tgtEl>
                                        <p:attrNameLst>
                                          <p:attrName>style.visibility</p:attrName>
                                        </p:attrNameLst>
                                      </p:cBhvr>
                                      <p:to>
                                        <p:strVal val="hidden"/>
                                      </p:to>
                                    </p:set>
                                  </p:childTnLst>
                                </p:cTn>
                              </p:par>
                              <p:par>
                                <p:cTn id="58" presetID="22" presetClass="exit" presetSubtype="8" fill="hold" nodeType="withEffect">
                                  <p:stCondLst>
                                    <p:cond delay="7500"/>
                                  </p:stCondLst>
                                  <p:childTnLst>
                                    <p:animEffect transition="out" filter="wipe(left)">
                                      <p:cBhvr>
                                        <p:cTn id="59" dur="750"/>
                                        <p:tgtEl>
                                          <p:spTgt spid="17"/>
                                        </p:tgtEl>
                                      </p:cBhvr>
                                    </p:animEffect>
                                    <p:set>
                                      <p:cBhvr>
                                        <p:cTn id="60" dur="1" fill="hold">
                                          <p:stCondLst>
                                            <p:cond delay="749"/>
                                          </p:stCondLst>
                                        </p:cTn>
                                        <p:tgtEl>
                                          <p:spTgt spid="17"/>
                                        </p:tgtEl>
                                        <p:attrNameLst>
                                          <p:attrName>style.visibility</p:attrName>
                                        </p:attrNameLst>
                                      </p:cBhvr>
                                      <p:to>
                                        <p:strVal val="hidden"/>
                                      </p:to>
                                    </p:set>
                                  </p:childTnLst>
                                </p:cTn>
                              </p:par>
                              <p:par>
                                <p:cTn id="61" presetID="10" presetClass="exit" presetSubtype="0" fill="hold" grpId="1" nodeType="withEffect">
                                  <p:stCondLst>
                                    <p:cond delay="7500"/>
                                  </p:stCondLst>
                                  <p:childTnLst>
                                    <p:animEffect transition="out" filter="fade">
                                      <p:cBhvr>
                                        <p:cTn id="62" dur="1000"/>
                                        <p:tgtEl>
                                          <p:spTgt spid="14"/>
                                        </p:tgtEl>
                                      </p:cBhvr>
                                    </p:animEffect>
                                    <p:set>
                                      <p:cBhvr>
                                        <p:cTn id="63" dur="1" fill="hold">
                                          <p:stCondLst>
                                            <p:cond delay="999"/>
                                          </p:stCondLst>
                                        </p:cTn>
                                        <p:tgtEl>
                                          <p:spTgt spid="14"/>
                                        </p:tgtEl>
                                        <p:attrNameLst>
                                          <p:attrName>style.visibility</p:attrName>
                                        </p:attrNameLst>
                                      </p:cBhvr>
                                      <p:to>
                                        <p:strVal val="hidden"/>
                                      </p:to>
                                    </p:set>
                                  </p:childTnLst>
                                </p:cTn>
                              </p:par>
                              <p:par>
                                <p:cTn id="64" presetID="10" presetClass="exit" presetSubtype="0" fill="hold" grpId="1" nodeType="withEffect">
                                  <p:stCondLst>
                                    <p:cond delay="7500"/>
                                  </p:stCondLst>
                                  <p:childTnLst>
                                    <p:animEffect transition="out" filter="fade">
                                      <p:cBhvr>
                                        <p:cTn id="65" dur="1000"/>
                                        <p:tgtEl>
                                          <p:spTgt spid="18"/>
                                        </p:tgtEl>
                                      </p:cBhvr>
                                    </p:animEffect>
                                    <p:set>
                                      <p:cBhvr>
                                        <p:cTn id="66" dur="1" fill="hold">
                                          <p:stCondLst>
                                            <p:cond delay="999"/>
                                          </p:stCondLst>
                                        </p:cTn>
                                        <p:tgtEl>
                                          <p:spTgt spid="18"/>
                                        </p:tgtEl>
                                        <p:attrNameLst>
                                          <p:attrName>style.visibility</p:attrName>
                                        </p:attrNameLst>
                                      </p:cBhvr>
                                      <p:to>
                                        <p:strVal val="hidden"/>
                                      </p:to>
                                    </p:set>
                                  </p:childTnLst>
                                </p:cTn>
                              </p:par>
                              <p:par>
                                <p:cTn id="67" presetID="10" presetClass="exit" presetSubtype="0" fill="hold" grpId="1" nodeType="withEffect">
                                  <p:stCondLst>
                                    <p:cond delay="7500"/>
                                  </p:stCondLst>
                                  <p:childTnLst>
                                    <p:animEffect transition="out" filter="fade">
                                      <p:cBhvr>
                                        <p:cTn id="68" dur="1000"/>
                                        <p:tgtEl>
                                          <p:spTgt spid="15"/>
                                        </p:tgtEl>
                                      </p:cBhvr>
                                    </p:animEffect>
                                    <p:set>
                                      <p:cBhvr>
                                        <p:cTn id="69"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4" grpId="0" animBg="1"/>
      <p:bldP spid="14" grpId="1" animBg="1"/>
      <p:bldP spid="18" grpId="0" animBg="1"/>
      <p:bldP spid="18" grpId="1" animBg="1"/>
      <p:bldP spid="12" grpId="0" animBg="1"/>
      <p:bldP spid="12" grpId="1" animBg="1"/>
      <p:bldP spid="13" grpId="0" animBg="1"/>
      <p:bldP spid="13" grpId="1" animBg="1"/>
      <p:bldP spid="15" grpId="0" animBg="1"/>
      <p:bldP spid="15" grpId="1" animBg="1"/>
      <p:bldP spid="21" grpId="0" build="p">
        <p:tmplLst>
          <p:tmpl lvl="1">
            <p:tnLst>
              <p:par>
                <p:cTn presetID="22" presetClass="entr" presetSubtype="8" fill="hold" nodeType="withEffect">
                  <p:stCondLst>
                    <p:cond delay="250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1" grpId="1" build="p">
        <p:tmplLst>
          <p:tmpl lvl="1">
            <p:tnLst>
              <p:par>
                <p:cTn presetID="22" presetClass="exit" presetSubtype="8" fill="hold" nodeType="withEffect">
                  <p:stCondLst>
                    <p:cond delay="7500"/>
                  </p:stCondLst>
                  <p:childTnLst>
                    <p:animEffect transition="out" filter="wipe(left)">
                      <p:cBhvr>
                        <p:cTn dur="750"/>
                        <p:tgtEl>
                          <p:spTgt spid="21"/>
                        </p:tgtEl>
                      </p:cBhvr>
                    </p:animEffect>
                    <p:set>
                      <p:cBhvr>
                        <p:cTn dur="1" fill="hold">
                          <p:stCondLst>
                            <p:cond delay="749"/>
                          </p:stCondLst>
                        </p:cTn>
                        <p:tgtEl>
                          <p:spTgt spid="21"/>
                        </p:tgtEl>
                        <p:attrNameLst>
                          <p:attrName>style.visibility</p:attrName>
                        </p:attrNameLst>
                      </p:cBhvr>
                      <p:to>
                        <p:strVal val="hidden"/>
                      </p:to>
                    </p:set>
                  </p:childTnLst>
                </p:cTn>
              </p:par>
            </p:tnLst>
          </p:tmpl>
        </p:tmplLst>
      </p:bldP>
      <p:bldP spid="19" grpId="0"/>
      <p:bldP spid="19" grpId="1"/>
    </p:bld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040401"/>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42100B-A111-4379-AEED-6341AC7967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9142F8-7540-4733-B343-07D1C35773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DAD19-89EC-4830-AED6-293680316A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1E065E-4144-424D-873F-E94ABF2C5608}" type="datetime1">
              <a:rPr lang="en-US" smtClean="0"/>
              <a:t>2/27/24</a:t>
            </a:fld>
            <a:endParaRPr lang="en-US"/>
          </a:p>
        </p:txBody>
      </p:sp>
      <p:sp>
        <p:nvSpPr>
          <p:cNvPr id="5" name="Footer Placeholder 4">
            <a:extLst>
              <a:ext uri="{FF2B5EF4-FFF2-40B4-BE49-F238E27FC236}">
                <a16:creationId xmlns:a16="http://schemas.microsoft.com/office/drawing/2014/main" id="{15DC5E59-6466-4E0A-8317-7FF66CBF3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Nguyễn Ngọc Ái Vân</a:t>
            </a:r>
          </a:p>
        </p:txBody>
      </p:sp>
      <p:sp>
        <p:nvSpPr>
          <p:cNvPr id="6" name="Slide Number Placeholder 5">
            <a:extLst>
              <a:ext uri="{FF2B5EF4-FFF2-40B4-BE49-F238E27FC236}">
                <a16:creationId xmlns:a16="http://schemas.microsoft.com/office/drawing/2014/main" id="{B88CDD0A-74FF-4205-80A3-283831D0C0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31B-23FA-4075-AF7D-6228CFD12F03}" type="slidenum">
              <a:rPr lang="en-US" smtClean="0"/>
              <a:t>‹#›</a:t>
            </a:fld>
            <a:endParaRPr lang="en-US"/>
          </a:p>
        </p:txBody>
      </p:sp>
    </p:spTree>
    <p:extLst>
      <p:ext uri="{BB962C8B-B14F-4D97-AF65-F5344CB8AC3E}">
        <p14:creationId xmlns:p14="http://schemas.microsoft.com/office/powerpoint/2010/main" val="132913232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2.wmf"/><Relationship Id="rId2"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3.bin"/><Relationship Id="rId5" Type="http://schemas.openxmlformats.org/officeDocument/2006/relationships/image" Target="../media/image16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5.bin"/><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5F59-F641-4E43-8627-D6342C639DCE}"/>
              </a:ext>
            </a:extLst>
          </p:cNvPr>
          <p:cNvSpPr>
            <a:spLocks noGrp="1"/>
          </p:cNvSpPr>
          <p:nvPr>
            <p:ph type="title"/>
          </p:nvPr>
        </p:nvSpPr>
        <p:spPr>
          <a:xfrm>
            <a:off x="2261549" y="2991181"/>
            <a:ext cx="9392130" cy="1118618"/>
          </a:xfrm>
        </p:spPr>
        <p:txBody>
          <a:bodyPr/>
          <a:lstStyle/>
          <a:p>
            <a:pPr algn="l"/>
            <a:r>
              <a:rPr lang="en-US" sz="4800" dirty="0">
                <a:solidFill>
                  <a:srgbClr val="FFC000"/>
                </a:solidFill>
              </a:rPr>
              <a:t>  Probability &amp; Statistics  </a:t>
            </a:r>
            <a:br>
              <a:rPr lang="en-US" sz="6000" dirty="0">
                <a:solidFill>
                  <a:schemeClr val="bg1"/>
                </a:solidFill>
              </a:rPr>
            </a:br>
            <a:r>
              <a:rPr lang="en-US" sz="6000" dirty="0">
                <a:solidFill>
                  <a:schemeClr val="bg1"/>
                </a:solidFill>
              </a:rPr>
              <a:t>             </a:t>
            </a:r>
          </a:p>
        </p:txBody>
      </p:sp>
      <p:sp>
        <p:nvSpPr>
          <p:cNvPr id="7" name="TextBox 6">
            <a:extLst>
              <a:ext uri="{FF2B5EF4-FFF2-40B4-BE49-F238E27FC236}">
                <a16:creationId xmlns:a16="http://schemas.microsoft.com/office/drawing/2014/main" id="{838E23F9-3418-4F92-A640-33B0CB979EA6}"/>
              </a:ext>
            </a:extLst>
          </p:cNvPr>
          <p:cNvSpPr txBox="1"/>
          <p:nvPr/>
        </p:nvSpPr>
        <p:spPr>
          <a:xfrm>
            <a:off x="4906146" y="5044502"/>
            <a:ext cx="6304649" cy="584775"/>
          </a:xfrm>
          <a:prstGeom prst="rect">
            <a:avLst/>
          </a:prstGeom>
          <a:noFill/>
        </p:spPr>
        <p:txBody>
          <a:bodyPr wrap="square" rtlCol="0">
            <a:spAutoFit/>
          </a:bodyPr>
          <a:lstStyle/>
          <a:p>
            <a:r>
              <a:rPr lang="en-US" sz="3200" dirty="0"/>
              <a:t>Lecturer: Dr. Nguyen Ngoc Ai Van</a:t>
            </a:r>
          </a:p>
        </p:txBody>
      </p:sp>
    </p:spTree>
    <p:extLst>
      <p:ext uri="{BB962C8B-B14F-4D97-AF65-F5344CB8AC3E}">
        <p14:creationId xmlns:p14="http://schemas.microsoft.com/office/powerpoint/2010/main" val="2475261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AA5F59-F641-4E43-8627-D6342C639DCE}"/>
              </a:ext>
            </a:extLst>
          </p:cNvPr>
          <p:cNvSpPr>
            <a:spLocks noGrp="1"/>
          </p:cNvSpPr>
          <p:nvPr>
            <p:ph type="title"/>
          </p:nvPr>
        </p:nvSpPr>
        <p:spPr>
          <a:xfrm>
            <a:off x="2457492" y="2900069"/>
            <a:ext cx="8954695" cy="1118618"/>
          </a:xfrm>
        </p:spPr>
        <p:txBody>
          <a:bodyPr>
            <a:normAutofit fontScale="90000"/>
          </a:bodyPr>
          <a:lstStyle/>
          <a:p>
            <a:pPr algn="l"/>
            <a:r>
              <a:rPr lang="en-US" sz="6000" dirty="0">
                <a:solidFill>
                  <a:schemeClr val="bg1"/>
                </a:solidFill>
              </a:rPr>
              <a:t> Part 1           </a:t>
            </a:r>
            <a:r>
              <a:rPr lang="en-US" sz="7300" b="1" dirty="0">
                <a:solidFill>
                  <a:srgbClr val="FFC000"/>
                </a:solidFill>
              </a:rPr>
              <a:t>Probability</a:t>
            </a:r>
            <a:r>
              <a:rPr lang="en-US" sz="6000" dirty="0">
                <a:solidFill>
                  <a:schemeClr val="bg1"/>
                </a:solidFill>
              </a:rPr>
              <a:t>         </a:t>
            </a:r>
            <a:br>
              <a:rPr lang="en-US" sz="6000" dirty="0">
                <a:solidFill>
                  <a:schemeClr val="bg1"/>
                </a:solidFill>
              </a:rPr>
            </a:br>
            <a:endParaRPr lang="en-US" sz="6000" dirty="0">
              <a:solidFill>
                <a:schemeClr val="bg1"/>
              </a:solidFill>
            </a:endParaRPr>
          </a:p>
        </p:txBody>
      </p:sp>
      <p:sp>
        <p:nvSpPr>
          <p:cNvPr id="7" name="TextBox 6">
            <a:extLst>
              <a:ext uri="{FF2B5EF4-FFF2-40B4-BE49-F238E27FC236}">
                <a16:creationId xmlns:a16="http://schemas.microsoft.com/office/drawing/2014/main" id="{838E23F9-3418-4F92-A640-33B0CB979EA6}"/>
              </a:ext>
            </a:extLst>
          </p:cNvPr>
          <p:cNvSpPr txBox="1"/>
          <p:nvPr/>
        </p:nvSpPr>
        <p:spPr>
          <a:xfrm>
            <a:off x="5332031" y="5182288"/>
            <a:ext cx="5605153" cy="523220"/>
          </a:xfrm>
          <a:prstGeom prst="rect">
            <a:avLst/>
          </a:prstGeom>
          <a:noFill/>
        </p:spPr>
        <p:txBody>
          <a:bodyPr wrap="square" rtlCol="0">
            <a:spAutoFit/>
          </a:bodyPr>
          <a:lstStyle/>
          <a:p>
            <a:r>
              <a:rPr lang="en-US" sz="2800" dirty="0"/>
              <a:t>Lecturer: Dr. Nguyen Ngoc Ai Van</a:t>
            </a:r>
          </a:p>
        </p:txBody>
      </p:sp>
    </p:spTree>
    <p:extLst>
      <p:ext uri="{BB962C8B-B14F-4D97-AF65-F5344CB8AC3E}">
        <p14:creationId xmlns:p14="http://schemas.microsoft.com/office/powerpoint/2010/main" val="341377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C2CE-BEAA-4F70-99E0-558EA1A3CDFD}"/>
              </a:ext>
            </a:extLst>
          </p:cNvPr>
          <p:cNvSpPr>
            <a:spLocks noGrp="1"/>
          </p:cNvSpPr>
          <p:nvPr>
            <p:ph type="title"/>
          </p:nvPr>
        </p:nvSpPr>
        <p:spPr/>
        <p:txBody>
          <a:bodyPr/>
          <a:lstStyle/>
          <a:p>
            <a:r>
              <a:rPr lang="en-US" b="1" dirty="0"/>
              <a:t>Why study Probability ?</a:t>
            </a:r>
          </a:p>
        </p:txBody>
      </p:sp>
      <p:sp>
        <p:nvSpPr>
          <p:cNvPr id="3" name="Content Placeholder 2">
            <a:extLst>
              <a:ext uri="{FF2B5EF4-FFF2-40B4-BE49-F238E27FC236}">
                <a16:creationId xmlns:a16="http://schemas.microsoft.com/office/drawing/2014/main" id="{80E9EE69-BBCD-4440-B4F3-A0D35B8482D9}"/>
              </a:ext>
            </a:extLst>
          </p:cNvPr>
          <p:cNvSpPr>
            <a:spLocks noGrp="1"/>
          </p:cNvSpPr>
          <p:nvPr>
            <p:ph idx="1"/>
          </p:nvPr>
        </p:nvSpPr>
        <p:spPr/>
        <p:txBody>
          <a:bodyPr>
            <a:normAutofit fontScale="92500" lnSpcReduction="20000"/>
          </a:bodyPr>
          <a:lstStyle/>
          <a:p>
            <a:r>
              <a:rPr lang="en-US" dirty="0"/>
              <a:t>Scientists/Businesses want to be able to quantify the </a:t>
            </a:r>
            <a:r>
              <a:rPr lang="en-US" i="1" dirty="0"/>
              <a:t>uncertainty </a:t>
            </a:r>
            <a:r>
              <a:rPr lang="en-US" dirty="0"/>
              <a:t>of future events.</a:t>
            </a:r>
          </a:p>
          <a:p>
            <a:pPr marL="0" indent="0">
              <a:buNone/>
            </a:pPr>
            <a:r>
              <a:rPr lang="en-US" dirty="0"/>
              <a:t>  Ex: What are the chances that revenue next month will exceed last</a:t>
            </a:r>
          </a:p>
          <a:p>
            <a:pPr marL="0" indent="0">
              <a:buNone/>
            </a:pPr>
            <a:r>
              <a:rPr lang="en-US" dirty="0"/>
              <a:t>   year’s average? </a:t>
            </a:r>
          </a:p>
          <a:p>
            <a:pPr marL="0" indent="0">
              <a:buNone/>
            </a:pPr>
            <a:r>
              <a:rPr lang="en-US" dirty="0"/>
              <a:t>   How likely is it that our new production system will help us decrease our product defect rate?</a:t>
            </a:r>
          </a:p>
          <a:p>
            <a:pPr marL="0" indent="0">
              <a:buNone/>
            </a:pPr>
            <a:endParaRPr lang="en-US" dirty="0"/>
          </a:p>
          <a:p>
            <a:r>
              <a:rPr lang="en-US" dirty="0"/>
              <a:t>They also want to understand how they can increase the chance</a:t>
            </a:r>
          </a:p>
          <a:p>
            <a:pPr marL="0" indent="0">
              <a:buNone/>
            </a:pPr>
            <a:r>
              <a:rPr lang="en-US" dirty="0"/>
              <a:t>of positive future events and decrease the chance of negative future events. </a:t>
            </a:r>
          </a:p>
          <a:p>
            <a:pPr marL="0" indent="0">
              <a:buNone/>
            </a:pPr>
            <a:endParaRPr lang="en-US" dirty="0"/>
          </a:p>
          <a:p>
            <a:r>
              <a:rPr lang="en-US" i="1" dirty="0"/>
              <a:t>Probability </a:t>
            </a:r>
            <a:r>
              <a:rPr lang="en-US" dirty="0"/>
              <a:t>allows us to understand and quantify the uncertainty about the future. We use the rules of probability to bridge the gap between what we know now and what is unknown about the future.</a:t>
            </a:r>
          </a:p>
        </p:txBody>
      </p:sp>
      <p:sp>
        <p:nvSpPr>
          <p:cNvPr id="4" name="Date Placeholder 3">
            <a:extLst>
              <a:ext uri="{FF2B5EF4-FFF2-40B4-BE49-F238E27FC236}">
                <a16:creationId xmlns:a16="http://schemas.microsoft.com/office/drawing/2014/main" id="{A834C39A-D5C7-42C4-AC50-D690EF88222F}"/>
              </a:ext>
            </a:extLst>
          </p:cNvPr>
          <p:cNvSpPr>
            <a:spLocks noGrp="1"/>
          </p:cNvSpPr>
          <p:nvPr>
            <p:ph type="dt" sz="half" idx="10"/>
          </p:nvPr>
        </p:nvSpPr>
        <p:spPr/>
        <p:txBody>
          <a:bodyPr/>
          <a:lstStyle/>
          <a:p>
            <a:fld id="{29B0E2F6-2C4E-4BFD-85A1-12E87C2D1492}" type="datetime1">
              <a:rPr lang="en-US" smtClean="0"/>
              <a:t>2/27/24</a:t>
            </a:fld>
            <a:endParaRPr lang="en-US"/>
          </a:p>
        </p:txBody>
      </p:sp>
      <p:sp>
        <p:nvSpPr>
          <p:cNvPr id="5" name="Footer Placeholder 4">
            <a:extLst>
              <a:ext uri="{FF2B5EF4-FFF2-40B4-BE49-F238E27FC236}">
                <a16:creationId xmlns:a16="http://schemas.microsoft.com/office/drawing/2014/main" id="{A35137B0-B399-47B7-AD74-79384196FB7F}"/>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7B17893E-1101-4999-BE06-4183BF30162E}"/>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096859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BB551-528C-C913-A97C-18894716456A}"/>
              </a:ext>
            </a:extLst>
          </p:cNvPr>
          <p:cNvSpPr>
            <a:spLocks noGrp="1"/>
          </p:cNvSpPr>
          <p:nvPr>
            <p:ph type="title"/>
          </p:nvPr>
        </p:nvSpPr>
        <p:spPr/>
        <p:txBody>
          <a:bodyPr/>
          <a:lstStyle/>
          <a:p>
            <a:r>
              <a:rPr lang="en-US" dirty="0"/>
              <a:t>1. Set operation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D1D944-D1BC-8877-E155-5ABF7863175F}"/>
                  </a:ext>
                </a:extLst>
              </p:cNvPr>
              <p:cNvSpPr>
                <a:spLocks noGrp="1"/>
              </p:cNvSpPr>
              <p:nvPr>
                <p:ph idx="1"/>
              </p:nvPr>
            </p:nvSpPr>
            <p:spPr/>
            <p:txBody>
              <a:bodyPr/>
              <a:lstStyle/>
              <a:p>
                <a:r>
                  <a:rPr lang="en-US" dirty="0"/>
                  <a:t>Let A be a subset of set S.</a:t>
                </a:r>
              </a:p>
              <a:p>
                <a:r>
                  <a:rPr lang="en-US" dirty="0"/>
                  <a:t>The </a:t>
                </a:r>
                <a:r>
                  <a:rPr lang="en-US" b="1" dirty="0">
                    <a:solidFill>
                      <a:srgbClr val="0070C0"/>
                    </a:solidFill>
                  </a:rPr>
                  <a:t>complement</a:t>
                </a:r>
                <a:r>
                  <a:rPr lang="en-US" dirty="0"/>
                  <a:t> of A in S is denoted by  </a:t>
                </a:r>
                <a14:m>
                  <m:oMath xmlns:m="http://schemas.openxmlformats.org/officeDocument/2006/math">
                    <m:acc>
                      <m:accPr>
                        <m:chr m:val="̅"/>
                        <m:ctrlPr>
                          <a:rPr lang="en-US" i="1" smtClean="0">
                            <a:latin typeface="Cambria Math" panose="02040503050406030204" pitchFamily="18" charset="0"/>
                          </a:rPr>
                        </m:ctrlPr>
                      </m:accPr>
                      <m:e>
                        <m:r>
                          <m:rPr>
                            <m:sty m:val="p"/>
                          </m:rPr>
                          <a:rPr lang="en-US" i="1">
                            <a:latin typeface="Cambria Math" panose="02040503050406030204" pitchFamily="18" charset="0"/>
                          </a:rPr>
                          <m:t>A</m:t>
                        </m:r>
                      </m:e>
                    </m:acc>
                  </m:oMath>
                </a14:m>
                <a:endParaRPr lang="en-US" dirty="0"/>
              </a:p>
            </p:txBody>
          </p:sp>
        </mc:Choice>
        <mc:Fallback xmlns="">
          <p:sp>
            <p:nvSpPr>
              <p:cNvPr id="3" name="Content Placeholder 2">
                <a:extLst>
                  <a:ext uri="{FF2B5EF4-FFF2-40B4-BE49-F238E27FC236}">
                    <a16:creationId xmlns:a16="http://schemas.microsoft.com/office/drawing/2014/main" id="{A4D1D944-D1BC-8877-E155-5ABF7863175F}"/>
                  </a:ext>
                </a:extLst>
              </p:cNvPr>
              <p:cNvSpPr>
                <a:spLocks noGrp="1" noRot="1" noChangeAspect="1" noMove="1" noResize="1" noEditPoints="1" noAdjustHandles="1" noChangeArrowheads="1" noChangeShapeType="1" noTextEdit="1"/>
              </p:cNvSpPr>
              <p:nvPr>
                <p:ph idx="1"/>
              </p:nvPr>
            </p:nvSpPr>
            <p:spPr>
              <a:blipFill>
                <a:blip r:embed="rId2"/>
                <a:stretch>
                  <a:fillRect l="-1040" t="-198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CE7FEDF-579A-5795-D9C7-72C5439D9EBA}"/>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93F86099-0B4E-71CF-18C8-40A112D824D5}"/>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25AC889F-BD99-01A0-9069-21A890F5571F}"/>
              </a:ext>
            </a:extLst>
          </p:cNvPr>
          <p:cNvSpPr>
            <a:spLocks noGrp="1"/>
          </p:cNvSpPr>
          <p:nvPr>
            <p:ph type="sldNum" sz="quarter" idx="12"/>
          </p:nvPr>
        </p:nvSpPr>
        <p:spPr/>
        <p:txBody>
          <a:bodyPr/>
          <a:lstStyle/>
          <a:p>
            <a:fld id="{B6F15528-21DE-4FAA-801E-634DDDAF4B2B}" type="slidenum">
              <a:rPr lang="en-US" smtClean="0"/>
              <a:pPr/>
              <a:t>4</a:t>
            </a:fld>
            <a:endParaRPr lang="en-US"/>
          </a:p>
        </p:txBody>
      </p:sp>
      <p:pic>
        <p:nvPicPr>
          <p:cNvPr id="7" name="Picture 6">
            <a:extLst>
              <a:ext uri="{FF2B5EF4-FFF2-40B4-BE49-F238E27FC236}">
                <a16:creationId xmlns:a16="http://schemas.microsoft.com/office/drawing/2014/main" id="{FCA1F9CB-2DE6-2D65-ECEC-1849C5460FD1}"/>
              </a:ext>
            </a:extLst>
          </p:cNvPr>
          <p:cNvPicPr>
            <a:picLocks noChangeAspect="1"/>
          </p:cNvPicPr>
          <p:nvPr/>
        </p:nvPicPr>
        <p:blipFill>
          <a:blip r:embed="rId3"/>
          <a:stretch>
            <a:fillRect/>
          </a:stretch>
        </p:blipFill>
        <p:spPr>
          <a:xfrm>
            <a:off x="2032000" y="2287728"/>
            <a:ext cx="6781800" cy="2781300"/>
          </a:xfrm>
          <a:prstGeom prst="rect">
            <a:avLst/>
          </a:prstGeom>
        </p:spPr>
      </p:pic>
      <p:pic>
        <p:nvPicPr>
          <p:cNvPr id="8" name="Picture 7">
            <a:extLst>
              <a:ext uri="{FF2B5EF4-FFF2-40B4-BE49-F238E27FC236}">
                <a16:creationId xmlns:a16="http://schemas.microsoft.com/office/drawing/2014/main" id="{D199BBA8-0E96-2DAA-79F0-38EDDF8F43BF}"/>
              </a:ext>
            </a:extLst>
          </p:cNvPr>
          <p:cNvPicPr>
            <a:picLocks noChangeAspect="1"/>
          </p:cNvPicPr>
          <p:nvPr/>
        </p:nvPicPr>
        <p:blipFill>
          <a:blip r:embed="rId4"/>
          <a:stretch>
            <a:fillRect/>
          </a:stretch>
        </p:blipFill>
        <p:spPr>
          <a:xfrm>
            <a:off x="2620241" y="5350156"/>
            <a:ext cx="5067300" cy="863600"/>
          </a:xfrm>
          <a:prstGeom prst="rect">
            <a:avLst/>
          </a:prstGeom>
        </p:spPr>
      </p:pic>
    </p:spTree>
    <p:extLst>
      <p:ext uri="{BB962C8B-B14F-4D97-AF65-F5344CB8AC3E}">
        <p14:creationId xmlns:p14="http://schemas.microsoft.com/office/powerpoint/2010/main" val="460527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DDD4A-F5D3-F9A9-1D15-7E0238B2D271}"/>
              </a:ext>
            </a:extLst>
          </p:cNvPr>
          <p:cNvSpPr>
            <a:spLocks noGrp="1"/>
          </p:cNvSpPr>
          <p:nvPr>
            <p:ph type="title"/>
          </p:nvPr>
        </p:nvSpPr>
        <p:spPr/>
        <p:txBody>
          <a:bodyPr/>
          <a:lstStyle/>
          <a:p>
            <a:r>
              <a:rPr lang="en-US" dirty="0"/>
              <a:t>1. Set operation</a:t>
            </a:r>
          </a:p>
        </p:txBody>
      </p:sp>
      <p:sp>
        <p:nvSpPr>
          <p:cNvPr id="4" name="Date Placeholder 3">
            <a:extLst>
              <a:ext uri="{FF2B5EF4-FFF2-40B4-BE49-F238E27FC236}">
                <a16:creationId xmlns:a16="http://schemas.microsoft.com/office/drawing/2014/main" id="{F762335F-5316-DA93-1FE0-67609BCBBC57}"/>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EFAEB7B1-861F-58BB-EDB5-E3B7BBE4F453}"/>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880800DA-A373-8B05-DD76-67CD5CEA05E2}"/>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8" name="Picture 7">
            <a:extLst>
              <a:ext uri="{FF2B5EF4-FFF2-40B4-BE49-F238E27FC236}">
                <a16:creationId xmlns:a16="http://schemas.microsoft.com/office/drawing/2014/main" id="{3DD909BF-5C35-1138-45DA-AEE62A57172C}"/>
              </a:ext>
            </a:extLst>
          </p:cNvPr>
          <p:cNvPicPr>
            <a:picLocks noChangeAspect="1"/>
          </p:cNvPicPr>
          <p:nvPr/>
        </p:nvPicPr>
        <p:blipFill>
          <a:blip r:embed="rId2"/>
          <a:stretch>
            <a:fillRect/>
          </a:stretch>
        </p:blipFill>
        <p:spPr>
          <a:xfrm>
            <a:off x="971798" y="3198226"/>
            <a:ext cx="9797143" cy="2901035"/>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110A43-A72F-7824-2E59-D6940E2FBD05}"/>
                  </a:ext>
                </a:extLst>
              </p:cNvPr>
              <p:cNvSpPr txBox="1"/>
              <p:nvPr/>
            </p:nvSpPr>
            <p:spPr>
              <a:xfrm>
                <a:off x="1068783" y="1173965"/>
                <a:ext cx="3572493" cy="1384995"/>
              </a:xfrm>
              <a:prstGeom prst="rect">
                <a:avLst/>
              </a:prstGeom>
              <a:noFill/>
            </p:spPr>
            <p:txBody>
              <a:bodyPr wrap="square" rtlCol="0">
                <a:spAutoFit/>
              </a:bodyPr>
              <a:lstStyle/>
              <a:p>
                <a:r>
                  <a:rPr lang="en-US" sz="2800" dirty="0"/>
                  <a:t>The </a:t>
                </a:r>
                <a:r>
                  <a:rPr lang="en-US" sz="2800" b="1" dirty="0">
                    <a:solidFill>
                      <a:srgbClr val="0070C0"/>
                    </a:solidFill>
                  </a:rPr>
                  <a:t>union</a:t>
                </a:r>
                <a:r>
                  <a:rPr lang="en-US" sz="2800" dirty="0"/>
                  <a:t> of A and B</a:t>
                </a:r>
              </a:p>
              <a:p>
                <a:endParaRPr lang="en-US" sz="2800" dirty="0"/>
              </a:p>
              <a:p>
                <a:r>
                  <a:rPr lang="en-US" sz="2800" dirty="0"/>
                  <a:t>     A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en-US" sz="2800" dirty="0"/>
                  <a:t> B  =  A+B</a:t>
                </a:r>
              </a:p>
            </p:txBody>
          </p:sp>
        </mc:Choice>
        <mc:Fallback xmlns="">
          <p:sp>
            <p:nvSpPr>
              <p:cNvPr id="12" name="TextBox 11">
                <a:extLst>
                  <a:ext uri="{FF2B5EF4-FFF2-40B4-BE49-F238E27FC236}">
                    <a16:creationId xmlns:a16="http://schemas.microsoft.com/office/drawing/2014/main" id="{7F110A43-A72F-7824-2E59-D6940E2FBD05}"/>
                  </a:ext>
                </a:extLst>
              </p:cNvPr>
              <p:cNvSpPr txBox="1">
                <a:spLocks noRot="1" noChangeAspect="1" noMove="1" noResize="1" noEditPoints="1" noAdjustHandles="1" noChangeArrowheads="1" noChangeShapeType="1" noTextEdit="1"/>
              </p:cNvSpPr>
              <p:nvPr/>
            </p:nvSpPr>
            <p:spPr>
              <a:xfrm>
                <a:off x="1068783" y="1173965"/>
                <a:ext cx="3572493" cy="1384995"/>
              </a:xfrm>
              <a:prstGeom prst="rect">
                <a:avLst/>
              </a:prstGeom>
              <a:blipFill>
                <a:blip r:embed="rId3"/>
                <a:stretch>
                  <a:fillRect l="-3901" t="-4545"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FB92E97-BDF3-7E8F-78C5-DD8B1D68DF71}"/>
                  </a:ext>
                </a:extLst>
              </p:cNvPr>
              <p:cNvSpPr txBox="1"/>
              <p:nvPr/>
            </p:nvSpPr>
            <p:spPr>
              <a:xfrm>
                <a:off x="6373094" y="1173965"/>
                <a:ext cx="4181100" cy="1384995"/>
              </a:xfrm>
              <a:prstGeom prst="rect">
                <a:avLst/>
              </a:prstGeom>
              <a:noFill/>
            </p:spPr>
            <p:txBody>
              <a:bodyPr wrap="square" rtlCol="0">
                <a:spAutoFit/>
              </a:bodyPr>
              <a:lstStyle/>
              <a:p>
                <a:r>
                  <a:rPr lang="en-US" sz="2800" dirty="0"/>
                  <a:t>The </a:t>
                </a:r>
                <a:r>
                  <a:rPr lang="en-US" sz="2800" b="1" dirty="0">
                    <a:solidFill>
                      <a:srgbClr val="0070C0"/>
                    </a:solidFill>
                  </a:rPr>
                  <a:t>intersection</a:t>
                </a:r>
                <a:r>
                  <a:rPr lang="en-US" sz="2800" dirty="0"/>
                  <a:t> of A and B</a:t>
                </a:r>
              </a:p>
              <a:p>
                <a:endParaRPr lang="en-US" sz="2800" dirty="0"/>
              </a:p>
              <a:p>
                <a:r>
                  <a:rPr lang="en-US" sz="2800" dirty="0"/>
                  <a:t>           A </a:t>
                </a:r>
                <a14:m>
                  <m:oMath xmlns:m="http://schemas.openxmlformats.org/officeDocument/2006/math">
                    <m:nary>
                      <m:naryPr>
                        <m:chr m:val="⋂"/>
                        <m:subHide m:val="on"/>
                        <m:supHide m:val="on"/>
                        <m:ctrlPr>
                          <a:rPr lang="en-US" sz="2800" b="0" i="1" smtClean="0">
                            <a:latin typeface="Cambria Math" panose="02040503050406030204" pitchFamily="18" charset="0"/>
                            <a:ea typeface="Cambria Math" panose="02040503050406030204" pitchFamily="18" charset="0"/>
                          </a:rPr>
                        </m:ctrlPr>
                      </m:naryPr>
                      <m:sub/>
                      <m:sup/>
                      <m:e>
                        <m:r>
                          <a:rPr lang="vi-VN" sz="2800" b="0" i="1" smtClean="0">
                            <a:latin typeface="Cambria Math" panose="02040503050406030204" pitchFamily="18" charset="0"/>
                            <a:ea typeface="Cambria Math" panose="02040503050406030204" pitchFamily="18" charset="0"/>
                          </a:rPr>
                          <m:t>𝐵</m:t>
                        </m:r>
                      </m:e>
                    </m:nary>
                  </m:oMath>
                </a14:m>
                <a:r>
                  <a:rPr lang="en-US" sz="2800" dirty="0"/>
                  <a:t> = AB</a:t>
                </a:r>
              </a:p>
            </p:txBody>
          </p:sp>
        </mc:Choice>
        <mc:Fallback xmlns="">
          <p:sp>
            <p:nvSpPr>
              <p:cNvPr id="13" name="TextBox 12">
                <a:extLst>
                  <a:ext uri="{FF2B5EF4-FFF2-40B4-BE49-F238E27FC236}">
                    <a16:creationId xmlns:a16="http://schemas.microsoft.com/office/drawing/2014/main" id="{EFB92E97-BDF3-7E8F-78C5-DD8B1D68DF71}"/>
                  </a:ext>
                </a:extLst>
              </p:cNvPr>
              <p:cNvSpPr txBox="1">
                <a:spLocks noRot="1" noChangeAspect="1" noMove="1" noResize="1" noEditPoints="1" noAdjustHandles="1" noChangeArrowheads="1" noChangeShapeType="1" noTextEdit="1"/>
              </p:cNvSpPr>
              <p:nvPr/>
            </p:nvSpPr>
            <p:spPr>
              <a:xfrm>
                <a:off x="6373094" y="1173965"/>
                <a:ext cx="4181100" cy="1384995"/>
              </a:xfrm>
              <a:prstGeom prst="rect">
                <a:avLst/>
              </a:prstGeom>
              <a:blipFill>
                <a:blip r:embed="rId4"/>
                <a:stretch>
                  <a:fillRect l="-2727" t="-4545" r="-1818" b="-58182"/>
                </a:stretch>
              </a:blipFill>
            </p:spPr>
            <p:txBody>
              <a:bodyPr/>
              <a:lstStyle/>
              <a:p>
                <a:r>
                  <a:rPr lang="en-US">
                    <a:noFill/>
                  </a:rPr>
                  <a:t> </a:t>
                </a:r>
              </a:p>
            </p:txBody>
          </p:sp>
        </mc:Fallback>
      </mc:AlternateContent>
    </p:spTree>
    <p:extLst>
      <p:ext uri="{BB962C8B-B14F-4D97-AF65-F5344CB8AC3E}">
        <p14:creationId xmlns:p14="http://schemas.microsoft.com/office/powerpoint/2010/main" val="201781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6430-15FC-EA93-1D64-C37C0D95A163}"/>
              </a:ext>
            </a:extLst>
          </p:cNvPr>
          <p:cNvSpPr>
            <a:spLocks noGrp="1"/>
          </p:cNvSpPr>
          <p:nvPr>
            <p:ph type="title"/>
          </p:nvPr>
        </p:nvSpPr>
        <p:spPr/>
        <p:txBody>
          <a:bodyPr/>
          <a:lstStyle/>
          <a:p>
            <a:r>
              <a:rPr lang="en-US" dirty="0"/>
              <a:t>1. Set operation</a:t>
            </a:r>
          </a:p>
        </p:txBody>
      </p:sp>
      <p:pic>
        <p:nvPicPr>
          <p:cNvPr id="7" name="Content Placeholder 6">
            <a:extLst>
              <a:ext uri="{FF2B5EF4-FFF2-40B4-BE49-F238E27FC236}">
                <a16:creationId xmlns:a16="http://schemas.microsoft.com/office/drawing/2014/main" id="{2CCE0E84-D4DC-A65D-DEC1-ACFA789BB9EA}"/>
              </a:ext>
            </a:extLst>
          </p:cNvPr>
          <p:cNvPicPr>
            <a:picLocks noGrp="1" noChangeAspect="1"/>
          </p:cNvPicPr>
          <p:nvPr>
            <p:ph idx="1"/>
          </p:nvPr>
        </p:nvPicPr>
        <p:blipFill>
          <a:blip r:embed="rId3"/>
          <a:stretch>
            <a:fillRect/>
          </a:stretch>
        </p:blipFill>
        <p:spPr>
          <a:xfrm>
            <a:off x="808759" y="1266537"/>
            <a:ext cx="7581900" cy="2946400"/>
          </a:xfrm>
          <a:prstGeom prst="rect">
            <a:avLst/>
          </a:prstGeom>
        </p:spPr>
      </p:pic>
      <p:sp>
        <p:nvSpPr>
          <p:cNvPr id="4" name="Date Placeholder 3">
            <a:extLst>
              <a:ext uri="{FF2B5EF4-FFF2-40B4-BE49-F238E27FC236}">
                <a16:creationId xmlns:a16="http://schemas.microsoft.com/office/drawing/2014/main" id="{6A8C834F-C20F-B91D-FBF1-04334B5FF4C5}"/>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C8FCD803-255C-7742-8C54-BD8CEE7B8240}"/>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CF91F5BF-905A-B7FF-DF02-904E4BF91988}"/>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16051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5BD99-BE89-DC71-F4DF-0BDB1BE00394}"/>
              </a:ext>
            </a:extLst>
          </p:cNvPr>
          <p:cNvSpPr>
            <a:spLocks noGrp="1"/>
          </p:cNvSpPr>
          <p:nvPr>
            <p:ph type="title"/>
          </p:nvPr>
        </p:nvSpPr>
        <p:spPr/>
        <p:txBody>
          <a:bodyPr/>
          <a:lstStyle/>
          <a:p>
            <a:r>
              <a:rPr lang="en-US" dirty="0"/>
              <a:t>1. Set operation</a:t>
            </a:r>
          </a:p>
        </p:txBody>
      </p:sp>
      <p:sp>
        <p:nvSpPr>
          <p:cNvPr id="4" name="Date Placeholder 3">
            <a:extLst>
              <a:ext uri="{FF2B5EF4-FFF2-40B4-BE49-F238E27FC236}">
                <a16:creationId xmlns:a16="http://schemas.microsoft.com/office/drawing/2014/main" id="{49E5AB63-7899-A0EF-88D4-04F840584EFE}"/>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BC44290D-4311-54D7-7D85-D413FBA91F2E}"/>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CDA1EBC1-34F1-1B48-9C61-DF7224BA6B41}"/>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7" name="Content Placeholder 6">
            <a:extLst>
              <a:ext uri="{FF2B5EF4-FFF2-40B4-BE49-F238E27FC236}">
                <a16:creationId xmlns:a16="http://schemas.microsoft.com/office/drawing/2014/main" id="{CADD2DED-643A-168A-8392-8665A256E177}"/>
              </a:ext>
            </a:extLst>
          </p:cNvPr>
          <p:cNvPicPr>
            <a:picLocks noGrp="1" noChangeAspect="1"/>
          </p:cNvPicPr>
          <p:nvPr>
            <p:ph idx="1"/>
          </p:nvPr>
        </p:nvPicPr>
        <p:blipFill>
          <a:blip r:embed="rId2"/>
          <a:stretch>
            <a:fillRect/>
          </a:stretch>
        </p:blipFill>
        <p:spPr>
          <a:xfrm>
            <a:off x="1166592" y="1104900"/>
            <a:ext cx="5016994" cy="5105400"/>
          </a:xfrm>
          <a:prstGeom prst="rect">
            <a:avLst/>
          </a:prstGeom>
        </p:spPr>
      </p:pic>
    </p:spTree>
    <p:extLst>
      <p:ext uri="{BB962C8B-B14F-4D97-AF65-F5344CB8AC3E}">
        <p14:creationId xmlns:p14="http://schemas.microsoft.com/office/powerpoint/2010/main" val="2521006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9019-E849-829E-07F7-4DBABAA78F5C}"/>
              </a:ext>
            </a:extLst>
          </p:cNvPr>
          <p:cNvSpPr>
            <a:spLocks noGrp="1"/>
          </p:cNvSpPr>
          <p:nvPr>
            <p:ph type="title"/>
          </p:nvPr>
        </p:nvSpPr>
        <p:spPr/>
        <p:txBody>
          <a:bodyPr/>
          <a:lstStyle/>
          <a:p>
            <a:r>
              <a:rPr lang="en-US" dirty="0"/>
              <a:t>Exercises</a:t>
            </a:r>
          </a:p>
        </p:txBody>
      </p:sp>
      <p:pic>
        <p:nvPicPr>
          <p:cNvPr id="7" name="Content Placeholder 6">
            <a:extLst>
              <a:ext uri="{FF2B5EF4-FFF2-40B4-BE49-F238E27FC236}">
                <a16:creationId xmlns:a16="http://schemas.microsoft.com/office/drawing/2014/main" id="{6A177C89-1FF3-9F87-41D7-3846E9FFFA55}"/>
              </a:ext>
            </a:extLst>
          </p:cNvPr>
          <p:cNvPicPr>
            <a:picLocks noGrp="1" noChangeAspect="1"/>
          </p:cNvPicPr>
          <p:nvPr>
            <p:ph idx="1"/>
          </p:nvPr>
        </p:nvPicPr>
        <p:blipFill>
          <a:blip r:embed="rId2"/>
          <a:stretch>
            <a:fillRect/>
          </a:stretch>
        </p:blipFill>
        <p:spPr>
          <a:xfrm>
            <a:off x="440376" y="1704403"/>
            <a:ext cx="10972800" cy="3906394"/>
          </a:xfrm>
          <a:prstGeom prst="rect">
            <a:avLst/>
          </a:prstGeom>
        </p:spPr>
      </p:pic>
      <p:sp>
        <p:nvSpPr>
          <p:cNvPr id="4" name="Date Placeholder 3">
            <a:extLst>
              <a:ext uri="{FF2B5EF4-FFF2-40B4-BE49-F238E27FC236}">
                <a16:creationId xmlns:a16="http://schemas.microsoft.com/office/drawing/2014/main" id="{61ACDB73-F7E8-B5CF-D2A0-72DDDCB17A07}"/>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04108B5B-EEFD-969E-5C4F-75477B1ACA51}"/>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5CE97C42-3515-26D6-C376-AD916F59904E}"/>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507550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2DBD-6890-4941-8373-68BC9ED444B5}"/>
              </a:ext>
            </a:extLst>
          </p:cNvPr>
          <p:cNvSpPr>
            <a:spLocks noGrp="1"/>
          </p:cNvSpPr>
          <p:nvPr>
            <p:ph type="title"/>
          </p:nvPr>
        </p:nvSpPr>
        <p:spPr>
          <a:xfrm>
            <a:off x="471845" y="76200"/>
            <a:ext cx="11204027" cy="685800"/>
          </a:xfrm>
        </p:spPr>
        <p:txBody>
          <a:bodyPr/>
          <a:lstStyle/>
          <a:p>
            <a:r>
              <a:rPr lang="en-US" b="1" dirty="0"/>
              <a:t>2. Probability Concepts</a:t>
            </a:r>
          </a:p>
        </p:txBody>
      </p:sp>
      <p:sp>
        <p:nvSpPr>
          <p:cNvPr id="4" name="Rectangle 3">
            <a:extLst>
              <a:ext uri="{FF2B5EF4-FFF2-40B4-BE49-F238E27FC236}">
                <a16:creationId xmlns:a16="http://schemas.microsoft.com/office/drawing/2014/main" id="{BA5D5314-1A9A-4FE9-B003-FCA223DC92BB}"/>
              </a:ext>
            </a:extLst>
          </p:cNvPr>
          <p:cNvSpPr/>
          <p:nvPr/>
        </p:nvSpPr>
        <p:spPr>
          <a:xfrm>
            <a:off x="304800" y="1004423"/>
            <a:ext cx="11728704" cy="523220"/>
          </a:xfrm>
          <a:prstGeom prst="rect">
            <a:avLst/>
          </a:prstGeom>
        </p:spPr>
        <p:txBody>
          <a:bodyPr wrap="square">
            <a:spAutoFit/>
          </a:bodyPr>
          <a:lstStyle/>
          <a:p>
            <a:r>
              <a:rPr lang="en-US" sz="2800" dirty="0">
                <a:solidFill>
                  <a:srgbClr val="000000"/>
                </a:solidFill>
                <a:latin typeface="TimesNewRomanPS"/>
              </a:rPr>
              <a:t>A </a:t>
            </a:r>
            <a:r>
              <a:rPr lang="en-US" sz="2800" b="1" dirty="0">
                <a:solidFill>
                  <a:srgbClr val="CD0D00"/>
                </a:solidFill>
                <a:latin typeface="TimesNewRomanPS-Bold"/>
              </a:rPr>
              <a:t>random experiment </a:t>
            </a:r>
            <a:r>
              <a:rPr lang="en-US" sz="2800" dirty="0">
                <a:solidFill>
                  <a:srgbClr val="000000"/>
                </a:solidFill>
                <a:latin typeface="TimesNewRomanPS"/>
              </a:rPr>
              <a:t>is a process whose results cannot be known in advance.</a:t>
            </a:r>
            <a:endParaRPr lang="en-US" sz="2800" dirty="0"/>
          </a:p>
        </p:txBody>
      </p:sp>
      <p:sp>
        <p:nvSpPr>
          <p:cNvPr id="3" name="TextBox 2">
            <a:extLst>
              <a:ext uri="{FF2B5EF4-FFF2-40B4-BE49-F238E27FC236}">
                <a16:creationId xmlns:a16="http://schemas.microsoft.com/office/drawing/2014/main" id="{8E02AFA5-E7AF-4E9E-AD08-6DE10F1D4AD6}"/>
              </a:ext>
            </a:extLst>
          </p:cNvPr>
          <p:cNvSpPr txBox="1"/>
          <p:nvPr/>
        </p:nvSpPr>
        <p:spPr>
          <a:xfrm>
            <a:off x="621792" y="1645920"/>
            <a:ext cx="10838688" cy="1569660"/>
          </a:xfrm>
          <a:prstGeom prst="rect">
            <a:avLst/>
          </a:prstGeom>
          <a:noFill/>
        </p:spPr>
        <p:txBody>
          <a:bodyPr wrap="square" rtlCol="0">
            <a:spAutoFit/>
          </a:bodyPr>
          <a:lstStyle/>
          <a:p>
            <a:r>
              <a:rPr lang="en-US" sz="2400" dirty="0"/>
              <a:t>Ex:</a:t>
            </a:r>
          </a:p>
          <a:p>
            <a:pPr marL="285750" indent="-285750">
              <a:buFont typeface="Arial" panose="020B0604020202020204" pitchFamily="34" charset="0"/>
              <a:buChar char="•"/>
            </a:pPr>
            <a:r>
              <a:rPr lang="en-US" sz="2400" dirty="0"/>
              <a:t>Tossing a coin</a:t>
            </a:r>
          </a:p>
          <a:p>
            <a:pPr marL="285750" indent="-285750">
              <a:buFont typeface="Arial" panose="020B0604020202020204" pitchFamily="34" charset="0"/>
              <a:buChar char="•"/>
            </a:pPr>
            <a:r>
              <a:rPr lang="en-US" sz="2400" dirty="0"/>
              <a:t>Observing a customer enter a store, we don’t know if the customer will buy something or not, and how much the customer will spend.</a:t>
            </a:r>
          </a:p>
        </p:txBody>
      </p:sp>
      <p:sp>
        <p:nvSpPr>
          <p:cNvPr id="5" name="Rectangle 4">
            <a:extLst>
              <a:ext uri="{FF2B5EF4-FFF2-40B4-BE49-F238E27FC236}">
                <a16:creationId xmlns:a16="http://schemas.microsoft.com/office/drawing/2014/main" id="{BF94615C-D726-43A7-A4A6-1701E31DB422}"/>
              </a:ext>
            </a:extLst>
          </p:cNvPr>
          <p:cNvSpPr/>
          <p:nvPr/>
        </p:nvSpPr>
        <p:spPr>
          <a:xfrm>
            <a:off x="292607" y="3403801"/>
            <a:ext cx="12265153" cy="523220"/>
          </a:xfrm>
          <a:prstGeom prst="rect">
            <a:avLst/>
          </a:prstGeom>
        </p:spPr>
        <p:txBody>
          <a:bodyPr wrap="square">
            <a:spAutoFit/>
          </a:bodyPr>
          <a:lstStyle/>
          <a:p>
            <a:r>
              <a:rPr lang="en-US" sz="2800" dirty="0">
                <a:latin typeface="TimesNewRomanPS-Bold"/>
              </a:rPr>
              <a:t>The</a:t>
            </a:r>
            <a:r>
              <a:rPr lang="en-US" sz="2800" b="1" dirty="0">
                <a:solidFill>
                  <a:srgbClr val="CD0D00"/>
                </a:solidFill>
                <a:latin typeface="TimesNewRomanPS-Bold"/>
              </a:rPr>
              <a:t> sample space </a:t>
            </a:r>
            <a:r>
              <a:rPr lang="en-US" sz="2800" dirty="0">
                <a:solidFill>
                  <a:srgbClr val="000000"/>
                </a:solidFill>
                <a:latin typeface="TimesNewRomanPS"/>
              </a:rPr>
              <a:t>for an experiment is the set of all possible </a:t>
            </a:r>
            <a:r>
              <a:rPr lang="en-US" sz="2800" i="1" dirty="0">
                <a:solidFill>
                  <a:srgbClr val="002060"/>
                </a:solidFill>
                <a:latin typeface="TimesNewRomanPS-Italic"/>
              </a:rPr>
              <a:t>outcomes</a:t>
            </a:r>
            <a:r>
              <a:rPr lang="en-US" sz="2800" i="1" dirty="0">
                <a:solidFill>
                  <a:srgbClr val="000000"/>
                </a:solidFill>
                <a:latin typeface="TimesNewRomanPS"/>
              </a:rPr>
              <a:t>, </a:t>
            </a:r>
            <a:r>
              <a:rPr lang="en-US" sz="2800" dirty="0">
                <a:solidFill>
                  <a:srgbClr val="FF0000"/>
                </a:solidFill>
                <a:latin typeface="TimesNewRomanPS"/>
              </a:rPr>
              <a:t>denoted </a:t>
            </a:r>
            <a:r>
              <a:rPr lang="el-GR" sz="2800" dirty="0">
                <a:solidFill>
                  <a:srgbClr val="FF0000"/>
                </a:solidFill>
                <a:latin typeface="Times New Roman" panose="02020603050405020304" pitchFamily="18" charset="0"/>
                <a:cs typeface="Times New Roman" panose="02020603050405020304" pitchFamily="18" charset="0"/>
              </a:rPr>
              <a:t>S</a:t>
            </a:r>
            <a:r>
              <a:rPr lang="en-US" sz="2800" i="1" dirty="0">
                <a:solidFill>
                  <a:srgbClr val="000000"/>
                </a:solidFill>
                <a:latin typeface="TimesNewRomanPS"/>
              </a:rPr>
              <a:t>.</a:t>
            </a:r>
            <a:endParaRPr lang="en-US" sz="2800" dirty="0">
              <a:solidFill>
                <a:srgbClr val="000000"/>
              </a:solidFill>
              <a:latin typeface="TimesNewRomanPS"/>
            </a:endParaRPr>
          </a:p>
        </p:txBody>
      </p:sp>
      <p:sp>
        <p:nvSpPr>
          <p:cNvPr id="6" name="Rectangle 5">
            <a:extLst>
              <a:ext uri="{FF2B5EF4-FFF2-40B4-BE49-F238E27FC236}">
                <a16:creationId xmlns:a16="http://schemas.microsoft.com/office/drawing/2014/main" id="{0A1181B3-06E5-4B9E-9E8C-84BF2A478547}"/>
              </a:ext>
            </a:extLst>
          </p:cNvPr>
          <p:cNvSpPr/>
          <p:nvPr/>
        </p:nvSpPr>
        <p:spPr>
          <a:xfrm>
            <a:off x="520612" y="4015115"/>
            <a:ext cx="11512892" cy="1881734"/>
          </a:xfrm>
          <a:prstGeom prst="rect">
            <a:avLst/>
          </a:prstGeom>
        </p:spPr>
        <p:txBody>
          <a:bodyPr wrap="square">
            <a:spAutoFit/>
          </a:bodyPr>
          <a:lstStyle/>
          <a:p>
            <a:r>
              <a:rPr lang="en-US" sz="2400" dirty="0">
                <a:latin typeface="TimesNewRomanPS"/>
              </a:rPr>
              <a:t>Ex: </a:t>
            </a:r>
          </a:p>
          <a:p>
            <a:pPr marL="342900" indent="-342900">
              <a:buFont typeface="Arial" panose="020B0604020202020204" pitchFamily="34" charset="0"/>
              <a:buChar char="•"/>
            </a:pPr>
            <a:r>
              <a:rPr lang="en-US" sz="2400" dirty="0">
                <a:latin typeface="TimesNewRomanPS"/>
              </a:rPr>
              <a:t>The sample space describing a customer’s payment method might have four outcomes:</a:t>
            </a:r>
          </a:p>
          <a:p>
            <a:pPr>
              <a:lnSpc>
                <a:spcPct val="150000"/>
              </a:lnSpc>
            </a:pPr>
            <a:r>
              <a:rPr lang="en-US" sz="2400" i="1" dirty="0">
                <a:latin typeface="TimesNewRomanPS-Italic"/>
              </a:rPr>
              <a:t>                                       </a:t>
            </a:r>
            <a:r>
              <a:rPr lang="el-GR" sz="2400" dirty="0">
                <a:solidFill>
                  <a:srgbClr val="FF0000"/>
                </a:solidFill>
                <a:latin typeface="Times New Roman" panose="02020603050405020304" pitchFamily="18" charset="0"/>
                <a:cs typeface="Times New Roman" panose="02020603050405020304" pitchFamily="18" charset="0"/>
              </a:rPr>
              <a:t>S</a:t>
            </a:r>
            <a:r>
              <a:rPr lang="en-US" sz="2400" i="1" dirty="0">
                <a:latin typeface="TimesNewRomanPS-Italic"/>
              </a:rPr>
              <a:t> </a:t>
            </a:r>
            <a:r>
              <a:rPr lang="en-US" sz="2400" dirty="0">
                <a:latin typeface="MTSY"/>
              </a:rPr>
              <a:t>= </a:t>
            </a:r>
            <a:r>
              <a:rPr lang="en-US" sz="2400" dirty="0">
                <a:latin typeface="TimesNewRomanPS"/>
              </a:rPr>
              <a:t>{cash, debit card, credit card, check}</a:t>
            </a:r>
          </a:p>
          <a:p>
            <a:pPr marL="342900" indent="-342900">
              <a:lnSpc>
                <a:spcPct val="150000"/>
              </a:lnSpc>
              <a:buFont typeface="Arial" panose="020B0604020202020204" pitchFamily="34" charset="0"/>
              <a:buChar char="•"/>
            </a:pPr>
            <a:r>
              <a:rPr lang="en-US" sz="2400" dirty="0"/>
              <a:t>The sample space to describe rolling a die has six outcomes: </a:t>
            </a:r>
          </a:p>
        </p:txBody>
      </p:sp>
      <p:pic>
        <p:nvPicPr>
          <p:cNvPr id="8" name="Picture 7">
            <a:extLst>
              <a:ext uri="{FF2B5EF4-FFF2-40B4-BE49-F238E27FC236}">
                <a16:creationId xmlns:a16="http://schemas.microsoft.com/office/drawing/2014/main" id="{4AADF649-6D27-44C8-A742-BF249DBB46A7}"/>
              </a:ext>
            </a:extLst>
          </p:cNvPr>
          <p:cNvPicPr>
            <a:picLocks noChangeAspect="1"/>
          </p:cNvPicPr>
          <p:nvPr/>
        </p:nvPicPr>
        <p:blipFill>
          <a:blip r:embed="rId2"/>
          <a:stretch>
            <a:fillRect/>
          </a:stretch>
        </p:blipFill>
        <p:spPr>
          <a:xfrm>
            <a:off x="3567682" y="5900714"/>
            <a:ext cx="3887531" cy="622005"/>
          </a:xfrm>
          <a:prstGeom prst="rect">
            <a:avLst/>
          </a:prstGeom>
        </p:spPr>
      </p:pic>
      <p:sp>
        <p:nvSpPr>
          <p:cNvPr id="9" name="Rectangle 8">
            <a:extLst>
              <a:ext uri="{FF2B5EF4-FFF2-40B4-BE49-F238E27FC236}">
                <a16:creationId xmlns:a16="http://schemas.microsoft.com/office/drawing/2014/main" id="{0003F9C9-F085-4E49-822D-18E81B0EC7C3}"/>
              </a:ext>
            </a:extLst>
          </p:cNvPr>
          <p:cNvSpPr/>
          <p:nvPr/>
        </p:nvSpPr>
        <p:spPr>
          <a:xfrm>
            <a:off x="2805740" y="6075818"/>
            <a:ext cx="1132276" cy="523220"/>
          </a:xfrm>
          <a:prstGeom prst="rect">
            <a:avLst/>
          </a:prstGeom>
        </p:spPr>
        <p:txBody>
          <a:bodyPr wrap="square">
            <a:spAutoFit/>
          </a:bodyPr>
          <a:lstStyle/>
          <a:p>
            <a:r>
              <a:rPr lang="el-GR" sz="2800" dirty="0">
                <a:solidFill>
                  <a:srgbClr val="FF0000"/>
                </a:solidFill>
                <a:latin typeface="Times New Roman" panose="02020603050405020304" pitchFamily="18" charset="0"/>
                <a:cs typeface="Times New Roman" panose="02020603050405020304" pitchFamily="18" charset="0"/>
              </a:rPr>
              <a:t>S</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endParaRPr lang="en-US" sz="2800" dirty="0"/>
          </a:p>
        </p:txBody>
      </p:sp>
      <p:sp>
        <p:nvSpPr>
          <p:cNvPr id="7" name="Date Placeholder 6">
            <a:extLst>
              <a:ext uri="{FF2B5EF4-FFF2-40B4-BE49-F238E27FC236}">
                <a16:creationId xmlns:a16="http://schemas.microsoft.com/office/drawing/2014/main" id="{110109B4-25A0-49E1-AF07-701F45C718BF}"/>
              </a:ext>
            </a:extLst>
          </p:cNvPr>
          <p:cNvSpPr>
            <a:spLocks noGrp="1"/>
          </p:cNvSpPr>
          <p:nvPr>
            <p:ph type="dt" sz="half" idx="10"/>
          </p:nvPr>
        </p:nvSpPr>
        <p:spPr/>
        <p:txBody>
          <a:bodyPr/>
          <a:lstStyle/>
          <a:p>
            <a:fld id="{7BD3ACEC-EEAF-4073-9311-B34165AE0DCB}" type="datetime1">
              <a:rPr lang="en-US" smtClean="0"/>
              <a:t>2/27/24</a:t>
            </a:fld>
            <a:endParaRPr lang="en-US"/>
          </a:p>
        </p:txBody>
      </p:sp>
      <p:sp>
        <p:nvSpPr>
          <p:cNvPr id="10" name="Footer Placeholder 9">
            <a:extLst>
              <a:ext uri="{FF2B5EF4-FFF2-40B4-BE49-F238E27FC236}">
                <a16:creationId xmlns:a16="http://schemas.microsoft.com/office/drawing/2014/main" id="{EAD16271-AC19-40E5-8622-176C011BAA0A}"/>
              </a:ext>
            </a:extLst>
          </p:cNvPr>
          <p:cNvSpPr>
            <a:spLocks noGrp="1"/>
          </p:cNvSpPr>
          <p:nvPr>
            <p:ph type="ftr" sz="quarter" idx="11"/>
          </p:nvPr>
        </p:nvSpPr>
        <p:spPr/>
        <p:txBody>
          <a:bodyPr/>
          <a:lstStyle/>
          <a:p>
            <a:r>
              <a:rPr lang="en-US"/>
              <a:t>Dr. Nguyễn Ngọc Ái Vân</a:t>
            </a:r>
            <a:endParaRPr lang="en-US" dirty="0"/>
          </a:p>
        </p:txBody>
      </p:sp>
      <p:sp>
        <p:nvSpPr>
          <p:cNvPr id="11" name="Slide Number Placeholder 10">
            <a:extLst>
              <a:ext uri="{FF2B5EF4-FFF2-40B4-BE49-F238E27FC236}">
                <a16:creationId xmlns:a16="http://schemas.microsoft.com/office/drawing/2014/main" id="{514A9D92-5FFF-4E14-97AB-6772403AF373}"/>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51570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4EF70-C944-4729-85E7-4DA2641E91FA}"/>
              </a:ext>
            </a:extLst>
          </p:cNvPr>
          <p:cNvSpPr/>
          <p:nvPr/>
        </p:nvSpPr>
        <p:spPr>
          <a:xfrm>
            <a:off x="256032" y="501650"/>
            <a:ext cx="11216640" cy="892552"/>
          </a:xfrm>
          <a:prstGeom prst="rect">
            <a:avLst/>
          </a:prstGeom>
        </p:spPr>
        <p:txBody>
          <a:bodyPr wrap="square">
            <a:spAutoFit/>
          </a:bodyPr>
          <a:lstStyle/>
          <a:p>
            <a:r>
              <a:rPr lang="en-US" sz="2800" dirty="0">
                <a:latin typeface="TimesNewRomanPS"/>
              </a:rPr>
              <a:t>Ex</a:t>
            </a:r>
            <a:r>
              <a:rPr lang="en-US" sz="2400" dirty="0">
                <a:latin typeface="TimesNewRomanPS"/>
              </a:rPr>
              <a:t>: When two dice are rolled, the sample space consists of 36 outcomes, each of which is a pair:</a:t>
            </a:r>
            <a:endParaRPr lang="en-US" sz="2400" dirty="0"/>
          </a:p>
        </p:txBody>
      </p:sp>
      <p:pic>
        <p:nvPicPr>
          <p:cNvPr id="3" name="Picture 2">
            <a:extLst>
              <a:ext uri="{FF2B5EF4-FFF2-40B4-BE49-F238E27FC236}">
                <a16:creationId xmlns:a16="http://schemas.microsoft.com/office/drawing/2014/main" id="{ABEF07F0-D248-48B2-BD05-52FEC9F4B679}"/>
              </a:ext>
            </a:extLst>
          </p:cNvPr>
          <p:cNvPicPr>
            <a:picLocks noChangeAspect="1"/>
          </p:cNvPicPr>
          <p:nvPr/>
        </p:nvPicPr>
        <p:blipFill>
          <a:blip r:embed="rId2"/>
          <a:stretch>
            <a:fillRect/>
          </a:stretch>
        </p:blipFill>
        <p:spPr>
          <a:xfrm>
            <a:off x="2575369" y="1678326"/>
            <a:ext cx="4752023" cy="4393899"/>
          </a:xfrm>
          <a:prstGeom prst="rect">
            <a:avLst/>
          </a:prstGeom>
        </p:spPr>
      </p:pic>
      <p:sp>
        <p:nvSpPr>
          <p:cNvPr id="4" name="Date Placeholder 3">
            <a:extLst>
              <a:ext uri="{FF2B5EF4-FFF2-40B4-BE49-F238E27FC236}">
                <a16:creationId xmlns:a16="http://schemas.microsoft.com/office/drawing/2014/main" id="{8707C6F3-94FC-424D-AD0C-9DE675979A76}"/>
              </a:ext>
            </a:extLst>
          </p:cNvPr>
          <p:cNvSpPr>
            <a:spLocks noGrp="1"/>
          </p:cNvSpPr>
          <p:nvPr>
            <p:ph type="dt" sz="half" idx="10"/>
          </p:nvPr>
        </p:nvSpPr>
        <p:spPr/>
        <p:txBody>
          <a:bodyPr/>
          <a:lstStyle/>
          <a:p>
            <a:fld id="{F3D82956-156B-4B02-B996-234A2492F97D}" type="datetime1">
              <a:rPr lang="en-US" smtClean="0"/>
              <a:t>2/27/24</a:t>
            </a:fld>
            <a:endParaRPr lang="en-US"/>
          </a:p>
        </p:txBody>
      </p:sp>
      <p:sp>
        <p:nvSpPr>
          <p:cNvPr id="5" name="Footer Placeholder 4">
            <a:extLst>
              <a:ext uri="{FF2B5EF4-FFF2-40B4-BE49-F238E27FC236}">
                <a16:creationId xmlns:a16="http://schemas.microsoft.com/office/drawing/2014/main" id="{18450836-565E-4F26-A078-0634D04D1F22}"/>
              </a:ext>
            </a:extLst>
          </p:cNvPr>
          <p:cNvSpPr>
            <a:spLocks noGrp="1"/>
          </p:cNvSpPr>
          <p:nvPr>
            <p:ph type="ftr" sz="quarter" idx="11"/>
          </p:nvPr>
        </p:nvSpPr>
        <p:spPr/>
        <p:txBody>
          <a:bodyPr/>
          <a:lstStyle/>
          <a:p>
            <a:r>
              <a:rPr lang="en-US"/>
              <a:t>Dr. Nguyễn Ngọc Ái Vân</a:t>
            </a:r>
          </a:p>
        </p:txBody>
      </p:sp>
      <p:sp>
        <p:nvSpPr>
          <p:cNvPr id="6" name="Slide Number Placeholder 5">
            <a:extLst>
              <a:ext uri="{FF2B5EF4-FFF2-40B4-BE49-F238E27FC236}">
                <a16:creationId xmlns:a16="http://schemas.microsoft.com/office/drawing/2014/main" id="{4879E3B0-4A2B-4095-BE45-1CBF1B0693EC}"/>
              </a:ext>
            </a:extLst>
          </p:cNvPr>
          <p:cNvSpPr>
            <a:spLocks noGrp="1"/>
          </p:cNvSpPr>
          <p:nvPr>
            <p:ph type="sldNum" sz="quarter" idx="12"/>
          </p:nvPr>
        </p:nvSpPr>
        <p:spPr/>
        <p:txBody>
          <a:bodyPr/>
          <a:lstStyle/>
          <a:p>
            <a:fld id="{DA64F31B-23FA-4075-AF7D-6228CFD12F03}" type="slidenum">
              <a:rPr lang="en-US" smtClean="0"/>
              <a:t>10</a:t>
            </a:fld>
            <a:endParaRPr lang="en-US"/>
          </a:p>
        </p:txBody>
      </p:sp>
    </p:spTree>
    <p:extLst>
      <p:ext uri="{BB962C8B-B14F-4D97-AF65-F5344CB8AC3E}">
        <p14:creationId xmlns:p14="http://schemas.microsoft.com/office/powerpoint/2010/main" val="332958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822124-E33A-4355-B06E-705389E30913}"/>
              </a:ext>
            </a:extLst>
          </p:cNvPr>
          <p:cNvSpPr/>
          <p:nvPr/>
        </p:nvSpPr>
        <p:spPr>
          <a:xfrm>
            <a:off x="926592" y="3381863"/>
            <a:ext cx="10875264" cy="369332"/>
          </a:xfrm>
          <a:prstGeom prst="rect">
            <a:avLst/>
          </a:prstGeom>
        </p:spPr>
        <p:txBody>
          <a:bodyPr wrap="square">
            <a:spAutoFit/>
          </a:bodyPr>
          <a:lstStyle/>
          <a:p>
            <a:endParaRPr lang="en-US" dirty="0"/>
          </a:p>
        </p:txBody>
      </p:sp>
      <p:sp>
        <p:nvSpPr>
          <p:cNvPr id="3" name="Rectangle 2">
            <a:extLst>
              <a:ext uri="{FF2B5EF4-FFF2-40B4-BE49-F238E27FC236}">
                <a16:creationId xmlns:a16="http://schemas.microsoft.com/office/drawing/2014/main" id="{6D353B22-8640-4AEB-A24D-A34753C8BE78}"/>
              </a:ext>
            </a:extLst>
          </p:cNvPr>
          <p:cNvSpPr/>
          <p:nvPr/>
        </p:nvSpPr>
        <p:spPr>
          <a:xfrm>
            <a:off x="573024" y="329272"/>
            <a:ext cx="11216640" cy="3970318"/>
          </a:xfrm>
          <a:prstGeom prst="rect">
            <a:avLst/>
          </a:prstGeom>
        </p:spPr>
        <p:txBody>
          <a:bodyPr wrap="square">
            <a:spAutoFit/>
          </a:bodyPr>
          <a:lstStyle/>
          <a:p>
            <a:r>
              <a:rPr lang="en-US" sz="2800" dirty="0">
                <a:latin typeface="TimesNewRomanPS"/>
              </a:rPr>
              <a:t>A sample space could be so large that it is impractical to enumerate the possibilities </a:t>
            </a:r>
          </a:p>
          <a:p>
            <a:endParaRPr lang="en-US" sz="2400" dirty="0">
              <a:latin typeface="TimesNewRomanPS"/>
            </a:endParaRPr>
          </a:p>
          <a:p>
            <a:r>
              <a:rPr lang="en-US" sz="2400" dirty="0">
                <a:latin typeface="TimesNewRomanPS"/>
              </a:rPr>
              <a:t>Ex: </a:t>
            </a:r>
          </a:p>
          <a:p>
            <a:pPr marL="342900" indent="-342900">
              <a:buFont typeface="Arial" panose="020B0604020202020204" pitchFamily="34" charset="0"/>
              <a:buChar char="•"/>
            </a:pPr>
            <a:r>
              <a:rPr lang="en-US" sz="2400" dirty="0">
                <a:latin typeface="TimesNewRomanPS"/>
              </a:rPr>
              <a:t> The  sample space for the 12-digit bar code on a product  could have 1 trillion values.</a:t>
            </a:r>
          </a:p>
          <a:p>
            <a:pPr marL="342900" indent="-342900">
              <a:buFont typeface="Arial" panose="020B0604020202020204" pitchFamily="34" charset="0"/>
              <a:buChar char="•"/>
            </a:pPr>
            <a:r>
              <a:rPr lang="en-US" sz="2400" dirty="0">
                <a:latin typeface="TimesNewRomanPS"/>
              </a:rPr>
              <a:t> The sample space for the length of a randomly chosen cell phone call would be   </a:t>
            </a:r>
          </a:p>
          <a:p>
            <a:r>
              <a:rPr lang="en-US" sz="2400" dirty="0">
                <a:latin typeface="TimesNewRomanPS"/>
              </a:rPr>
              <a:t>                                        </a:t>
            </a:r>
            <a:r>
              <a:rPr lang="el-GR" sz="2400" dirty="0">
                <a:solidFill>
                  <a:srgbClr val="FF0000"/>
                </a:solidFill>
                <a:latin typeface="Times New Roman" panose="02020603050405020304" pitchFamily="18" charset="0"/>
                <a:cs typeface="Times New Roman" panose="02020603050405020304" pitchFamily="18" charset="0"/>
              </a:rPr>
              <a:t>S</a:t>
            </a:r>
            <a:r>
              <a:rPr lang="en-US" sz="2400" i="1" dirty="0">
                <a:latin typeface="TimesNewRomanPS-Italic"/>
              </a:rPr>
              <a:t> </a:t>
            </a:r>
            <a:r>
              <a:rPr lang="en-US" sz="2400" dirty="0">
                <a:latin typeface="MTSY"/>
              </a:rPr>
              <a:t>= {</a:t>
            </a:r>
            <a:r>
              <a:rPr lang="en-US" sz="2400" dirty="0">
                <a:latin typeface="TimesNewRomanPS"/>
              </a:rPr>
              <a:t>all </a:t>
            </a:r>
            <a:r>
              <a:rPr lang="en-US" sz="2400" i="1" dirty="0">
                <a:latin typeface="TimesNewRomanPS-Italic"/>
              </a:rPr>
              <a:t>X </a:t>
            </a:r>
            <a:r>
              <a:rPr lang="en-US" sz="2400" dirty="0">
                <a:latin typeface="TimesNewRomanPS"/>
              </a:rPr>
              <a:t>such that </a:t>
            </a:r>
            <a:r>
              <a:rPr lang="en-US" sz="2400" i="1" dirty="0">
                <a:latin typeface="TimesNewRomanPS-Italic"/>
              </a:rPr>
              <a:t>X </a:t>
            </a:r>
            <a:r>
              <a:rPr lang="en-US" sz="2400" dirty="0">
                <a:latin typeface="MTSY"/>
              </a:rPr>
              <a:t>≥ </a:t>
            </a:r>
            <a:r>
              <a:rPr lang="en-US" sz="2400" dirty="0">
                <a:latin typeface="TimesNewRomanPS"/>
              </a:rPr>
              <a:t>0</a:t>
            </a:r>
            <a:r>
              <a:rPr lang="en-US" sz="2400" dirty="0">
                <a:latin typeface="MTSY"/>
              </a:rPr>
              <a:t>}</a:t>
            </a:r>
          </a:p>
          <a:p>
            <a:pPr marL="342900" indent="-342900">
              <a:buFont typeface="Arial" panose="020B0604020202020204" pitchFamily="34" charset="0"/>
              <a:buChar char="•"/>
            </a:pPr>
            <a:r>
              <a:rPr lang="en-US" sz="2400" dirty="0">
                <a:latin typeface="TimesNewRomanPS"/>
              </a:rPr>
              <a:t>The sample space to describe a randomly chosen student’s GPA would be</a:t>
            </a:r>
          </a:p>
          <a:p>
            <a:r>
              <a:rPr lang="en-US" sz="2400" i="1" dirty="0">
                <a:latin typeface="TimesNewRomanPS-Italic"/>
              </a:rPr>
              <a:t>                                      </a:t>
            </a:r>
            <a:r>
              <a:rPr lang="el-GR" sz="2400" i="1" dirty="0">
                <a:solidFill>
                  <a:srgbClr val="FF0000"/>
                </a:solidFill>
                <a:latin typeface="Times New Roman" panose="02020603050405020304" pitchFamily="18" charset="0"/>
                <a:cs typeface="Times New Roman" panose="02020603050405020304" pitchFamily="18" charset="0"/>
              </a:rPr>
              <a:t>S</a:t>
            </a:r>
            <a:r>
              <a:rPr lang="en-US" sz="2400" i="1" dirty="0">
                <a:latin typeface="TimesNewRomanPS-Italic"/>
              </a:rPr>
              <a:t> </a:t>
            </a:r>
            <a:r>
              <a:rPr lang="en-US" sz="2400" dirty="0">
                <a:latin typeface="MTSY"/>
              </a:rPr>
              <a:t>= {</a:t>
            </a:r>
            <a:r>
              <a:rPr lang="en-US" sz="2400" dirty="0">
                <a:latin typeface="TimesNewRomanPS"/>
              </a:rPr>
              <a:t>all </a:t>
            </a:r>
            <a:r>
              <a:rPr lang="en-US" sz="2400" i="1" dirty="0">
                <a:latin typeface="TimesNewRomanPS-Italic"/>
              </a:rPr>
              <a:t>X </a:t>
            </a:r>
            <a:r>
              <a:rPr lang="en-US" sz="2400" dirty="0">
                <a:latin typeface="TimesNewRomanPS"/>
              </a:rPr>
              <a:t>such that 0 </a:t>
            </a:r>
            <a:r>
              <a:rPr lang="en-US" sz="2400" dirty="0">
                <a:latin typeface="MTSY"/>
              </a:rPr>
              <a:t>≤ </a:t>
            </a:r>
            <a:r>
              <a:rPr lang="en-US" sz="2400" i="1" dirty="0">
                <a:latin typeface="TimesNewRomanPS-Italic"/>
              </a:rPr>
              <a:t>X </a:t>
            </a:r>
            <a:r>
              <a:rPr lang="en-US" sz="2400" dirty="0">
                <a:latin typeface="MTSY"/>
              </a:rPr>
              <a:t>≤ </a:t>
            </a:r>
            <a:r>
              <a:rPr lang="en-US" sz="2400" dirty="0">
                <a:latin typeface="TimesNewRomanPS"/>
              </a:rPr>
              <a:t>10</a:t>
            </a:r>
            <a:r>
              <a:rPr lang="en-US" sz="2400" dirty="0">
                <a:latin typeface="MTSY"/>
              </a:rPr>
              <a:t>}</a:t>
            </a:r>
            <a:endParaRPr lang="en-US" sz="2400" dirty="0"/>
          </a:p>
          <a:p>
            <a:pPr marL="342900" indent="-342900">
              <a:buFont typeface="Arial" panose="020B0604020202020204" pitchFamily="34" charset="0"/>
              <a:buChar char="•"/>
            </a:pPr>
            <a:endParaRPr lang="en-US" sz="2400" dirty="0"/>
          </a:p>
        </p:txBody>
      </p:sp>
      <p:sp>
        <p:nvSpPr>
          <p:cNvPr id="4" name="Date Placeholder 3">
            <a:extLst>
              <a:ext uri="{FF2B5EF4-FFF2-40B4-BE49-F238E27FC236}">
                <a16:creationId xmlns:a16="http://schemas.microsoft.com/office/drawing/2014/main" id="{6BC9A467-4E8D-4E80-93F8-AD3AB8793EB4}"/>
              </a:ext>
            </a:extLst>
          </p:cNvPr>
          <p:cNvSpPr>
            <a:spLocks noGrp="1"/>
          </p:cNvSpPr>
          <p:nvPr>
            <p:ph type="dt" sz="half" idx="10"/>
          </p:nvPr>
        </p:nvSpPr>
        <p:spPr/>
        <p:txBody>
          <a:bodyPr/>
          <a:lstStyle/>
          <a:p>
            <a:fld id="{B9B5AA94-6242-435C-8539-8550516FA76D}" type="datetime1">
              <a:rPr lang="en-US" smtClean="0"/>
              <a:t>2/27/24</a:t>
            </a:fld>
            <a:endParaRPr lang="en-US"/>
          </a:p>
        </p:txBody>
      </p:sp>
      <p:sp>
        <p:nvSpPr>
          <p:cNvPr id="5" name="Footer Placeholder 4">
            <a:extLst>
              <a:ext uri="{FF2B5EF4-FFF2-40B4-BE49-F238E27FC236}">
                <a16:creationId xmlns:a16="http://schemas.microsoft.com/office/drawing/2014/main" id="{F029B1A7-68EC-4E9E-A15D-C7EF56A2BF18}"/>
              </a:ext>
            </a:extLst>
          </p:cNvPr>
          <p:cNvSpPr>
            <a:spLocks noGrp="1"/>
          </p:cNvSpPr>
          <p:nvPr>
            <p:ph type="ftr" sz="quarter" idx="11"/>
          </p:nvPr>
        </p:nvSpPr>
        <p:spPr/>
        <p:txBody>
          <a:bodyPr/>
          <a:lstStyle/>
          <a:p>
            <a:r>
              <a:rPr lang="en-US"/>
              <a:t>Dr. Nguyễn Ngọc Ái Vân</a:t>
            </a:r>
          </a:p>
        </p:txBody>
      </p:sp>
      <p:sp>
        <p:nvSpPr>
          <p:cNvPr id="6" name="Slide Number Placeholder 5">
            <a:extLst>
              <a:ext uri="{FF2B5EF4-FFF2-40B4-BE49-F238E27FC236}">
                <a16:creationId xmlns:a16="http://schemas.microsoft.com/office/drawing/2014/main" id="{E5965349-AF23-4E82-A6A4-BFED40D86F30}"/>
              </a:ext>
            </a:extLst>
          </p:cNvPr>
          <p:cNvSpPr>
            <a:spLocks noGrp="1"/>
          </p:cNvSpPr>
          <p:nvPr>
            <p:ph type="sldNum" sz="quarter" idx="12"/>
          </p:nvPr>
        </p:nvSpPr>
        <p:spPr/>
        <p:txBody>
          <a:bodyPr/>
          <a:lstStyle/>
          <a:p>
            <a:fld id="{DA64F31B-23FA-4075-AF7D-6228CFD12F03}" type="slidenum">
              <a:rPr lang="en-US" smtClean="0"/>
              <a:t>11</a:t>
            </a:fld>
            <a:endParaRPr lang="en-US"/>
          </a:p>
        </p:txBody>
      </p:sp>
    </p:spTree>
    <p:extLst>
      <p:ext uri="{BB962C8B-B14F-4D97-AF65-F5344CB8AC3E}">
        <p14:creationId xmlns:p14="http://schemas.microsoft.com/office/powerpoint/2010/main" val="3722184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A1A14-EC19-476D-8AE9-777F131E30CC}"/>
              </a:ext>
            </a:extLst>
          </p:cNvPr>
          <p:cNvSpPr>
            <a:spLocks noGrp="1"/>
          </p:cNvSpPr>
          <p:nvPr>
            <p:ph type="title"/>
          </p:nvPr>
        </p:nvSpPr>
        <p:spPr>
          <a:xfrm>
            <a:off x="264581" y="103632"/>
            <a:ext cx="11204027" cy="685800"/>
          </a:xfrm>
        </p:spPr>
        <p:txBody>
          <a:bodyPr/>
          <a:lstStyle/>
          <a:p>
            <a:r>
              <a:rPr lang="en-US" b="1" dirty="0"/>
              <a:t>Event</a:t>
            </a:r>
          </a:p>
        </p:txBody>
      </p:sp>
      <p:sp>
        <p:nvSpPr>
          <p:cNvPr id="4" name="Rectangle 3">
            <a:extLst>
              <a:ext uri="{FF2B5EF4-FFF2-40B4-BE49-F238E27FC236}">
                <a16:creationId xmlns:a16="http://schemas.microsoft.com/office/drawing/2014/main" id="{B370466E-F598-410E-801B-DE17BA8CF719}"/>
              </a:ext>
            </a:extLst>
          </p:cNvPr>
          <p:cNvSpPr/>
          <p:nvPr/>
        </p:nvSpPr>
        <p:spPr>
          <a:xfrm>
            <a:off x="377952" y="1214418"/>
            <a:ext cx="11241024" cy="954107"/>
          </a:xfrm>
          <a:prstGeom prst="rect">
            <a:avLst/>
          </a:prstGeom>
        </p:spPr>
        <p:txBody>
          <a:bodyPr wrap="square">
            <a:spAutoFit/>
          </a:bodyPr>
          <a:lstStyle/>
          <a:p>
            <a:r>
              <a:rPr lang="en-US" sz="2800" dirty="0">
                <a:solidFill>
                  <a:srgbClr val="000000"/>
                </a:solidFill>
                <a:latin typeface="TimesNewRomanPS"/>
              </a:rPr>
              <a:t>An </a:t>
            </a:r>
            <a:r>
              <a:rPr lang="en-US" sz="2800" b="1" dirty="0">
                <a:solidFill>
                  <a:srgbClr val="CD0D00"/>
                </a:solidFill>
                <a:latin typeface="TimesNewRomanPS-Bold"/>
              </a:rPr>
              <a:t>event </a:t>
            </a:r>
            <a:r>
              <a:rPr lang="en-US" sz="2800" dirty="0">
                <a:solidFill>
                  <a:srgbClr val="000000"/>
                </a:solidFill>
                <a:latin typeface="TimesNewRomanPS"/>
              </a:rPr>
              <a:t>is any subset of outcomes in the sample space. A </a:t>
            </a:r>
            <a:r>
              <a:rPr lang="en-US" sz="2800" b="1" dirty="0">
                <a:solidFill>
                  <a:srgbClr val="CD0D00"/>
                </a:solidFill>
                <a:latin typeface="TimesNewRomanPS-Bold"/>
              </a:rPr>
              <a:t>simple event</a:t>
            </a:r>
            <a:r>
              <a:rPr lang="en-US" sz="2800" dirty="0">
                <a:solidFill>
                  <a:srgbClr val="000000"/>
                </a:solidFill>
                <a:latin typeface="TimesNewRomanPS"/>
              </a:rPr>
              <a:t>, or </a:t>
            </a:r>
            <a:r>
              <a:rPr lang="en-US" sz="2800" i="1" dirty="0">
                <a:solidFill>
                  <a:srgbClr val="000000"/>
                </a:solidFill>
                <a:latin typeface="TimesNewRomanPS-Italic"/>
              </a:rPr>
              <a:t>elementary event, </a:t>
            </a:r>
            <a:r>
              <a:rPr lang="en-US" sz="2800" dirty="0">
                <a:solidFill>
                  <a:srgbClr val="000000"/>
                </a:solidFill>
                <a:latin typeface="TimesNewRomanPS"/>
              </a:rPr>
              <a:t>is a single outcome.</a:t>
            </a:r>
            <a:endParaRPr lang="en-US" sz="2800" dirty="0"/>
          </a:p>
        </p:txBody>
      </p:sp>
      <p:sp>
        <p:nvSpPr>
          <p:cNvPr id="5" name="Rectangle 4">
            <a:extLst>
              <a:ext uri="{FF2B5EF4-FFF2-40B4-BE49-F238E27FC236}">
                <a16:creationId xmlns:a16="http://schemas.microsoft.com/office/drawing/2014/main" id="{02860FDF-54E5-4755-92F9-A3B3D6667FFB}"/>
              </a:ext>
            </a:extLst>
          </p:cNvPr>
          <p:cNvSpPr/>
          <p:nvPr/>
        </p:nvSpPr>
        <p:spPr>
          <a:xfrm>
            <a:off x="408432" y="2234510"/>
            <a:ext cx="11448288" cy="2246769"/>
          </a:xfrm>
          <a:prstGeom prst="rect">
            <a:avLst/>
          </a:prstGeom>
        </p:spPr>
        <p:txBody>
          <a:bodyPr wrap="square">
            <a:spAutoFit/>
          </a:bodyPr>
          <a:lstStyle/>
          <a:p>
            <a:r>
              <a:rPr lang="en-US" sz="2800" dirty="0">
                <a:latin typeface="TimesNewRomanPS"/>
              </a:rPr>
              <a:t>Ex :</a:t>
            </a:r>
          </a:p>
          <a:p>
            <a:pPr marL="457200" indent="-457200">
              <a:buFont typeface="Arial" panose="020B0604020202020204" pitchFamily="34" charset="0"/>
              <a:buChar char="•"/>
            </a:pPr>
            <a:r>
              <a:rPr lang="en-US" sz="2800" dirty="0">
                <a:latin typeface="TimesNewRomanPS"/>
              </a:rPr>
              <a:t>The sample space for the experiment of tossing a fair coin one time is </a:t>
            </a:r>
          </a:p>
          <a:p>
            <a:r>
              <a:rPr lang="en-US" sz="2800" dirty="0">
                <a:solidFill>
                  <a:srgbClr val="FF0000"/>
                </a:solidFill>
                <a:latin typeface="TimesNewRomanPS"/>
                <a:cs typeface="Times New Roman" panose="02020603050405020304" pitchFamily="18" charset="0"/>
              </a:rPr>
              <a:t>      </a:t>
            </a:r>
            <a:r>
              <a:rPr lang="el-GR" sz="2800" dirty="0">
                <a:solidFill>
                  <a:srgbClr val="FF0000"/>
                </a:solidFill>
                <a:latin typeface="Times New Roman" panose="02020603050405020304" pitchFamily="18" charset="0"/>
                <a:cs typeface="Times New Roman" panose="02020603050405020304" pitchFamily="18" charset="0"/>
              </a:rPr>
              <a:t>S</a:t>
            </a:r>
            <a:r>
              <a:rPr lang="en-US" sz="2800" i="1" dirty="0">
                <a:latin typeface="TimesNewRomanPS-Italic"/>
              </a:rPr>
              <a:t> </a:t>
            </a:r>
            <a:r>
              <a:rPr lang="en-US" sz="2800" dirty="0">
                <a:latin typeface="MTSY"/>
              </a:rPr>
              <a:t>= {</a:t>
            </a:r>
            <a:r>
              <a:rPr lang="en-US" sz="2800" dirty="0">
                <a:latin typeface="TimesNewRomanPS"/>
              </a:rPr>
              <a:t>head, tail</a:t>
            </a:r>
            <a:r>
              <a:rPr lang="en-US" sz="2800" dirty="0">
                <a:latin typeface="MTSY"/>
              </a:rPr>
              <a:t>}</a:t>
            </a:r>
            <a:r>
              <a:rPr lang="en-US" sz="2800" dirty="0">
                <a:latin typeface="TimesNewRomanPS"/>
              </a:rPr>
              <a:t>. T</a:t>
            </a:r>
            <a:r>
              <a:rPr lang="en-US" sz="2800" dirty="0"/>
              <a:t>hese two elementary events are </a:t>
            </a:r>
            <a:r>
              <a:rPr lang="en-US" sz="2800" i="1" dirty="0">
                <a:solidFill>
                  <a:srgbClr val="0070C0"/>
                </a:solidFill>
              </a:rPr>
              <a:t>equally likely</a:t>
            </a:r>
            <a:r>
              <a:rPr lang="en-US" sz="2800" i="1" dirty="0">
                <a:solidFill>
                  <a:schemeClr val="accent5">
                    <a:lumMod val="50000"/>
                  </a:schemeClr>
                </a:solidFill>
              </a:rPr>
              <a:t>. </a:t>
            </a:r>
          </a:p>
          <a:p>
            <a:pPr marL="457200" indent="-457200">
              <a:buFont typeface="Arial" panose="020B0604020202020204" pitchFamily="34" charset="0"/>
              <a:buChar char="•"/>
            </a:pPr>
            <a:r>
              <a:rPr lang="en-US" sz="2800" dirty="0"/>
              <a:t>The sample space to describe buying a lottery ticket is </a:t>
            </a:r>
            <a:r>
              <a:rPr lang="el-GR" sz="2800" dirty="0">
                <a:solidFill>
                  <a:srgbClr val="FF0000"/>
                </a:solidFill>
                <a:latin typeface="Times New Roman" panose="02020603050405020304" pitchFamily="18" charset="0"/>
                <a:cs typeface="Times New Roman" panose="02020603050405020304" pitchFamily="18" charset="0"/>
              </a:rPr>
              <a:t>S</a:t>
            </a:r>
            <a:r>
              <a:rPr lang="en-US" sz="2800" i="1" dirty="0"/>
              <a:t> </a:t>
            </a:r>
            <a:r>
              <a:rPr lang="en-US" sz="2800" dirty="0"/>
              <a:t>= {win, lose}.  These elementary events are </a:t>
            </a:r>
            <a:r>
              <a:rPr lang="en-US" sz="2800" i="1" dirty="0">
                <a:solidFill>
                  <a:srgbClr val="0070C0"/>
                </a:solidFill>
              </a:rPr>
              <a:t>not equally likely</a:t>
            </a:r>
            <a:r>
              <a:rPr lang="en-US" sz="2800" dirty="0"/>
              <a:t>.</a:t>
            </a:r>
            <a:endParaRPr lang="en-US" sz="2800" dirty="0">
              <a:solidFill>
                <a:schemeClr val="accent5">
                  <a:lumMod val="50000"/>
                </a:schemeClr>
              </a:solidFill>
            </a:endParaRPr>
          </a:p>
        </p:txBody>
      </p:sp>
      <p:sp>
        <p:nvSpPr>
          <p:cNvPr id="6" name="TextBox 5">
            <a:extLst>
              <a:ext uri="{FF2B5EF4-FFF2-40B4-BE49-F238E27FC236}">
                <a16:creationId xmlns:a16="http://schemas.microsoft.com/office/drawing/2014/main" id="{850009E6-4782-429D-AE93-60DD39167671}"/>
              </a:ext>
            </a:extLst>
          </p:cNvPr>
          <p:cNvSpPr txBox="1"/>
          <p:nvPr/>
        </p:nvSpPr>
        <p:spPr>
          <a:xfrm>
            <a:off x="438912" y="4564953"/>
            <a:ext cx="11362944" cy="1815882"/>
          </a:xfrm>
          <a:prstGeom prst="rect">
            <a:avLst/>
          </a:prstGeom>
          <a:noFill/>
        </p:spPr>
        <p:txBody>
          <a:bodyPr wrap="square" rtlCol="0">
            <a:spAutoFit/>
          </a:bodyPr>
          <a:lstStyle/>
          <a:p>
            <a:r>
              <a:rPr lang="en-US" sz="2800" dirty="0"/>
              <a:t>Ex: Tossing a fair coin 2 times.</a:t>
            </a:r>
          </a:p>
          <a:p>
            <a:r>
              <a:rPr lang="en-US" sz="2800" dirty="0"/>
              <a:t>       </a:t>
            </a:r>
            <a:r>
              <a:rPr lang="el-GR" sz="2800" dirty="0">
                <a:solidFill>
                  <a:srgbClr val="FF0000"/>
                </a:solidFill>
                <a:latin typeface="Times New Roman" panose="02020603050405020304" pitchFamily="18" charset="0"/>
                <a:cs typeface="Times New Roman" panose="02020603050405020304" pitchFamily="18" charset="0"/>
              </a:rPr>
              <a:t>S</a:t>
            </a:r>
            <a:r>
              <a:rPr lang="en-US" sz="2800" dirty="0"/>
              <a:t>= {HH, HT, TH, TT} </a:t>
            </a:r>
          </a:p>
          <a:p>
            <a:r>
              <a:rPr lang="en-US" sz="2800" dirty="0"/>
              <a:t>      {at least 1 head} = {HH, HT, TH}</a:t>
            </a:r>
          </a:p>
          <a:p>
            <a:r>
              <a:rPr lang="en-US" sz="2800" dirty="0"/>
              <a:t>      {exactly one head} = {HT, TH} = {exactly one tail} </a:t>
            </a:r>
          </a:p>
        </p:txBody>
      </p:sp>
      <p:sp>
        <p:nvSpPr>
          <p:cNvPr id="3" name="Date Placeholder 2">
            <a:extLst>
              <a:ext uri="{FF2B5EF4-FFF2-40B4-BE49-F238E27FC236}">
                <a16:creationId xmlns:a16="http://schemas.microsoft.com/office/drawing/2014/main" id="{E71C53B1-2D40-4993-9078-FA5D560AAA02}"/>
              </a:ext>
            </a:extLst>
          </p:cNvPr>
          <p:cNvSpPr>
            <a:spLocks noGrp="1"/>
          </p:cNvSpPr>
          <p:nvPr>
            <p:ph type="dt" sz="half" idx="10"/>
          </p:nvPr>
        </p:nvSpPr>
        <p:spPr/>
        <p:txBody>
          <a:bodyPr/>
          <a:lstStyle/>
          <a:p>
            <a:fld id="{A2493F8C-E584-464D-88A6-D122B456E1AD}" type="datetime1">
              <a:rPr lang="en-US" smtClean="0"/>
              <a:t>2/27/24</a:t>
            </a:fld>
            <a:endParaRPr lang="en-US"/>
          </a:p>
        </p:txBody>
      </p:sp>
      <p:sp>
        <p:nvSpPr>
          <p:cNvPr id="7" name="Footer Placeholder 6">
            <a:extLst>
              <a:ext uri="{FF2B5EF4-FFF2-40B4-BE49-F238E27FC236}">
                <a16:creationId xmlns:a16="http://schemas.microsoft.com/office/drawing/2014/main" id="{4CB916FB-1D02-44AB-87A6-D475085EACA6}"/>
              </a:ext>
            </a:extLst>
          </p:cNvPr>
          <p:cNvSpPr>
            <a:spLocks noGrp="1"/>
          </p:cNvSpPr>
          <p:nvPr>
            <p:ph type="ftr" sz="quarter" idx="11"/>
          </p:nvPr>
        </p:nvSpPr>
        <p:spPr/>
        <p:txBody>
          <a:bodyPr/>
          <a:lstStyle/>
          <a:p>
            <a:r>
              <a:rPr lang="en-US"/>
              <a:t>Dr. Nguyễn Ngọc Ái Vân</a:t>
            </a:r>
            <a:endParaRPr lang="en-US" dirty="0"/>
          </a:p>
        </p:txBody>
      </p:sp>
      <p:sp>
        <p:nvSpPr>
          <p:cNvPr id="8" name="Slide Number Placeholder 7">
            <a:extLst>
              <a:ext uri="{FF2B5EF4-FFF2-40B4-BE49-F238E27FC236}">
                <a16:creationId xmlns:a16="http://schemas.microsoft.com/office/drawing/2014/main" id="{0817D9FA-1A16-4F7C-9D3D-BA11F7FFE576}"/>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0521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E625F0-B0AE-466D-8D32-C9EC9DFA1C4E}"/>
              </a:ext>
            </a:extLst>
          </p:cNvPr>
          <p:cNvSpPr/>
          <p:nvPr/>
        </p:nvSpPr>
        <p:spPr>
          <a:xfrm>
            <a:off x="581572" y="1077575"/>
            <a:ext cx="11293435" cy="954107"/>
          </a:xfrm>
          <a:prstGeom prst="rect">
            <a:avLst/>
          </a:prstGeom>
        </p:spPr>
        <p:txBody>
          <a:bodyPr wrap="square">
            <a:spAutoFit/>
          </a:bodyPr>
          <a:lstStyle/>
          <a:p>
            <a:r>
              <a:rPr lang="en-US" sz="2800" dirty="0">
                <a:solidFill>
                  <a:srgbClr val="000000"/>
                </a:solidFill>
                <a:latin typeface="TimesNewRomanPS"/>
              </a:rPr>
              <a:t>The </a:t>
            </a:r>
            <a:r>
              <a:rPr lang="en-US" sz="2800" b="1" dirty="0">
                <a:solidFill>
                  <a:srgbClr val="CD0D00"/>
                </a:solidFill>
                <a:latin typeface="TimesNewRomanPS-Bold"/>
              </a:rPr>
              <a:t>complement </a:t>
            </a:r>
            <a:r>
              <a:rPr lang="en-US" sz="2800" dirty="0">
                <a:solidFill>
                  <a:srgbClr val="000000"/>
                </a:solidFill>
                <a:latin typeface="TimesNewRomanPS"/>
              </a:rPr>
              <a:t>of an event </a:t>
            </a:r>
            <a:r>
              <a:rPr lang="en-US" sz="2800" i="1" dirty="0">
                <a:solidFill>
                  <a:srgbClr val="000000"/>
                </a:solidFill>
                <a:latin typeface="TimesNewRomanPS-Italic"/>
              </a:rPr>
              <a:t>A </a:t>
            </a:r>
            <a:r>
              <a:rPr lang="en-US" sz="2800" dirty="0">
                <a:solidFill>
                  <a:srgbClr val="000000"/>
                </a:solidFill>
                <a:latin typeface="TimesNewRomanPS"/>
              </a:rPr>
              <a:t>is denoted </a:t>
            </a:r>
            <a:r>
              <a:rPr lang="en-US" sz="2800" i="1" dirty="0">
                <a:solidFill>
                  <a:srgbClr val="000000"/>
                </a:solidFill>
                <a:latin typeface="TimesNewRomanPS-Italic"/>
              </a:rPr>
              <a:t>A</a:t>
            </a:r>
            <a:r>
              <a:rPr lang="en-US" sz="2800" i="1" baseline="30000" dirty="0">
                <a:solidFill>
                  <a:srgbClr val="000000"/>
                </a:solidFill>
                <a:latin typeface="TimesNewRomanPS-Italic"/>
              </a:rPr>
              <a:t>c</a:t>
            </a:r>
            <a:r>
              <a:rPr lang="en-US" sz="2800" dirty="0">
                <a:solidFill>
                  <a:srgbClr val="000000"/>
                </a:solidFill>
                <a:latin typeface="MTSY"/>
              </a:rPr>
              <a:t> </a:t>
            </a:r>
            <a:r>
              <a:rPr lang="en-US" sz="2800" dirty="0">
                <a:solidFill>
                  <a:srgbClr val="000000"/>
                </a:solidFill>
                <a:latin typeface="TimesNewRomanPS"/>
              </a:rPr>
              <a:t>and consists of everything in the sample space </a:t>
            </a:r>
            <a:r>
              <a:rPr lang="en-US" sz="2800" i="1" dirty="0">
                <a:solidFill>
                  <a:srgbClr val="000000"/>
                </a:solidFill>
                <a:latin typeface="TimesNewRomanPS-Italic"/>
              </a:rPr>
              <a:t>S </a:t>
            </a:r>
            <a:r>
              <a:rPr lang="en-US" sz="2800" dirty="0">
                <a:solidFill>
                  <a:srgbClr val="000000"/>
                </a:solidFill>
                <a:latin typeface="TimesNewRomanPS"/>
              </a:rPr>
              <a:t>except event </a:t>
            </a:r>
            <a:r>
              <a:rPr lang="en-US" sz="2800" i="1" dirty="0">
                <a:solidFill>
                  <a:srgbClr val="000000"/>
                </a:solidFill>
                <a:latin typeface="TimesNewRomanPS-Italic"/>
              </a:rPr>
              <a:t>A.</a:t>
            </a:r>
            <a:endParaRPr lang="en-US" sz="2800" dirty="0"/>
          </a:p>
        </p:txBody>
      </p:sp>
      <p:pic>
        <p:nvPicPr>
          <p:cNvPr id="3" name="Picture 2">
            <a:extLst>
              <a:ext uri="{FF2B5EF4-FFF2-40B4-BE49-F238E27FC236}">
                <a16:creationId xmlns:a16="http://schemas.microsoft.com/office/drawing/2014/main" id="{7203F53B-C1EA-4CAE-A840-E163289ACFDC}"/>
              </a:ext>
            </a:extLst>
          </p:cNvPr>
          <p:cNvPicPr>
            <a:picLocks noChangeAspect="1"/>
          </p:cNvPicPr>
          <p:nvPr/>
        </p:nvPicPr>
        <p:blipFill>
          <a:blip r:embed="rId2"/>
          <a:stretch>
            <a:fillRect/>
          </a:stretch>
        </p:blipFill>
        <p:spPr>
          <a:xfrm>
            <a:off x="7678292" y="1776126"/>
            <a:ext cx="2758060" cy="2104836"/>
          </a:xfrm>
          <a:prstGeom prst="rect">
            <a:avLst/>
          </a:prstGeom>
        </p:spPr>
      </p:pic>
      <p:sp>
        <p:nvSpPr>
          <p:cNvPr id="6" name="Rectangle 5">
            <a:extLst>
              <a:ext uri="{FF2B5EF4-FFF2-40B4-BE49-F238E27FC236}">
                <a16:creationId xmlns:a16="http://schemas.microsoft.com/office/drawing/2014/main" id="{C16A9156-4FCA-4F6F-B869-1382D58F736D}"/>
              </a:ext>
            </a:extLst>
          </p:cNvPr>
          <p:cNvSpPr/>
          <p:nvPr/>
        </p:nvSpPr>
        <p:spPr>
          <a:xfrm>
            <a:off x="422147" y="2155811"/>
            <a:ext cx="11155679" cy="5262979"/>
          </a:xfrm>
          <a:prstGeom prst="rect">
            <a:avLst/>
          </a:prstGeom>
        </p:spPr>
        <p:txBody>
          <a:bodyPr wrap="square">
            <a:spAutoFit/>
          </a:bodyPr>
          <a:lstStyle/>
          <a:p>
            <a:r>
              <a:rPr lang="en-US" sz="2800" dirty="0"/>
              <a:t>Example:   Tossing a die</a:t>
            </a:r>
          </a:p>
          <a:p>
            <a:r>
              <a:rPr lang="en-US" sz="2800" dirty="0"/>
              <a:t>      </a:t>
            </a:r>
            <a:r>
              <a:rPr lang="el-GR" sz="2800" dirty="0">
                <a:solidFill>
                  <a:srgbClr val="FF0000"/>
                </a:solidFill>
                <a:latin typeface="Times New Roman" panose="02020603050405020304" pitchFamily="18" charset="0"/>
                <a:cs typeface="Times New Roman" panose="02020603050405020304" pitchFamily="18" charset="0"/>
              </a:rPr>
              <a:t>S</a:t>
            </a:r>
            <a:r>
              <a:rPr lang="en-US" sz="2800" dirty="0"/>
              <a:t> = {1,2,3,4,5,6}</a:t>
            </a:r>
          </a:p>
          <a:p>
            <a:r>
              <a:rPr lang="en-US" sz="2800" dirty="0"/>
              <a:t>      A = {1, 3}  </a:t>
            </a:r>
          </a:p>
          <a:p>
            <a:r>
              <a:rPr lang="en-US" sz="2800" dirty="0"/>
              <a:t>      A</a:t>
            </a:r>
            <a:r>
              <a:rPr lang="en-US" sz="2800" baseline="30000" dirty="0"/>
              <a:t>c</a:t>
            </a:r>
            <a:r>
              <a:rPr lang="en-US" sz="2800" dirty="0"/>
              <a:t> = {2,4,5,6}</a:t>
            </a:r>
          </a:p>
          <a:p>
            <a:endParaRPr lang="en-US" sz="2800" dirty="0"/>
          </a:p>
          <a:p>
            <a:r>
              <a:rPr lang="en-US" sz="2800" dirty="0"/>
              <a:t>Example:</a:t>
            </a:r>
          </a:p>
          <a:p>
            <a:r>
              <a:rPr lang="el-GR" sz="2800" dirty="0">
                <a:solidFill>
                  <a:srgbClr val="FF0000"/>
                </a:solidFill>
                <a:latin typeface="Times New Roman" panose="02020603050405020304" pitchFamily="18" charset="0"/>
                <a:cs typeface="Times New Roman" panose="02020603050405020304" pitchFamily="18" charset="0"/>
              </a:rPr>
              <a:t>S</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 customer’s payment method} </a:t>
            </a:r>
            <a:r>
              <a:rPr lang="en-US" sz="2800" dirty="0">
                <a:latin typeface="MTSY"/>
              </a:rPr>
              <a:t>= </a:t>
            </a:r>
            <a:r>
              <a:rPr lang="en-US" sz="2800" dirty="0">
                <a:latin typeface="TimesNewRomanPS"/>
              </a:rPr>
              <a:t>{cash, debit card, credit card, check}</a:t>
            </a:r>
          </a:p>
          <a:p>
            <a:r>
              <a:rPr lang="en-US" sz="2800" dirty="0">
                <a:latin typeface="TimesNewRomanPS"/>
              </a:rPr>
              <a:t>A = {cash}</a:t>
            </a:r>
          </a:p>
          <a:p>
            <a:r>
              <a:rPr lang="en-US" sz="2800" dirty="0">
                <a:latin typeface="TimesNewRomanPS"/>
              </a:rPr>
              <a:t>A</a:t>
            </a:r>
            <a:r>
              <a:rPr lang="en-US" sz="2800" baseline="30000" dirty="0">
                <a:latin typeface="TimesNewRomanPS"/>
              </a:rPr>
              <a:t>c</a:t>
            </a:r>
            <a:r>
              <a:rPr lang="en-US" sz="2800" dirty="0">
                <a:latin typeface="TimesNewRomanPS"/>
              </a:rPr>
              <a:t> = {debit card, credit card, check}</a:t>
            </a:r>
          </a:p>
          <a:p>
            <a:endParaRPr lang="en-US" sz="2800" dirty="0">
              <a:latin typeface="TimesNewRomanPS"/>
            </a:endParaRPr>
          </a:p>
          <a:p>
            <a:endParaRPr lang="en-US" sz="2800" dirty="0"/>
          </a:p>
          <a:p>
            <a:r>
              <a:rPr lang="en-US" sz="2800" dirty="0"/>
              <a:t>      </a:t>
            </a:r>
          </a:p>
        </p:txBody>
      </p:sp>
      <p:sp>
        <p:nvSpPr>
          <p:cNvPr id="5" name="Date Placeholder 4">
            <a:extLst>
              <a:ext uri="{FF2B5EF4-FFF2-40B4-BE49-F238E27FC236}">
                <a16:creationId xmlns:a16="http://schemas.microsoft.com/office/drawing/2014/main" id="{BE0677E9-99B7-412F-B071-27FF3FD89004}"/>
              </a:ext>
            </a:extLst>
          </p:cNvPr>
          <p:cNvSpPr>
            <a:spLocks noGrp="1"/>
          </p:cNvSpPr>
          <p:nvPr>
            <p:ph type="dt" sz="half" idx="10"/>
          </p:nvPr>
        </p:nvSpPr>
        <p:spPr/>
        <p:txBody>
          <a:bodyPr/>
          <a:lstStyle/>
          <a:p>
            <a:fld id="{BB5E2AE0-345D-4D8E-B282-796DC71EA454}" type="datetime1">
              <a:rPr lang="en-US" smtClean="0"/>
              <a:t>2/27/24</a:t>
            </a:fld>
            <a:endParaRPr lang="en-US"/>
          </a:p>
        </p:txBody>
      </p:sp>
      <p:sp>
        <p:nvSpPr>
          <p:cNvPr id="7" name="Footer Placeholder 6">
            <a:extLst>
              <a:ext uri="{FF2B5EF4-FFF2-40B4-BE49-F238E27FC236}">
                <a16:creationId xmlns:a16="http://schemas.microsoft.com/office/drawing/2014/main" id="{19D4857F-4647-4057-9B08-3F33F29ECC38}"/>
              </a:ext>
            </a:extLst>
          </p:cNvPr>
          <p:cNvSpPr>
            <a:spLocks noGrp="1"/>
          </p:cNvSpPr>
          <p:nvPr>
            <p:ph type="ftr" sz="quarter" idx="11"/>
          </p:nvPr>
        </p:nvSpPr>
        <p:spPr/>
        <p:txBody>
          <a:bodyPr/>
          <a:lstStyle/>
          <a:p>
            <a:r>
              <a:rPr lang="en-US"/>
              <a:t>Dr. Nguyễn Ngọc Ái Vân</a:t>
            </a:r>
            <a:endParaRPr lang="en-US" dirty="0"/>
          </a:p>
        </p:txBody>
      </p:sp>
      <p:sp>
        <p:nvSpPr>
          <p:cNvPr id="8" name="Slide Number Placeholder 7">
            <a:extLst>
              <a:ext uri="{FF2B5EF4-FFF2-40B4-BE49-F238E27FC236}">
                <a16:creationId xmlns:a16="http://schemas.microsoft.com/office/drawing/2014/main" id="{88431B90-AE21-42F8-9408-640C7B4FC618}"/>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88468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577F2-2DD1-4DD2-A24B-61136C131EBB}"/>
              </a:ext>
            </a:extLst>
          </p:cNvPr>
          <p:cNvSpPr>
            <a:spLocks noGrp="1"/>
          </p:cNvSpPr>
          <p:nvPr>
            <p:ph type="title"/>
          </p:nvPr>
        </p:nvSpPr>
        <p:spPr/>
        <p:txBody>
          <a:bodyPr/>
          <a:lstStyle/>
          <a:p>
            <a:r>
              <a:rPr lang="en-US" dirty="0"/>
              <a:t>Set operation</a:t>
            </a:r>
          </a:p>
        </p:txBody>
      </p:sp>
      <p:sp>
        <p:nvSpPr>
          <p:cNvPr id="7" name="Rectangle 6">
            <a:extLst>
              <a:ext uri="{FF2B5EF4-FFF2-40B4-BE49-F238E27FC236}">
                <a16:creationId xmlns:a16="http://schemas.microsoft.com/office/drawing/2014/main" id="{23A1AAE2-FEF9-40DB-96A4-16E1C3712EEE}"/>
              </a:ext>
            </a:extLst>
          </p:cNvPr>
          <p:cNvSpPr/>
          <p:nvPr/>
        </p:nvSpPr>
        <p:spPr>
          <a:xfrm>
            <a:off x="522198" y="2076528"/>
            <a:ext cx="6096000" cy="954107"/>
          </a:xfrm>
          <a:prstGeom prst="rect">
            <a:avLst/>
          </a:prstGeom>
        </p:spPr>
        <p:txBody>
          <a:bodyPr>
            <a:spAutoFit/>
          </a:bodyPr>
          <a:lstStyle/>
          <a:p>
            <a:r>
              <a:rPr lang="en-US" sz="2800" dirty="0">
                <a:latin typeface="TimesNewRomanPS"/>
              </a:rPr>
              <a:t>The union of </a:t>
            </a:r>
            <a:r>
              <a:rPr lang="en-US" sz="2800" i="1" dirty="0">
                <a:latin typeface="TimesNewRomanPS-Italic"/>
              </a:rPr>
              <a:t>A </a:t>
            </a:r>
            <a:r>
              <a:rPr lang="en-US" sz="2800" dirty="0">
                <a:latin typeface="TimesNewRomanPS"/>
              </a:rPr>
              <a:t>and </a:t>
            </a:r>
            <a:r>
              <a:rPr lang="en-US" sz="2800" i="1" dirty="0">
                <a:latin typeface="TimesNewRomanPS-Italic"/>
              </a:rPr>
              <a:t>B </a:t>
            </a:r>
            <a:r>
              <a:rPr lang="en-US" sz="2800" dirty="0">
                <a:latin typeface="TimesNewRomanPS"/>
              </a:rPr>
              <a:t>is sometimes denoted </a:t>
            </a:r>
            <a:r>
              <a:rPr lang="en-US" sz="2800" i="1" dirty="0">
                <a:latin typeface="TimesNewRomanPS-Italic"/>
              </a:rPr>
              <a:t>A </a:t>
            </a:r>
            <a:r>
              <a:rPr lang="en-US" sz="2800" dirty="0">
                <a:latin typeface="MTSY"/>
              </a:rPr>
              <a:t>∪ </a:t>
            </a:r>
            <a:r>
              <a:rPr lang="en-US" sz="2800" i="1" dirty="0">
                <a:latin typeface="TimesNewRomanPS-Italic"/>
              </a:rPr>
              <a:t>B </a:t>
            </a:r>
            <a:r>
              <a:rPr lang="en-US" sz="2800" dirty="0">
                <a:latin typeface="TimesNewRomanPS"/>
              </a:rPr>
              <a:t>or “</a:t>
            </a:r>
            <a:r>
              <a:rPr lang="en-US" sz="2800" i="1" dirty="0">
                <a:latin typeface="TimesNewRomanPS-Italic"/>
              </a:rPr>
              <a:t>A </a:t>
            </a:r>
            <a:r>
              <a:rPr lang="en-US" sz="2800" dirty="0">
                <a:latin typeface="TimesNewRomanPS"/>
              </a:rPr>
              <a:t>or </a:t>
            </a:r>
            <a:r>
              <a:rPr lang="en-US" sz="2800" i="1" dirty="0">
                <a:latin typeface="TimesNewRomanPS-Italic"/>
              </a:rPr>
              <a:t>B</a:t>
            </a:r>
            <a:r>
              <a:rPr lang="en-US" sz="2800" dirty="0">
                <a:latin typeface="TimesNewRomanPS"/>
              </a:rPr>
              <a:t>”</a:t>
            </a:r>
            <a:endParaRPr lang="en-US" sz="2800" dirty="0"/>
          </a:p>
        </p:txBody>
      </p:sp>
      <p:sp>
        <p:nvSpPr>
          <p:cNvPr id="8" name="Rectangle 7">
            <a:extLst>
              <a:ext uri="{FF2B5EF4-FFF2-40B4-BE49-F238E27FC236}">
                <a16:creationId xmlns:a16="http://schemas.microsoft.com/office/drawing/2014/main" id="{DAA4F701-F234-416F-8D07-A4592CFD480C}"/>
              </a:ext>
            </a:extLst>
          </p:cNvPr>
          <p:cNvSpPr/>
          <p:nvPr/>
        </p:nvSpPr>
        <p:spPr>
          <a:xfrm>
            <a:off x="487680" y="1072739"/>
            <a:ext cx="11334496" cy="954107"/>
          </a:xfrm>
          <a:prstGeom prst="rect">
            <a:avLst/>
          </a:prstGeom>
        </p:spPr>
        <p:txBody>
          <a:bodyPr wrap="square">
            <a:spAutoFit/>
          </a:bodyPr>
          <a:lstStyle/>
          <a:p>
            <a:r>
              <a:rPr lang="en-US" sz="2800" dirty="0">
                <a:latin typeface="CMR10"/>
              </a:rPr>
              <a:t> A </a:t>
            </a:r>
            <a:r>
              <a:rPr lang="en-US" sz="2800" i="1" dirty="0">
                <a:solidFill>
                  <a:srgbClr val="FF0000"/>
                </a:solidFill>
                <a:latin typeface="CMBX10"/>
              </a:rPr>
              <a:t>union</a:t>
            </a:r>
            <a:r>
              <a:rPr lang="en-US" sz="2800" dirty="0">
                <a:latin typeface="CMBX10"/>
              </a:rPr>
              <a:t> </a:t>
            </a:r>
            <a:r>
              <a:rPr lang="en-US" sz="2800" dirty="0">
                <a:latin typeface="CMR10"/>
              </a:rPr>
              <a:t>of events </a:t>
            </a:r>
            <a:r>
              <a:rPr lang="en-US" sz="2800" dirty="0" err="1">
                <a:latin typeface="CMMI10"/>
              </a:rPr>
              <a:t>A,B,C</a:t>
            </a:r>
            <a:r>
              <a:rPr lang="en-US" sz="2800" dirty="0">
                <a:latin typeface="CMMI10"/>
              </a:rPr>
              <a:t>, . . . </a:t>
            </a:r>
            <a:r>
              <a:rPr lang="en-US" sz="2800" dirty="0">
                <a:latin typeface="CMR10"/>
              </a:rPr>
              <a:t>is an event consisting of </a:t>
            </a:r>
            <a:r>
              <a:rPr lang="en-US" sz="2800" dirty="0">
                <a:latin typeface="CMSL10"/>
              </a:rPr>
              <a:t>all </a:t>
            </a:r>
            <a:r>
              <a:rPr lang="en-US" sz="2800" dirty="0">
                <a:latin typeface="CMR10"/>
              </a:rPr>
              <a:t>the outcomes in all these events.</a:t>
            </a:r>
            <a:endParaRPr lang="en-US" sz="2800" dirty="0"/>
          </a:p>
        </p:txBody>
      </p:sp>
      <p:sp>
        <p:nvSpPr>
          <p:cNvPr id="9" name="TextBox 8">
            <a:extLst>
              <a:ext uri="{FF2B5EF4-FFF2-40B4-BE49-F238E27FC236}">
                <a16:creationId xmlns:a16="http://schemas.microsoft.com/office/drawing/2014/main" id="{A30BE634-E1E6-492B-BF63-3C6184FC9262}"/>
              </a:ext>
            </a:extLst>
          </p:cNvPr>
          <p:cNvSpPr txBox="1"/>
          <p:nvPr/>
        </p:nvSpPr>
        <p:spPr>
          <a:xfrm>
            <a:off x="467866" y="3047427"/>
            <a:ext cx="12197167" cy="3539430"/>
          </a:xfrm>
          <a:prstGeom prst="rect">
            <a:avLst/>
          </a:prstGeom>
          <a:noFill/>
        </p:spPr>
        <p:txBody>
          <a:bodyPr wrap="square" rtlCol="0">
            <a:spAutoFit/>
          </a:bodyPr>
          <a:lstStyle/>
          <a:p>
            <a:r>
              <a:rPr lang="en-US" sz="2800" dirty="0"/>
              <a:t>Ex 1: Tossing a die</a:t>
            </a:r>
          </a:p>
          <a:p>
            <a:r>
              <a:rPr lang="en-US" sz="2800" dirty="0"/>
              <a:t>      </a:t>
            </a:r>
            <a:r>
              <a:rPr lang="el-GR" sz="2800" dirty="0">
                <a:solidFill>
                  <a:srgbClr val="FF0000"/>
                </a:solidFill>
                <a:latin typeface="Times New Roman" panose="02020603050405020304" pitchFamily="18" charset="0"/>
                <a:cs typeface="Times New Roman" panose="02020603050405020304" pitchFamily="18" charset="0"/>
              </a:rPr>
              <a:t>S</a:t>
            </a:r>
            <a:r>
              <a:rPr lang="en-US" sz="2800" dirty="0"/>
              <a:t> = {1,2,3,4,5,6}</a:t>
            </a:r>
          </a:p>
          <a:p>
            <a:r>
              <a:rPr lang="en-US" sz="2800" dirty="0"/>
              <a:t>      A = {1, 3}  ,  B = {3, 4, 6}</a:t>
            </a:r>
          </a:p>
          <a:p>
            <a:r>
              <a:rPr lang="en-US" sz="2800" dirty="0"/>
              <a:t>     </a:t>
            </a:r>
            <a:r>
              <a:rPr lang="en-US" sz="2800" i="1" dirty="0">
                <a:latin typeface="TimesNewRomanPS-Italic"/>
              </a:rPr>
              <a:t>A </a:t>
            </a:r>
            <a:r>
              <a:rPr lang="en-US" sz="2800" dirty="0">
                <a:latin typeface="MTSY"/>
              </a:rPr>
              <a:t>∪ </a:t>
            </a:r>
            <a:r>
              <a:rPr lang="en-US" sz="2800" i="1" dirty="0">
                <a:latin typeface="TimesNewRomanPS-Italic"/>
              </a:rPr>
              <a:t>B</a:t>
            </a:r>
            <a:r>
              <a:rPr lang="en-US" sz="2800" dirty="0"/>
              <a:t> = {1, 3, 4, 6}</a:t>
            </a:r>
          </a:p>
          <a:p>
            <a:endParaRPr lang="en-US" sz="2800" dirty="0"/>
          </a:p>
          <a:p>
            <a:r>
              <a:rPr lang="en-US" sz="2800" dirty="0"/>
              <a:t>Ex 2:    V  = {a customer has a Visa card}. </a:t>
            </a:r>
          </a:p>
          <a:p>
            <a:r>
              <a:rPr lang="en-US" sz="2800" dirty="0"/>
              <a:t>            M = { a customer has a MasterCard}</a:t>
            </a:r>
          </a:p>
          <a:p>
            <a:r>
              <a:rPr lang="en-US" sz="2800" dirty="0"/>
              <a:t>            V </a:t>
            </a:r>
            <a:r>
              <a:rPr lang="en-US" sz="2800" dirty="0">
                <a:latin typeface="MTSY"/>
              </a:rPr>
              <a:t>∪ M = ?</a:t>
            </a:r>
            <a:endParaRPr lang="en-US" sz="2800" dirty="0"/>
          </a:p>
        </p:txBody>
      </p:sp>
      <p:pic>
        <p:nvPicPr>
          <p:cNvPr id="3" name="Picture 2">
            <a:extLst>
              <a:ext uri="{FF2B5EF4-FFF2-40B4-BE49-F238E27FC236}">
                <a16:creationId xmlns:a16="http://schemas.microsoft.com/office/drawing/2014/main" id="{A15AF412-0423-41A8-B352-7DF6917D8503}"/>
              </a:ext>
            </a:extLst>
          </p:cNvPr>
          <p:cNvPicPr>
            <a:picLocks noChangeAspect="1"/>
          </p:cNvPicPr>
          <p:nvPr/>
        </p:nvPicPr>
        <p:blipFill>
          <a:blip r:embed="rId2"/>
          <a:stretch>
            <a:fillRect/>
          </a:stretch>
        </p:blipFill>
        <p:spPr>
          <a:xfrm>
            <a:off x="7683436" y="2149916"/>
            <a:ext cx="4159603" cy="3202372"/>
          </a:xfrm>
          <a:prstGeom prst="rect">
            <a:avLst/>
          </a:prstGeom>
        </p:spPr>
      </p:pic>
      <p:sp>
        <p:nvSpPr>
          <p:cNvPr id="4" name="Date Placeholder 3">
            <a:extLst>
              <a:ext uri="{FF2B5EF4-FFF2-40B4-BE49-F238E27FC236}">
                <a16:creationId xmlns:a16="http://schemas.microsoft.com/office/drawing/2014/main" id="{DCF3C1B9-88FE-4DEC-982D-AA2B619B23D1}"/>
              </a:ext>
            </a:extLst>
          </p:cNvPr>
          <p:cNvSpPr>
            <a:spLocks noGrp="1"/>
          </p:cNvSpPr>
          <p:nvPr>
            <p:ph type="dt" sz="half" idx="10"/>
          </p:nvPr>
        </p:nvSpPr>
        <p:spPr/>
        <p:txBody>
          <a:bodyPr/>
          <a:lstStyle/>
          <a:p>
            <a:fld id="{545C1B54-C2D8-456F-90F7-6D747F0929F6}" type="datetime1">
              <a:rPr lang="en-US" smtClean="0"/>
              <a:t>2/27/24</a:t>
            </a:fld>
            <a:endParaRPr lang="en-US"/>
          </a:p>
        </p:txBody>
      </p:sp>
      <p:sp>
        <p:nvSpPr>
          <p:cNvPr id="5" name="Footer Placeholder 4">
            <a:extLst>
              <a:ext uri="{FF2B5EF4-FFF2-40B4-BE49-F238E27FC236}">
                <a16:creationId xmlns:a16="http://schemas.microsoft.com/office/drawing/2014/main" id="{B8674588-EFB5-4FD3-A808-D7590B4212AF}"/>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D4E6D368-0BFF-40FE-9DB6-ECD07D564C2D}"/>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171498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9080-3341-4B2F-BE39-7B3C2FE2B355}"/>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91C9210B-075D-40B8-9E41-0DA0EE6C9FDB}"/>
              </a:ext>
            </a:extLst>
          </p:cNvPr>
          <p:cNvSpPr/>
          <p:nvPr/>
        </p:nvSpPr>
        <p:spPr>
          <a:xfrm>
            <a:off x="428752" y="1121217"/>
            <a:ext cx="11334496" cy="954107"/>
          </a:xfrm>
          <a:prstGeom prst="rect">
            <a:avLst/>
          </a:prstGeom>
        </p:spPr>
        <p:txBody>
          <a:bodyPr wrap="square">
            <a:spAutoFit/>
          </a:bodyPr>
          <a:lstStyle/>
          <a:p>
            <a:r>
              <a:rPr lang="en-US" sz="2800" dirty="0">
                <a:latin typeface="CMR10"/>
              </a:rPr>
              <a:t>An </a:t>
            </a:r>
            <a:r>
              <a:rPr lang="en-US" sz="2800" i="1" dirty="0">
                <a:solidFill>
                  <a:srgbClr val="FF0000"/>
                </a:solidFill>
                <a:latin typeface="CMBX10"/>
              </a:rPr>
              <a:t>intersection</a:t>
            </a:r>
            <a:r>
              <a:rPr lang="en-US" sz="2800" dirty="0">
                <a:latin typeface="CMBX10"/>
              </a:rPr>
              <a:t> </a:t>
            </a:r>
            <a:r>
              <a:rPr lang="en-US" sz="2800" dirty="0">
                <a:latin typeface="CMR10"/>
              </a:rPr>
              <a:t>of events </a:t>
            </a:r>
            <a:r>
              <a:rPr lang="en-US" sz="2800" dirty="0">
                <a:latin typeface="CMMI10"/>
              </a:rPr>
              <a:t>A, and B </a:t>
            </a:r>
            <a:r>
              <a:rPr lang="en-US" sz="2800" dirty="0">
                <a:latin typeface="CMR10"/>
              </a:rPr>
              <a:t>is an event consisting of outcomes that</a:t>
            </a:r>
          </a:p>
          <a:p>
            <a:r>
              <a:rPr lang="en-US" sz="2800" dirty="0">
                <a:latin typeface="CMR10"/>
              </a:rPr>
              <a:t>are </a:t>
            </a:r>
            <a:r>
              <a:rPr lang="en-US" sz="2800" dirty="0">
                <a:latin typeface="CMSL10"/>
              </a:rPr>
              <a:t>common </a:t>
            </a:r>
            <a:r>
              <a:rPr lang="en-US" sz="2800" dirty="0">
                <a:latin typeface="CMR10"/>
              </a:rPr>
              <a:t>in all these events.</a:t>
            </a:r>
          </a:p>
        </p:txBody>
      </p:sp>
      <p:sp>
        <p:nvSpPr>
          <p:cNvPr id="6" name="Rectangle 5">
            <a:extLst>
              <a:ext uri="{FF2B5EF4-FFF2-40B4-BE49-F238E27FC236}">
                <a16:creationId xmlns:a16="http://schemas.microsoft.com/office/drawing/2014/main" id="{44E42D35-EDF0-4B2C-B962-D37F80A7C556}"/>
              </a:ext>
            </a:extLst>
          </p:cNvPr>
          <p:cNvSpPr/>
          <p:nvPr/>
        </p:nvSpPr>
        <p:spPr>
          <a:xfrm>
            <a:off x="406400" y="2186561"/>
            <a:ext cx="6096000" cy="954107"/>
          </a:xfrm>
          <a:prstGeom prst="rect">
            <a:avLst/>
          </a:prstGeom>
        </p:spPr>
        <p:txBody>
          <a:bodyPr>
            <a:spAutoFit/>
          </a:bodyPr>
          <a:lstStyle/>
          <a:p>
            <a:r>
              <a:rPr lang="en-US" sz="2800" dirty="0">
                <a:latin typeface="TimesNewRomanPS"/>
              </a:rPr>
              <a:t>The intersection of </a:t>
            </a:r>
            <a:r>
              <a:rPr lang="en-US" sz="2800" i="1" dirty="0">
                <a:latin typeface="TimesNewRomanPS-Italic"/>
              </a:rPr>
              <a:t>A </a:t>
            </a:r>
            <a:r>
              <a:rPr lang="en-US" sz="2800" dirty="0">
                <a:latin typeface="TimesNewRomanPS"/>
              </a:rPr>
              <a:t>and </a:t>
            </a:r>
            <a:r>
              <a:rPr lang="en-US" sz="2800" i="1" dirty="0">
                <a:latin typeface="TimesNewRomanPS-Italic"/>
              </a:rPr>
              <a:t>B </a:t>
            </a:r>
            <a:r>
              <a:rPr lang="en-US" sz="2800" dirty="0">
                <a:latin typeface="TimesNewRomanPS"/>
              </a:rPr>
              <a:t>is denoted</a:t>
            </a:r>
          </a:p>
          <a:p>
            <a:r>
              <a:rPr lang="en-US" sz="2800" i="1" dirty="0">
                <a:latin typeface="TimesNewRomanPS-Italic"/>
              </a:rPr>
              <a:t>A </a:t>
            </a:r>
            <a:r>
              <a:rPr lang="en-US" sz="2800" dirty="0">
                <a:latin typeface="MTSY"/>
              </a:rPr>
              <a:t>∩ </a:t>
            </a:r>
            <a:r>
              <a:rPr lang="en-US" sz="2800" i="1" dirty="0">
                <a:latin typeface="TimesNewRomanPS-Italic"/>
              </a:rPr>
              <a:t>B </a:t>
            </a:r>
            <a:r>
              <a:rPr lang="en-US" sz="2800" dirty="0">
                <a:latin typeface="TimesNewRomanPS"/>
              </a:rPr>
              <a:t>or “</a:t>
            </a:r>
            <a:r>
              <a:rPr lang="en-US" sz="2800" i="1" dirty="0">
                <a:latin typeface="TimesNewRomanPS-Italic"/>
              </a:rPr>
              <a:t>A </a:t>
            </a:r>
            <a:r>
              <a:rPr lang="en-US" sz="2800" dirty="0">
                <a:latin typeface="TimesNewRomanPS"/>
              </a:rPr>
              <a:t>and </a:t>
            </a:r>
            <a:r>
              <a:rPr lang="en-US" sz="2800" i="1" dirty="0">
                <a:latin typeface="TimesNewRomanPS-Italic"/>
              </a:rPr>
              <a:t>B</a:t>
            </a:r>
            <a:r>
              <a:rPr lang="en-US" sz="2800" dirty="0">
                <a:latin typeface="TimesNewRomanPS"/>
              </a:rPr>
              <a:t>”</a:t>
            </a:r>
            <a:endParaRPr lang="en-US" sz="2800" dirty="0"/>
          </a:p>
        </p:txBody>
      </p:sp>
      <p:sp>
        <p:nvSpPr>
          <p:cNvPr id="7" name="Rectangle 6">
            <a:extLst>
              <a:ext uri="{FF2B5EF4-FFF2-40B4-BE49-F238E27FC236}">
                <a16:creationId xmlns:a16="http://schemas.microsoft.com/office/drawing/2014/main" id="{545B8645-3BEF-4B6E-BD71-4B72ABE2E306}"/>
              </a:ext>
            </a:extLst>
          </p:cNvPr>
          <p:cNvSpPr/>
          <p:nvPr/>
        </p:nvSpPr>
        <p:spPr>
          <a:xfrm>
            <a:off x="407879" y="3211918"/>
            <a:ext cx="10770662" cy="3970318"/>
          </a:xfrm>
          <a:prstGeom prst="rect">
            <a:avLst/>
          </a:prstGeom>
        </p:spPr>
        <p:txBody>
          <a:bodyPr wrap="square">
            <a:spAutoFit/>
          </a:bodyPr>
          <a:lstStyle/>
          <a:p>
            <a:r>
              <a:rPr lang="en-US" sz="2800" dirty="0"/>
              <a:t>Ex 1: Tossing a die</a:t>
            </a:r>
          </a:p>
          <a:p>
            <a:r>
              <a:rPr lang="en-US" sz="2800" dirty="0"/>
              <a:t>      </a:t>
            </a:r>
            <a:r>
              <a:rPr lang="el-GR" sz="2800" dirty="0">
                <a:solidFill>
                  <a:srgbClr val="FF0000"/>
                </a:solidFill>
                <a:latin typeface="Times New Roman" panose="02020603050405020304" pitchFamily="18" charset="0"/>
                <a:cs typeface="Times New Roman" panose="02020603050405020304" pitchFamily="18" charset="0"/>
              </a:rPr>
              <a:t>S</a:t>
            </a:r>
            <a:r>
              <a:rPr lang="en-US" sz="2800" dirty="0"/>
              <a:t> = {1,2,3,4,5,6}</a:t>
            </a:r>
          </a:p>
          <a:p>
            <a:r>
              <a:rPr lang="en-US" sz="2800" dirty="0"/>
              <a:t>      A = {1, 3}  ,  B = {3, 4, 6}</a:t>
            </a:r>
          </a:p>
          <a:p>
            <a:r>
              <a:rPr lang="en-US" sz="2800" dirty="0"/>
              <a:t>      </a:t>
            </a:r>
            <a:r>
              <a:rPr lang="en-US" sz="2800" i="1" dirty="0">
                <a:latin typeface="TimesNewRomanPS-Italic"/>
              </a:rPr>
              <a:t>A </a:t>
            </a:r>
            <a:r>
              <a:rPr lang="en-US" sz="2800" dirty="0">
                <a:latin typeface="MTSY"/>
              </a:rPr>
              <a:t>∩ </a:t>
            </a:r>
            <a:r>
              <a:rPr lang="en-US" sz="2800" i="1" dirty="0">
                <a:latin typeface="TimesNewRomanPS-Italic"/>
              </a:rPr>
              <a:t>B</a:t>
            </a:r>
            <a:r>
              <a:rPr lang="en-US" sz="2800" dirty="0"/>
              <a:t> = {3}</a:t>
            </a:r>
          </a:p>
          <a:p>
            <a:r>
              <a:rPr lang="en-US" sz="2800" dirty="0"/>
              <a:t>Ex 2: V  = { a customer has a Visa card }. </a:t>
            </a:r>
          </a:p>
          <a:p>
            <a:r>
              <a:rPr lang="en-US" sz="2800" dirty="0"/>
              <a:t>         M = { a customer has a MasterCard}</a:t>
            </a:r>
          </a:p>
          <a:p>
            <a:r>
              <a:rPr lang="en-US" sz="2800" dirty="0"/>
              <a:t>         V </a:t>
            </a:r>
            <a:r>
              <a:rPr lang="en-US" sz="2800" dirty="0">
                <a:latin typeface="MTSY"/>
              </a:rPr>
              <a:t>∩ M = ?</a:t>
            </a:r>
            <a:endParaRPr lang="en-US" sz="2800" dirty="0"/>
          </a:p>
          <a:p>
            <a:endParaRPr lang="en-US" sz="2800" dirty="0"/>
          </a:p>
          <a:p>
            <a:endParaRPr lang="en-US" sz="2800" dirty="0"/>
          </a:p>
        </p:txBody>
      </p:sp>
      <p:pic>
        <p:nvPicPr>
          <p:cNvPr id="3" name="Picture 2">
            <a:extLst>
              <a:ext uri="{FF2B5EF4-FFF2-40B4-BE49-F238E27FC236}">
                <a16:creationId xmlns:a16="http://schemas.microsoft.com/office/drawing/2014/main" id="{0DD236EA-9A4D-4AEA-9C87-62ACD0EB5CEA}"/>
              </a:ext>
            </a:extLst>
          </p:cNvPr>
          <p:cNvPicPr>
            <a:picLocks noChangeAspect="1"/>
          </p:cNvPicPr>
          <p:nvPr/>
        </p:nvPicPr>
        <p:blipFill>
          <a:blip r:embed="rId2"/>
          <a:stretch>
            <a:fillRect/>
          </a:stretch>
        </p:blipFill>
        <p:spPr>
          <a:xfrm>
            <a:off x="7107555" y="2434541"/>
            <a:ext cx="3379512" cy="2600755"/>
          </a:xfrm>
          <a:prstGeom prst="rect">
            <a:avLst/>
          </a:prstGeom>
        </p:spPr>
      </p:pic>
      <p:sp>
        <p:nvSpPr>
          <p:cNvPr id="5" name="Date Placeholder 4">
            <a:extLst>
              <a:ext uri="{FF2B5EF4-FFF2-40B4-BE49-F238E27FC236}">
                <a16:creationId xmlns:a16="http://schemas.microsoft.com/office/drawing/2014/main" id="{A2B24111-E29D-4DC8-9AF8-E9A4CDD8046E}"/>
              </a:ext>
            </a:extLst>
          </p:cNvPr>
          <p:cNvSpPr>
            <a:spLocks noGrp="1"/>
          </p:cNvSpPr>
          <p:nvPr>
            <p:ph type="dt" sz="half" idx="10"/>
          </p:nvPr>
        </p:nvSpPr>
        <p:spPr/>
        <p:txBody>
          <a:bodyPr/>
          <a:lstStyle/>
          <a:p>
            <a:fld id="{FBFCE44D-A102-43B8-9288-7B5A55A5A557}" type="datetime1">
              <a:rPr lang="en-US" smtClean="0"/>
              <a:t>2/27/24</a:t>
            </a:fld>
            <a:endParaRPr lang="en-US"/>
          </a:p>
        </p:txBody>
      </p:sp>
      <p:sp>
        <p:nvSpPr>
          <p:cNvPr id="8" name="Footer Placeholder 7">
            <a:extLst>
              <a:ext uri="{FF2B5EF4-FFF2-40B4-BE49-F238E27FC236}">
                <a16:creationId xmlns:a16="http://schemas.microsoft.com/office/drawing/2014/main" id="{ABAA2668-FAE6-4906-AD21-EF800A78AEE0}"/>
              </a:ext>
            </a:extLst>
          </p:cNvPr>
          <p:cNvSpPr>
            <a:spLocks noGrp="1"/>
          </p:cNvSpPr>
          <p:nvPr>
            <p:ph type="ftr" sz="quarter" idx="11"/>
          </p:nvPr>
        </p:nvSpPr>
        <p:spPr/>
        <p:txBody>
          <a:bodyPr/>
          <a:lstStyle/>
          <a:p>
            <a:r>
              <a:rPr lang="en-US"/>
              <a:t>Dr. Nguyễn Ngọc Ái Vân</a:t>
            </a:r>
            <a:endParaRPr lang="en-US" dirty="0"/>
          </a:p>
        </p:txBody>
      </p:sp>
      <p:sp>
        <p:nvSpPr>
          <p:cNvPr id="9" name="Slide Number Placeholder 8">
            <a:extLst>
              <a:ext uri="{FF2B5EF4-FFF2-40B4-BE49-F238E27FC236}">
                <a16:creationId xmlns:a16="http://schemas.microsoft.com/office/drawing/2014/main" id="{2E3E4F1F-7BCA-4EFE-977C-3FA18DE76D72}"/>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56185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3C6B-E063-4AFE-8AEA-5566B32E803B}"/>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19BECC87-AA30-404D-A2E5-5276E4D802D5}"/>
              </a:ext>
            </a:extLst>
          </p:cNvPr>
          <p:cNvSpPr/>
          <p:nvPr/>
        </p:nvSpPr>
        <p:spPr>
          <a:xfrm>
            <a:off x="276772" y="1247192"/>
            <a:ext cx="11204028" cy="954107"/>
          </a:xfrm>
          <a:prstGeom prst="rect">
            <a:avLst/>
          </a:prstGeom>
        </p:spPr>
        <p:txBody>
          <a:bodyPr wrap="square">
            <a:spAutoFit/>
          </a:bodyPr>
          <a:lstStyle/>
          <a:p>
            <a:r>
              <a:rPr lang="en-US" sz="2800" dirty="0">
                <a:solidFill>
                  <a:srgbClr val="000000"/>
                </a:solidFill>
                <a:latin typeface="TimesNewRomanPS"/>
              </a:rPr>
              <a:t>Events </a:t>
            </a:r>
            <a:r>
              <a:rPr lang="en-US" sz="2800" i="1" dirty="0">
                <a:solidFill>
                  <a:srgbClr val="000000"/>
                </a:solidFill>
                <a:latin typeface="TimesNewRomanPS-Italic"/>
              </a:rPr>
              <a:t>A </a:t>
            </a:r>
            <a:r>
              <a:rPr lang="en-US" sz="2800" dirty="0">
                <a:solidFill>
                  <a:srgbClr val="000000"/>
                </a:solidFill>
                <a:latin typeface="TimesNewRomanPS"/>
              </a:rPr>
              <a:t>and </a:t>
            </a:r>
            <a:r>
              <a:rPr lang="en-US" sz="2800" i="1" dirty="0">
                <a:solidFill>
                  <a:srgbClr val="000000"/>
                </a:solidFill>
                <a:latin typeface="TimesNewRomanPS-Italic"/>
              </a:rPr>
              <a:t>B </a:t>
            </a:r>
            <a:r>
              <a:rPr lang="en-US" sz="2800" dirty="0">
                <a:solidFill>
                  <a:srgbClr val="000000"/>
                </a:solidFill>
                <a:latin typeface="TimesNewRomanPS"/>
              </a:rPr>
              <a:t>are </a:t>
            </a:r>
            <a:r>
              <a:rPr lang="en-US" sz="2800" b="1" dirty="0">
                <a:solidFill>
                  <a:srgbClr val="FF0000"/>
                </a:solidFill>
                <a:latin typeface="TimesNewRomanPS"/>
              </a:rPr>
              <a:t>mutually exclusive </a:t>
            </a:r>
            <a:r>
              <a:rPr lang="en-US" sz="2800" dirty="0">
                <a:latin typeface="TimesNewRomanPS"/>
              </a:rPr>
              <a:t>(or </a:t>
            </a:r>
            <a:r>
              <a:rPr lang="en-US" sz="2800" b="1" dirty="0">
                <a:solidFill>
                  <a:srgbClr val="CD0D00"/>
                </a:solidFill>
                <a:latin typeface="TimesNewRomanPS-Bold"/>
              </a:rPr>
              <a:t>disjoint</a:t>
            </a:r>
            <a:r>
              <a:rPr lang="en-US" sz="2800" dirty="0">
                <a:solidFill>
                  <a:srgbClr val="CD0D00"/>
                </a:solidFill>
                <a:latin typeface="TimesNewRomanPS-Bold"/>
              </a:rPr>
              <a:t>)</a:t>
            </a:r>
            <a:r>
              <a:rPr lang="en-US" sz="2800" dirty="0">
                <a:solidFill>
                  <a:srgbClr val="000000"/>
                </a:solidFill>
                <a:latin typeface="TimesNewRomanPS"/>
              </a:rPr>
              <a:t> if their intersection is the </a:t>
            </a:r>
            <a:r>
              <a:rPr lang="en-US" sz="2800" b="1" dirty="0">
                <a:solidFill>
                  <a:srgbClr val="CD0D00"/>
                </a:solidFill>
                <a:latin typeface="TimesNewRomanPS-Bold"/>
              </a:rPr>
              <a:t>empty set </a:t>
            </a:r>
            <a:r>
              <a:rPr lang="en-US" sz="2800" dirty="0">
                <a:solidFill>
                  <a:srgbClr val="000000"/>
                </a:solidFill>
                <a:latin typeface="TimesNewRomanPS"/>
              </a:rPr>
              <a:t>(a set that contains no elements).</a:t>
            </a:r>
            <a:endParaRPr lang="en-US" sz="2800" dirty="0"/>
          </a:p>
        </p:txBody>
      </p:sp>
      <p:pic>
        <p:nvPicPr>
          <p:cNvPr id="5" name="Picture 4">
            <a:extLst>
              <a:ext uri="{FF2B5EF4-FFF2-40B4-BE49-F238E27FC236}">
                <a16:creationId xmlns:a16="http://schemas.microsoft.com/office/drawing/2014/main" id="{57EA96D2-340A-49F2-A81F-8270B6D988D7}"/>
              </a:ext>
            </a:extLst>
          </p:cNvPr>
          <p:cNvPicPr>
            <a:picLocks noChangeAspect="1"/>
          </p:cNvPicPr>
          <p:nvPr/>
        </p:nvPicPr>
        <p:blipFill>
          <a:blip r:embed="rId2"/>
          <a:stretch>
            <a:fillRect/>
          </a:stretch>
        </p:blipFill>
        <p:spPr>
          <a:xfrm>
            <a:off x="670749" y="2686491"/>
            <a:ext cx="2901507" cy="1267325"/>
          </a:xfrm>
          <a:prstGeom prst="rect">
            <a:avLst/>
          </a:prstGeom>
        </p:spPr>
      </p:pic>
      <p:sp>
        <p:nvSpPr>
          <p:cNvPr id="6" name="TextBox 5">
            <a:extLst>
              <a:ext uri="{FF2B5EF4-FFF2-40B4-BE49-F238E27FC236}">
                <a16:creationId xmlns:a16="http://schemas.microsoft.com/office/drawing/2014/main" id="{E253ED22-65BA-4E9E-AB60-F9E6181C64F6}"/>
              </a:ext>
            </a:extLst>
          </p:cNvPr>
          <p:cNvSpPr txBox="1"/>
          <p:nvPr/>
        </p:nvSpPr>
        <p:spPr>
          <a:xfrm>
            <a:off x="4340541" y="2686491"/>
            <a:ext cx="7561072" cy="523220"/>
          </a:xfrm>
          <a:prstGeom prst="rect">
            <a:avLst/>
          </a:prstGeom>
          <a:noFill/>
        </p:spPr>
        <p:txBody>
          <a:bodyPr wrap="square" rtlCol="0">
            <a:spAutoFit/>
          </a:bodyPr>
          <a:lstStyle/>
          <a:p>
            <a:r>
              <a:rPr lang="en-US" sz="2800" dirty="0"/>
              <a:t>Example: </a:t>
            </a:r>
            <a:r>
              <a:rPr lang="en-US" sz="2800" i="1" dirty="0"/>
              <a:t> Customer age: A </a:t>
            </a:r>
            <a:r>
              <a:rPr lang="en-US" sz="2800" dirty="0"/>
              <a:t>= under 21, </a:t>
            </a:r>
            <a:r>
              <a:rPr lang="en-US" sz="2800" i="1" dirty="0"/>
              <a:t>B </a:t>
            </a:r>
            <a:r>
              <a:rPr lang="en-US" sz="2800" dirty="0"/>
              <a:t>= over 65</a:t>
            </a:r>
          </a:p>
        </p:txBody>
      </p:sp>
      <p:sp>
        <p:nvSpPr>
          <p:cNvPr id="7" name="Rectangle 6">
            <a:extLst>
              <a:ext uri="{FF2B5EF4-FFF2-40B4-BE49-F238E27FC236}">
                <a16:creationId xmlns:a16="http://schemas.microsoft.com/office/drawing/2014/main" id="{F47EEB07-D13D-4603-B597-B6BA9499E5A7}"/>
              </a:ext>
            </a:extLst>
          </p:cNvPr>
          <p:cNvSpPr/>
          <p:nvPr/>
        </p:nvSpPr>
        <p:spPr>
          <a:xfrm>
            <a:off x="670749" y="4197437"/>
            <a:ext cx="11204028" cy="1815882"/>
          </a:xfrm>
          <a:prstGeom prst="rect">
            <a:avLst/>
          </a:prstGeom>
        </p:spPr>
        <p:txBody>
          <a:bodyPr wrap="square">
            <a:spAutoFit/>
          </a:bodyPr>
          <a:lstStyle/>
          <a:p>
            <a:r>
              <a:rPr lang="en-US" sz="2800" dirty="0">
                <a:solidFill>
                  <a:srgbClr val="0070C0"/>
                </a:solidFill>
              </a:rPr>
              <a:t>Note: </a:t>
            </a:r>
          </a:p>
          <a:p>
            <a:pPr marL="457200" indent="-457200">
              <a:buFont typeface="Arial" panose="020B0604020202020204" pitchFamily="34" charset="0"/>
              <a:buChar char="•"/>
            </a:pPr>
            <a:r>
              <a:rPr lang="en-US" sz="2800" dirty="0">
                <a:solidFill>
                  <a:srgbClr val="0070C0"/>
                </a:solidFill>
              </a:rPr>
              <a:t> A and A</a:t>
            </a:r>
            <a:r>
              <a:rPr lang="en-US" sz="2800" baseline="30000" dirty="0">
                <a:solidFill>
                  <a:srgbClr val="0070C0"/>
                </a:solidFill>
              </a:rPr>
              <a:t>c</a:t>
            </a:r>
            <a:r>
              <a:rPr lang="en-US" sz="2800" dirty="0">
                <a:solidFill>
                  <a:srgbClr val="0070C0"/>
                </a:solidFill>
              </a:rPr>
              <a:t> are disjoint.</a:t>
            </a:r>
          </a:p>
          <a:p>
            <a:pPr marL="457200" indent="-457200">
              <a:buFont typeface="Arial" panose="020B0604020202020204" pitchFamily="34" charset="0"/>
              <a:buChar char="•"/>
            </a:pPr>
            <a:r>
              <a:rPr lang="en-US" sz="2800" dirty="0">
                <a:solidFill>
                  <a:srgbClr val="0070C0"/>
                </a:solidFill>
              </a:rPr>
              <a:t>If A and B are mutually exclusive, it means that if A happens then B does not happen; and if B happens then A does not happen. </a:t>
            </a:r>
          </a:p>
        </p:txBody>
      </p:sp>
      <p:sp>
        <p:nvSpPr>
          <p:cNvPr id="3" name="Date Placeholder 2">
            <a:extLst>
              <a:ext uri="{FF2B5EF4-FFF2-40B4-BE49-F238E27FC236}">
                <a16:creationId xmlns:a16="http://schemas.microsoft.com/office/drawing/2014/main" id="{A177D9DE-80E9-44EB-9D29-7592ADB72CD5}"/>
              </a:ext>
            </a:extLst>
          </p:cNvPr>
          <p:cNvSpPr>
            <a:spLocks noGrp="1"/>
          </p:cNvSpPr>
          <p:nvPr>
            <p:ph type="dt" sz="half" idx="10"/>
          </p:nvPr>
        </p:nvSpPr>
        <p:spPr/>
        <p:txBody>
          <a:bodyPr/>
          <a:lstStyle/>
          <a:p>
            <a:fld id="{FE504260-7980-43FB-AD01-FABE069B8F78}" type="datetime1">
              <a:rPr lang="en-US" smtClean="0"/>
              <a:t>2/27/24</a:t>
            </a:fld>
            <a:endParaRPr lang="en-US"/>
          </a:p>
        </p:txBody>
      </p:sp>
      <p:sp>
        <p:nvSpPr>
          <p:cNvPr id="8" name="Footer Placeholder 7">
            <a:extLst>
              <a:ext uri="{FF2B5EF4-FFF2-40B4-BE49-F238E27FC236}">
                <a16:creationId xmlns:a16="http://schemas.microsoft.com/office/drawing/2014/main" id="{00CEF849-9E21-42BF-BF35-182B3F88E0E6}"/>
              </a:ext>
            </a:extLst>
          </p:cNvPr>
          <p:cNvSpPr>
            <a:spLocks noGrp="1"/>
          </p:cNvSpPr>
          <p:nvPr>
            <p:ph type="ftr" sz="quarter" idx="11"/>
          </p:nvPr>
        </p:nvSpPr>
        <p:spPr/>
        <p:txBody>
          <a:bodyPr/>
          <a:lstStyle/>
          <a:p>
            <a:r>
              <a:rPr lang="en-US"/>
              <a:t>Dr. Nguyễn Ngọc Ái Vân</a:t>
            </a:r>
            <a:endParaRPr lang="en-US" dirty="0"/>
          </a:p>
        </p:txBody>
      </p:sp>
      <p:sp>
        <p:nvSpPr>
          <p:cNvPr id="9" name="Slide Number Placeholder 8">
            <a:extLst>
              <a:ext uri="{FF2B5EF4-FFF2-40B4-BE49-F238E27FC236}">
                <a16:creationId xmlns:a16="http://schemas.microsoft.com/office/drawing/2014/main" id="{91BE7828-F858-4DF4-8065-8E35850CE9F6}"/>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252217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B0E0D-E379-DCA8-6700-021FE9E0830A}"/>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73743B02-E73A-3DE4-EC1D-4E68A60624B7}"/>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5933648E-66C6-9EA9-7AA1-626F1B54361B}"/>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EEB9CF18-B1F4-822F-D0F9-C24125E77236}"/>
              </a:ext>
            </a:extLst>
          </p:cNvPr>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025DECBF-3C63-656F-C06D-5A8FCAB11BD7}"/>
                  </a:ext>
                </a:extLst>
              </p:cNvPr>
              <p:cNvSpPr>
                <a:spLocks noGrp="1"/>
              </p:cNvSpPr>
              <p:nvPr>
                <p:ph idx="1"/>
              </p:nvPr>
            </p:nvSpPr>
            <p:spPr>
              <a:xfrm>
                <a:off x="609600" y="1143000"/>
                <a:ext cx="10972800" cy="996170"/>
              </a:xfrm>
              <a:prstGeom prst="rect">
                <a:avLst/>
              </a:prstGeom>
            </p:spPr>
            <p:txBody>
              <a:bodyPr wrap="square">
                <a:spAutoFit/>
              </a:bodyPr>
              <a:lstStyle/>
              <a:p>
                <a:r>
                  <a:rPr lang="en-US" sz="2800" dirty="0">
                    <a:solidFill>
                      <a:srgbClr val="000000"/>
                    </a:solidFill>
                    <a:latin typeface="TimesNewRomanPS"/>
                  </a:rPr>
                  <a:t>Events </a:t>
                </a:r>
                <a:r>
                  <a:rPr lang="en-US" sz="2800" i="1" dirty="0">
                    <a:solidFill>
                      <a:srgbClr val="000000"/>
                    </a:solidFill>
                    <a:latin typeface="TimesNewRomanPS-Italic"/>
                  </a:rPr>
                  <a:t>A </a:t>
                </a:r>
                <a:r>
                  <a:rPr lang="en-US" sz="2800" dirty="0">
                    <a:solidFill>
                      <a:srgbClr val="000000"/>
                    </a:solidFill>
                    <a:latin typeface="TimesNewRomanPS"/>
                  </a:rPr>
                  <a:t>and </a:t>
                </a:r>
                <a:r>
                  <a:rPr lang="en-US" sz="2800" i="1" dirty="0">
                    <a:solidFill>
                      <a:srgbClr val="000000"/>
                    </a:solidFill>
                    <a:latin typeface="TimesNewRomanPS-Italic"/>
                  </a:rPr>
                  <a:t>B </a:t>
                </a:r>
                <a:r>
                  <a:rPr lang="en-US" sz="2800" dirty="0">
                    <a:solidFill>
                      <a:srgbClr val="000000"/>
                    </a:solidFill>
                    <a:latin typeface="TimesNewRomanPS"/>
                  </a:rPr>
                  <a:t>are </a:t>
                </a:r>
                <a:r>
                  <a:rPr lang="en-US" sz="2800" b="1" dirty="0">
                    <a:solidFill>
                      <a:srgbClr val="FF0000"/>
                    </a:solidFill>
                    <a:latin typeface="TimesNewRomanPS"/>
                  </a:rPr>
                  <a:t>mutually exclusive </a:t>
                </a:r>
                <a:r>
                  <a:rPr lang="en-US" sz="2800" dirty="0">
                    <a:latin typeface="TimesNewRomanPS"/>
                  </a:rPr>
                  <a:t>and </a:t>
                </a:r>
                <a:r>
                  <a:rPr lang="en-US" sz="2800" b="1" dirty="0">
                    <a:solidFill>
                      <a:srgbClr val="FF0000"/>
                    </a:solidFill>
                    <a:latin typeface="TimesNewRomanPS"/>
                  </a:rPr>
                  <a:t>exhaustive</a:t>
                </a:r>
                <a:r>
                  <a:rPr lang="en-US" sz="2800" dirty="0">
                    <a:latin typeface="TimesNewRomanPS"/>
                  </a:rPr>
                  <a:t> if</a:t>
                </a:r>
              </a:p>
              <a:p>
                <a:pPr marL="0" indent="0">
                  <a:buNone/>
                </a:pPr>
                <a:r>
                  <a:rPr lang="en-US" dirty="0">
                    <a:latin typeface="TimesNewRomanPS"/>
                  </a:rPr>
                  <a:t>          A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vi-VN" b="0" i="1" smtClean="0">
                        <a:latin typeface="Cambria Math" panose="02040503050406030204" pitchFamily="18" charset="0"/>
                        <a:ea typeface="Cambria Math" panose="02040503050406030204" pitchFamily="18" charset="0"/>
                      </a:rPr>
                      <m:t> </m:t>
                    </m:r>
                    <m:r>
                      <m:rPr>
                        <m:sty m:val="p"/>
                      </m:rPr>
                      <a:rPr lang="vi-VN" i="1">
                        <a:latin typeface="Cambria Math" panose="02040503050406030204" pitchFamily="18" charset="0"/>
                        <a:ea typeface="Cambria Math" panose="02040503050406030204" pitchFamily="18" charset="0"/>
                      </a:rPr>
                      <m:t>B</m:t>
                    </m:r>
                    <m:r>
                      <a:rPr lang="vi-VN" b="0" i="1" smtClean="0">
                        <a:latin typeface="Cambria Math" panose="02040503050406030204" pitchFamily="18" charset="0"/>
                        <a:ea typeface="Cambria Math" panose="02040503050406030204" pitchFamily="18" charset="0"/>
                      </a:rPr>
                      <m:t>= ∅</m:t>
                    </m:r>
                  </m:oMath>
                </a14:m>
                <a:r>
                  <a:rPr lang="en-US" sz="2800" dirty="0">
                    <a:latin typeface="TimesNewRomanPS"/>
                  </a:rPr>
                  <a:t>    and  A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vi-VN" sz="2800" b="0" i="1" smtClean="0">
                        <a:latin typeface="Cambria Math" panose="02040503050406030204" pitchFamily="18" charset="0"/>
                        <a:ea typeface="Cambria Math" panose="02040503050406030204" pitchFamily="18" charset="0"/>
                      </a:rPr>
                      <m:t> </m:t>
                    </m:r>
                    <m:r>
                      <m:rPr>
                        <m:sty m:val="p"/>
                      </m:rPr>
                      <a:rPr lang="vi-VN" i="1">
                        <a:latin typeface="Cambria Math" panose="02040503050406030204" pitchFamily="18" charset="0"/>
                        <a:ea typeface="Cambria Math" panose="02040503050406030204" pitchFamily="18" charset="0"/>
                      </a:rPr>
                      <m:t>B</m:t>
                    </m:r>
                    <m:r>
                      <a:rPr lang="vi-VN" b="0" i="1" smtClean="0">
                        <a:latin typeface="Cambria Math" panose="02040503050406030204" pitchFamily="18" charset="0"/>
                        <a:ea typeface="Cambria Math" panose="02040503050406030204" pitchFamily="18" charset="0"/>
                      </a:rPr>
                      <m:t>=  </m:t>
                    </m:r>
                    <m:r>
                      <m:rPr>
                        <m:sty m:val="p"/>
                      </m:rPr>
                      <a:rPr lang="vi-VN" i="1">
                        <a:latin typeface="Cambria Math" panose="02040503050406030204" pitchFamily="18" charset="0"/>
                        <a:ea typeface="Cambria Math" panose="02040503050406030204" pitchFamily="18" charset="0"/>
                      </a:rPr>
                      <m:t>S</m:t>
                    </m:r>
                  </m:oMath>
                </a14:m>
                <a:endParaRPr lang="en-US" sz="2800" dirty="0"/>
              </a:p>
            </p:txBody>
          </p:sp>
        </mc:Choice>
        <mc:Fallback xmlns="">
          <p:sp>
            <p:nvSpPr>
              <p:cNvPr id="7" name="Content Placeholder 6">
                <a:extLst>
                  <a:ext uri="{FF2B5EF4-FFF2-40B4-BE49-F238E27FC236}">
                    <a16:creationId xmlns:a16="http://schemas.microsoft.com/office/drawing/2014/main" id="{025DECBF-3C63-656F-C06D-5A8FCAB11BD7}"/>
                  </a:ext>
                </a:extLst>
              </p:cNvPr>
              <p:cNvSpPr>
                <a:spLocks noGrp="1" noRot="1" noChangeAspect="1" noMove="1" noResize="1" noEditPoints="1" noAdjustHandles="1" noChangeArrowheads="1" noChangeShapeType="1" noTextEdit="1"/>
              </p:cNvSpPr>
              <p:nvPr>
                <p:ph idx="1"/>
              </p:nvPr>
            </p:nvSpPr>
            <p:spPr>
              <a:xfrm>
                <a:off x="609600" y="1143000"/>
                <a:ext cx="10972800" cy="996170"/>
              </a:xfrm>
              <a:prstGeom prst="rect">
                <a:avLst/>
              </a:prstGeom>
              <a:blipFill>
                <a:blip r:embed="rId2"/>
                <a:stretch>
                  <a:fillRect l="-1040" t="-10127" b="-15190"/>
                </a:stretch>
              </a:blipFill>
            </p:spPr>
            <p:txBody>
              <a:bodyPr/>
              <a:lstStyle/>
              <a:p>
                <a:r>
                  <a:rPr lang="en-US">
                    <a:noFill/>
                  </a:rPr>
                  <a:t> </a:t>
                </a:r>
              </a:p>
            </p:txBody>
          </p:sp>
        </mc:Fallback>
      </mc:AlternateContent>
    </p:spTree>
    <p:extLst>
      <p:ext uri="{BB962C8B-B14F-4D97-AF65-F5344CB8AC3E}">
        <p14:creationId xmlns:p14="http://schemas.microsoft.com/office/powerpoint/2010/main" val="727580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9E45-2457-AE3D-6240-14DA3AC44C60}"/>
              </a:ext>
            </a:extLst>
          </p:cNvPr>
          <p:cNvSpPr>
            <a:spLocks noGrp="1"/>
          </p:cNvSpPr>
          <p:nvPr>
            <p:ph type="title"/>
          </p:nvPr>
        </p:nvSpPr>
        <p:spPr/>
        <p:txBody>
          <a:bodyPr/>
          <a:lstStyle/>
          <a:p>
            <a:endParaRPr lang="en-US" dirty="0"/>
          </a:p>
        </p:txBody>
      </p:sp>
      <p:pic>
        <p:nvPicPr>
          <p:cNvPr id="7" name="Content Placeholder 6">
            <a:extLst>
              <a:ext uri="{FF2B5EF4-FFF2-40B4-BE49-F238E27FC236}">
                <a16:creationId xmlns:a16="http://schemas.microsoft.com/office/drawing/2014/main" id="{376B8721-1EB8-B070-EF2E-331F506097C7}"/>
              </a:ext>
            </a:extLst>
          </p:cNvPr>
          <p:cNvPicPr>
            <a:picLocks noGrp="1" noChangeAspect="1"/>
          </p:cNvPicPr>
          <p:nvPr>
            <p:ph idx="1"/>
          </p:nvPr>
        </p:nvPicPr>
        <p:blipFill>
          <a:blip r:embed="rId2"/>
          <a:stretch>
            <a:fillRect/>
          </a:stretch>
        </p:blipFill>
        <p:spPr>
          <a:xfrm>
            <a:off x="844209" y="1143000"/>
            <a:ext cx="10503582" cy="5105400"/>
          </a:xfrm>
          <a:prstGeom prst="rect">
            <a:avLst/>
          </a:prstGeom>
        </p:spPr>
      </p:pic>
      <p:sp>
        <p:nvSpPr>
          <p:cNvPr id="4" name="Date Placeholder 3">
            <a:extLst>
              <a:ext uri="{FF2B5EF4-FFF2-40B4-BE49-F238E27FC236}">
                <a16:creationId xmlns:a16="http://schemas.microsoft.com/office/drawing/2014/main" id="{C0C755CC-0B62-9411-0910-9F4DDA6D583C}"/>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C8F633FF-B7BC-0770-FDF3-01A21A40A387}"/>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14CE47DB-A214-5B0A-E414-4825F2B415B8}"/>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090227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B891-323A-FB79-0BF6-395D6D1296E6}"/>
              </a:ext>
            </a:extLst>
          </p:cNvPr>
          <p:cNvSpPr>
            <a:spLocks noGrp="1"/>
          </p:cNvSpPr>
          <p:nvPr>
            <p:ph type="title"/>
          </p:nvPr>
        </p:nvSpPr>
        <p:spPr/>
        <p:txBody>
          <a:bodyPr/>
          <a:lstStyle/>
          <a:p>
            <a:r>
              <a:rPr lang="en-US" dirty="0"/>
              <a:t>Exercises</a:t>
            </a:r>
          </a:p>
        </p:txBody>
      </p:sp>
      <p:pic>
        <p:nvPicPr>
          <p:cNvPr id="7" name="Content Placeholder 6">
            <a:extLst>
              <a:ext uri="{FF2B5EF4-FFF2-40B4-BE49-F238E27FC236}">
                <a16:creationId xmlns:a16="http://schemas.microsoft.com/office/drawing/2014/main" id="{46DDECBF-AE7F-9C28-8956-8D906C1622AD}"/>
              </a:ext>
            </a:extLst>
          </p:cNvPr>
          <p:cNvPicPr>
            <a:picLocks noGrp="1" noChangeAspect="1"/>
          </p:cNvPicPr>
          <p:nvPr>
            <p:ph idx="1"/>
          </p:nvPr>
        </p:nvPicPr>
        <p:blipFill>
          <a:blip r:embed="rId2"/>
          <a:stretch>
            <a:fillRect/>
          </a:stretch>
        </p:blipFill>
        <p:spPr>
          <a:xfrm>
            <a:off x="609600" y="1163889"/>
            <a:ext cx="10972800" cy="5063621"/>
          </a:xfrm>
          <a:prstGeom prst="rect">
            <a:avLst/>
          </a:prstGeom>
        </p:spPr>
      </p:pic>
      <p:sp>
        <p:nvSpPr>
          <p:cNvPr id="4" name="Date Placeholder 3">
            <a:extLst>
              <a:ext uri="{FF2B5EF4-FFF2-40B4-BE49-F238E27FC236}">
                <a16:creationId xmlns:a16="http://schemas.microsoft.com/office/drawing/2014/main" id="{15CB4299-F604-1506-43B6-334EC4C042C8}"/>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EA08FD1A-9370-A652-0B69-4190C6CC2DE5}"/>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748D9A36-CEAE-23D0-6BC5-9562AA6A5D70}"/>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235733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5A27-E9AB-4CC2-9B0D-454B4B91D644}"/>
              </a:ext>
            </a:extLst>
          </p:cNvPr>
          <p:cNvSpPr>
            <a:spLocks noGrp="1"/>
          </p:cNvSpPr>
          <p:nvPr>
            <p:ph type="title"/>
          </p:nvPr>
        </p:nvSpPr>
        <p:spPr>
          <a:xfrm>
            <a:off x="435269" y="76200"/>
            <a:ext cx="11204027" cy="685800"/>
          </a:xfrm>
        </p:spPr>
        <p:txBody>
          <a:bodyPr/>
          <a:lstStyle/>
          <a:p>
            <a:r>
              <a:rPr lang="en-US" b="1" dirty="0"/>
              <a:t>Probability in everyday life</a:t>
            </a:r>
          </a:p>
        </p:txBody>
      </p:sp>
      <p:sp>
        <p:nvSpPr>
          <p:cNvPr id="4" name="Rectangle 3">
            <a:extLst>
              <a:ext uri="{FF2B5EF4-FFF2-40B4-BE49-F238E27FC236}">
                <a16:creationId xmlns:a16="http://schemas.microsoft.com/office/drawing/2014/main" id="{3439F097-03F0-43C9-AD2D-241A92EB3FD3}"/>
              </a:ext>
            </a:extLst>
          </p:cNvPr>
          <p:cNvSpPr/>
          <p:nvPr/>
        </p:nvSpPr>
        <p:spPr>
          <a:xfrm>
            <a:off x="646176" y="874389"/>
            <a:ext cx="11545824" cy="954107"/>
          </a:xfrm>
          <a:prstGeom prst="rect">
            <a:avLst/>
          </a:prstGeom>
        </p:spPr>
        <p:txBody>
          <a:bodyPr wrap="square">
            <a:spAutoFit/>
          </a:bodyPr>
          <a:lstStyle/>
          <a:p>
            <a:r>
              <a:rPr lang="en-US" sz="2800" dirty="0">
                <a:latin typeface="CMR10"/>
              </a:rPr>
              <a:t>In everyday life, probability of an event is understood as a </a:t>
            </a:r>
            <a:r>
              <a:rPr lang="en-US" sz="2800" dirty="0">
                <a:latin typeface="CMSL10"/>
              </a:rPr>
              <a:t>chance </a:t>
            </a:r>
            <a:r>
              <a:rPr lang="en-US" sz="2800" dirty="0">
                <a:latin typeface="CMR10"/>
              </a:rPr>
              <a:t>that this event will happen.</a:t>
            </a:r>
            <a:r>
              <a:rPr lang="en-US" dirty="0"/>
              <a:t> </a:t>
            </a:r>
            <a:endParaRPr lang="en-US" sz="2800" dirty="0"/>
          </a:p>
        </p:txBody>
      </p:sp>
      <p:sp>
        <p:nvSpPr>
          <p:cNvPr id="3" name="TextBox 2">
            <a:extLst>
              <a:ext uri="{FF2B5EF4-FFF2-40B4-BE49-F238E27FC236}">
                <a16:creationId xmlns:a16="http://schemas.microsoft.com/office/drawing/2014/main" id="{A0516B68-E318-41BB-8B6D-8D22EE001420}"/>
              </a:ext>
            </a:extLst>
          </p:cNvPr>
          <p:cNvSpPr txBox="1"/>
          <p:nvPr/>
        </p:nvSpPr>
        <p:spPr>
          <a:xfrm>
            <a:off x="536448" y="1999488"/>
            <a:ext cx="11326368" cy="1815882"/>
          </a:xfrm>
          <a:prstGeom prst="rect">
            <a:avLst/>
          </a:prstGeom>
          <a:noFill/>
        </p:spPr>
        <p:txBody>
          <a:bodyPr wrap="square" rtlCol="0">
            <a:spAutoFit/>
          </a:bodyPr>
          <a:lstStyle/>
          <a:p>
            <a:r>
              <a:rPr lang="en-US" sz="2800" b="1" dirty="0"/>
              <a:t>Example 1:</a:t>
            </a:r>
            <a:r>
              <a:rPr lang="en-US" sz="2800" dirty="0"/>
              <a:t> On weather forecast news</a:t>
            </a:r>
          </a:p>
          <a:p>
            <a:r>
              <a:rPr lang="en-US" sz="2800" dirty="0"/>
              <a:t>     “It is going to be partly sunny and there’s a 20% chance of rain tomorrow.”</a:t>
            </a:r>
          </a:p>
          <a:p>
            <a:r>
              <a:rPr lang="en-US" sz="2800" dirty="0"/>
              <a:t>     “There’s a 95% chance  of rain tomorrow”.</a:t>
            </a:r>
          </a:p>
          <a:p>
            <a:r>
              <a:rPr lang="en-US" sz="2800" dirty="0"/>
              <a:t>      </a:t>
            </a:r>
          </a:p>
        </p:txBody>
      </p:sp>
      <p:sp>
        <p:nvSpPr>
          <p:cNvPr id="6" name="Rectangle 5">
            <a:extLst>
              <a:ext uri="{FF2B5EF4-FFF2-40B4-BE49-F238E27FC236}">
                <a16:creationId xmlns:a16="http://schemas.microsoft.com/office/drawing/2014/main" id="{6C07BEA8-3C09-494A-85DF-8086A9C8D56E}"/>
              </a:ext>
            </a:extLst>
          </p:cNvPr>
          <p:cNvSpPr/>
          <p:nvPr/>
        </p:nvSpPr>
        <p:spPr>
          <a:xfrm>
            <a:off x="536448" y="3508016"/>
            <a:ext cx="11326368" cy="2246769"/>
          </a:xfrm>
          <a:prstGeom prst="rect">
            <a:avLst/>
          </a:prstGeom>
        </p:spPr>
        <p:txBody>
          <a:bodyPr wrap="square">
            <a:spAutoFit/>
          </a:bodyPr>
          <a:lstStyle/>
          <a:p>
            <a:r>
              <a:rPr lang="en-US" sz="2800" b="1" dirty="0" err="1"/>
              <a:t>Exampe</a:t>
            </a:r>
            <a:r>
              <a:rPr lang="en-US" sz="2800" b="1" dirty="0"/>
              <a:t> 2:</a:t>
            </a:r>
            <a:r>
              <a:rPr lang="en-US" sz="2800" dirty="0"/>
              <a:t> If a fair coin is tossed, we say that it has a 50-50 (equal) chance of turning up heads or tails. Hence, the probability of each side equals 1/2. It does not mean that a coin tossed 10 times will always produce exactly 5 heads and 5 tails. However, if you toss a coin 1 million times, the proportion of heads is anticipated to be very close to 1/2.</a:t>
            </a:r>
          </a:p>
        </p:txBody>
      </p:sp>
      <p:sp>
        <p:nvSpPr>
          <p:cNvPr id="5" name="Date Placeholder 4">
            <a:extLst>
              <a:ext uri="{FF2B5EF4-FFF2-40B4-BE49-F238E27FC236}">
                <a16:creationId xmlns:a16="http://schemas.microsoft.com/office/drawing/2014/main" id="{622C361D-8204-4EBF-97D9-7EC1EDEA5224}"/>
              </a:ext>
            </a:extLst>
          </p:cNvPr>
          <p:cNvSpPr>
            <a:spLocks noGrp="1"/>
          </p:cNvSpPr>
          <p:nvPr>
            <p:ph type="dt" sz="half" idx="10"/>
          </p:nvPr>
        </p:nvSpPr>
        <p:spPr/>
        <p:txBody>
          <a:bodyPr/>
          <a:lstStyle/>
          <a:p>
            <a:fld id="{115ADFAE-668D-4147-AF46-285B3016063E}" type="datetime1">
              <a:rPr lang="en-US" smtClean="0"/>
              <a:t>2/27/24</a:t>
            </a:fld>
            <a:endParaRPr lang="en-US"/>
          </a:p>
        </p:txBody>
      </p:sp>
      <p:sp>
        <p:nvSpPr>
          <p:cNvPr id="7" name="Footer Placeholder 6">
            <a:extLst>
              <a:ext uri="{FF2B5EF4-FFF2-40B4-BE49-F238E27FC236}">
                <a16:creationId xmlns:a16="http://schemas.microsoft.com/office/drawing/2014/main" id="{636EADC5-552A-4C04-8BEE-9A3C4042E40D}"/>
              </a:ext>
            </a:extLst>
          </p:cNvPr>
          <p:cNvSpPr>
            <a:spLocks noGrp="1"/>
          </p:cNvSpPr>
          <p:nvPr>
            <p:ph type="ftr" sz="quarter" idx="11"/>
          </p:nvPr>
        </p:nvSpPr>
        <p:spPr/>
        <p:txBody>
          <a:bodyPr/>
          <a:lstStyle/>
          <a:p>
            <a:r>
              <a:rPr lang="en-US"/>
              <a:t>Dr. Nguyễn Ngọc Ái Vân</a:t>
            </a:r>
            <a:endParaRPr lang="en-US" dirty="0"/>
          </a:p>
        </p:txBody>
      </p:sp>
      <p:sp>
        <p:nvSpPr>
          <p:cNvPr id="8" name="Slide Number Placeholder 7">
            <a:extLst>
              <a:ext uri="{FF2B5EF4-FFF2-40B4-BE49-F238E27FC236}">
                <a16:creationId xmlns:a16="http://schemas.microsoft.com/office/drawing/2014/main" id="{DAA911D7-E333-4513-95F5-E5795265712D}"/>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06189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21B0B4-B36D-4DB9-AF20-69A6DC1FB4FC}"/>
              </a:ext>
            </a:extLst>
          </p:cNvPr>
          <p:cNvSpPr/>
          <p:nvPr/>
        </p:nvSpPr>
        <p:spPr>
          <a:xfrm>
            <a:off x="581572" y="1397675"/>
            <a:ext cx="11086171" cy="3108543"/>
          </a:xfrm>
          <a:prstGeom prst="rect">
            <a:avLst/>
          </a:prstGeom>
        </p:spPr>
        <p:txBody>
          <a:bodyPr wrap="square">
            <a:spAutoFit/>
          </a:bodyPr>
          <a:lstStyle/>
          <a:p>
            <a:r>
              <a:rPr lang="en-US" sz="2800" b="1" dirty="0">
                <a:latin typeface="CMR10"/>
              </a:rPr>
              <a:t>Example 3:</a:t>
            </a:r>
            <a:r>
              <a:rPr lang="en-US" sz="2800" dirty="0">
                <a:latin typeface="CMR10"/>
              </a:rPr>
              <a:t> In gambling and lottery, probability is equivalent to </a:t>
            </a:r>
            <a:r>
              <a:rPr lang="en-US" sz="2800" dirty="0">
                <a:latin typeface="CMSL10"/>
              </a:rPr>
              <a:t>odds</a:t>
            </a:r>
            <a:r>
              <a:rPr lang="en-US" sz="2800" dirty="0">
                <a:latin typeface="CMR10"/>
              </a:rPr>
              <a:t>.</a:t>
            </a:r>
            <a:r>
              <a:rPr lang="en-US" sz="2800" i="1" dirty="0">
                <a:solidFill>
                  <a:srgbClr val="FF0000"/>
                </a:solidFill>
              </a:rPr>
              <a:t> Odds in favor of an event A </a:t>
            </a:r>
            <a:r>
              <a:rPr lang="en-US" sz="2800" dirty="0"/>
              <a:t>is the ratio of the probability that event </a:t>
            </a:r>
            <a:r>
              <a:rPr lang="en-US" sz="2800" i="1" dirty="0"/>
              <a:t>A </a:t>
            </a:r>
            <a:r>
              <a:rPr lang="en-US" sz="2800" dirty="0"/>
              <a:t>will occur to the probability that event </a:t>
            </a:r>
            <a:r>
              <a:rPr lang="en-US" sz="2800" i="1" dirty="0"/>
              <a:t>A </a:t>
            </a:r>
            <a:r>
              <a:rPr lang="en-US" sz="2800" dirty="0"/>
              <a:t>will not occur.</a:t>
            </a:r>
          </a:p>
          <a:p>
            <a:endParaRPr lang="en-US" sz="2800" dirty="0"/>
          </a:p>
          <a:p>
            <a:r>
              <a:rPr lang="en-US" sz="2800" dirty="0">
                <a:latin typeface="CMR10"/>
              </a:rPr>
              <a:t>Having the winning odds of 1 to 99 (1:99) means that the probability to win is 0.01, and the probability to lose is 0.99. It also means that if you play</a:t>
            </a:r>
          </a:p>
          <a:p>
            <a:r>
              <a:rPr lang="en-US" sz="2800" dirty="0">
                <a:latin typeface="CMR10"/>
              </a:rPr>
              <a:t>long enough, you will win about 1% of the time.</a:t>
            </a:r>
            <a:endParaRPr lang="en-US" sz="2800" dirty="0"/>
          </a:p>
        </p:txBody>
      </p:sp>
      <p:sp>
        <p:nvSpPr>
          <p:cNvPr id="5" name="Title 1">
            <a:extLst>
              <a:ext uri="{FF2B5EF4-FFF2-40B4-BE49-F238E27FC236}">
                <a16:creationId xmlns:a16="http://schemas.microsoft.com/office/drawing/2014/main" id="{7901C65E-CC61-41E5-BB6D-23A075113819}"/>
              </a:ext>
            </a:extLst>
          </p:cNvPr>
          <p:cNvSpPr>
            <a:spLocks noGrp="1"/>
          </p:cNvSpPr>
          <p:nvPr>
            <p:ph type="title"/>
          </p:nvPr>
        </p:nvSpPr>
        <p:spPr>
          <a:xfrm>
            <a:off x="581025" y="76200"/>
            <a:ext cx="11204575" cy="685800"/>
          </a:xfrm>
        </p:spPr>
        <p:txBody>
          <a:bodyPr/>
          <a:lstStyle/>
          <a:p>
            <a:r>
              <a:rPr lang="en-US" b="1" dirty="0"/>
              <a:t>Probability in everyday life</a:t>
            </a:r>
          </a:p>
        </p:txBody>
      </p:sp>
      <p:sp>
        <p:nvSpPr>
          <p:cNvPr id="2" name="Date Placeholder 1">
            <a:extLst>
              <a:ext uri="{FF2B5EF4-FFF2-40B4-BE49-F238E27FC236}">
                <a16:creationId xmlns:a16="http://schemas.microsoft.com/office/drawing/2014/main" id="{96CEFF9E-7C37-4F70-9AA6-45F8F1F69056}"/>
              </a:ext>
            </a:extLst>
          </p:cNvPr>
          <p:cNvSpPr>
            <a:spLocks noGrp="1"/>
          </p:cNvSpPr>
          <p:nvPr>
            <p:ph type="dt" sz="half" idx="10"/>
          </p:nvPr>
        </p:nvSpPr>
        <p:spPr/>
        <p:txBody>
          <a:bodyPr/>
          <a:lstStyle/>
          <a:p>
            <a:fld id="{95DF0964-BC78-4073-AC00-D73CE3B6E665}" type="datetime1">
              <a:rPr lang="en-US" smtClean="0"/>
              <a:t>2/27/24</a:t>
            </a:fld>
            <a:endParaRPr lang="en-US"/>
          </a:p>
        </p:txBody>
      </p:sp>
      <p:sp>
        <p:nvSpPr>
          <p:cNvPr id="3" name="Footer Placeholder 2">
            <a:extLst>
              <a:ext uri="{FF2B5EF4-FFF2-40B4-BE49-F238E27FC236}">
                <a16:creationId xmlns:a16="http://schemas.microsoft.com/office/drawing/2014/main" id="{269EBACA-8F33-42F6-A964-EDC91F338D01}"/>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4EAD580B-C594-4FCE-9F91-DD023988D0E6}"/>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344546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E0DE3-37DC-4CE4-8E0E-6B4C74FF18AB}"/>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FBCE3B10-5454-42BE-B95D-EAD1D2887EB2}"/>
              </a:ext>
            </a:extLst>
          </p:cNvPr>
          <p:cNvSpPr/>
          <p:nvPr/>
        </p:nvSpPr>
        <p:spPr>
          <a:xfrm>
            <a:off x="581024" y="1157562"/>
            <a:ext cx="11440288" cy="2677656"/>
          </a:xfrm>
          <a:prstGeom prst="rect">
            <a:avLst/>
          </a:prstGeom>
        </p:spPr>
        <p:txBody>
          <a:bodyPr wrap="square">
            <a:spAutoFit/>
          </a:bodyPr>
          <a:lstStyle/>
          <a:p>
            <a:r>
              <a:rPr lang="en-US" sz="2800" b="1" dirty="0">
                <a:latin typeface="TimesNewRomanPS"/>
              </a:rPr>
              <a:t>Example 4:</a:t>
            </a:r>
            <a:r>
              <a:rPr lang="en-US" sz="2800" dirty="0">
                <a:latin typeface="TimesNewRomanPS"/>
              </a:rPr>
              <a:t> </a:t>
            </a:r>
          </a:p>
          <a:p>
            <a:r>
              <a:rPr lang="en-US" sz="2800" dirty="0">
                <a:latin typeface="TimesNewRomanPS"/>
              </a:rPr>
              <a:t>Of the population aged 16–20, 29 percent are high school dropouts. It means there is a </a:t>
            </a:r>
            <a:r>
              <a:rPr lang="en-US" sz="2800" dirty="0">
                <a:solidFill>
                  <a:srgbClr val="002060"/>
                </a:solidFill>
                <a:latin typeface="TimesNewRomanPS"/>
              </a:rPr>
              <a:t>29 percent chance </a:t>
            </a:r>
            <a:r>
              <a:rPr lang="en-US" sz="2800" dirty="0">
                <a:latin typeface="TimesNewRomanPS"/>
              </a:rPr>
              <a:t>of that </a:t>
            </a:r>
            <a:r>
              <a:rPr lang="en-US" sz="2800" dirty="0">
                <a:solidFill>
                  <a:srgbClr val="002060"/>
                </a:solidFill>
                <a:latin typeface="TimesNewRomanPS"/>
              </a:rPr>
              <a:t>a randomly chosen member of this population is  a high school dropout.</a:t>
            </a:r>
          </a:p>
          <a:p>
            <a:r>
              <a:rPr lang="en-US" sz="2800" dirty="0"/>
              <a:t>We say that </a:t>
            </a:r>
            <a:r>
              <a:rPr lang="en-US" sz="2800" i="1" dirty="0">
                <a:solidFill>
                  <a:srgbClr val="002060"/>
                </a:solidFill>
              </a:rPr>
              <a:t>the probability that </a:t>
            </a:r>
            <a:r>
              <a:rPr lang="en-US" sz="2800" i="1" dirty="0">
                <a:solidFill>
                  <a:srgbClr val="002060"/>
                </a:solidFill>
                <a:latin typeface="TimesNewRomanPS"/>
              </a:rPr>
              <a:t>a randomly chosen member of this population is  a high school dropout is 0.29.</a:t>
            </a:r>
            <a:endParaRPr lang="en-US" sz="2800" i="1" dirty="0">
              <a:solidFill>
                <a:srgbClr val="002060"/>
              </a:solidFill>
            </a:endParaRPr>
          </a:p>
        </p:txBody>
      </p:sp>
      <p:sp>
        <p:nvSpPr>
          <p:cNvPr id="3" name="Date Placeholder 2">
            <a:extLst>
              <a:ext uri="{FF2B5EF4-FFF2-40B4-BE49-F238E27FC236}">
                <a16:creationId xmlns:a16="http://schemas.microsoft.com/office/drawing/2014/main" id="{7D78F344-7725-46B3-A730-4910A8ABB461}"/>
              </a:ext>
            </a:extLst>
          </p:cNvPr>
          <p:cNvSpPr>
            <a:spLocks noGrp="1"/>
          </p:cNvSpPr>
          <p:nvPr>
            <p:ph type="dt" sz="half" idx="10"/>
          </p:nvPr>
        </p:nvSpPr>
        <p:spPr/>
        <p:txBody>
          <a:bodyPr/>
          <a:lstStyle/>
          <a:p>
            <a:fld id="{9D01EBE7-8E8F-40DC-BC9A-66D4B14CCAED}" type="datetime1">
              <a:rPr lang="en-US" smtClean="0"/>
              <a:t>2/27/24</a:t>
            </a:fld>
            <a:endParaRPr lang="en-US"/>
          </a:p>
        </p:txBody>
      </p:sp>
      <p:sp>
        <p:nvSpPr>
          <p:cNvPr id="5" name="Footer Placeholder 4">
            <a:extLst>
              <a:ext uri="{FF2B5EF4-FFF2-40B4-BE49-F238E27FC236}">
                <a16:creationId xmlns:a16="http://schemas.microsoft.com/office/drawing/2014/main" id="{4239B1AB-7E29-4FD2-89E4-507FF5926225}"/>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D205F5AE-CFE7-4CEB-9324-07C56894F684}"/>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2341792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117B-D429-4DD1-A542-5D7D5797FF07}"/>
              </a:ext>
            </a:extLst>
          </p:cNvPr>
          <p:cNvSpPr>
            <a:spLocks noGrp="1"/>
          </p:cNvSpPr>
          <p:nvPr>
            <p:ph type="title"/>
          </p:nvPr>
        </p:nvSpPr>
        <p:spPr>
          <a:xfrm>
            <a:off x="179237" y="76200"/>
            <a:ext cx="11204027" cy="685800"/>
          </a:xfrm>
        </p:spPr>
        <p:txBody>
          <a:bodyPr/>
          <a:lstStyle/>
          <a:p>
            <a:r>
              <a:rPr lang="en-US" b="1" dirty="0"/>
              <a:t>Definitions of probability  </a:t>
            </a:r>
          </a:p>
        </p:txBody>
      </p:sp>
      <p:sp>
        <p:nvSpPr>
          <p:cNvPr id="4" name="Rectangle 3">
            <a:extLst>
              <a:ext uri="{FF2B5EF4-FFF2-40B4-BE49-F238E27FC236}">
                <a16:creationId xmlns:a16="http://schemas.microsoft.com/office/drawing/2014/main" id="{00A42A5F-BF82-4637-B870-891A9E86F012}"/>
              </a:ext>
            </a:extLst>
          </p:cNvPr>
          <p:cNvSpPr/>
          <p:nvPr/>
        </p:nvSpPr>
        <p:spPr>
          <a:xfrm>
            <a:off x="524256" y="905613"/>
            <a:ext cx="11326368" cy="5262979"/>
          </a:xfrm>
          <a:prstGeom prst="rect">
            <a:avLst/>
          </a:prstGeom>
          <a:ln>
            <a:solidFill>
              <a:srgbClr val="FF0000"/>
            </a:solidFill>
          </a:ln>
        </p:spPr>
        <p:txBody>
          <a:bodyPr wrap="square">
            <a:spAutoFit/>
          </a:bodyPr>
          <a:lstStyle/>
          <a:p>
            <a:r>
              <a:rPr lang="en-US" sz="2800" dirty="0">
                <a:solidFill>
                  <a:srgbClr val="000000"/>
                </a:solidFill>
                <a:latin typeface="TimesNewRomanPS"/>
              </a:rPr>
              <a:t>The </a:t>
            </a:r>
            <a:r>
              <a:rPr lang="en-US" sz="2800" b="1" dirty="0">
                <a:solidFill>
                  <a:srgbClr val="CD0D00"/>
                </a:solidFill>
                <a:latin typeface="TimesNewRomanPS-Bold"/>
              </a:rPr>
              <a:t>probability </a:t>
            </a:r>
            <a:r>
              <a:rPr lang="en-US" sz="2800" dirty="0">
                <a:solidFill>
                  <a:srgbClr val="000000"/>
                </a:solidFill>
                <a:latin typeface="TimesNewRomanPS"/>
              </a:rPr>
              <a:t>of an event is a number that measures the relative likelihood that the event will occur. </a:t>
            </a:r>
          </a:p>
          <a:p>
            <a:r>
              <a:rPr lang="en-US" sz="2800" dirty="0">
                <a:solidFill>
                  <a:srgbClr val="000000"/>
                </a:solidFill>
                <a:latin typeface="TimesNewRomanPS"/>
              </a:rPr>
              <a:t>The probability of an event </a:t>
            </a:r>
            <a:r>
              <a:rPr lang="en-US" sz="2800" i="1" dirty="0">
                <a:solidFill>
                  <a:srgbClr val="000000"/>
                </a:solidFill>
                <a:latin typeface="TimesNewRomanPS-Italic"/>
              </a:rPr>
              <a:t>A</a:t>
            </a:r>
            <a:r>
              <a:rPr lang="en-US" sz="2800" dirty="0">
                <a:solidFill>
                  <a:srgbClr val="000000"/>
                </a:solidFill>
                <a:latin typeface="TimesNewRomanPS"/>
              </a:rPr>
              <a:t>, denoted </a:t>
            </a:r>
            <a:r>
              <a:rPr lang="en-US" sz="2800" i="1" dirty="0">
                <a:solidFill>
                  <a:srgbClr val="000000"/>
                </a:solidFill>
                <a:latin typeface="TimesNewRomanPS-Italic"/>
              </a:rPr>
              <a:t>P</a:t>
            </a:r>
            <a:r>
              <a:rPr lang="en-US" sz="2800" dirty="0">
                <a:solidFill>
                  <a:srgbClr val="000000"/>
                </a:solidFill>
                <a:latin typeface="TimesNewRomanPS"/>
              </a:rPr>
              <a:t>(</a:t>
            </a:r>
            <a:r>
              <a:rPr lang="en-US" sz="2800" i="1" dirty="0">
                <a:solidFill>
                  <a:srgbClr val="000000"/>
                </a:solidFill>
                <a:latin typeface="TimesNewRomanPS-Italic"/>
              </a:rPr>
              <a:t>A</a:t>
            </a:r>
            <a:r>
              <a:rPr lang="en-US" sz="2800" dirty="0">
                <a:solidFill>
                  <a:srgbClr val="000000"/>
                </a:solidFill>
                <a:latin typeface="TimesNewRomanPS"/>
              </a:rPr>
              <a:t>), must lie within the interval from 0 to 1:                 </a:t>
            </a:r>
          </a:p>
          <a:p>
            <a:r>
              <a:rPr lang="en-US" sz="2800" dirty="0">
                <a:solidFill>
                  <a:srgbClr val="000000"/>
                </a:solidFill>
                <a:latin typeface="TimesNewRomanPS"/>
              </a:rPr>
              <a:t>                                                  </a:t>
            </a:r>
            <a:r>
              <a:rPr lang="en-US" sz="2800" dirty="0">
                <a:solidFill>
                  <a:srgbClr val="FF0000"/>
                </a:solidFill>
                <a:latin typeface="TimesNewRomanPS"/>
              </a:rPr>
              <a:t>0 </a:t>
            </a:r>
            <a:r>
              <a:rPr lang="en-US" sz="2800" dirty="0">
                <a:solidFill>
                  <a:srgbClr val="FF0000"/>
                </a:solidFill>
                <a:latin typeface="MTSY"/>
              </a:rPr>
              <a:t>≤ </a:t>
            </a:r>
            <a:r>
              <a:rPr lang="en-US" sz="2800" i="1" dirty="0">
                <a:solidFill>
                  <a:srgbClr val="FF0000"/>
                </a:solidFill>
                <a:latin typeface="TimesNewRomanPS-Italic"/>
              </a:rPr>
              <a:t>P</a:t>
            </a:r>
            <a:r>
              <a:rPr lang="en-US" sz="2800" dirty="0">
                <a:solidFill>
                  <a:srgbClr val="FF0000"/>
                </a:solidFill>
                <a:latin typeface="TimesNewRomanPS"/>
              </a:rPr>
              <a:t>(</a:t>
            </a:r>
            <a:r>
              <a:rPr lang="en-US" sz="2800" i="1" dirty="0">
                <a:solidFill>
                  <a:srgbClr val="FF0000"/>
                </a:solidFill>
                <a:latin typeface="TimesNewRomanPS-Italic"/>
              </a:rPr>
              <a:t>A</a:t>
            </a:r>
            <a:r>
              <a:rPr lang="en-US" sz="2800" dirty="0">
                <a:solidFill>
                  <a:srgbClr val="FF0000"/>
                </a:solidFill>
                <a:latin typeface="TimesNewRomanPS"/>
              </a:rPr>
              <a:t>) </a:t>
            </a:r>
            <a:r>
              <a:rPr lang="en-US" sz="2800" dirty="0">
                <a:solidFill>
                  <a:srgbClr val="FF0000"/>
                </a:solidFill>
                <a:latin typeface="MTSY"/>
              </a:rPr>
              <a:t>≤ </a:t>
            </a:r>
            <a:r>
              <a:rPr lang="en-US" sz="2800" dirty="0">
                <a:solidFill>
                  <a:srgbClr val="FF0000"/>
                </a:solidFill>
                <a:latin typeface="TimesNewRomanPS"/>
              </a:rPr>
              <a:t>1.</a:t>
            </a:r>
          </a:p>
          <a:p>
            <a:r>
              <a:rPr lang="en-US" sz="2800" dirty="0">
                <a:solidFill>
                  <a:srgbClr val="000000"/>
                </a:solidFill>
                <a:latin typeface="TimesNewRomanPS"/>
              </a:rPr>
              <a:t> </a:t>
            </a:r>
            <a:endParaRPr lang="en-US" sz="2800" b="1" dirty="0">
              <a:solidFill>
                <a:srgbClr val="000000"/>
              </a:solidFill>
              <a:latin typeface="TimesNewRomanPS-Bold"/>
            </a:endParaRPr>
          </a:p>
          <a:p>
            <a:pPr marL="457200" indent="-457200">
              <a:buFont typeface="Arial" panose="020B0604020202020204" pitchFamily="34" charset="0"/>
              <a:buChar char="•"/>
            </a:pPr>
            <a:r>
              <a:rPr lang="en-US" sz="2800" i="1" dirty="0">
                <a:solidFill>
                  <a:srgbClr val="000000"/>
                </a:solidFill>
                <a:latin typeface="TimesNewRomanPS-Italic"/>
              </a:rPr>
              <a:t>P</a:t>
            </a:r>
            <a:r>
              <a:rPr lang="en-US" sz="2800" dirty="0">
                <a:solidFill>
                  <a:srgbClr val="000000"/>
                </a:solidFill>
                <a:latin typeface="TimesNewRomanPS"/>
              </a:rPr>
              <a:t>(</a:t>
            </a:r>
            <a:r>
              <a:rPr lang="en-US" sz="2800" i="1" dirty="0">
                <a:solidFill>
                  <a:srgbClr val="000000"/>
                </a:solidFill>
                <a:latin typeface="TimesNewRomanPS-Italic"/>
              </a:rPr>
              <a:t>A</a:t>
            </a:r>
            <a:r>
              <a:rPr lang="en-US" sz="2800" dirty="0">
                <a:solidFill>
                  <a:srgbClr val="000000"/>
                </a:solidFill>
                <a:latin typeface="TimesNewRomanPS"/>
              </a:rPr>
              <a:t>) </a:t>
            </a:r>
            <a:r>
              <a:rPr lang="en-US" sz="2800" dirty="0">
                <a:solidFill>
                  <a:srgbClr val="000000"/>
                </a:solidFill>
                <a:latin typeface="MTSY"/>
              </a:rPr>
              <a:t>= </a:t>
            </a:r>
            <a:r>
              <a:rPr lang="en-US" sz="2800" dirty="0">
                <a:solidFill>
                  <a:srgbClr val="000000"/>
                </a:solidFill>
                <a:latin typeface="TimesNewRomanPS"/>
              </a:rPr>
              <a:t>0 means the event A cannot occur.</a:t>
            </a:r>
          </a:p>
          <a:p>
            <a:pPr marL="457200" indent="-457200">
              <a:buFont typeface="Arial" panose="020B0604020202020204" pitchFamily="34" charset="0"/>
              <a:buChar char="•"/>
            </a:pPr>
            <a:r>
              <a:rPr lang="en-US" sz="2800" i="1" dirty="0">
                <a:solidFill>
                  <a:srgbClr val="000000"/>
                </a:solidFill>
                <a:latin typeface="TimesNewRomanPS-Italic"/>
              </a:rPr>
              <a:t>P</a:t>
            </a:r>
            <a:r>
              <a:rPr lang="en-US" sz="2800" dirty="0">
                <a:solidFill>
                  <a:srgbClr val="000000"/>
                </a:solidFill>
                <a:latin typeface="TimesNewRomanPS"/>
              </a:rPr>
              <a:t>(</a:t>
            </a:r>
            <a:r>
              <a:rPr lang="en-US" sz="2800" i="1" dirty="0">
                <a:solidFill>
                  <a:srgbClr val="000000"/>
                </a:solidFill>
                <a:latin typeface="TimesNewRomanPS-Italic"/>
              </a:rPr>
              <a:t>A</a:t>
            </a:r>
            <a:r>
              <a:rPr lang="en-US" sz="2800" dirty="0">
                <a:solidFill>
                  <a:srgbClr val="000000"/>
                </a:solidFill>
                <a:latin typeface="TimesNewRomanPS"/>
              </a:rPr>
              <a:t>) </a:t>
            </a:r>
            <a:r>
              <a:rPr lang="en-US" sz="2800" dirty="0">
                <a:solidFill>
                  <a:srgbClr val="000000"/>
                </a:solidFill>
                <a:latin typeface="MTSY"/>
              </a:rPr>
              <a:t>= </a:t>
            </a:r>
            <a:r>
              <a:rPr lang="en-US" sz="2800" dirty="0">
                <a:solidFill>
                  <a:srgbClr val="000000"/>
                </a:solidFill>
                <a:latin typeface="TimesNewRomanPS"/>
              </a:rPr>
              <a:t>1 means the event A is certain to occur.</a:t>
            </a:r>
          </a:p>
          <a:p>
            <a:pPr marL="457200" indent="-457200">
              <a:buFont typeface="Arial" panose="020B0604020202020204" pitchFamily="34" charset="0"/>
              <a:buChar char="•"/>
            </a:pPr>
            <a:r>
              <a:rPr lang="en-US" sz="2800" dirty="0">
                <a:solidFill>
                  <a:srgbClr val="000000"/>
                </a:solidFill>
                <a:latin typeface="TimesNewRomanPS"/>
              </a:rPr>
              <a:t>If A and B are disjoint events, then  P(</a:t>
            </a:r>
            <a:r>
              <a:rPr lang="en-US" sz="2800" i="1" dirty="0">
                <a:latin typeface="TimesNewRomanPS-Italic"/>
              </a:rPr>
              <a:t>A </a:t>
            </a:r>
            <a:r>
              <a:rPr lang="en-US" sz="2800" dirty="0">
                <a:latin typeface="MTSY"/>
              </a:rPr>
              <a:t>∪ </a:t>
            </a:r>
            <a:r>
              <a:rPr lang="en-US" sz="2800" i="1" dirty="0">
                <a:latin typeface="TimesNewRomanPS-Italic"/>
              </a:rPr>
              <a:t>B </a:t>
            </a:r>
            <a:r>
              <a:rPr lang="en-US" sz="2800" dirty="0">
                <a:solidFill>
                  <a:srgbClr val="000000"/>
                </a:solidFill>
                <a:latin typeface="TimesNewRomanPS"/>
              </a:rPr>
              <a:t>) = P(A) + P(B)</a:t>
            </a:r>
          </a:p>
          <a:p>
            <a:pPr marL="457200" indent="-457200">
              <a:buFont typeface="Arial" panose="020B0604020202020204" pitchFamily="34" charset="0"/>
              <a:buChar char="•"/>
            </a:pPr>
            <a:r>
              <a:rPr lang="en-US" sz="2800" dirty="0">
                <a:solidFill>
                  <a:srgbClr val="000000"/>
                </a:solidFill>
                <a:latin typeface="TimesNewRomanPS"/>
              </a:rPr>
              <a:t>P(</a:t>
            </a:r>
            <a:r>
              <a:rPr lang="en-US" sz="2800" dirty="0">
                <a:solidFill>
                  <a:srgbClr val="000000"/>
                </a:solidFill>
                <a:latin typeface="TimesNewRomanPS"/>
                <a:cs typeface="Times New Roman" panose="02020603050405020304" pitchFamily="18" charset="0"/>
              </a:rPr>
              <a:t>Ω</a:t>
            </a:r>
            <a:r>
              <a:rPr lang="en-US" sz="2800" dirty="0">
                <a:solidFill>
                  <a:srgbClr val="000000"/>
                </a:solidFill>
                <a:latin typeface="TimesNewRomanPS"/>
              </a:rPr>
              <a:t>) = 1</a:t>
            </a:r>
          </a:p>
          <a:p>
            <a:pPr marL="457200" indent="-457200">
              <a:buFont typeface="Arial" panose="020B0604020202020204" pitchFamily="34" charset="0"/>
              <a:buChar char="•"/>
            </a:pPr>
            <a:endParaRPr lang="en-US" sz="2800" dirty="0">
              <a:solidFill>
                <a:srgbClr val="000000"/>
              </a:solidFill>
              <a:latin typeface="TimesNewRomanPS"/>
            </a:endParaRPr>
          </a:p>
          <a:p>
            <a:pPr marL="457200" indent="-457200">
              <a:buFont typeface="Arial" panose="020B0604020202020204" pitchFamily="34" charset="0"/>
              <a:buChar char="•"/>
            </a:pPr>
            <a:endParaRPr lang="en-US" sz="2800" dirty="0">
              <a:solidFill>
                <a:srgbClr val="000000"/>
              </a:solidFill>
              <a:latin typeface="TimesNewRomanPS"/>
            </a:endParaRPr>
          </a:p>
        </p:txBody>
      </p:sp>
      <p:graphicFrame>
        <p:nvGraphicFramePr>
          <p:cNvPr id="3" name="Object 2">
            <a:extLst>
              <a:ext uri="{FF2B5EF4-FFF2-40B4-BE49-F238E27FC236}">
                <a16:creationId xmlns:a16="http://schemas.microsoft.com/office/drawing/2014/main" id="{5D077FCC-FDE8-4D32-95A9-E8761546D1B1}"/>
              </a:ext>
            </a:extLst>
          </p:cNvPr>
          <p:cNvGraphicFramePr>
            <a:graphicFrameLocks noChangeAspect="1"/>
          </p:cNvGraphicFramePr>
          <p:nvPr>
            <p:extLst>
              <p:ext uri="{D42A27DB-BD31-4B8C-83A1-F6EECF244321}">
                <p14:modId xmlns:p14="http://schemas.microsoft.com/office/powerpoint/2010/main" val="1382117991"/>
              </p:ext>
            </p:extLst>
          </p:nvPr>
        </p:nvGraphicFramePr>
        <p:xfrm>
          <a:off x="974343" y="5323268"/>
          <a:ext cx="1674149" cy="558050"/>
        </p:xfrm>
        <a:graphic>
          <a:graphicData uri="http://schemas.openxmlformats.org/presentationml/2006/ole">
            <mc:AlternateContent xmlns:mc="http://schemas.openxmlformats.org/markup-compatibility/2006">
              <mc:Choice xmlns:v="urn:schemas-microsoft-com:vml" Requires="v">
                <p:oleObj name="Equation" r:id="rId2" imgW="609480" imgH="203040" progId="Equation.DSMT4">
                  <p:embed/>
                </p:oleObj>
              </mc:Choice>
              <mc:Fallback>
                <p:oleObj name="Equation" r:id="rId2" imgW="609480" imgH="203040" progId="Equation.DSMT4">
                  <p:embed/>
                  <p:pic>
                    <p:nvPicPr>
                      <p:cNvPr id="3" name="Object 2">
                        <a:extLst>
                          <a:ext uri="{FF2B5EF4-FFF2-40B4-BE49-F238E27FC236}">
                            <a16:creationId xmlns:a16="http://schemas.microsoft.com/office/drawing/2014/main" id="{5D077FCC-FDE8-4D32-95A9-E8761546D1B1}"/>
                          </a:ext>
                        </a:extLst>
                      </p:cNvPr>
                      <p:cNvPicPr/>
                      <p:nvPr/>
                    </p:nvPicPr>
                    <p:blipFill>
                      <a:blip r:embed="rId3"/>
                      <a:stretch>
                        <a:fillRect/>
                      </a:stretch>
                    </p:blipFill>
                    <p:spPr>
                      <a:xfrm>
                        <a:off x="974343" y="5323268"/>
                        <a:ext cx="1674149" cy="558050"/>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5F74EAC7-EFE6-4028-B8DB-A2B5A44C11A9}"/>
              </a:ext>
            </a:extLst>
          </p:cNvPr>
          <p:cNvSpPr>
            <a:spLocks noGrp="1"/>
          </p:cNvSpPr>
          <p:nvPr>
            <p:ph type="dt" sz="half" idx="10"/>
          </p:nvPr>
        </p:nvSpPr>
        <p:spPr/>
        <p:txBody>
          <a:bodyPr/>
          <a:lstStyle/>
          <a:p>
            <a:fld id="{AFCDADAF-61F3-4A3F-8CCA-BF8D01339280}" type="datetime1">
              <a:rPr lang="en-US" smtClean="0"/>
              <a:t>2/27/24</a:t>
            </a:fld>
            <a:endParaRPr lang="en-US"/>
          </a:p>
        </p:txBody>
      </p:sp>
      <p:sp>
        <p:nvSpPr>
          <p:cNvPr id="6" name="Footer Placeholder 5">
            <a:extLst>
              <a:ext uri="{FF2B5EF4-FFF2-40B4-BE49-F238E27FC236}">
                <a16:creationId xmlns:a16="http://schemas.microsoft.com/office/drawing/2014/main" id="{EDDDD628-B190-4C15-8D2F-6D6059BAC726}"/>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218CAB6C-BFC6-4838-B944-377DC53F0E31}"/>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44564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AFC68A-AAFA-416D-A349-D6E5495E15A9}"/>
              </a:ext>
            </a:extLst>
          </p:cNvPr>
          <p:cNvSpPr/>
          <p:nvPr/>
        </p:nvSpPr>
        <p:spPr>
          <a:xfrm>
            <a:off x="581573" y="1213008"/>
            <a:ext cx="11204026" cy="1815882"/>
          </a:xfrm>
          <a:prstGeom prst="rect">
            <a:avLst/>
          </a:prstGeom>
        </p:spPr>
        <p:txBody>
          <a:bodyPr wrap="square">
            <a:spAutoFit/>
          </a:bodyPr>
          <a:lstStyle/>
          <a:p>
            <a:r>
              <a:rPr lang="en-US" sz="2800" dirty="0">
                <a:solidFill>
                  <a:srgbClr val="000000"/>
                </a:solidFill>
                <a:latin typeface="TimesNewRomanPS"/>
              </a:rPr>
              <a:t>In discrete sample space </a:t>
            </a:r>
          </a:p>
          <a:p>
            <a:r>
              <a:rPr lang="en-US" sz="2800" dirty="0">
                <a:solidFill>
                  <a:srgbClr val="000000"/>
                </a:solidFill>
                <a:latin typeface="TimesNewRomanPS"/>
                <a:cs typeface="Times New Roman" panose="02020603050405020304" pitchFamily="18" charset="0"/>
              </a:rPr>
              <a:t>                          Ω = {</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1</a:t>
            </a:r>
            <a:r>
              <a:rPr lang="en-US" sz="2800" dirty="0">
                <a:solidFill>
                  <a:srgbClr val="000000"/>
                </a:solidFill>
                <a:latin typeface="TimesNewRomanPS"/>
                <a:cs typeface="Times New Roman" panose="02020603050405020304" pitchFamily="18" charset="0"/>
              </a:rPr>
              <a:t>, </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2</a:t>
            </a:r>
            <a:r>
              <a:rPr lang="en-US" sz="2800" dirty="0">
                <a:solidFill>
                  <a:srgbClr val="000000"/>
                </a:solidFill>
                <a:latin typeface="TimesNewRomanPS"/>
                <a:cs typeface="Times New Roman" panose="02020603050405020304" pitchFamily="18" charset="0"/>
              </a:rPr>
              <a:t>, …, </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n</a:t>
            </a:r>
            <a:r>
              <a:rPr lang="en-US" sz="2800" dirty="0">
                <a:solidFill>
                  <a:srgbClr val="000000"/>
                </a:solidFill>
                <a:latin typeface="TimesNewRomanPS"/>
                <a:cs typeface="Times New Roman" panose="02020603050405020304" pitchFamily="18" charset="0"/>
              </a:rPr>
              <a:t>},   where </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1</a:t>
            </a:r>
            <a:r>
              <a:rPr lang="en-US" sz="2800" dirty="0">
                <a:solidFill>
                  <a:srgbClr val="000000"/>
                </a:solidFill>
                <a:latin typeface="TimesNewRomanPS"/>
                <a:cs typeface="Times New Roman" panose="02020603050405020304" pitchFamily="18" charset="0"/>
              </a:rPr>
              <a:t>, …, </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n</a:t>
            </a:r>
            <a:r>
              <a:rPr lang="en-US" sz="2800" dirty="0">
                <a:solidFill>
                  <a:srgbClr val="000000"/>
                </a:solidFill>
                <a:latin typeface="TimesNewRomanPS"/>
                <a:cs typeface="Times New Roman" panose="02020603050405020304" pitchFamily="18" charset="0"/>
              </a:rPr>
              <a:t> are simple events, </a:t>
            </a:r>
          </a:p>
          <a:p>
            <a:r>
              <a:rPr lang="en-US" sz="2800" dirty="0">
                <a:solidFill>
                  <a:srgbClr val="000000"/>
                </a:solidFill>
                <a:latin typeface="TimesNewRomanPS"/>
                <a:cs typeface="Times New Roman" panose="02020603050405020304" pitchFamily="18" charset="0"/>
              </a:rPr>
              <a:t>the probabilities of all simple events must sum to 1, i.e.,</a:t>
            </a:r>
          </a:p>
          <a:p>
            <a:r>
              <a:rPr lang="en-US" sz="2800" dirty="0">
                <a:solidFill>
                  <a:srgbClr val="000000"/>
                </a:solidFill>
                <a:latin typeface="TimesNewRomanPS"/>
                <a:cs typeface="Times New Roman" panose="02020603050405020304" pitchFamily="18" charset="0"/>
              </a:rPr>
              <a:t>                                 P(</a:t>
            </a:r>
            <a:r>
              <a:rPr lang="el-GR" sz="2800" dirty="0">
                <a:solidFill>
                  <a:srgbClr val="000000"/>
                </a:solidFill>
                <a:latin typeface="Times New Roman" panose="02020603050405020304" pitchFamily="18" charset="0"/>
                <a:cs typeface="Times New Roman" panose="02020603050405020304" pitchFamily="18" charset="0"/>
              </a:rPr>
              <a:t>Ω</a:t>
            </a:r>
            <a:r>
              <a:rPr lang="en-US" sz="2800" dirty="0">
                <a:solidFill>
                  <a:srgbClr val="000000"/>
                </a:solidFill>
                <a:latin typeface="TimesNewRomanPS"/>
                <a:cs typeface="Times New Roman" panose="02020603050405020304" pitchFamily="18" charset="0"/>
              </a:rPr>
              <a:t>) = P(</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1</a:t>
            </a:r>
            <a:r>
              <a:rPr lang="en-US" sz="2800" dirty="0">
                <a:solidFill>
                  <a:srgbClr val="000000"/>
                </a:solidFill>
                <a:latin typeface="TimesNewRomanPS"/>
                <a:cs typeface="Times New Roman" panose="02020603050405020304" pitchFamily="18" charset="0"/>
              </a:rPr>
              <a:t>) + P(</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2</a:t>
            </a:r>
            <a:r>
              <a:rPr lang="en-US" sz="2800" dirty="0">
                <a:solidFill>
                  <a:srgbClr val="000000"/>
                </a:solidFill>
                <a:latin typeface="TimesNewRomanPS"/>
                <a:cs typeface="Times New Roman" panose="02020603050405020304" pitchFamily="18" charset="0"/>
              </a:rPr>
              <a:t>) + …+ P(</a:t>
            </a:r>
            <a:r>
              <a:rPr lang="en-US" sz="2800" dirty="0" err="1">
                <a:solidFill>
                  <a:srgbClr val="000000"/>
                </a:solidFill>
                <a:latin typeface="TimesNewRomanPS"/>
                <a:cs typeface="Times New Roman" panose="02020603050405020304" pitchFamily="18" charset="0"/>
              </a:rPr>
              <a:t>E</a:t>
            </a:r>
            <a:r>
              <a:rPr lang="en-US" sz="2800" baseline="-25000" dirty="0" err="1">
                <a:solidFill>
                  <a:srgbClr val="000000"/>
                </a:solidFill>
                <a:latin typeface="TimesNewRomanPS"/>
                <a:cs typeface="Times New Roman" panose="02020603050405020304" pitchFamily="18" charset="0"/>
              </a:rPr>
              <a:t>n</a:t>
            </a:r>
            <a:r>
              <a:rPr lang="en-US" sz="2800" dirty="0">
                <a:solidFill>
                  <a:srgbClr val="000000"/>
                </a:solidFill>
                <a:latin typeface="TimesNewRomanPS"/>
                <a:cs typeface="Times New Roman" panose="02020603050405020304" pitchFamily="18" charset="0"/>
              </a:rPr>
              <a:t>) = 1.      </a:t>
            </a:r>
            <a:endParaRPr lang="en-US" sz="2800" dirty="0"/>
          </a:p>
        </p:txBody>
      </p:sp>
      <p:sp>
        <p:nvSpPr>
          <p:cNvPr id="5" name="Rectangle 4">
            <a:extLst>
              <a:ext uri="{FF2B5EF4-FFF2-40B4-BE49-F238E27FC236}">
                <a16:creationId xmlns:a16="http://schemas.microsoft.com/office/drawing/2014/main" id="{A09D6D4F-A696-47E6-9090-9D9FAE506D88}"/>
              </a:ext>
            </a:extLst>
          </p:cNvPr>
          <p:cNvSpPr/>
          <p:nvPr/>
        </p:nvSpPr>
        <p:spPr>
          <a:xfrm>
            <a:off x="581572" y="3492186"/>
            <a:ext cx="11342203" cy="2677656"/>
          </a:xfrm>
          <a:prstGeom prst="rect">
            <a:avLst/>
          </a:prstGeom>
        </p:spPr>
        <p:txBody>
          <a:bodyPr wrap="square">
            <a:spAutoFit/>
          </a:bodyPr>
          <a:lstStyle/>
          <a:p>
            <a:r>
              <a:rPr lang="en-US" sz="2800" dirty="0">
                <a:solidFill>
                  <a:srgbClr val="000000"/>
                </a:solidFill>
                <a:latin typeface="TimesNewRomanPS"/>
              </a:rPr>
              <a:t>Example: </a:t>
            </a:r>
            <a:r>
              <a:rPr lang="en-US" sz="2800" i="1" dirty="0">
                <a:solidFill>
                  <a:srgbClr val="000000"/>
                </a:solidFill>
                <a:latin typeface="TimesNewRomanPS-Italic"/>
              </a:rPr>
              <a:t>The Wall Street Journal </a:t>
            </a:r>
            <a:r>
              <a:rPr lang="en-US" sz="2800" dirty="0">
                <a:solidFill>
                  <a:srgbClr val="000000"/>
                </a:solidFill>
                <a:latin typeface="TimesNewRomanPS"/>
              </a:rPr>
              <a:t>reports that about 33 percent of all new small businesses fail within the first 2 years (July 12, 2004). </a:t>
            </a:r>
          </a:p>
          <a:p>
            <a:r>
              <a:rPr lang="en-US" sz="2800" dirty="0">
                <a:solidFill>
                  <a:srgbClr val="000000"/>
                </a:solidFill>
                <a:latin typeface="TimesNewRomanPS"/>
              </a:rPr>
              <a:t>                     P(failure) = 0.33  </a:t>
            </a:r>
          </a:p>
          <a:p>
            <a:r>
              <a:rPr lang="en-US" sz="2800" dirty="0">
                <a:solidFill>
                  <a:srgbClr val="000000"/>
                </a:solidFill>
                <a:latin typeface="TimesNewRomanPS"/>
              </a:rPr>
              <a:t>                     </a:t>
            </a:r>
            <a:r>
              <a:rPr lang="en-US" sz="2800" i="1" dirty="0">
                <a:solidFill>
                  <a:srgbClr val="000000"/>
                </a:solidFill>
                <a:latin typeface="TimesNewRomanPS-Italic"/>
              </a:rPr>
              <a:t>P</a:t>
            </a:r>
            <a:r>
              <a:rPr lang="en-US" sz="2800" dirty="0">
                <a:solidFill>
                  <a:srgbClr val="000000"/>
                </a:solidFill>
                <a:latin typeface="TimesNewRomanPS"/>
              </a:rPr>
              <a:t>(survival) </a:t>
            </a:r>
            <a:r>
              <a:rPr lang="en-US" sz="2800" dirty="0">
                <a:solidFill>
                  <a:srgbClr val="000000"/>
                </a:solidFill>
                <a:latin typeface="MTSY"/>
              </a:rPr>
              <a:t>+</a:t>
            </a:r>
            <a:r>
              <a:rPr lang="en-US" sz="2800" dirty="0">
                <a:solidFill>
                  <a:srgbClr val="000000"/>
                </a:solidFill>
                <a:latin typeface="TimesNewRomanPS"/>
              </a:rPr>
              <a:t> </a:t>
            </a:r>
            <a:r>
              <a:rPr lang="en-US" sz="2800" i="1" dirty="0">
                <a:solidFill>
                  <a:srgbClr val="000000"/>
                </a:solidFill>
                <a:latin typeface="TimesNewRomanPS-Italic"/>
              </a:rPr>
              <a:t>P</a:t>
            </a:r>
            <a:r>
              <a:rPr lang="en-US" sz="2800" dirty="0">
                <a:solidFill>
                  <a:srgbClr val="000000"/>
                </a:solidFill>
                <a:latin typeface="TimesNewRomanPS"/>
              </a:rPr>
              <a:t>(failure) = 1</a:t>
            </a:r>
          </a:p>
          <a:p>
            <a:r>
              <a:rPr lang="en-US" sz="2800" dirty="0">
                <a:solidFill>
                  <a:srgbClr val="000000"/>
                </a:solidFill>
                <a:latin typeface="TimesNewRomanPS"/>
              </a:rPr>
              <a:t> → The probability that a new small business will survive at least 2 years is:</a:t>
            </a:r>
          </a:p>
          <a:p>
            <a:r>
              <a:rPr lang="en-US" sz="2800" i="1" dirty="0">
                <a:solidFill>
                  <a:srgbClr val="000000"/>
                </a:solidFill>
                <a:latin typeface="TimesNewRomanPS-Italic"/>
              </a:rPr>
              <a:t>                     P</a:t>
            </a:r>
            <a:r>
              <a:rPr lang="en-US" sz="2800" dirty="0">
                <a:solidFill>
                  <a:srgbClr val="000000"/>
                </a:solidFill>
                <a:latin typeface="TimesNewRomanPS"/>
              </a:rPr>
              <a:t>(survival) </a:t>
            </a:r>
            <a:r>
              <a:rPr lang="en-US" sz="2800" dirty="0">
                <a:solidFill>
                  <a:srgbClr val="000000"/>
                </a:solidFill>
                <a:latin typeface="MTSY"/>
              </a:rPr>
              <a:t>= </a:t>
            </a:r>
            <a:r>
              <a:rPr lang="en-US" sz="2800" dirty="0">
                <a:solidFill>
                  <a:srgbClr val="000000"/>
                </a:solidFill>
                <a:latin typeface="TimesNewRomanPS"/>
              </a:rPr>
              <a:t>1 – </a:t>
            </a:r>
            <a:r>
              <a:rPr lang="en-US" sz="2800" i="1" dirty="0">
                <a:solidFill>
                  <a:srgbClr val="000000"/>
                </a:solidFill>
                <a:latin typeface="TimesNewRomanPS-Italic"/>
              </a:rPr>
              <a:t>P</a:t>
            </a:r>
            <a:r>
              <a:rPr lang="en-US" sz="2800" dirty="0">
                <a:solidFill>
                  <a:srgbClr val="000000"/>
                </a:solidFill>
                <a:latin typeface="TimesNewRomanPS"/>
              </a:rPr>
              <a:t>(failure) </a:t>
            </a:r>
            <a:r>
              <a:rPr lang="en-US" sz="2800" dirty="0">
                <a:solidFill>
                  <a:srgbClr val="000000"/>
                </a:solidFill>
                <a:latin typeface="MTSY"/>
              </a:rPr>
              <a:t>= </a:t>
            </a:r>
            <a:r>
              <a:rPr lang="en-US" sz="2800" dirty="0">
                <a:solidFill>
                  <a:srgbClr val="000000"/>
                </a:solidFill>
                <a:latin typeface="TimesNewRomanPS"/>
              </a:rPr>
              <a:t>1 –0</a:t>
            </a:r>
            <a:r>
              <a:rPr lang="en-US" sz="2800" i="1" dirty="0">
                <a:solidFill>
                  <a:srgbClr val="000000"/>
                </a:solidFill>
                <a:latin typeface="RMTMI"/>
              </a:rPr>
              <a:t>.</a:t>
            </a:r>
            <a:r>
              <a:rPr lang="en-US" sz="2800" dirty="0">
                <a:solidFill>
                  <a:srgbClr val="000000"/>
                </a:solidFill>
                <a:latin typeface="TimesNewRomanPS"/>
              </a:rPr>
              <a:t>33 </a:t>
            </a:r>
            <a:r>
              <a:rPr lang="en-US" sz="2800" dirty="0">
                <a:solidFill>
                  <a:srgbClr val="000000"/>
                </a:solidFill>
                <a:latin typeface="MTSY"/>
              </a:rPr>
              <a:t>= 0</a:t>
            </a:r>
            <a:r>
              <a:rPr lang="en-US" sz="2800" i="1" dirty="0">
                <a:solidFill>
                  <a:srgbClr val="000000"/>
                </a:solidFill>
                <a:latin typeface="RMTMI"/>
              </a:rPr>
              <a:t>.</a:t>
            </a:r>
            <a:r>
              <a:rPr lang="en-US" sz="2800" dirty="0">
                <a:solidFill>
                  <a:srgbClr val="000000"/>
                </a:solidFill>
                <a:latin typeface="TimesNewRomanPS"/>
              </a:rPr>
              <a:t>67</a:t>
            </a:r>
            <a:endParaRPr lang="en-US" sz="2800" dirty="0"/>
          </a:p>
        </p:txBody>
      </p:sp>
      <p:sp>
        <p:nvSpPr>
          <p:cNvPr id="6" name="Title 1">
            <a:extLst>
              <a:ext uri="{FF2B5EF4-FFF2-40B4-BE49-F238E27FC236}">
                <a16:creationId xmlns:a16="http://schemas.microsoft.com/office/drawing/2014/main" id="{1F4FC867-1797-4E72-95C5-3241422EC034}"/>
              </a:ext>
            </a:extLst>
          </p:cNvPr>
          <p:cNvSpPr>
            <a:spLocks noGrp="1"/>
          </p:cNvSpPr>
          <p:nvPr>
            <p:ph type="title"/>
          </p:nvPr>
        </p:nvSpPr>
        <p:spPr>
          <a:xfrm>
            <a:off x="179237" y="76200"/>
            <a:ext cx="11204027" cy="685800"/>
          </a:xfrm>
        </p:spPr>
        <p:txBody>
          <a:bodyPr/>
          <a:lstStyle/>
          <a:p>
            <a:r>
              <a:rPr lang="en-US" b="1" dirty="0"/>
              <a:t>Probability in discrete sample spaces</a:t>
            </a:r>
          </a:p>
        </p:txBody>
      </p:sp>
      <p:sp>
        <p:nvSpPr>
          <p:cNvPr id="2" name="Date Placeholder 1">
            <a:extLst>
              <a:ext uri="{FF2B5EF4-FFF2-40B4-BE49-F238E27FC236}">
                <a16:creationId xmlns:a16="http://schemas.microsoft.com/office/drawing/2014/main" id="{A48DA7F5-BC62-4B87-8EA8-1A6D54EDD5DA}"/>
              </a:ext>
            </a:extLst>
          </p:cNvPr>
          <p:cNvSpPr>
            <a:spLocks noGrp="1"/>
          </p:cNvSpPr>
          <p:nvPr>
            <p:ph type="dt" sz="half" idx="10"/>
          </p:nvPr>
        </p:nvSpPr>
        <p:spPr/>
        <p:txBody>
          <a:bodyPr/>
          <a:lstStyle/>
          <a:p>
            <a:fld id="{B8EB71EE-F9C3-4368-8AFA-D95261F036BC}" type="datetime1">
              <a:rPr lang="en-US" smtClean="0"/>
              <a:t>2/27/24</a:t>
            </a:fld>
            <a:endParaRPr lang="en-US"/>
          </a:p>
        </p:txBody>
      </p:sp>
      <p:sp>
        <p:nvSpPr>
          <p:cNvPr id="3" name="Footer Placeholder 2">
            <a:extLst>
              <a:ext uri="{FF2B5EF4-FFF2-40B4-BE49-F238E27FC236}">
                <a16:creationId xmlns:a16="http://schemas.microsoft.com/office/drawing/2014/main" id="{E65D3C90-1FE6-407B-B46B-455D7D0E5569}"/>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3BD83F39-2648-4397-91FB-42E8FC422A6A}"/>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49854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8B50-FB56-4D5B-99B6-F0683EDFA367}"/>
              </a:ext>
            </a:extLst>
          </p:cNvPr>
          <p:cNvSpPr>
            <a:spLocks noGrp="1"/>
          </p:cNvSpPr>
          <p:nvPr>
            <p:ph type="title"/>
          </p:nvPr>
        </p:nvSpPr>
        <p:spPr/>
        <p:txBody>
          <a:bodyPr/>
          <a:lstStyle/>
          <a:p>
            <a:r>
              <a:rPr lang="en-US" b="1" dirty="0"/>
              <a:t>Empirical probability - Relative frequency approach</a:t>
            </a:r>
            <a:endParaRPr lang="en-US" dirty="0"/>
          </a:p>
        </p:txBody>
      </p:sp>
      <p:sp>
        <p:nvSpPr>
          <p:cNvPr id="3" name="Content Placeholder 2">
            <a:extLst>
              <a:ext uri="{FF2B5EF4-FFF2-40B4-BE49-F238E27FC236}">
                <a16:creationId xmlns:a16="http://schemas.microsoft.com/office/drawing/2014/main" id="{DA80C114-D433-4BFE-A418-A00C2D28B9FB}"/>
              </a:ext>
            </a:extLst>
          </p:cNvPr>
          <p:cNvSpPr>
            <a:spLocks noGrp="1"/>
          </p:cNvSpPr>
          <p:nvPr>
            <p:ph idx="1"/>
          </p:nvPr>
        </p:nvSpPr>
        <p:spPr>
          <a:xfrm>
            <a:off x="109728" y="996696"/>
            <a:ext cx="11960352" cy="2356104"/>
          </a:xfrm>
        </p:spPr>
        <p:txBody>
          <a:bodyPr/>
          <a:lstStyle/>
          <a:p>
            <a:r>
              <a:rPr lang="en-US" dirty="0"/>
              <a:t>Example: On average, 2,118 out of 100,000 Americans live to age 100 or older.</a:t>
            </a:r>
          </a:p>
          <a:p>
            <a:pPr marL="0" indent="0">
              <a:buNone/>
            </a:pPr>
            <a:r>
              <a:rPr lang="en-US" dirty="0"/>
              <a:t>           A= event that a randomly chosen American lives to 100 or older</a:t>
            </a:r>
          </a:p>
          <a:p>
            <a:pPr marL="0" indent="0">
              <a:buNone/>
            </a:pPr>
            <a:r>
              <a:rPr lang="en-US" i="1" dirty="0"/>
              <a:t>           </a:t>
            </a:r>
            <a:endParaRPr lang="en-US" dirty="0"/>
          </a:p>
        </p:txBody>
      </p:sp>
      <p:graphicFrame>
        <p:nvGraphicFramePr>
          <p:cNvPr id="4" name="Object 3">
            <a:extLst>
              <a:ext uri="{FF2B5EF4-FFF2-40B4-BE49-F238E27FC236}">
                <a16:creationId xmlns:a16="http://schemas.microsoft.com/office/drawing/2014/main" id="{F4C0DA82-EA3B-46B7-8228-43DAFAB36FDC}"/>
              </a:ext>
            </a:extLst>
          </p:cNvPr>
          <p:cNvGraphicFramePr>
            <a:graphicFrameLocks noChangeAspect="1"/>
          </p:cNvGraphicFramePr>
          <p:nvPr>
            <p:extLst>
              <p:ext uri="{D42A27DB-BD31-4B8C-83A1-F6EECF244321}">
                <p14:modId xmlns:p14="http://schemas.microsoft.com/office/powerpoint/2010/main" val="1862538655"/>
              </p:ext>
            </p:extLst>
          </p:nvPr>
        </p:nvGraphicFramePr>
        <p:xfrm>
          <a:off x="1502663" y="1976310"/>
          <a:ext cx="3422905" cy="828985"/>
        </p:xfrm>
        <a:graphic>
          <a:graphicData uri="http://schemas.openxmlformats.org/presentationml/2006/ole">
            <mc:AlternateContent xmlns:mc="http://schemas.openxmlformats.org/markup-compatibility/2006">
              <mc:Choice xmlns:v="urn:schemas-microsoft-com:vml" Requires="v">
                <p:oleObj name="Equation" r:id="rId2" imgW="1625400" imgH="393480" progId="Equation.DSMT4">
                  <p:embed/>
                </p:oleObj>
              </mc:Choice>
              <mc:Fallback>
                <p:oleObj name="Equation" r:id="rId2" imgW="1625400" imgH="393480" progId="Equation.DSMT4">
                  <p:embed/>
                  <p:pic>
                    <p:nvPicPr>
                      <p:cNvPr id="4" name="Object 3">
                        <a:extLst>
                          <a:ext uri="{FF2B5EF4-FFF2-40B4-BE49-F238E27FC236}">
                            <a16:creationId xmlns:a16="http://schemas.microsoft.com/office/drawing/2014/main" id="{F4C0DA82-EA3B-46B7-8228-43DAFAB36FDC}"/>
                          </a:ext>
                        </a:extLst>
                      </p:cNvPr>
                      <p:cNvPicPr/>
                      <p:nvPr/>
                    </p:nvPicPr>
                    <p:blipFill>
                      <a:blip r:embed="rId3"/>
                      <a:stretch>
                        <a:fillRect/>
                      </a:stretch>
                    </p:blipFill>
                    <p:spPr>
                      <a:xfrm>
                        <a:off x="1502663" y="1976310"/>
                        <a:ext cx="3422905" cy="82898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E2328E-04C0-4179-B1A8-F61B6B7EC6F6}"/>
                  </a:ext>
                </a:extLst>
              </p:cNvPr>
              <p:cNvSpPr txBox="1"/>
              <p:nvPr/>
            </p:nvSpPr>
            <p:spPr>
              <a:xfrm>
                <a:off x="231648" y="3060192"/>
                <a:ext cx="12508992" cy="2246769"/>
              </a:xfrm>
              <a:prstGeom prst="rect">
                <a:avLst/>
              </a:prstGeom>
              <a:noFill/>
            </p:spPr>
            <p:txBody>
              <a:bodyPr wrap="square" rtlCol="0">
                <a:spAutoFit/>
              </a:bodyPr>
              <a:lstStyle/>
              <a:p>
                <a:r>
                  <a:rPr lang="en-US" sz="2800" b="1" dirty="0">
                    <a:solidFill>
                      <a:srgbClr val="FF0000"/>
                    </a:solidFill>
                  </a:rPr>
                  <a:t>Empirical probability</a:t>
                </a:r>
              </a:p>
              <a:p>
                <a:r>
                  <a:rPr lang="en-US" sz="2800" dirty="0"/>
                  <a:t>f:</a:t>
                </a:r>
                <a:r>
                  <a:rPr lang="en-US" sz="2800" b="1" dirty="0"/>
                  <a:t> </a:t>
                </a:r>
                <a14:m>
                  <m:oMath xmlns:m="http://schemas.openxmlformats.org/officeDocument/2006/math">
                    <m:r>
                      <m:rPr>
                        <m:nor/>
                      </m:rPr>
                      <a:rPr lang="en-US" sz="2800"/>
                      <m:t>the</m:t>
                    </m:r>
                    <m:r>
                      <m:rPr>
                        <m:nor/>
                      </m:rPr>
                      <a:rPr lang="en-US" sz="2800"/>
                      <m:t> </m:t>
                    </m:r>
                    <m:r>
                      <m:rPr>
                        <m:nor/>
                      </m:rPr>
                      <a:rPr lang="en-US" sz="2800"/>
                      <m:t>frequency</m:t>
                    </m:r>
                    <m:r>
                      <m:rPr>
                        <m:nor/>
                      </m:rPr>
                      <a:rPr lang="en-US" sz="2800"/>
                      <m:t> </m:t>
                    </m:r>
                    <m:r>
                      <m:rPr>
                        <m:nor/>
                      </m:rPr>
                      <a:rPr lang="en-US" sz="2800"/>
                      <m:t>of</m:t>
                    </m:r>
                    <m:r>
                      <m:rPr>
                        <m:nor/>
                      </m:rPr>
                      <a:rPr lang="en-US" sz="2800"/>
                      <m:t> </m:t>
                    </m:r>
                    <m:r>
                      <m:rPr>
                        <m:nor/>
                      </m:rPr>
                      <a:rPr lang="en-US" sz="2800"/>
                      <m:t>observed</m:t>
                    </m:r>
                    <m:r>
                      <m:rPr>
                        <m:nor/>
                      </m:rPr>
                      <a:rPr lang="en-US" sz="2800"/>
                      <m:t> </m:t>
                    </m:r>
                    <m:r>
                      <m:rPr>
                        <m:nor/>
                      </m:rPr>
                      <a:rPr lang="en-US" sz="2800"/>
                      <m:t>outcomes</m:t>
                    </m:r>
                    <m:r>
                      <m:rPr>
                        <m:nor/>
                      </m:rPr>
                      <a:rPr lang="en-US" sz="2800" b="0" i="0" smtClean="0"/>
                      <m:t> </m:t>
                    </m:r>
                    <m:r>
                      <m:rPr>
                        <m:nor/>
                      </m:rPr>
                      <a:rPr lang="en-US" sz="2800" b="0" i="0" smtClean="0"/>
                      <m:t>in</m:t>
                    </m:r>
                    <m:r>
                      <m:rPr>
                        <m:nor/>
                      </m:rPr>
                      <a:rPr lang="en-US" sz="2800" b="0" i="0" smtClean="0"/>
                      <m:t> </m:t>
                    </m:r>
                    <m:r>
                      <m:rPr>
                        <m:nor/>
                      </m:rPr>
                      <a:rPr lang="en-US" sz="2800" b="0" i="0" smtClean="0"/>
                      <m:t>A</m:t>
                    </m:r>
                    <m:r>
                      <m:rPr>
                        <m:nor/>
                      </m:rPr>
                      <a:rPr lang="en-US" sz="2800" b="0" i="0" smtClean="0"/>
                      <m:t> </m:t>
                    </m:r>
                    <m:r>
                      <m:rPr>
                        <m:nor/>
                      </m:rPr>
                      <a:rPr lang="en-US" sz="2800"/>
                      <m:t>defined</m:t>
                    </m:r>
                    <m:r>
                      <m:rPr>
                        <m:nor/>
                      </m:rPr>
                      <a:rPr lang="en-US" sz="2800"/>
                      <m:t> </m:t>
                    </m:r>
                    <m:r>
                      <m:rPr>
                        <m:nor/>
                      </m:rPr>
                      <a:rPr lang="en-US" sz="2800"/>
                      <m:t>in</m:t>
                    </m:r>
                    <m:r>
                      <m:rPr>
                        <m:nor/>
                      </m:rPr>
                      <a:rPr lang="en-US" sz="2800" b="0" i="0" smtClean="0"/>
                      <m:t> </m:t>
                    </m:r>
                    <m:r>
                      <m:rPr>
                        <m:nor/>
                      </m:rPr>
                      <a:rPr lang="en-US" sz="2800" b="0" i="0" smtClean="0"/>
                      <m:t>the</m:t>
                    </m:r>
                    <m:r>
                      <m:rPr>
                        <m:nor/>
                      </m:rPr>
                      <a:rPr lang="en-US" sz="2800"/>
                      <m:t> </m:t>
                    </m:r>
                    <m:r>
                      <m:rPr>
                        <m:nor/>
                      </m:rPr>
                      <a:rPr lang="en-US" sz="2800"/>
                      <m:t>experimental</m:t>
                    </m:r>
                    <m:r>
                      <m:rPr>
                        <m:nor/>
                      </m:rPr>
                      <a:rPr lang="en-US" sz="2800" b="0" i="0" smtClean="0"/>
                      <m:t> </m:t>
                    </m:r>
                    <m:r>
                      <m:rPr>
                        <m:nor/>
                      </m:rPr>
                      <a:rPr lang="en-US" sz="2800" b="0" i="0" smtClean="0"/>
                      <m:t>sample</m:t>
                    </m:r>
                    <m:r>
                      <m:rPr>
                        <m:nor/>
                      </m:rPr>
                      <a:rPr lang="en-US" sz="2800" b="0" i="0" smtClean="0"/>
                      <m:t> </m:t>
                    </m:r>
                    <m:r>
                      <m:rPr>
                        <m:nor/>
                      </m:rPr>
                      <a:rPr lang="en-US" sz="2800" b="0" i="0" smtClean="0"/>
                      <m:t>space</m:t>
                    </m:r>
                    <m:r>
                      <m:rPr>
                        <m:nor/>
                      </m:rPr>
                      <a:rPr lang="en-US" sz="2800" b="0" i="0" smtClean="0"/>
                      <m:t>.</m:t>
                    </m:r>
                  </m:oMath>
                </a14:m>
                <a:endParaRPr lang="en-US" sz="2800" b="0" dirty="0"/>
              </a:p>
              <a:p>
                <a:r>
                  <a:rPr lang="en-US" sz="2800" dirty="0"/>
                  <a:t>n: </a:t>
                </a:r>
                <a14:m>
                  <m:oMath xmlns:m="http://schemas.openxmlformats.org/officeDocument/2006/math">
                    <m:r>
                      <m:rPr>
                        <m:nor/>
                      </m:rPr>
                      <a:rPr lang="en-US" sz="2800"/>
                      <m:t>the</m:t>
                    </m:r>
                    <m:r>
                      <m:rPr>
                        <m:nor/>
                      </m:rPr>
                      <a:rPr lang="en-US" sz="2800"/>
                      <m:t> </m:t>
                    </m:r>
                    <m:r>
                      <m:rPr>
                        <m:nor/>
                      </m:rPr>
                      <a:rPr lang="en-US" sz="2800"/>
                      <m:t>number</m:t>
                    </m:r>
                    <m:r>
                      <m:rPr>
                        <m:nor/>
                      </m:rPr>
                      <a:rPr lang="en-US" sz="2800"/>
                      <m:t> </m:t>
                    </m:r>
                    <m:r>
                      <m:rPr>
                        <m:nor/>
                      </m:rPr>
                      <a:rPr lang="en-US" sz="2800"/>
                      <m:t>of</m:t>
                    </m:r>
                    <m:r>
                      <m:rPr>
                        <m:nor/>
                      </m:rPr>
                      <a:rPr lang="en-US" sz="2800"/>
                      <m:t> </m:t>
                    </m:r>
                    <m:r>
                      <m:rPr>
                        <m:nor/>
                      </m:rPr>
                      <a:rPr lang="en-US" sz="2800"/>
                      <m:t>observations</m:t>
                    </m:r>
                    <m:r>
                      <m:rPr>
                        <m:nor/>
                      </m:rPr>
                      <a:rPr lang="en-US" sz="2800" b="0" i="0" smtClean="0"/>
                      <m:t>.</m:t>
                    </m:r>
                  </m:oMath>
                </a14:m>
                <a:endParaRPr lang="en-US" sz="2800" dirty="0"/>
              </a:p>
              <a:p>
                <a:endParaRPr lang="en-US" sz="2800" b="1" dirty="0"/>
              </a:p>
            </p:txBody>
          </p:sp>
        </mc:Choice>
        <mc:Fallback xmlns="">
          <p:sp>
            <p:nvSpPr>
              <p:cNvPr id="5" name="TextBox 4">
                <a:extLst>
                  <a:ext uri="{FF2B5EF4-FFF2-40B4-BE49-F238E27FC236}">
                    <a16:creationId xmlns:a16="http://schemas.microsoft.com/office/drawing/2014/main" id="{A2E2328E-04C0-4179-B1A8-F61B6B7EC6F6}"/>
                  </a:ext>
                </a:extLst>
              </p:cNvPr>
              <p:cNvSpPr txBox="1">
                <a:spLocks noRot="1" noChangeAspect="1" noMove="1" noResize="1" noEditPoints="1" noAdjustHandles="1" noChangeArrowheads="1" noChangeShapeType="1" noTextEdit="1"/>
              </p:cNvSpPr>
              <p:nvPr/>
            </p:nvSpPr>
            <p:spPr>
              <a:xfrm>
                <a:off x="231648" y="3060192"/>
                <a:ext cx="12508992" cy="2246769"/>
              </a:xfrm>
              <a:prstGeom prst="rect">
                <a:avLst/>
              </a:prstGeom>
              <a:blipFill>
                <a:blip r:embed="rId5"/>
                <a:stretch>
                  <a:fillRect l="-975" t="-2439"/>
                </a:stretch>
              </a:blipFill>
            </p:spPr>
            <p:txBody>
              <a:bodyPr/>
              <a:lstStyle/>
              <a:p>
                <a:r>
                  <a:rPr lang="en-US">
                    <a:noFill/>
                  </a:rPr>
                  <a:t> </a:t>
                </a:r>
              </a:p>
            </p:txBody>
          </p:sp>
        </mc:Fallback>
      </mc:AlternateContent>
      <p:graphicFrame>
        <p:nvGraphicFramePr>
          <p:cNvPr id="6" name="Object 5">
            <a:extLst>
              <a:ext uri="{FF2B5EF4-FFF2-40B4-BE49-F238E27FC236}">
                <a16:creationId xmlns:a16="http://schemas.microsoft.com/office/drawing/2014/main" id="{85C632DD-FE2B-4E36-B1F9-9814FB70799C}"/>
              </a:ext>
            </a:extLst>
          </p:cNvPr>
          <p:cNvGraphicFramePr>
            <a:graphicFrameLocks noChangeAspect="1"/>
          </p:cNvGraphicFramePr>
          <p:nvPr>
            <p:extLst>
              <p:ext uri="{D42A27DB-BD31-4B8C-83A1-F6EECF244321}">
                <p14:modId xmlns:p14="http://schemas.microsoft.com/office/powerpoint/2010/main" val="2747121648"/>
              </p:ext>
            </p:extLst>
          </p:nvPr>
        </p:nvGraphicFramePr>
        <p:xfrm>
          <a:off x="1120518" y="5103621"/>
          <a:ext cx="1659258" cy="1008568"/>
        </p:xfrm>
        <a:graphic>
          <a:graphicData uri="http://schemas.openxmlformats.org/presentationml/2006/ole">
            <mc:AlternateContent xmlns:mc="http://schemas.openxmlformats.org/markup-compatibility/2006">
              <mc:Choice xmlns:v="urn:schemas-microsoft-com:vml" Requires="v">
                <p:oleObj name="Equation" r:id="rId6" imgW="647640" imgH="393480" progId="Equation.DSMT4">
                  <p:embed/>
                </p:oleObj>
              </mc:Choice>
              <mc:Fallback>
                <p:oleObj name="Equation" r:id="rId6" imgW="647640" imgH="393480" progId="Equation.DSMT4">
                  <p:embed/>
                  <p:pic>
                    <p:nvPicPr>
                      <p:cNvPr id="6" name="Object 5">
                        <a:extLst>
                          <a:ext uri="{FF2B5EF4-FFF2-40B4-BE49-F238E27FC236}">
                            <a16:creationId xmlns:a16="http://schemas.microsoft.com/office/drawing/2014/main" id="{85C632DD-FE2B-4E36-B1F9-9814FB70799C}"/>
                          </a:ext>
                        </a:extLst>
                      </p:cNvPr>
                      <p:cNvPicPr/>
                      <p:nvPr/>
                    </p:nvPicPr>
                    <p:blipFill>
                      <a:blip r:embed="rId7"/>
                      <a:stretch>
                        <a:fillRect/>
                      </a:stretch>
                    </p:blipFill>
                    <p:spPr>
                      <a:xfrm>
                        <a:off x="1120518" y="5103621"/>
                        <a:ext cx="1659258" cy="100856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D50751C7-09C2-4834-B23E-3C9307294B87}"/>
              </a:ext>
            </a:extLst>
          </p:cNvPr>
          <p:cNvSpPr/>
          <p:nvPr/>
        </p:nvSpPr>
        <p:spPr>
          <a:xfrm>
            <a:off x="5047488" y="5416510"/>
            <a:ext cx="6876288" cy="1200329"/>
          </a:xfrm>
          <a:prstGeom prst="rect">
            <a:avLst/>
          </a:prstGeom>
        </p:spPr>
        <p:txBody>
          <a:bodyPr wrap="square">
            <a:spAutoFit/>
          </a:bodyPr>
          <a:lstStyle/>
          <a:p>
            <a:r>
              <a:rPr lang="en-US" sz="2400" i="1" dirty="0">
                <a:latin typeface="TimesNewRomanPS"/>
              </a:rPr>
              <a:t>Note: As we increase the number of observations (</a:t>
            </a:r>
            <a:r>
              <a:rPr lang="en-US" sz="2400" i="1" dirty="0">
                <a:latin typeface="TimesNewRomanPS-Italic"/>
              </a:rPr>
              <a:t>n</a:t>
            </a:r>
            <a:r>
              <a:rPr lang="en-US" sz="2400" i="1" dirty="0">
                <a:latin typeface="TimesNewRomanPS"/>
              </a:rPr>
              <a:t>) or the number of times we perform the experiment, our estimate will become more and more accurate.</a:t>
            </a:r>
            <a:endParaRPr lang="en-US" sz="2400" i="1" dirty="0"/>
          </a:p>
        </p:txBody>
      </p:sp>
      <p:sp>
        <p:nvSpPr>
          <p:cNvPr id="7" name="Date Placeholder 6">
            <a:extLst>
              <a:ext uri="{FF2B5EF4-FFF2-40B4-BE49-F238E27FC236}">
                <a16:creationId xmlns:a16="http://schemas.microsoft.com/office/drawing/2014/main" id="{6D22B085-0EA7-4EC4-96A1-27E6027877E6}"/>
              </a:ext>
            </a:extLst>
          </p:cNvPr>
          <p:cNvSpPr>
            <a:spLocks noGrp="1"/>
          </p:cNvSpPr>
          <p:nvPr>
            <p:ph type="dt" sz="half" idx="10"/>
          </p:nvPr>
        </p:nvSpPr>
        <p:spPr/>
        <p:txBody>
          <a:bodyPr/>
          <a:lstStyle/>
          <a:p>
            <a:fld id="{63B4A9A5-F2D2-49A8-98D8-418F6DECA676}" type="datetime1">
              <a:rPr lang="en-US" smtClean="0"/>
              <a:t>2/27/24</a:t>
            </a:fld>
            <a:endParaRPr lang="en-US"/>
          </a:p>
        </p:txBody>
      </p:sp>
      <p:sp>
        <p:nvSpPr>
          <p:cNvPr id="8" name="Footer Placeholder 7">
            <a:extLst>
              <a:ext uri="{FF2B5EF4-FFF2-40B4-BE49-F238E27FC236}">
                <a16:creationId xmlns:a16="http://schemas.microsoft.com/office/drawing/2014/main" id="{CCCD5AFD-BBF2-4A83-8E18-081F8DBE9070}"/>
              </a:ext>
            </a:extLst>
          </p:cNvPr>
          <p:cNvSpPr>
            <a:spLocks noGrp="1"/>
          </p:cNvSpPr>
          <p:nvPr>
            <p:ph type="ftr" sz="quarter" idx="11"/>
          </p:nvPr>
        </p:nvSpPr>
        <p:spPr/>
        <p:txBody>
          <a:bodyPr/>
          <a:lstStyle/>
          <a:p>
            <a:r>
              <a:rPr lang="en-US"/>
              <a:t>Dr. Nguyễn Ngọc Ái Vân</a:t>
            </a:r>
            <a:endParaRPr lang="en-US" dirty="0"/>
          </a:p>
        </p:txBody>
      </p:sp>
      <p:sp>
        <p:nvSpPr>
          <p:cNvPr id="9" name="Slide Number Placeholder 8">
            <a:extLst>
              <a:ext uri="{FF2B5EF4-FFF2-40B4-BE49-F238E27FC236}">
                <a16:creationId xmlns:a16="http://schemas.microsoft.com/office/drawing/2014/main" id="{55B9BFBF-CA8C-473F-A81E-11960542B877}"/>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913527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8F728-40B2-471D-A904-679AF34ABF65}"/>
              </a:ext>
            </a:extLst>
          </p:cNvPr>
          <p:cNvSpPr>
            <a:spLocks noGrp="1"/>
          </p:cNvSpPr>
          <p:nvPr>
            <p:ph type="title"/>
          </p:nvPr>
        </p:nvSpPr>
        <p:spPr/>
        <p:txBody>
          <a:bodyPr/>
          <a:lstStyle/>
          <a:p>
            <a:r>
              <a:rPr lang="en-US" b="1" dirty="0"/>
              <a:t>Classical Approach</a:t>
            </a:r>
          </a:p>
        </p:txBody>
      </p:sp>
      <p:sp>
        <p:nvSpPr>
          <p:cNvPr id="3" name="Content Placeholder 2">
            <a:extLst>
              <a:ext uri="{FF2B5EF4-FFF2-40B4-BE49-F238E27FC236}">
                <a16:creationId xmlns:a16="http://schemas.microsoft.com/office/drawing/2014/main" id="{CBF70AE3-2A7B-469C-98F0-CC14A5E29237}"/>
              </a:ext>
            </a:extLst>
          </p:cNvPr>
          <p:cNvSpPr>
            <a:spLocks noGrp="1"/>
          </p:cNvSpPr>
          <p:nvPr>
            <p:ph idx="1"/>
          </p:nvPr>
        </p:nvSpPr>
        <p:spPr>
          <a:xfrm>
            <a:off x="5042713" y="2230229"/>
            <a:ext cx="6052959" cy="5105400"/>
          </a:xfrm>
        </p:spPr>
        <p:txBody>
          <a:bodyPr/>
          <a:lstStyle/>
          <a:p>
            <a:pPr marL="0" indent="0">
              <a:buNone/>
            </a:pPr>
            <a:r>
              <a:rPr lang="en-US" dirty="0"/>
              <a:t>Example: </a:t>
            </a:r>
          </a:p>
          <a:p>
            <a:pPr marL="0" indent="0">
              <a:buNone/>
            </a:pPr>
            <a:r>
              <a:rPr lang="en-US" dirty="0"/>
              <a:t>In the two dice experiment, there are 36 possible outcomes, so the probability of rolling a seven is</a:t>
            </a:r>
          </a:p>
          <a:p>
            <a:pPr marL="0" indent="0">
              <a:buNone/>
            </a:pPr>
            <a:r>
              <a:rPr lang="en-US" dirty="0"/>
              <a:t>             </a:t>
            </a:r>
          </a:p>
        </p:txBody>
      </p:sp>
      <p:pic>
        <p:nvPicPr>
          <p:cNvPr id="4" name="Picture 3">
            <a:extLst>
              <a:ext uri="{FF2B5EF4-FFF2-40B4-BE49-F238E27FC236}">
                <a16:creationId xmlns:a16="http://schemas.microsoft.com/office/drawing/2014/main" id="{8CA3A111-2CE6-4B37-A6E1-C855CBB252DD}"/>
              </a:ext>
            </a:extLst>
          </p:cNvPr>
          <p:cNvPicPr>
            <a:picLocks noChangeAspect="1"/>
          </p:cNvPicPr>
          <p:nvPr/>
        </p:nvPicPr>
        <p:blipFill>
          <a:blip r:embed="rId2"/>
          <a:stretch>
            <a:fillRect/>
          </a:stretch>
        </p:blipFill>
        <p:spPr>
          <a:xfrm>
            <a:off x="2024754" y="4613592"/>
            <a:ext cx="9543676" cy="900348"/>
          </a:xfrm>
          <a:prstGeom prst="rect">
            <a:avLst/>
          </a:prstGeom>
        </p:spPr>
      </p:pic>
      <p:pic>
        <p:nvPicPr>
          <p:cNvPr id="8" name="Picture 7">
            <a:extLst>
              <a:ext uri="{FF2B5EF4-FFF2-40B4-BE49-F238E27FC236}">
                <a16:creationId xmlns:a16="http://schemas.microsoft.com/office/drawing/2014/main" id="{A6BBECCB-9EAD-467F-8CB1-6C08CC489192}"/>
              </a:ext>
            </a:extLst>
          </p:cNvPr>
          <p:cNvPicPr>
            <a:picLocks noChangeAspect="1"/>
          </p:cNvPicPr>
          <p:nvPr/>
        </p:nvPicPr>
        <p:blipFill>
          <a:blip r:embed="rId3"/>
          <a:stretch>
            <a:fillRect/>
          </a:stretch>
        </p:blipFill>
        <p:spPr>
          <a:xfrm>
            <a:off x="1" y="839571"/>
            <a:ext cx="3998968" cy="3697596"/>
          </a:xfrm>
          <a:prstGeom prst="rect">
            <a:avLst/>
          </a:prstGeom>
        </p:spPr>
      </p:pic>
      <p:sp>
        <p:nvSpPr>
          <p:cNvPr id="5" name="Date Placeholder 4">
            <a:extLst>
              <a:ext uri="{FF2B5EF4-FFF2-40B4-BE49-F238E27FC236}">
                <a16:creationId xmlns:a16="http://schemas.microsoft.com/office/drawing/2014/main" id="{1AACFDC6-4CFD-4FF1-BC98-E1350B1A9F65}"/>
              </a:ext>
            </a:extLst>
          </p:cNvPr>
          <p:cNvSpPr>
            <a:spLocks noGrp="1"/>
          </p:cNvSpPr>
          <p:nvPr>
            <p:ph type="dt" sz="half" idx="10"/>
          </p:nvPr>
        </p:nvSpPr>
        <p:spPr/>
        <p:txBody>
          <a:bodyPr/>
          <a:lstStyle/>
          <a:p>
            <a:fld id="{8F286573-7AB9-4422-9E55-A89CFDC44306}" type="datetime1">
              <a:rPr lang="en-US" smtClean="0"/>
              <a:t>2/27/24</a:t>
            </a:fld>
            <a:endParaRPr lang="en-US"/>
          </a:p>
        </p:txBody>
      </p:sp>
      <p:sp>
        <p:nvSpPr>
          <p:cNvPr id="6" name="Footer Placeholder 5">
            <a:extLst>
              <a:ext uri="{FF2B5EF4-FFF2-40B4-BE49-F238E27FC236}">
                <a16:creationId xmlns:a16="http://schemas.microsoft.com/office/drawing/2014/main" id="{42207708-C50D-44F2-902A-2993CCF97B2B}"/>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29EA9E41-16A0-469D-BC3D-F9B364D3444A}"/>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489031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F32EA-B800-47CB-969E-E56D881ECCF9}"/>
              </a:ext>
            </a:extLst>
          </p:cNvPr>
          <p:cNvSpPr>
            <a:spLocks noGrp="1"/>
          </p:cNvSpPr>
          <p:nvPr>
            <p:ph type="title"/>
          </p:nvPr>
        </p:nvSpPr>
        <p:spPr/>
        <p:txBody>
          <a:bodyPr/>
          <a:lstStyle/>
          <a:p>
            <a:endParaRPr lang="en-US"/>
          </a:p>
        </p:txBody>
      </p:sp>
      <p:grpSp>
        <p:nvGrpSpPr>
          <p:cNvPr id="4" name="Group 3">
            <a:extLst>
              <a:ext uri="{FF2B5EF4-FFF2-40B4-BE49-F238E27FC236}">
                <a16:creationId xmlns:a16="http://schemas.microsoft.com/office/drawing/2014/main" id="{6E98D8A3-5BB6-461D-ADCA-7AB8F39FA23E}"/>
              </a:ext>
            </a:extLst>
          </p:cNvPr>
          <p:cNvGrpSpPr/>
          <p:nvPr/>
        </p:nvGrpSpPr>
        <p:grpSpPr>
          <a:xfrm>
            <a:off x="432260" y="1379220"/>
            <a:ext cx="11502652" cy="2246769"/>
            <a:chOff x="455986" y="4000500"/>
            <a:chExt cx="11502652" cy="2246769"/>
          </a:xfrm>
        </p:grpSpPr>
        <p:sp>
          <p:nvSpPr>
            <p:cNvPr id="5" name="TextBox 4">
              <a:extLst>
                <a:ext uri="{FF2B5EF4-FFF2-40B4-BE49-F238E27FC236}">
                  <a16:creationId xmlns:a16="http://schemas.microsoft.com/office/drawing/2014/main" id="{414A2BD2-8940-4C52-BAA7-E3DA5B585963}"/>
                </a:ext>
              </a:extLst>
            </p:cNvPr>
            <p:cNvSpPr txBox="1"/>
            <p:nvPr/>
          </p:nvSpPr>
          <p:spPr>
            <a:xfrm>
              <a:off x="455986" y="4000500"/>
              <a:ext cx="11502652" cy="2246769"/>
            </a:xfrm>
            <a:prstGeom prst="rect">
              <a:avLst/>
            </a:prstGeom>
            <a:noFill/>
            <a:ln>
              <a:solidFill>
                <a:srgbClr val="FF0000"/>
              </a:solidFill>
            </a:ln>
          </p:spPr>
          <p:txBody>
            <a:bodyPr wrap="square" rtlCol="0">
              <a:spAutoFit/>
            </a:bodyPr>
            <a:lstStyle/>
            <a:p>
              <a:r>
                <a:rPr lang="en-US" sz="2800" dirty="0"/>
                <a:t>When the sample space consists of equally likely outcomes, the probability of an event A is  </a:t>
              </a:r>
            </a:p>
            <a:p>
              <a:endParaRPr lang="en-US" sz="2800" dirty="0"/>
            </a:p>
            <a:p>
              <a:endParaRPr lang="en-US" sz="2800" dirty="0"/>
            </a:p>
            <a:p>
              <a:endParaRPr lang="en-US" sz="2800" dirty="0"/>
            </a:p>
          </p:txBody>
        </p:sp>
        <p:graphicFrame>
          <p:nvGraphicFramePr>
            <p:cNvPr id="6" name="Object 5">
              <a:extLst>
                <a:ext uri="{FF2B5EF4-FFF2-40B4-BE49-F238E27FC236}">
                  <a16:creationId xmlns:a16="http://schemas.microsoft.com/office/drawing/2014/main" id="{28F927A7-21A1-4729-B6B3-3EB9DF267E7A}"/>
                </a:ext>
              </a:extLst>
            </p:cNvPr>
            <p:cNvGraphicFramePr>
              <a:graphicFrameLocks noChangeAspect="1"/>
            </p:cNvGraphicFramePr>
            <p:nvPr>
              <p:extLst>
                <p:ext uri="{D42A27DB-BD31-4B8C-83A1-F6EECF244321}">
                  <p14:modId xmlns:p14="http://schemas.microsoft.com/office/powerpoint/2010/main" val="2917892846"/>
                </p:ext>
              </p:extLst>
            </p:nvPr>
          </p:nvGraphicFramePr>
          <p:xfrm>
            <a:off x="2451099" y="5138756"/>
            <a:ext cx="5816975" cy="954107"/>
          </p:xfrm>
          <a:graphic>
            <a:graphicData uri="http://schemas.openxmlformats.org/presentationml/2006/ole">
              <mc:AlternateContent xmlns:mc="http://schemas.openxmlformats.org/markup-compatibility/2006">
                <mc:Choice xmlns:v="urn:schemas-microsoft-com:vml" Requires="v">
                  <p:oleObj name="Equation" r:id="rId2" imgW="2400120" imgH="393480" progId="Equation.DSMT4">
                    <p:embed/>
                  </p:oleObj>
                </mc:Choice>
                <mc:Fallback>
                  <p:oleObj name="Equation" r:id="rId2" imgW="2400120" imgH="393480" progId="Equation.DSMT4">
                    <p:embed/>
                    <p:pic>
                      <p:nvPicPr>
                        <p:cNvPr id="6" name="Object 5">
                          <a:extLst>
                            <a:ext uri="{FF2B5EF4-FFF2-40B4-BE49-F238E27FC236}">
                              <a16:creationId xmlns:a16="http://schemas.microsoft.com/office/drawing/2014/main" id="{28F927A7-21A1-4729-B6B3-3EB9DF267E7A}"/>
                            </a:ext>
                          </a:extLst>
                        </p:cNvPr>
                        <p:cNvPicPr/>
                        <p:nvPr/>
                      </p:nvPicPr>
                      <p:blipFill>
                        <a:blip r:embed="rId3"/>
                        <a:stretch>
                          <a:fillRect/>
                        </a:stretch>
                      </p:blipFill>
                      <p:spPr>
                        <a:xfrm>
                          <a:off x="2451099" y="5138756"/>
                          <a:ext cx="5816975" cy="954107"/>
                        </a:xfrm>
                        <a:prstGeom prst="rect">
                          <a:avLst/>
                        </a:prstGeom>
                      </p:spPr>
                    </p:pic>
                  </p:oleObj>
                </mc:Fallback>
              </mc:AlternateContent>
            </a:graphicData>
          </a:graphic>
        </p:graphicFrame>
      </p:grpSp>
      <p:sp>
        <p:nvSpPr>
          <p:cNvPr id="3" name="Date Placeholder 2">
            <a:extLst>
              <a:ext uri="{FF2B5EF4-FFF2-40B4-BE49-F238E27FC236}">
                <a16:creationId xmlns:a16="http://schemas.microsoft.com/office/drawing/2014/main" id="{AFB8A57E-1250-43D5-B2A7-225AEF65A76D}"/>
              </a:ext>
            </a:extLst>
          </p:cNvPr>
          <p:cNvSpPr>
            <a:spLocks noGrp="1"/>
          </p:cNvSpPr>
          <p:nvPr>
            <p:ph type="dt" sz="half" idx="10"/>
          </p:nvPr>
        </p:nvSpPr>
        <p:spPr/>
        <p:txBody>
          <a:bodyPr/>
          <a:lstStyle/>
          <a:p>
            <a:fld id="{4A2C44E0-76EA-46CB-9E9C-3F095E1AEF64}" type="datetime1">
              <a:rPr lang="en-US" smtClean="0"/>
              <a:t>2/27/24</a:t>
            </a:fld>
            <a:endParaRPr lang="en-US"/>
          </a:p>
        </p:txBody>
      </p:sp>
      <p:sp>
        <p:nvSpPr>
          <p:cNvPr id="7" name="Footer Placeholder 6">
            <a:extLst>
              <a:ext uri="{FF2B5EF4-FFF2-40B4-BE49-F238E27FC236}">
                <a16:creationId xmlns:a16="http://schemas.microsoft.com/office/drawing/2014/main" id="{6DF5ADDF-4D5A-4E0E-B4B9-1F9F4C0CD07C}"/>
              </a:ext>
            </a:extLst>
          </p:cNvPr>
          <p:cNvSpPr>
            <a:spLocks noGrp="1"/>
          </p:cNvSpPr>
          <p:nvPr>
            <p:ph type="ftr" sz="quarter" idx="11"/>
          </p:nvPr>
        </p:nvSpPr>
        <p:spPr/>
        <p:txBody>
          <a:bodyPr/>
          <a:lstStyle/>
          <a:p>
            <a:r>
              <a:rPr lang="en-US"/>
              <a:t>Dr. Nguyễn Ngọc Ái Vân</a:t>
            </a:r>
            <a:endParaRPr lang="en-US" dirty="0"/>
          </a:p>
        </p:txBody>
      </p:sp>
      <p:sp>
        <p:nvSpPr>
          <p:cNvPr id="8" name="Slide Number Placeholder 7">
            <a:extLst>
              <a:ext uri="{FF2B5EF4-FFF2-40B4-BE49-F238E27FC236}">
                <a16:creationId xmlns:a16="http://schemas.microsoft.com/office/drawing/2014/main" id="{4A248454-FEA4-4E99-B3CA-5EC6D1C4C2EE}"/>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002238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F53327-E924-4434-B2C4-5DFB24F8D424}"/>
              </a:ext>
            </a:extLst>
          </p:cNvPr>
          <p:cNvSpPr>
            <a:spLocks noGrp="1"/>
          </p:cNvSpPr>
          <p:nvPr>
            <p:ph idx="1"/>
          </p:nvPr>
        </p:nvSpPr>
        <p:spPr>
          <a:xfrm>
            <a:off x="256032" y="1143000"/>
            <a:ext cx="10972800" cy="5105400"/>
          </a:xfrm>
        </p:spPr>
        <p:txBody>
          <a:bodyPr/>
          <a:lstStyle/>
          <a:p>
            <a:r>
              <a:rPr lang="en-US" b="1" dirty="0">
                <a:solidFill>
                  <a:srgbClr val="C00000"/>
                </a:solidFill>
              </a:rPr>
              <a:t>General Law of Addition</a:t>
            </a:r>
          </a:p>
          <a:p>
            <a:pPr marL="0" indent="0">
              <a:buNone/>
            </a:pPr>
            <a:r>
              <a:rPr lang="en-US" i="1" dirty="0"/>
              <a:t>              P</a:t>
            </a:r>
            <a:r>
              <a:rPr lang="en-US" dirty="0"/>
              <a:t>(</a:t>
            </a:r>
            <a:r>
              <a:rPr lang="en-US" i="1" dirty="0"/>
              <a:t>A </a:t>
            </a:r>
            <a:r>
              <a:rPr lang="en-US" dirty="0"/>
              <a:t>∪ </a:t>
            </a:r>
            <a:r>
              <a:rPr lang="en-US" i="1" dirty="0"/>
              <a:t>B</a:t>
            </a:r>
            <a:r>
              <a:rPr lang="en-US" dirty="0"/>
              <a:t>) = </a:t>
            </a:r>
            <a:r>
              <a:rPr lang="en-US" i="1" dirty="0"/>
              <a:t>P</a:t>
            </a:r>
            <a:r>
              <a:rPr lang="en-US" dirty="0"/>
              <a:t>(</a:t>
            </a:r>
            <a:r>
              <a:rPr lang="en-US" i="1" dirty="0"/>
              <a:t>A</a:t>
            </a:r>
            <a:r>
              <a:rPr lang="en-US" dirty="0"/>
              <a:t>) + </a:t>
            </a:r>
            <a:r>
              <a:rPr lang="en-US" i="1" dirty="0"/>
              <a:t>P</a:t>
            </a:r>
            <a:r>
              <a:rPr lang="en-US" dirty="0"/>
              <a:t>(</a:t>
            </a:r>
            <a:r>
              <a:rPr lang="en-US" i="1" dirty="0"/>
              <a:t>B</a:t>
            </a:r>
            <a:r>
              <a:rPr lang="en-US" dirty="0"/>
              <a:t>) – </a:t>
            </a:r>
            <a:r>
              <a:rPr lang="en-US" i="1" dirty="0"/>
              <a:t>P</a:t>
            </a:r>
            <a:r>
              <a:rPr lang="en-US" dirty="0"/>
              <a:t>(</a:t>
            </a:r>
            <a:r>
              <a:rPr lang="en-US" i="1" dirty="0"/>
              <a:t>A </a:t>
            </a:r>
            <a:r>
              <a:rPr lang="en-US" dirty="0"/>
              <a:t>∩ </a:t>
            </a:r>
            <a:r>
              <a:rPr lang="en-US" i="1" dirty="0"/>
              <a:t>B</a:t>
            </a:r>
            <a:r>
              <a:rPr lang="en-US" dirty="0"/>
              <a:t>)                  for any events A and B.</a:t>
            </a:r>
          </a:p>
          <a:p>
            <a:pPr marL="0" indent="0">
              <a:buNone/>
            </a:pPr>
            <a:endParaRPr lang="en-US" dirty="0"/>
          </a:p>
          <a:p>
            <a:pPr marL="0" indent="0">
              <a:buNone/>
            </a:pPr>
            <a:r>
              <a:rPr lang="en-US" dirty="0"/>
              <a:t>Example:</a:t>
            </a:r>
          </a:p>
          <a:p>
            <a:pPr marL="0" indent="0">
              <a:buNone/>
            </a:pPr>
            <a:r>
              <a:rPr lang="en-US" dirty="0">
                <a:solidFill>
                  <a:srgbClr val="C00000"/>
                </a:solidFill>
              </a:rPr>
              <a:t>  </a:t>
            </a:r>
          </a:p>
          <a:p>
            <a:pPr marL="0" indent="0">
              <a:buNone/>
            </a:pPr>
            <a:endParaRPr lang="en-US" dirty="0">
              <a:solidFill>
                <a:srgbClr val="C00000"/>
              </a:solidFill>
            </a:endParaRPr>
          </a:p>
        </p:txBody>
      </p:sp>
      <p:sp>
        <p:nvSpPr>
          <p:cNvPr id="4" name="Title 1">
            <a:extLst>
              <a:ext uri="{FF2B5EF4-FFF2-40B4-BE49-F238E27FC236}">
                <a16:creationId xmlns:a16="http://schemas.microsoft.com/office/drawing/2014/main" id="{91147783-DBFC-472E-8C61-AF1F307DD3C2}"/>
              </a:ext>
            </a:extLst>
          </p:cNvPr>
          <p:cNvSpPr>
            <a:spLocks noGrp="1"/>
          </p:cNvSpPr>
          <p:nvPr>
            <p:ph type="title"/>
          </p:nvPr>
        </p:nvSpPr>
        <p:spPr>
          <a:xfrm>
            <a:off x="313349" y="76200"/>
            <a:ext cx="11204027" cy="685800"/>
          </a:xfrm>
        </p:spPr>
        <p:txBody>
          <a:bodyPr/>
          <a:lstStyle/>
          <a:p>
            <a:r>
              <a:rPr lang="en-US" b="1" dirty="0"/>
              <a:t>Rules of probability  </a:t>
            </a:r>
          </a:p>
        </p:txBody>
      </p:sp>
      <p:pic>
        <p:nvPicPr>
          <p:cNvPr id="5" name="Picture 4">
            <a:extLst>
              <a:ext uri="{FF2B5EF4-FFF2-40B4-BE49-F238E27FC236}">
                <a16:creationId xmlns:a16="http://schemas.microsoft.com/office/drawing/2014/main" id="{621CA14A-6448-498D-952A-F68D3C2B008C}"/>
              </a:ext>
            </a:extLst>
          </p:cNvPr>
          <p:cNvPicPr>
            <a:picLocks noChangeAspect="1"/>
          </p:cNvPicPr>
          <p:nvPr/>
        </p:nvPicPr>
        <p:blipFill>
          <a:blip r:embed="rId2"/>
          <a:stretch>
            <a:fillRect/>
          </a:stretch>
        </p:blipFill>
        <p:spPr>
          <a:xfrm>
            <a:off x="1621154" y="2865310"/>
            <a:ext cx="10156317" cy="3565516"/>
          </a:xfrm>
          <a:prstGeom prst="rect">
            <a:avLst/>
          </a:prstGeom>
        </p:spPr>
      </p:pic>
      <p:sp>
        <p:nvSpPr>
          <p:cNvPr id="2" name="Date Placeholder 1">
            <a:extLst>
              <a:ext uri="{FF2B5EF4-FFF2-40B4-BE49-F238E27FC236}">
                <a16:creationId xmlns:a16="http://schemas.microsoft.com/office/drawing/2014/main" id="{6C231990-F5D4-4116-9507-F38125933C08}"/>
              </a:ext>
            </a:extLst>
          </p:cNvPr>
          <p:cNvSpPr>
            <a:spLocks noGrp="1"/>
          </p:cNvSpPr>
          <p:nvPr>
            <p:ph type="dt" sz="half" idx="10"/>
          </p:nvPr>
        </p:nvSpPr>
        <p:spPr/>
        <p:txBody>
          <a:bodyPr/>
          <a:lstStyle/>
          <a:p>
            <a:fld id="{CBBBCF16-53CF-4F95-89AC-B586BE7D68C5}" type="datetime1">
              <a:rPr lang="en-US" smtClean="0"/>
              <a:t>2/27/24</a:t>
            </a:fld>
            <a:endParaRPr lang="en-US"/>
          </a:p>
        </p:txBody>
      </p:sp>
      <p:sp>
        <p:nvSpPr>
          <p:cNvPr id="6" name="Footer Placeholder 5">
            <a:extLst>
              <a:ext uri="{FF2B5EF4-FFF2-40B4-BE49-F238E27FC236}">
                <a16:creationId xmlns:a16="http://schemas.microsoft.com/office/drawing/2014/main" id="{343A3F97-4D35-457C-9A03-BC130B727A7F}"/>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A8DC31E3-52B1-44BF-BDB0-1CB8AF3C2879}"/>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870699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C1829-2622-4CEC-3322-76498D62B07D}"/>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8F6BE697-917B-A451-C1F6-F92C05D5F556}"/>
              </a:ext>
            </a:extLst>
          </p:cNvPr>
          <p:cNvPicPr>
            <a:picLocks noGrp="1" noChangeAspect="1"/>
          </p:cNvPicPr>
          <p:nvPr>
            <p:ph idx="1"/>
          </p:nvPr>
        </p:nvPicPr>
        <p:blipFill>
          <a:blip r:embed="rId2"/>
          <a:stretch>
            <a:fillRect/>
          </a:stretch>
        </p:blipFill>
        <p:spPr>
          <a:xfrm>
            <a:off x="609600" y="1413164"/>
            <a:ext cx="10464800" cy="1625600"/>
          </a:xfrm>
          <a:prstGeom prst="rect">
            <a:avLst/>
          </a:prstGeom>
        </p:spPr>
      </p:pic>
      <p:sp>
        <p:nvSpPr>
          <p:cNvPr id="4" name="Date Placeholder 3">
            <a:extLst>
              <a:ext uri="{FF2B5EF4-FFF2-40B4-BE49-F238E27FC236}">
                <a16:creationId xmlns:a16="http://schemas.microsoft.com/office/drawing/2014/main" id="{A37B57B8-7CF3-7CF8-7206-011792CC9F9D}"/>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FAC3FF80-5C66-6F55-487B-AA0C5DBA9317}"/>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C848EF81-E38C-1306-C13D-C56B7F4D6217}"/>
              </a:ext>
            </a:extLst>
          </p:cNvPr>
          <p:cNvSpPr>
            <a:spLocks noGrp="1"/>
          </p:cNvSpPr>
          <p:nvPr>
            <p:ph type="sldNum" sz="quarter" idx="12"/>
          </p:nvPr>
        </p:nvSpPr>
        <p:spPr/>
        <p:txBody>
          <a:bodyPr/>
          <a:lstStyle/>
          <a:p>
            <a:fld id="{B6F15528-21DE-4FAA-801E-634DDDAF4B2B}" type="slidenum">
              <a:rPr lang="en-US" smtClean="0"/>
              <a:pPr/>
              <a:t>29</a:t>
            </a:fld>
            <a:endParaRPr lang="en-US"/>
          </a:p>
        </p:txBody>
      </p:sp>
      <p:pic>
        <p:nvPicPr>
          <p:cNvPr id="8" name="Picture 7">
            <a:extLst>
              <a:ext uri="{FF2B5EF4-FFF2-40B4-BE49-F238E27FC236}">
                <a16:creationId xmlns:a16="http://schemas.microsoft.com/office/drawing/2014/main" id="{B8514FB7-3799-4E63-DDFA-F994CA58C39E}"/>
              </a:ext>
            </a:extLst>
          </p:cNvPr>
          <p:cNvPicPr>
            <a:picLocks noChangeAspect="1"/>
          </p:cNvPicPr>
          <p:nvPr/>
        </p:nvPicPr>
        <p:blipFill>
          <a:blip r:embed="rId3"/>
          <a:stretch>
            <a:fillRect/>
          </a:stretch>
        </p:blipFill>
        <p:spPr>
          <a:xfrm>
            <a:off x="477981" y="3344364"/>
            <a:ext cx="11414966" cy="2737781"/>
          </a:xfrm>
          <a:prstGeom prst="rect">
            <a:avLst/>
          </a:prstGeom>
        </p:spPr>
      </p:pic>
    </p:spTree>
    <p:extLst>
      <p:ext uri="{BB962C8B-B14F-4D97-AF65-F5344CB8AC3E}">
        <p14:creationId xmlns:p14="http://schemas.microsoft.com/office/powerpoint/2010/main" val="3286285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54FF-B77D-4FC3-80F2-119A8BB2EBC4}"/>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F79A3245-D863-444E-80FD-DA78DC1BED37}"/>
              </a:ext>
            </a:extLst>
          </p:cNvPr>
          <p:cNvSpPr/>
          <p:nvPr/>
        </p:nvSpPr>
        <p:spPr>
          <a:xfrm>
            <a:off x="581573" y="1175111"/>
            <a:ext cx="11204026" cy="954107"/>
          </a:xfrm>
          <a:prstGeom prst="rect">
            <a:avLst/>
          </a:prstGeom>
        </p:spPr>
        <p:txBody>
          <a:bodyPr wrap="square">
            <a:spAutoFit/>
          </a:bodyPr>
          <a:lstStyle/>
          <a:p>
            <a:pPr marL="457200" indent="-457200">
              <a:buFont typeface="Arial" panose="020B0604020202020204" pitchFamily="34" charset="0"/>
              <a:buChar char="•"/>
            </a:pPr>
            <a:r>
              <a:rPr lang="en-US" sz="2800" i="1" dirty="0">
                <a:latin typeface="TimesNewRomanPS-Italic"/>
              </a:rPr>
              <a:t>A </a:t>
            </a:r>
            <a:r>
              <a:rPr lang="en-US" sz="2800" dirty="0">
                <a:latin typeface="TimesNewRomanPS"/>
              </a:rPr>
              <a:t>and </a:t>
            </a:r>
            <a:r>
              <a:rPr lang="en-US" sz="2800" i="1" dirty="0">
                <a:latin typeface="TimesNewRomanPS-Italic"/>
              </a:rPr>
              <a:t>B </a:t>
            </a:r>
            <a:r>
              <a:rPr lang="en-US" sz="2800" dirty="0">
                <a:latin typeface="TimesNewRomanPS"/>
              </a:rPr>
              <a:t>are </a:t>
            </a:r>
            <a:r>
              <a:rPr lang="en-US" sz="2800" i="1" dirty="0">
                <a:solidFill>
                  <a:srgbClr val="0070C0"/>
                </a:solidFill>
                <a:latin typeface="TimesNewRomanPS"/>
              </a:rPr>
              <a:t>mutually exclusive events:  </a:t>
            </a:r>
            <a:r>
              <a:rPr lang="en-US" sz="2800" dirty="0">
                <a:latin typeface="TimesNewRomanPS"/>
              </a:rPr>
              <a:t> </a:t>
            </a:r>
            <a:r>
              <a:rPr lang="en-US" sz="2800" i="1" dirty="0">
                <a:solidFill>
                  <a:srgbClr val="C00000"/>
                </a:solidFill>
                <a:latin typeface="TimesNewRomanPS-Italic"/>
              </a:rPr>
              <a:t>P</a:t>
            </a:r>
            <a:r>
              <a:rPr lang="en-US" sz="2800" dirty="0">
                <a:solidFill>
                  <a:srgbClr val="C00000"/>
                </a:solidFill>
                <a:latin typeface="TimesNewRomanPS"/>
              </a:rPr>
              <a:t>(</a:t>
            </a:r>
            <a:r>
              <a:rPr lang="en-US" sz="2800" i="1" dirty="0">
                <a:solidFill>
                  <a:srgbClr val="C00000"/>
                </a:solidFill>
                <a:latin typeface="TimesNewRomanPS-Italic"/>
              </a:rPr>
              <a:t>A </a:t>
            </a:r>
            <a:r>
              <a:rPr lang="en-US" sz="2800" dirty="0">
                <a:solidFill>
                  <a:srgbClr val="C00000"/>
                </a:solidFill>
                <a:latin typeface="MTSY"/>
              </a:rPr>
              <a:t>∩ </a:t>
            </a:r>
            <a:r>
              <a:rPr lang="en-US" sz="2800" i="1" dirty="0">
                <a:solidFill>
                  <a:srgbClr val="C00000"/>
                </a:solidFill>
                <a:latin typeface="TimesNewRomanPS-Italic"/>
              </a:rPr>
              <a:t>B</a:t>
            </a:r>
            <a:r>
              <a:rPr lang="en-US" sz="2800" dirty="0">
                <a:solidFill>
                  <a:srgbClr val="C00000"/>
                </a:solidFill>
                <a:latin typeface="TimesNewRomanPS"/>
              </a:rPr>
              <a:t>) </a:t>
            </a:r>
            <a:r>
              <a:rPr lang="en-US" sz="2800" dirty="0">
                <a:solidFill>
                  <a:srgbClr val="C00000"/>
                </a:solidFill>
                <a:latin typeface="MTSY"/>
              </a:rPr>
              <a:t>= </a:t>
            </a:r>
            <a:r>
              <a:rPr lang="en-US" sz="2800" dirty="0">
                <a:solidFill>
                  <a:srgbClr val="C00000"/>
                </a:solidFill>
                <a:latin typeface="TimesNewRomanPS"/>
              </a:rPr>
              <a:t>0</a:t>
            </a:r>
          </a:p>
          <a:p>
            <a:r>
              <a:rPr lang="en-US" sz="2800" dirty="0">
                <a:latin typeface="TimesNewRomanPS"/>
              </a:rPr>
              <a:t>      →   </a:t>
            </a:r>
            <a:r>
              <a:rPr lang="en-US" sz="2800" i="1" dirty="0">
                <a:solidFill>
                  <a:srgbClr val="C00000"/>
                </a:solidFill>
                <a:latin typeface="TimesNewRomanPS-Italic"/>
              </a:rPr>
              <a:t>P</a:t>
            </a:r>
            <a:r>
              <a:rPr lang="en-US" sz="2800" dirty="0">
                <a:solidFill>
                  <a:srgbClr val="C00000"/>
                </a:solidFill>
                <a:latin typeface="TimesNewRomanPS"/>
              </a:rPr>
              <a:t>(</a:t>
            </a:r>
            <a:r>
              <a:rPr lang="en-US" sz="2800" i="1" dirty="0">
                <a:solidFill>
                  <a:srgbClr val="C00000"/>
                </a:solidFill>
                <a:latin typeface="TimesNewRomanPS-Italic"/>
              </a:rPr>
              <a:t>A </a:t>
            </a:r>
            <a:r>
              <a:rPr lang="en-US" sz="2800" dirty="0">
                <a:solidFill>
                  <a:srgbClr val="C00000"/>
                </a:solidFill>
                <a:latin typeface="MTSY"/>
              </a:rPr>
              <a:t>∪ </a:t>
            </a:r>
            <a:r>
              <a:rPr lang="en-US" sz="2800" i="1" dirty="0">
                <a:solidFill>
                  <a:srgbClr val="C00000"/>
                </a:solidFill>
                <a:latin typeface="TimesNewRomanPS-Italic"/>
              </a:rPr>
              <a:t>B</a:t>
            </a:r>
            <a:r>
              <a:rPr lang="en-US" sz="2800" dirty="0">
                <a:solidFill>
                  <a:srgbClr val="C00000"/>
                </a:solidFill>
                <a:latin typeface="TimesNewRomanPS"/>
              </a:rPr>
              <a:t>) </a:t>
            </a:r>
            <a:r>
              <a:rPr lang="en-US" sz="2800" dirty="0">
                <a:solidFill>
                  <a:srgbClr val="C00000"/>
                </a:solidFill>
                <a:latin typeface="MTSY"/>
              </a:rPr>
              <a:t>= </a:t>
            </a:r>
            <a:r>
              <a:rPr lang="en-US" sz="2800" i="1" dirty="0">
                <a:solidFill>
                  <a:srgbClr val="C00000"/>
                </a:solidFill>
                <a:latin typeface="TimesNewRomanPS-Italic"/>
              </a:rPr>
              <a:t>P</a:t>
            </a:r>
            <a:r>
              <a:rPr lang="en-US" sz="2800" dirty="0">
                <a:solidFill>
                  <a:srgbClr val="C00000"/>
                </a:solidFill>
                <a:latin typeface="TimesNewRomanPS"/>
              </a:rPr>
              <a:t>(</a:t>
            </a:r>
            <a:r>
              <a:rPr lang="en-US" sz="2800" i="1" dirty="0">
                <a:solidFill>
                  <a:srgbClr val="C00000"/>
                </a:solidFill>
                <a:latin typeface="TimesNewRomanPS-Italic"/>
              </a:rPr>
              <a:t>A</a:t>
            </a:r>
            <a:r>
              <a:rPr lang="en-US" sz="2800" dirty="0">
                <a:solidFill>
                  <a:srgbClr val="C00000"/>
                </a:solidFill>
                <a:latin typeface="TimesNewRomanPS"/>
              </a:rPr>
              <a:t>) </a:t>
            </a:r>
            <a:r>
              <a:rPr lang="en-US" sz="2800" dirty="0">
                <a:solidFill>
                  <a:srgbClr val="C00000"/>
                </a:solidFill>
                <a:latin typeface="MTSY"/>
              </a:rPr>
              <a:t>+ </a:t>
            </a:r>
            <a:r>
              <a:rPr lang="en-US" sz="2800" i="1" dirty="0">
                <a:solidFill>
                  <a:srgbClr val="C00000"/>
                </a:solidFill>
                <a:latin typeface="TimesNewRomanPS-Italic"/>
              </a:rPr>
              <a:t>P</a:t>
            </a:r>
            <a:r>
              <a:rPr lang="en-US" sz="2800" dirty="0">
                <a:solidFill>
                  <a:srgbClr val="C00000"/>
                </a:solidFill>
                <a:latin typeface="TimesNewRomanPS"/>
              </a:rPr>
              <a:t>(</a:t>
            </a:r>
            <a:r>
              <a:rPr lang="en-US" sz="2800" i="1" dirty="0">
                <a:solidFill>
                  <a:srgbClr val="C00000"/>
                </a:solidFill>
                <a:latin typeface="TimesNewRomanPS-Italic"/>
              </a:rPr>
              <a:t>B</a:t>
            </a:r>
            <a:r>
              <a:rPr lang="en-US" sz="2800" dirty="0">
                <a:solidFill>
                  <a:srgbClr val="C00000"/>
                </a:solidFill>
                <a:latin typeface="TimesNewRomanPS"/>
              </a:rPr>
              <a:t>).</a:t>
            </a:r>
            <a:endParaRPr lang="en-US" sz="2800" dirty="0">
              <a:solidFill>
                <a:srgbClr val="C00000"/>
              </a:solidFill>
            </a:endParaRPr>
          </a:p>
        </p:txBody>
      </p:sp>
      <p:sp>
        <p:nvSpPr>
          <p:cNvPr id="5" name="Rectangle 4">
            <a:extLst>
              <a:ext uri="{FF2B5EF4-FFF2-40B4-BE49-F238E27FC236}">
                <a16:creationId xmlns:a16="http://schemas.microsoft.com/office/drawing/2014/main" id="{507BFDA7-76D5-4D36-8C0E-E7B5508ADED2}"/>
              </a:ext>
            </a:extLst>
          </p:cNvPr>
          <p:cNvSpPr/>
          <p:nvPr/>
        </p:nvSpPr>
        <p:spPr>
          <a:xfrm>
            <a:off x="487680" y="2395942"/>
            <a:ext cx="11297920" cy="1815882"/>
          </a:xfrm>
          <a:prstGeom prst="rect">
            <a:avLst/>
          </a:prstGeom>
        </p:spPr>
        <p:txBody>
          <a:bodyPr wrap="square">
            <a:spAutoFit/>
          </a:bodyPr>
          <a:lstStyle/>
          <a:p>
            <a:r>
              <a:rPr lang="en-US" sz="2800" dirty="0">
                <a:latin typeface="TimesNewRomanPS"/>
              </a:rPr>
              <a:t>Example:    Look at a person’s age</a:t>
            </a:r>
          </a:p>
          <a:p>
            <a:r>
              <a:rPr lang="en-US" sz="2800" dirty="0">
                <a:latin typeface="TimesNewRomanPS"/>
              </a:rPr>
              <a:t>                   </a:t>
            </a:r>
            <a:r>
              <a:rPr lang="en-US" sz="2800" i="1" dirty="0">
                <a:latin typeface="TimesNewRomanPS-Italic"/>
              </a:rPr>
              <a:t>P</a:t>
            </a:r>
            <a:r>
              <a:rPr lang="en-US" sz="2800" dirty="0">
                <a:latin typeface="TimesNewRomanPS"/>
              </a:rPr>
              <a:t>(under 21) </a:t>
            </a:r>
            <a:r>
              <a:rPr lang="en-US" sz="2800" dirty="0">
                <a:latin typeface="MTSY"/>
              </a:rPr>
              <a:t>= 0</a:t>
            </a:r>
            <a:r>
              <a:rPr lang="en-US" sz="2800" dirty="0">
                <a:latin typeface="TimesNewRomanPS"/>
              </a:rPr>
              <a:t>.28 </a:t>
            </a:r>
          </a:p>
          <a:p>
            <a:r>
              <a:rPr lang="en-US" sz="2800" i="1" dirty="0">
                <a:latin typeface="TimesNewRomanPS"/>
              </a:rPr>
              <a:t>                   </a:t>
            </a:r>
            <a:r>
              <a:rPr lang="en-US" sz="2800" i="1" dirty="0">
                <a:latin typeface="TimesNewRomanPS-Italic"/>
              </a:rPr>
              <a:t>P</a:t>
            </a:r>
            <a:r>
              <a:rPr lang="en-US" sz="2800" dirty="0">
                <a:latin typeface="TimesNewRomanPS"/>
              </a:rPr>
              <a:t>(over 65) </a:t>
            </a:r>
            <a:r>
              <a:rPr lang="en-US" sz="2800" dirty="0">
                <a:latin typeface="MTSY"/>
              </a:rPr>
              <a:t>= 0</a:t>
            </a:r>
            <a:r>
              <a:rPr lang="en-US" sz="2800" dirty="0">
                <a:latin typeface="TimesNewRomanPS"/>
              </a:rPr>
              <a:t>.12</a:t>
            </a:r>
          </a:p>
          <a:p>
            <a:r>
              <a:rPr lang="en-US" sz="2800" i="1" dirty="0">
                <a:latin typeface="TimesNewRomanPS-Italic"/>
              </a:rPr>
              <a:t>→    P</a:t>
            </a:r>
            <a:r>
              <a:rPr lang="en-US" sz="2800" dirty="0">
                <a:latin typeface="TimesNewRomanPS"/>
              </a:rPr>
              <a:t>(under 21 </a:t>
            </a:r>
            <a:r>
              <a:rPr lang="en-US" sz="2800" i="1" dirty="0">
                <a:latin typeface="TimesNewRomanPS-Italic"/>
              </a:rPr>
              <a:t>or </a:t>
            </a:r>
            <a:r>
              <a:rPr lang="en-US" sz="2800" dirty="0">
                <a:latin typeface="TimesNewRomanPS"/>
              </a:rPr>
              <a:t>over 65) </a:t>
            </a:r>
            <a:r>
              <a:rPr lang="en-US" sz="2800" dirty="0">
                <a:latin typeface="MTSY"/>
              </a:rPr>
              <a:t>= 0</a:t>
            </a:r>
            <a:r>
              <a:rPr lang="en-US" sz="2800" dirty="0">
                <a:latin typeface="TimesNewRomanPS"/>
              </a:rPr>
              <a:t>.28 </a:t>
            </a:r>
            <a:r>
              <a:rPr lang="en-US" sz="2800" dirty="0">
                <a:latin typeface="MTSY"/>
              </a:rPr>
              <a:t>+ 0</a:t>
            </a:r>
            <a:r>
              <a:rPr lang="en-US" sz="2800" dirty="0">
                <a:latin typeface="TimesNewRomanPS"/>
              </a:rPr>
              <a:t>.12 </a:t>
            </a:r>
            <a:r>
              <a:rPr lang="en-US" sz="2800" dirty="0">
                <a:latin typeface="MTSY"/>
              </a:rPr>
              <a:t>=0</a:t>
            </a:r>
            <a:r>
              <a:rPr lang="en-US" sz="2800" dirty="0">
                <a:latin typeface="TimesNewRomanPS"/>
              </a:rPr>
              <a:t>.40.</a:t>
            </a:r>
            <a:endParaRPr lang="en-US" sz="2800" dirty="0"/>
          </a:p>
        </p:txBody>
      </p:sp>
      <p:sp>
        <p:nvSpPr>
          <p:cNvPr id="3" name="Date Placeholder 2">
            <a:extLst>
              <a:ext uri="{FF2B5EF4-FFF2-40B4-BE49-F238E27FC236}">
                <a16:creationId xmlns:a16="http://schemas.microsoft.com/office/drawing/2014/main" id="{DB66FC7A-59FA-4AF4-8A19-3A20667BCB27}"/>
              </a:ext>
            </a:extLst>
          </p:cNvPr>
          <p:cNvSpPr>
            <a:spLocks noGrp="1"/>
          </p:cNvSpPr>
          <p:nvPr>
            <p:ph type="dt" sz="half" idx="10"/>
          </p:nvPr>
        </p:nvSpPr>
        <p:spPr/>
        <p:txBody>
          <a:bodyPr/>
          <a:lstStyle/>
          <a:p>
            <a:fld id="{200A1164-3E06-4D92-9BEC-1C1131AEEAF4}" type="datetime1">
              <a:rPr lang="en-US" smtClean="0"/>
              <a:t>2/27/24</a:t>
            </a:fld>
            <a:endParaRPr lang="en-US"/>
          </a:p>
        </p:txBody>
      </p:sp>
      <p:sp>
        <p:nvSpPr>
          <p:cNvPr id="6" name="Footer Placeholder 5">
            <a:extLst>
              <a:ext uri="{FF2B5EF4-FFF2-40B4-BE49-F238E27FC236}">
                <a16:creationId xmlns:a16="http://schemas.microsoft.com/office/drawing/2014/main" id="{A64F41F2-DCBA-43E7-8370-E126C0885014}"/>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63F556FC-DD75-4DAE-AC2E-426EB24B0E20}"/>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4088061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95A4-DAC7-41AB-912C-E527A5F08E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CDA1B4-AF5C-4204-A3EE-4C57A8C9CDCF}"/>
              </a:ext>
            </a:extLst>
          </p:cNvPr>
          <p:cNvSpPr>
            <a:spLocks noGrp="1"/>
          </p:cNvSpPr>
          <p:nvPr>
            <p:ph idx="1"/>
          </p:nvPr>
        </p:nvSpPr>
        <p:spPr/>
        <p:txBody>
          <a:bodyPr/>
          <a:lstStyle/>
          <a:p>
            <a:pPr marL="0" indent="0">
              <a:buNone/>
            </a:pPr>
            <a:r>
              <a:rPr lang="en-US" dirty="0"/>
              <a:t>Example 2.14.</a:t>
            </a:r>
          </a:p>
          <a:p>
            <a:pPr marL="0" indent="0">
              <a:buNone/>
            </a:pPr>
            <a:r>
              <a:rPr lang="en-US" dirty="0"/>
              <a:t>During some construction, a network blackout occurs on Monday with probability 0.7 and on Tuesday with probability 0.5. Then, does it appear on Monday or Tuesday with probability 0.7+0.5 = 1.2? Obviously not, because probability should always be between 0 and 1! Probabilities are not additive here because blackouts on Monday and Tuesday are not mutually exclusive.</a:t>
            </a:r>
          </a:p>
        </p:txBody>
      </p:sp>
      <p:sp>
        <p:nvSpPr>
          <p:cNvPr id="4" name="Date Placeholder 3">
            <a:extLst>
              <a:ext uri="{FF2B5EF4-FFF2-40B4-BE49-F238E27FC236}">
                <a16:creationId xmlns:a16="http://schemas.microsoft.com/office/drawing/2014/main" id="{2AF7A9FE-E797-4BB3-BE50-85FBB044ACE9}"/>
              </a:ext>
            </a:extLst>
          </p:cNvPr>
          <p:cNvSpPr>
            <a:spLocks noGrp="1"/>
          </p:cNvSpPr>
          <p:nvPr>
            <p:ph type="dt" sz="half" idx="10"/>
          </p:nvPr>
        </p:nvSpPr>
        <p:spPr/>
        <p:txBody>
          <a:bodyPr/>
          <a:lstStyle/>
          <a:p>
            <a:fld id="{DC6A9633-291F-4E6F-9FCC-75633E9C6888}" type="datetime1">
              <a:rPr lang="en-US" smtClean="0"/>
              <a:t>2/27/24</a:t>
            </a:fld>
            <a:endParaRPr lang="en-US"/>
          </a:p>
        </p:txBody>
      </p:sp>
      <p:sp>
        <p:nvSpPr>
          <p:cNvPr id="5" name="Footer Placeholder 4">
            <a:extLst>
              <a:ext uri="{FF2B5EF4-FFF2-40B4-BE49-F238E27FC236}">
                <a16:creationId xmlns:a16="http://schemas.microsoft.com/office/drawing/2014/main" id="{45E63048-D1DF-4C5F-9B21-27F38CD14F91}"/>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5E720282-B707-4A95-A34E-D7BF1BAC83D4}"/>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693465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1BEA-347E-409A-B4D3-41576AA5DF46}"/>
              </a:ext>
            </a:extLst>
          </p:cNvPr>
          <p:cNvSpPr>
            <a:spLocks noGrp="1"/>
          </p:cNvSpPr>
          <p:nvPr>
            <p:ph type="title"/>
          </p:nvPr>
        </p:nvSpPr>
        <p:spPr/>
        <p:txBody>
          <a:bodyPr>
            <a:normAutofit fontScale="90000"/>
          </a:bodyPr>
          <a:lstStyle/>
          <a:p>
            <a:r>
              <a:rPr lang="en-US" sz="4400" b="1" dirty="0"/>
              <a:t>Conditional Probability</a:t>
            </a:r>
            <a:endParaRPr lang="en-US" dirty="0"/>
          </a:p>
        </p:txBody>
      </p:sp>
      <p:sp>
        <p:nvSpPr>
          <p:cNvPr id="3" name="Content Placeholder 2">
            <a:extLst>
              <a:ext uri="{FF2B5EF4-FFF2-40B4-BE49-F238E27FC236}">
                <a16:creationId xmlns:a16="http://schemas.microsoft.com/office/drawing/2014/main" id="{53B4D8E7-57CF-4CC3-AA79-AB7FD3CF35E9}"/>
              </a:ext>
            </a:extLst>
          </p:cNvPr>
          <p:cNvSpPr>
            <a:spLocks noGrp="1"/>
          </p:cNvSpPr>
          <p:nvPr>
            <p:ph idx="1"/>
          </p:nvPr>
        </p:nvSpPr>
        <p:spPr>
          <a:xfrm>
            <a:off x="609600" y="1143000"/>
            <a:ext cx="11176000" cy="5105400"/>
          </a:xfrm>
        </p:spPr>
        <p:txBody>
          <a:bodyPr>
            <a:normAutofit/>
          </a:bodyPr>
          <a:lstStyle/>
          <a:p>
            <a:r>
              <a:rPr lang="en-US" dirty="0"/>
              <a:t>The probability of event </a:t>
            </a:r>
            <a:r>
              <a:rPr lang="en-US" i="1" dirty="0"/>
              <a:t>A given </a:t>
            </a:r>
            <a:r>
              <a:rPr lang="en-US" dirty="0"/>
              <a:t>that event </a:t>
            </a:r>
            <a:r>
              <a:rPr lang="en-US" i="1" dirty="0"/>
              <a:t>B </a:t>
            </a:r>
            <a:r>
              <a:rPr lang="en-US" dirty="0"/>
              <a:t>has occurred is a </a:t>
            </a:r>
            <a:r>
              <a:rPr lang="en-US" b="1" i="1" dirty="0">
                <a:solidFill>
                  <a:srgbClr val="C00000"/>
                </a:solidFill>
              </a:rPr>
              <a:t>conditional probability</a:t>
            </a:r>
            <a:r>
              <a:rPr lang="en-US" dirty="0"/>
              <a:t>, denoted </a:t>
            </a:r>
            <a:r>
              <a:rPr lang="en-US" i="1" dirty="0">
                <a:solidFill>
                  <a:srgbClr val="C00000"/>
                </a:solidFill>
              </a:rPr>
              <a:t>P</a:t>
            </a:r>
            <a:r>
              <a:rPr lang="en-US" dirty="0">
                <a:solidFill>
                  <a:srgbClr val="C00000"/>
                </a:solidFill>
              </a:rPr>
              <a:t>(</a:t>
            </a:r>
            <a:r>
              <a:rPr lang="en-US" i="1" dirty="0">
                <a:solidFill>
                  <a:srgbClr val="C00000"/>
                </a:solidFill>
              </a:rPr>
              <a:t>A </a:t>
            </a:r>
            <a:r>
              <a:rPr lang="en-US" dirty="0">
                <a:solidFill>
                  <a:srgbClr val="C00000"/>
                </a:solidFill>
              </a:rPr>
              <a:t>| </a:t>
            </a:r>
            <a:r>
              <a:rPr lang="en-US" i="1" dirty="0">
                <a:solidFill>
                  <a:srgbClr val="C00000"/>
                </a:solidFill>
              </a:rPr>
              <a:t>B).</a:t>
            </a:r>
          </a:p>
          <a:p>
            <a:endParaRPr lang="en-US" i="1" dirty="0">
              <a:solidFill>
                <a:srgbClr val="C00000"/>
              </a:solidFill>
            </a:endParaRPr>
          </a:p>
          <a:p>
            <a:endParaRPr lang="en-US" i="1" dirty="0">
              <a:solidFill>
                <a:srgbClr val="C00000"/>
              </a:solidFill>
            </a:endParaRPr>
          </a:p>
          <a:p>
            <a:endParaRPr lang="en-US" i="1" dirty="0">
              <a:solidFill>
                <a:srgbClr val="C00000"/>
              </a:solidFill>
            </a:endParaRPr>
          </a:p>
          <a:p>
            <a:endParaRPr lang="en-US" i="1" dirty="0">
              <a:solidFill>
                <a:srgbClr val="C00000"/>
              </a:solidFill>
            </a:endParaRPr>
          </a:p>
          <a:p>
            <a:r>
              <a:rPr lang="en-US" dirty="0"/>
              <a:t>The conditional probability </a:t>
            </a:r>
            <a:r>
              <a:rPr lang="en-US" i="1" dirty="0"/>
              <a:t>P</a:t>
            </a:r>
            <a:r>
              <a:rPr lang="en-US" dirty="0"/>
              <a:t>(</a:t>
            </a:r>
            <a:r>
              <a:rPr lang="en-US" i="1" dirty="0"/>
              <a:t>A </a:t>
            </a:r>
            <a:r>
              <a:rPr lang="en-US" dirty="0"/>
              <a:t>| </a:t>
            </a:r>
            <a:r>
              <a:rPr lang="en-US" i="1" dirty="0"/>
              <a:t>B</a:t>
            </a:r>
            <a:r>
              <a:rPr lang="en-US" dirty="0"/>
              <a:t>) is the ratio of the relative size of set </a:t>
            </a:r>
          </a:p>
          <a:p>
            <a:pPr marL="0" indent="0">
              <a:buNone/>
            </a:pPr>
            <a:r>
              <a:rPr lang="en-US" i="1" dirty="0"/>
              <a:t>A </a:t>
            </a:r>
            <a:r>
              <a:rPr lang="en-US" dirty="0"/>
              <a:t>∩ </a:t>
            </a:r>
            <a:r>
              <a:rPr lang="en-US" i="1" dirty="0"/>
              <a:t>B </a:t>
            </a:r>
            <a:r>
              <a:rPr lang="en-US" dirty="0"/>
              <a:t>to set </a:t>
            </a:r>
            <a:r>
              <a:rPr lang="en-US" i="1" dirty="0"/>
              <a:t>B.</a:t>
            </a:r>
            <a:endParaRPr lang="en-US" dirty="0"/>
          </a:p>
        </p:txBody>
      </p:sp>
      <p:pic>
        <p:nvPicPr>
          <p:cNvPr id="4" name="Picture 3">
            <a:extLst>
              <a:ext uri="{FF2B5EF4-FFF2-40B4-BE49-F238E27FC236}">
                <a16:creationId xmlns:a16="http://schemas.microsoft.com/office/drawing/2014/main" id="{CE1E4112-F37A-4403-A5D2-F9DBAA267845}"/>
              </a:ext>
            </a:extLst>
          </p:cNvPr>
          <p:cNvPicPr>
            <a:picLocks noChangeAspect="1"/>
          </p:cNvPicPr>
          <p:nvPr/>
        </p:nvPicPr>
        <p:blipFill>
          <a:blip r:embed="rId2"/>
          <a:stretch>
            <a:fillRect/>
          </a:stretch>
        </p:blipFill>
        <p:spPr>
          <a:xfrm>
            <a:off x="2909888" y="2219324"/>
            <a:ext cx="5251878" cy="909639"/>
          </a:xfrm>
          <a:prstGeom prst="rect">
            <a:avLst/>
          </a:prstGeom>
        </p:spPr>
      </p:pic>
      <p:pic>
        <p:nvPicPr>
          <p:cNvPr id="5" name="Picture 4">
            <a:extLst>
              <a:ext uri="{FF2B5EF4-FFF2-40B4-BE49-F238E27FC236}">
                <a16:creationId xmlns:a16="http://schemas.microsoft.com/office/drawing/2014/main" id="{2A4F7B39-42D1-4DEF-BB31-AA6BFF92A562}"/>
              </a:ext>
            </a:extLst>
          </p:cNvPr>
          <p:cNvPicPr>
            <a:picLocks noChangeAspect="1"/>
          </p:cNvPicPr>
          <p:nvPr/>
        </p:nvPicPr>
        <p:blipFill>
          <a:blip r:embed="rId3"/>
          <a:stretch>
            <a:fillRect/>
          </a:stretch>
        </p:blipFill>
        <p:spPr>
          <a:xfrm>
            <a:off x="8161766" y="1850132"/>
            <a:ext cx="3038476" cy="2204662"/>
          </a:xfrm>
          <a:prstGeom prst="rect">
            <a:avLst/>
          </a:prstGeom>
        </p:spPr>
      </p:pic>
      <p:sp>
        <p:nvSpPr>
          <p:cNvPr id="6" name="Date Placeholder 5">
            <a:extLst>
              <a:ext uri="{FF2B5EF4-FFF2-40B4-BE49-F238E27FC236}">
                <a16:creationId xmlns:a16="http://schemas.microsoft.com/office/drawing/2014/main" id="{23828C30-8B50-4CCD-A731-9CB19FDCE376}"/>
              </a:ext>
            </a:extLst>
          </p:cNvPr>
          <p:cNvSpPr>
            <a:spLocks noGrp="1"/>
          </p:cNvSpPr>
          <p:nvPr>
            <p:ph type="dt" sz="half" idx="10"/>
          </p:nvPr>
        </p:nvSpPr>
        <p:spPr/>
        <p:txBody>
          <a:bodyPr/>
          <a:lstStyle/>
          <a:p>
            <a:fld id="{51D315A5-32D3-46E0-9F7B-E074564B7F30}" type="datetime1">
              <a:rPr lang="en-US" smtClean="0"/>
              <a:t>2/27/24</a:t>
            </a:fld>
            <a:endParaRPr lang="en-US"/>
          </a:p>
        </p:txBody>
      </p:sp>
      <p:sp>
        <p:nvSpPr>
          <p:cNvPr id="7" name="Footer Placeholder 6">
            <a:extLst>
              <a:ext uri="{FF2B5EF4-FFF2-40B4-BE49-F238E27FC236}">
                <a16:creationId xmlns:a16="http://schemas.microsoft.com/office/drawing/2014/main" id="{86362FBF-E1DE-4FAC-B037-913F4B60B021}"/>
              </a:ext>
            </a:extLst>
          </p:cNvPr>
          <p:cNvSpPr>
            <a:spLocks noGrp="1"/>
          </p:cNvSpPr>
          <p:nvPr>
            <p:ph type="ftr" sz="quarter" idx="11"/>
          </p:nvPr>
        </p:nvSpPr>
        <p:spPr/>
        <p:txBody>
          <a:bodyPr/>
          <a:lstStyle/>
          <a:p>
            <a:r>
              <a:rPr lang="en-US"/>
              <a:t>Dr. Nguyễn Ngọc Ái Vân</a:t>
            </a:r>
            <a:endParaRPr lang="en-US" dirty="0"/>
          </a:p>
        </p:txBody>
      </p:sp>
      <p:sp>
        <p:nvSpPr>
          <p:cNvPr id="8" name="Slide Number Placeholder 7">
            <a:extLst>
              <a:ext uri="{FF2B5EF4-FFF2-40B4-BE49-F238E27FC236}">
                <a16:creationId xmlns:a16="http://schemas.microsoft.com/office/drawing/2014/main" id="{320E163A-DDFC-4825-8613-4CCA7628B712}"/>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627029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EA34-C5A2-4176-B983-66CF3D3B7112}"/>
              </a:ext>
            </a:extLst>
          </p:cNvPr>
          <p:cNvSpPr>
            <a:spLocks noGrp="1"/>
          </p:cNvSpPr>
          <p:nvPr>
            <p:ph type="title"/>
          </p:nvPr>
        </p:nvSpPr>
        <p:spPr/>
        <p:txBody>
          <a:bodyPr/>
          <a:lstStyle/>
          <a:p>
            <a:r>
              <a:rPr lang="en-US" b="1" dirty="0"/>
              <a:t>Conditional Probability</a:t>
            </a:r>
          </a:p>
        </p:txBody>
      </p:sp>
      <p:sp>
        <p:nvSpPr>
          <p:cNvPr id="5" name="Rectangle 4">
            <a:extLst>
              <a:ext uri="{FF2B5EF4-FFF2-40B4-BE49-F238E27FC236}">
                <a16:creationId xmlns:a16="http://schemas.microsoft.com/office/drawing/2014/main" id="{07FC8034-11B9-4454-9DC7-91CF292A170F}"/>
              </a:ext>
            </a:extLst>
          </p:cNvPr>
          <p:cNvSpPr/>
          <p:nvPr/>
        </p:nvSpPr>
        <p:spPr>
          <a:xfrm>
            <a:off x="333366" y="1066788"/>
            <a:ext cx="11353805" cy="2246769"/>
          </a:xfrm>
          <a:prstGeom prst="rect">
            <a:avLst/>
          </a:prstGeom>
        </p:spPr>
        <p:txBody>
          <a:bodyPr wrap="square">
            <a:spAutoFit/>
          </a:bodyPr>
          <a:lstStyle/>
          <a:p>
            <a:r>
              <a:rPr lang="en-US" sz="2800" b="1" dirty="0">
                <a:solidFill>
                  <a:srgbClr val="0070C0"/>
                </a:solidFill>
                <a:latin typeface="TimesNewRomanPS"/>
              </a:rPr>
              <a:t>Example 1</a:t>
            </a:r>
            <a:r>
              <a:rPr lang="en-US" sz="2800" dirty="0">
                <a:latin typeface="TimesNewRomanPS"/>
              </a:rPr>
              <a:t>: Look at a random person’s age</a:t>
            </a:r>
          </a:p>
          <a:p>
            <a:r>
              <a:rPr lang="en-US" sz="2800" dirty="0">
                <a:latin typeface="TimesNewRomanPS"/>
              </a:rPr>
              <a:t>                   </a:t>
            </a:r>
            <a:r>
              <a:rPr lang="en-US" sz="2800" i="1" dirty="0">
                <a:latin typeface="TimesNewRomanPS-Italic"/>
              </a:rPr>
              <a:t>P</a:t>
            </a:r>
            <a:r>
              <a:rPr lang="en-US" sz="2800" dirty="0">
                <a:latin typeface="TimesNewRomanPS"/>
              </a:rPr>
              <a:t>(under 21) </a:t>
            </a:r>
            <a:r>
              <a:rPr lang="en-US" sz="2800" dirty="0">
                <a:latin typeface="MTSY"/>
              </a:rPr>
              <a:t>= 0</a:t>
            </a:r>
            <a:r>
              <a:rPr lang="en-US" sz="2800" dirty="0">
                <a:latin typeface="TimesNewRomanPS"/>
              </a:rPr>
              <a:t>.28 </a:t>
            </a:r>
          </a:p>
          <a:p>
            <a:r>
              <a:rPr lang="en-US" sz="2800" i="1" dirty="0">
                <a:latin typeface="TimesNewRomanPS"/>
              </a:rPr>
              <a:t>                   </a:t>
            </a:r>
            <a:r>
              <a:rPr lang="en-US" sz="2800" i="1" dirty="0">
                <a:latin typeface="TimesNewRomanPS-Italic"/>
              </a:rPr>
              <a:t>P</a:t>
            </a:r>
            <a:r>
              <a:rPr lang="en-US" sz="2800" dirty="0">
                <a:latin typeface="TimesNewRomanPS"/>
              </a:rPr>
              <a:t>(under 65) </a:t>
            </a:r>
            <a:r>
              <a:rPr lang="en-US" sz="2800" dirty="0">
                <a:latin typeface="MTSY"/>
              </a:rPr>
              <a:t>= 0</a:t>
            </a:r>
            <a:r>
              <a:rPr lang="en-US" sz="2800" dirty="0">
                <a:latin typeface="TimesNewRomanPS"/>
              </a:rPr>
              <a:t>.88</a:t>
            </a:r>
          </a:p>
          <a:p>
            <a:r>
              <a:rPr lang="en-US" sz="2800" dirty="0">
                <a:latin typeface="TimesNewRomanPS"/>
              </a:rPr>
              <a:t>Given that a person’s age is under 65, what is the probability that the person’s age is under 21 ?</a:t>
            </a:r>
          </a:p>
        </p:txBody>
      </p:sp>
      <p:sp>
        <p:nvSpPr>
          <p:cNvPr id="6" name="TextBox 5">
            <a:extLst>
              <a:ext uri="{FF2B5EF4-FFF2-40B4-BE49-F238E27FC236}">
                <a16:creationId xmlns:a16="http://schemas.microsoft.com/office/drawing/2014/main" id="{4DB80F7E-45F6-48E5-897F-FDD61495836D}"/>
              </a:ext>
            </a:extLst>
          </p:cNvPr>
          <p:cNvSpPr txBox="1"/>
          <p:nvPr/>
        </p:nvSpPr>
        <p:spPr>
          <a:xfrm>
            <a:off x="295818" y="3543300"/>
            <a:ext cx="11105598" cy="2246769"/>
          </a:xfrm>
          <a:prstGeom prst="rect">
            <a:avLst/>
          </a:prstGeom>
          <a:noFill/>
        </p:spPr>
        <p:txBody>
          <a:bodyPr wrap="square" rtlCol="0">
            <a:spAutoFit/>
          </a:bodyPr>
          <a:lstStyle/>
          <a:p>
            <a:r>
              <a:rPr lang="en-US" sz="2800" b="1" dirty="0">
                <a:solidFill>
                  <a:srgbClr val="0070C0"/>
                </a:solidFill>
              </a:rPr>
              <a:t>Example 2</a:t>
            </a:r>
            <a:r>
              <a:rPr lang="en-US" sz="2800" dirty="0"/>
              <a:t>: Of the population aged 16–21 and not in college, 13.50 percent are unemployed, 29.05 percent are high school dropouts, and 5.32 percent are unemployed high school dropouts. What is the conditional probability that a member of this population is unemployed, given that the</a:t>
            </a:r>
          </a:p>
          <a:p>
            <a:r>
              <a:rPr lang="en-US" sz="2800" dirty="0"/>
              <a:t>person is a high school dropout?</a:t>
            </a:r>
          </a:p>
        </p:txBody>
      </p:sp>
      <p:sp>
        <p:nvSpPr>
          <p:cNvPr id="3" name="Date Placeholder 2">
            <a:extLst>
              <a:ext uri="{FF2B5EF4-FFF2-40B4-BE49-F238E27FC236}">
                <a16:creationId xmlns:a16="http://schemas.microsoft.com/office/drawing/2014/main" id="{519C7C51-FD86-42BE-A266-F40D847895C1}"/>
              </a:ext>
            </a:extLst>
          </p:cNvPr>
          <p:cNvSpPr>
            <a:spLocks noGrp="1"/>
          </p:cNvSpPr>
          <p:nvPr>
            <p:ph type="dt" sz="half" idx="10"/>
          </p:nvPr>
        </p:nvSpPr>
        <p:spPr/>
        <p:txBody>
          <a:bodyPr/>
          <a:lstStyle/>
          <a:p>
            <a:fld id="{1FE4531C-618D-4F76-854D-74FAC72E0C4B}" type="datetime1">
              <a:rPr lang="en-US" smtClean="0"/>
              <a:t>2/27/24</a:t>
            </a:fld>
            <a:endParaRPr lang="en-US"/>
          </a:p>
        </p:txBody>
      </p:sp>
      <p:sp>
        <p:nvSpPr>
          <p:cNvPr id="4" name="Footer Placeholder 3">
            <a:extLst>
              <a:ext uri="{FF2B5EF4-FFF2-40B4-BE49-F238E27FC236}">
                <a16:creationId xmlns:a16="http://schemas.microsoft.com/office/drawing/2014/main" id="{E0E50747-DEC1-4CB5-A7E9-1AA6933FA2E0}"/>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3E1B254B-465B-4EAD-8C93-F6902CADE10A}"/>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959692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8006B-AFBD-48BE-9AD0-DFE8F62DE86E}"/>
              </a:ext>
            </a:extLst>
          </p:cNvPr>
          <p:cNvSpPr>
            <a:spLocks noGrp="1"/>
          </p:cNvSpPr>
          <p:nvPr>
            <p:ph type="title"/>
          </p:nvPr>
        </p:nvSpPr>
        <p:spPr>
          <a:xfrm>
            <a:off x="454961" y="76200"/>
            <a:ext cx="11204027" cy="685800"/>
          </a:xfrm>
        </p:spPr>
        <p:txBody>
          <a:bodyPr/>
          <a:lstStyle/>
          <a:p>
            <a:r>
              <a:rPr lang="en-US" b="1" dirty="0"/>
              <a:t>Independent events</a:t>
            </a:r>
            <a:r>
              <a:rPr lang="en-US" dirty="0"/>
              <a:t> </a:t>
            </a:r>
          </a:p>
        </p:txBody>
      </p:sp>
      <p:sp>
        <p:nvSpPr>
          <p:cNvPr id="3" name="Content Placeholder 2">
            <a:extLst>
              <a:ext uri="{FF2B5EF4-FFF2-40B4-BE49-F238E27FC236}">
                <a16:creationId xmlns:a16="http://schemas.microsoft.com/office/drawing/2014/main" id="{46A10E82-A208-4E34-8E6A-C1F80BE9EA90}"/>
              </a:ext>
            </a:extLst>
          </p:cNvPr>
          <p:cNvSpPr>
            <a:spLocks noGrp="1"/>
          </p:cNvSpPr>
          <p:nvPr>
            <p:ph idx="1"/>
          </p:nvPr>
        </p:nvSpPr>
        <p:spPr>
          <a:xfrm>
            <a:off x="294246" y="1072660"/>
            <a:ext cx="10972800" cy="1064750"/>
          </a:xfrm>
        </p:spPr>
        <p:txBody>
          <a:bodyPr/>
          <a:lstStyle/>
          <a:p>
            <a:pPr marL="0" indent="0">
              <a:buNone/>
            </a:pPr>
            <a:r>
              <a:rPr lang="en-US" dirty="0"/>
              <a:t>Event </a:t>
            </a:r>
            <a:r>
              <a:rPr lang="en-US" i="1" dirty="0"/>
              <a:t>A </a:t>
            </a:r>
            <a:r>
              <a:rPr lang="en-US" dirty="0"/>
              <a:t>is </a:t>
            </a:r>
            <a:r>
              <a:rPr lang="en-US" b="1" dirty="0">
                <a:solidFill>
                  <a:srgbClr val="FF0000"/>
                </a:solidFill>
              </a:rPr>
              <a:t>independent</a:t>
            </a:r>
            <a:r>
              <a:rPr lang="en-US" b="1" dirty="0"/>
              <a:t> </a:t>
            </a:r>
            <a:r>
              <a:rPr lang="en-US" dirty="0"/>
              <a:t>of event </a:t>
            </a:r>
            <a:r>
              <a:rPr lang="en-US" i="1" dirty="0"/>
              <a:t>B  </a:t>
            </a:r>
            <a:r>
              <a:rPr lang="en-US" dirty="0"/>
              <a:t>or</a:t>
            </a:r>
            <a:r>
              <a:rPr lang="en-US" i="1" dirty="0"/>
              <a:t>    </a:t>
            </a:r>
            <a:r>
              <a:rPr lang="en-US" i="1" dirty="0">
                <a:solidFill>
                  <a:srgbClr val="FF0000"/>
                </a:solidFill>
              </a:rPr>
              <a:t>A and B are independent </a:t>
            </a:r>
            <a:r>
              <a:rPr lang="en-US" dirty="0"/>
              <a:t>if  occurrence of one event does not affect the occurrence of the another.</a:t>
            </a:r>
          </a:p>
        </p:txBody>
      </p:sp>
      <p:graphicFrame>
        <p:nvGraphicFramePr>
          <p:cNvPr id="4" name="Object 3">
            <a:extLst>
              <a:ext uri="{FF2B5EF4-FFF2-40B4-BE49-F238E27FC236}">
                <a16:creationId xmlns:a16="http://schemas.microsoft.com/office/drawing/2014/main" id="{2E64547B-69DB-4238-A2CF-8DFA77A87D70}"/>
              </a:ext>
            </a:extLst>
          </p:cNvPr>
          <p:cNvGraphicFramePr>
            <a:graphicFrameLocks noChangeAspect="1"/>
          </p:cNvGraphicFramePr>
          <p:nvPr>
            <p:extLst>
              <p:ext uri="{D42A27DB-BD31-4B8C-83A1-F6EECF244321}">
                <p14:modId xmlns:p14="http://schemas.microsoft.com/office/powerpoint/2010/main" val="1139118446"/>
              </p:ext>
            </p:extLst>
          </p:nvPr>
        </p:nvGraphicFramePr>
        <p:xfrm>
          <a:off x="708025" y="2159000"/>
          <a:ext cx="7900988" cy="1868488"/>
        </p:xfrm>
        <a:graphic>
          <a:graphicData uri="http://schemas.openxmlformats.org/presentationml/2006/ole">
            <mc:AlternateContent xmlns:mc="http://schemas.openxmlformats.org/markup-compatibility/2006">
              <mc:Choice xmlns:v="urn:schemas-microsoft-com:vml" Requires="v">
                <p:oleObj name="Equation" r:id="rId2" imgW="3543120" imgH="838080" progId="Equation.DSMT4">
                  <p:embed/>
                </p:oleObj>
              </mc:Choice>
              <mc:Fallback>
                <p:oleObj name="Equation" r:id="rId2" imgW="3543120" imgH="838080" progId="Equation.DSMT4">
                  <p:embed/>
                  <p:pic>
                    <p:nvPicPr>
                      <p:cNvPr id="4" name="Object 3">
                        <a:extLst>
                          <a:ext uri="{FF2B5EF4-FFF2-40B4-BE49-F238E27FC236}">
                            <a16:creationId xmlns:a16="http://schemas.microsoft.com/office/drawing/2014/main" id="{2E64547B-69DB-4238-A2CF-8DFA77A87D70}"/>
                          </a:ext>
                        </a:extLst>
                      </p:cNvPr>
                      <p:cNvPicPr/>
                      <p:nvPr/>
                    </p:nvPicPr>
                    <p:blipFill>
                      <a:blip r:embed="rId3"/>
                      <a:stretch>
                        <a:fillRect/>
                      </a:stretch>
                    </p:blipFill>
                    <p:spPr>
                      <a:xfrm>
                        <a:off x="708025" y="2159000"/>
                        <a:ext cx="7900988" cy="1868488"/>
                      </a:xfrm>
                      <a:prstGeom prst="rect">
                        <a:avLst/>
                      </a:prstGeom>
                    </p:spPr>
                  </p:pic>
                </p:oleObj>
              </mc:Fallback>
            </mc:AlternateContent>
          </a:graphicData>
        </a:graphic>
      </p:graphicFrame>
      <p:sp>
        <p:nvSpPr>
          <p:cNvPr id="5" name="Date Placeholder 4">
            <a:extLst>
              <a:ext uri="{FF2B5EF4-FFF2-40B4-BE49-F238E27FC236}">
                <a16:creationId xmlns:a16="http://schemas.microsoft.com/office/drawing/2014/main" id="{83D9B52C-7BE4-4EC4-BD5F-4C284461C988}"/>
              </a:ext>
            </a:extLst>
          </p:cNvPr>
          <p:cNvSpPr>
            <a:spLocks noGrp="1"/>
          </p:cNvSpPr>
          <p:nvPr>
            <p:ph type="dt" sz="half" idx="10"/>
          </p:nvPr>
        </p:nvSpPr>
        <p:spPr/>
        <p:txBody>
          <a:bodyPr/>
          <a:lstStyle/>
          <a:p>
            <a:fld id="{59644399-E369-43F9-8735-81B292293676}" type="datetime1">
              <a:rPr lang="en-US" smtClean="0"/>
              <a:t>2/27/24</a:t>
            </a:fld>
            <a:endParaRPr lang="en-US"/>
          </a:p>
        </p:txBody>
      </p:sp>
      <p:sp>
        <p:nvSpPr>
          <p:cNvPr id="6" name="Footer Placeholder 5">
            <a:extLst>
              <a:ext uri="{FF2B5EF4-FFF2-40B4-BE49-F238E27FC236}">
                <a16:creationId xmlns:a16="http://schemas.microsoft.com/office/drawing/2014/main" id="{21117D01-901C-4C2A-9B0A-A7C7DE57A72D}"/>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142458F0-BFCD-4005-929F-A4C887B71109}"/>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892816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BAFD-2CC3-4AA0-83F2-B9001F4AF300}"/>
              </a:ext>
            </a:extLst>
          </p:cNvPr>
          <p:cNvSpPr>
            <a:spLocks noGrp="1"/>
          </p:cNvSpPr>
          <p:nvPr>
            <p:ph type="title"/>
          </p:nvPr>
        </p:nvSpPr>
        <p:spPr>
          <a:xfrm>
            <a:off x="272963" y="76200"/>
            <a:ext cx="11204027" cy="685800"/>
          </a:xfrm>
        </p:spPr>
        <p:txBody>
          <a:bodyPr/>
          <a:lstStyle/>
          <a:p>
            <a:r>
              <a:rPr lang="en-US" b="1" dirty="0"/>
              <a:t>Example</a:t>
            </a:r>
          </a:p>
        </p:txBody>
      </p:sp>
      <p:sp>
        <p:nvSpPr>
          <p:cNvPr id="3" name="Content Placeholder 2">
            <a:extLst>
              <a:ext uri="{FF2B5EF4-FFF2-40B4-BE49-F238E27FC236}">
                <a16:creationId xmlns:a16="http://schemas.microsoft.com/office/drawing/2014/main" id="{154C147A-4AE0-4CDD-BCB8-5C4190E8B0B6}"/>
              </a:ext>
            </a:extLst>
          </p:cNvPr>
          <p:cNvSpPr>
            <a:spLocks noGrp="1"/>
          </p:cNvSpPr>
          <p:nvPr>
            <p:ph idx="1"/>
          </p:nvPr>
        </p:nvSpPr>
        <p:spPr>
          <a:xfrm>
            <a:off x="438150" y="1005840"/>
            <a:ext cx="11753850" cy="5105400"/>
          </a:xfrm>
        </p:spPr>
        <p:txBody>
          <a:bodyPr>
            <a:normAutofit lnSpcReduction="10000"/>
          </a:bodyPr>
          <a:lstStyle/>
          <a:p>
            <a:pPr marL="514350" indent="-514350">
              <a:buAutoNum type="arabicPeriod"/>
            </a:pPr>
            <a:r>
              <a:rPr lang="en-US" sz="3100" dirty="0"/>
              <a:t>Given </a:t>
            </a:r>
            <a:r>
              <a:rPr lang="en-US" sz="3100" i="1" dirty="0"/>
              <a:t>P</a:t>
            </a:r>
            <a:r>
              <a:rPr lang="en-US" sz="3100" dirty="0"/>
              <a:t>(</a:t>
            </a:r>
            <a:r>
              <a:rPr lang="en-US" sz="3100" i="1" dirty="0"/>
              <a:t>A</a:t>
            </a:r>
            <a:r>
              <a:rPr lang="en-US" sz="3100" dirty="0"/>
              <a:t>) = .40, </a:t>
            </a:r>
            <a:r>
              <a:rPr lang="en-US" sz="3100" i="1" dirty="0"/>
              <a:t>P</a:t>
            </a:r>
            <a:r>
              <a:rPr lang="en-US" sz="3100" dirty="0"/>
              <a:t>(</a:t>
            </a:r>
            <a:r>
              <a:rPr lang="en-US" sz="3100" i="1" dirty="0"/>
              <a:t>B</a:t>
            </a:r>
            <a:r>
              <a:rPr lang="en-US" sz="3100" dirty="0"/>
              <a:t>) = .50. If </a:t>
            </a:r>
            <a:r>
              <a:rPr lang="en-US" sz="3100" i="1" dirty="0"/>
              <a:t>A </a:t>
            </a:r>
            <a:r>
              <a:rPr lang="en-US" sz="3100" dirty="0"/>
              <a:t>and </a:t>
            </a:r>
            <a:r>
              <a:rPr lang="en-US" sz="3100" i="1" dirty="0"/>
              <a:t>B </a:t>
            </a:r>
            <a:r>
              <a:rPr lang="en-US" sz="3100" dirty="0"/>
              <a:t>are independent, find </a:t>
            </a:r>
            <a:r>
              <a:rPr lang="en-US" sz="3100" i="1" dirty="0"/>
              <a:t>P</a:t>
            </a:r>
            <a:r>
              <a:rPr lang="en-US" sz="3100" dirty="0"/>
              <a:t>(</a:t>
            </a:r>
            <a:r>
              <a:rPr lang="en-US" sz="3100" i="1" dirty="0"/>
              <a:t>A </a:t>
            </a:r>
            <a:r>
              <a:rPr lang="en-US" sz="3100" dirty="0"/>
              <a:t>∩ </a:t>
            </a:r>
            <a:r>
              <a:rPr lang="en-US" sz="3100" i="1" dirty="0"/>
              <a:t>B</a:t>
            </a:r>
            <a:r>
              <a:rPr lang="en-US" sz="3100" dirty="0"/>
              <a:t>).</a:t>
            </a:r>
          </a:p>
          <a:p>
            <a:pPr marL="0" indent="0">
              <a:buNone/>
            </a:pPr>
            <a:endParaRPr lang="en-US" sz="3100" dirty="0"/>
          </a:p>
          <a:p>
            <a:pPr marL="514350" indent="-514350">
              <a:buAutoNum type="arabicPeriod" startAt="2"/>
            </a:pPr>
            <a:r>
              <a:rPr lang="en-US" sz="3100" dirty="0"/>
              <a:t>Given </a:t>
            </a:r>
            <a:r>
              <a:rPr lang="en-US" sz="3100" i="1" dirty="0"/>
              <a:t>P</a:t>
            </a:r>
            <a:r>
              <a:rPr lang="en-US" sz="3100" dirty="0"/>
              <a:t>(</a:t>
            </a:r>
            <a:r>
              <a:rPr lang="en-US" sz="3100" i="1" dirty="0"/>
              <a:t>A</a:t>
            </a:r>
            <a:r>
              <a:rPr lang="en-US" sz="3100" dirty="0"/>
              <a:t>) = .40, </a:t>
            </a:r>
            <a:r>
              <a:rPr lang="en-US" sz="3100" i="1" dirty="0"/>
              <a:t>P</a:t>
            </a:r>
            <a:r>
              <a:rPr lang="en-US" sz="3100" dirty="0"/>
              <a:t>(</a:t>
            </a:r>
            <a:r>
              <a:rPr lang="en-US" sz="3100" i="1" dirty="0"/>
              <a:t>B</a:t>
            </a:r>
            <a:r>
              <a:rPr lang="en-US" sz="3100" dirty="0"/>
              <a:t>) = .50, and </a:t>
            </a:r>
            <a:r>
              <a:rPr lang="en-US" sz="3100" i="1" dirty="0"/>
              <a:t>P</a:t>
            </a:r>
            <a:r>
              <a:rPr lang="en-US" sz="3100" dirty="0"/>
              <a:t>(</a:t>
            </a:r>
            <a:r>
              <a:rPr lang="en-US" sz="3100" i="1" dirty="0"/>
              <a:t>A </a:t>
            </a:r>
            <a:r>
              <a:rPr lang="en-US" sz="3100" dirty="0"/>
              <a:t>∩ </a:t>
            </a:r>
            <a:r>
              <a:rPr lang="en-US" sz="3100" i="1" dirty="0"/>
              <a:t>B</a:t>
            </a:r>
            <a:r>
              <a:rPr lang="en-US" sz="3100" dirty="0"/>
              <a:t>) = .05. </a:t>
            </a:r>
          </a:p>
          <a:p>
            <a:pPr marL="0" indent="0">
              <a:buNone/>
            </a:pPr>
            <a:r>
              <a:rPr lang="en-US" sz="3100" dirty="0"/>
              <a:t>     (a) Find </a:t>
            </a:r>
            <a:r>
              <a:rPr lang="en-US" sz="3100" i="1" dirty="0"/>
              <a:t>P</a:t>
            </a:r>
            <a:r>
              <a:rPr lang="en-US" sz="3100" dirty="0"/>
              <a:t>(</a:t>
            </a:r>
            <a:r>
              <a:rPr lang="en-US" sz="3100" i="1" dirty="0"/>
              <a:t>A </a:t>
            </a:r>
            <a:r>
              <a:rPr lang="en-US" sz="3100" dirty="0"/>
              <a:t>| </a:t>
            </a:r>
            <a:r>
              <a:rPr lang="en-US" sz="3100" i="1" dirty="0"/>
              <a:t>B</a:t>
            </a:r>
            <a:r>
              <a:rPr lang="en-US" sz="3100" dirty="0"/>
              <a:t>). </a:t>
            </a:r>
          </a:p>
          <a:p>
            <a:pPr marL="0" indent="0">
              <a:buNone/>
            </a:pPr>
            <a:r>
              <a:rPr lang="en-US" sz="3100" dirty="0"/>
              <a:t>     (b) In this problem, are </a:t>
            </a:r>
            <a:r>
              <a:rPr lang="en-US" sz="3100" i="1" dirty="0"/>
              <a:t>A </a:t>
            </a:r>
            <a:r>
              <a:rPr lang="en-US" sz="3100" dirty="0"/>
              <a:t>and </a:t>
            </a:r>
            <a:r>
              <a:rPr lang="en-US" sz="3100" i="1" dirty="0"/>
              <a:t>B </a:t>
            </a:r>
            <a:r>
              <a:rPr lang="en-US" sz="3100" dirty="0"/>
              <a:t>independent?</a:t>
            </a:r>
          </a:p>
          <a:p>
            <a:pPr marL="0" indent="0">
              <a:buNone/>
            </a:pPr>
            <a:endParaRPr lang="en-US" sz="3100" dirty="0"/>
          </a:p>
          <a:p>
            <a:pPr marL="0" indent="0">
              <a:buNone/>
            </a:pPr>
            <a:r>
              <a:rPr lang="en-US" sz="3100" b="1" dirty="0"/>
              <a:t>3.  </a:t>
            </a:r>
            <a:r>
              <a:rPr lang="en-US" sz="3100" dirty="0"/>
              <a:t>Which pairs of events are independent?</a:t>
            </a:r>
          </a:p>
          <a:p>
            <a:pPr marL="0" indent="0">
              <a:buNone/>
            </a:pPr>
            <a:r>
              <a:rPr lang="en-US" sz="3100" dirty="0"/>
              <a:t>          a. </a:t>
            </a:r>
            <a:r>
              <a:rPr lang="en-US" sz="3100" i="1" dirty="0"/>
              <a:t>P</a:t>
            </a:r>
            <a:r>
              <a:rPr lang="en-US" sz="3100" dirty="0"/>
              <a:t>(</a:t>
            </a:r>
            <a:r>
              <a:rPr lang="en-US" sz="3100" i="1" dirty="0"/>
              <a:t>A</a:t>
            </a:r>
            <a:r>
              <a:rPr lang="en-US" sz="3100" dirty="0"/>
              <a:t>) = .60, </a:t>
            </a:r>
            <a:r>
              <a:rPr lang="en-US" sz="3100" i="1" dirty="0"/>
              <a:t>P</a:t>
            </a:r>
            <a:r>
              <a:rPr lang="en-US" sz="3100" dirty="0"/>
              <a:t>(</a:t>
            </a:r>
            <a:r>
              <a:rPr lang="en-US" sz="3100" i="1" dirty="0"/>
              <a:t>B</a:t>
            </a:r>
            <a:r>
              <a:rPr lang="en-US" sz="3100" dirty="0"/>
              <a:t>) = .40, </a:t>
            </a:r>
            <a:r>
              <a:rPr lang="en-US" sz="3100" i="1" dirty="0"/>
              <a:t>P</a:t>
            </a:r>
            <a:r>
              <a:rPr lang="en-US" sz="3100" dirty="0"/>
              <a:t>(</a:t>
            </a:r>
            <a:r>
              <a:rPr lang="en-US" sz="3100" i="1" dirty="0"/>
              <a:t>A </a:t>
            </a:r>
            <a:r>
              <a:rPr lang="en-US" sz="3100" dirty="0"/>
              <a:t>∩ </a:t>
            </a:r>
            <a:r>
              <a:rPr lang="en-US" sz="3100" i="1" dirty="0"/>
              <a:t>B</a:t>
            </a:r>
            <a:r>
              <a:rPr lang="en-US" sz="3100" dirty="0"/>
              <a:t>) = .24.</a:t>
            </a:r>
          </a:p>
          <a:p>
            <a:pPr marL="0" indent="0">
              <a:buNone/>
            </a:pPr>
            <a:r>
              <a:rPr lang="en-US" sz="3100" dirty="0"/>
              <a:t>          b. </a:t>
            </a:r>
            <a:r>
              <a:rPr lang="en-US" sz="3100" i="1" dirty="0"/>
              <a:t>P</a:t>
            </a:r>
            <a:r>
              <a:rPr lang="en-US" sz="3100" dirty="0"/>
              <a:t>(</a:t>
            </a:r>
            <a:r>
              <a:rPr lang="en-US" sz="3100" i="1" dirty="0"/>
              <a:t>A</a:t>
            </a:r>
            <a:r>
              <a:rPr lang="en-US" sz="3100" dirty="0"/>
              <a:t>) = .90, </a:t>
            </a:r>
            <a:r>
              <a:rPr lang="en-US" sz="3100" i="1" dirty="0"/>
              <a:t>P</a:t>
            </a:r>
            <a:r>
              <a:rPr lang="en-US" sz="3100" dirty="0"/>
              <a:t>(</a:t>
            </a:r>
            <a:r>
              <a:rPr lang="en-US" sz="3100" i="1" dirty="0"/>
              <a:t>B</a:t>
            </a:r>
            <a:r>
              <a:rPr lang="en-US" sz="3100" dirty="0"/>
              <a:t>) = .20, </a:t>
            </a:r>
            <a:r>
              <a:rPr lang="en-US" sz="3100" i="1" dirty="0"/>
              <a:t>P</a:t>
            </a:r>
            <a:r>
              <a:rPr lang="en-US" sz="3100" dirty="0"/>
              <a:t>(</a:t>
            </a:r>
            <a:r>
              <a:rPr lang="en-US" sz="3100" i="1" dirty="0"/>
              <a:t>A </a:t>
            </a:r>
            <a:r>
              <a:rPr lang="en-US" sz="3100" dirty="0"/>
              <a:t>∩ </a:t>
            </a:r>
            <a:r>
              <a:rPr lang="en-US" sz="3100" i="1" dirty="0"/>
              <a:t>B</a:t>
            </a:r>
            <a:r>
              <a:rPr lang="en-US" sz="3100" dirty="0"/>
              <a:t>) = .18.</a:t>
            </a:r>
          </a:p>
          <a:p>
            <a:pPr marL="0" indent="0">
              <a:buNone/>
            </a:pPr>
            <a:r>
              <a:rPr lang="en-US" sz="3100" dirty="0"/>
              <a:t>          c. </a:t>
            </a:r>
            <a:r>
              <a:rPr lang="en-US" sz="3100" i="1" dirty="0"/>
              <a:t>P</a:t>
            </a:r>
            <a:r>
              <a:rPr lang="en-US" sz="3100" dirty="0"/>
              <a:t>(</a:t>
            </a:r>
            <a:r>
              <a:rPr lang="en-US" sz="3100" i="1" dirty="0"/>
              <a:t>A</a:t>
            </a:r>
            <a:r>
              <a:rPr lang="en-US" sz="3100" dirty="0"/>
              <a:t>) = .50, </a:t>
            </a:r>
            <a:r>
              <a:rPr lang="en-US" sz="3100" i="1" dirty="0"/>
              <a:t>P</a:t>
            </a:r>
            <a:r>
              <a:rPr lang="en-US" sz="3100" dirty="0"/>
              <a:t>(</a:t>
            </a:r>
            <a:r>
              <a:rPr lang="en-US" sz="3100" i="1" dirty="0"/>
              <a:t>B</a:t>
            </a:r>
            <a:r>
              <a:rPr lang="en-US" sz="3100" dirty="0"/>
              <a:t>) = .70, </a:t>
            </a:r>
            <a:r>
              <a:rPr lang="en-US" sz="3100" i="1" dirty="0"/>
              <a:t>P</a:t>
            </a:r>
            <a:r>
              <a:rPr lang="en-US" sz="3100" dirty="0"/>
              <a:t>(</a:t>
            </a:r>
            <a:r>
              <a:rPr lang="en-US" sz="3100" i="1" dirty="0"/>
              <a:t>A </a:t>
            </a:r>
            <a:r>
              <a:rPr lang="en-US" sz="3100" dirty="0"/>
              <a:t>∩ </a:t>
            </a:r>
            <a:r>
              <a:rPr lang="en-US" sz="3100" i="1" dirty="0"/>
              <a:t>B</a:t>
            </a:r>
            <a:r>
              <a:rPr lang="en-US" sz="3100" dirty="0"/>
              <a:t>) = .25.</a:t>
            </a:r>
          </a:p>
        </p:txBody>
      </p:sp>
      <p:sp>
        <p:nvSpPr>
          <p:cNvPr id="4" name="Date Placeholder 3">
            <a:extLst>
              <a:ext uri="{FF2B5EF4-FFF2-40B4-BE49-F238E27FC236}">
                <a16:creationId xmlns:a16="http://schemas.microsoft.com/office/drawing/2014/main" id="{44F18E04-C522-4BA6-BD5C-25269224CD22}"/>
              </a:ext>
            </a:extLst>
          </p:cNvPr>
          <p:cNvSpPr>
            <a:spLocks noGrp="1"/>
          </p:cNvSpPr>
          <p:nvPr>
            <p:ph type="dt" sz="half" idx="10"/>
          </p:nvPr>
        </p:nvSpPr>
        <p:spPr/>
        <p:txBody>
          <a:bodyPr/>
          <a:lstStyle/>
          <a:p>
            <a:fld id="{C1D1EAE9-83D0-48A7-BA03-967A25533D94}" type="datetime1">
              <a:rPr lang="en-US" smtClean="0"/>
              <a:t>2/27/24</a:t>
            </a:fld>
            <a:endParaRPr lang="en-US"/>
          </a:p>
        </p:txBody>
      </p:sp>
      <p:sp>
        <p:nvSpPr>
          <p:cNvPr id="5" name="Footer Placeholder 4">
            <a:extLst>
              <a:ext uri="{FF2B5EF4-FFF2-40B4-BE49-F238E27FC236}">
                <a16:creationId xmlns:a16="http://schemas.microsoft.com/office/drawing/2014/main" id="{184DA4CA-5805-4765-AA0D-6CB8C9B367D4}"/>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3E94ABB6-65DD-457A-9833-BB02C4325E45}"/>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82481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3672-6621-49D5-BC96-945DCADBD6DB}"/>
              </a:ext>
            </a:extLst>
          </p:cNvPr>
          <p:cNvSpPr>
            <a:spLocks noGrp="1"/>
          </p:cNvSpPr>
          <p:nvPr>
            <p:ph type="title"/>
          </p:nvPr>
        </p:nvSpPr>
        <p:spPr/>
        <p:txBody>
          <a:bodyPr/>
          <a:lstStyle/>
          <a:p>
            <a:r>
              <a:rPr lang="en-US" b="1" dirty="0"/>
              <a:t>Example</a:t>
            </a:r>
          </a:p>
        </p:txBody>
      </p:sp>
      <p:sp>
        <p:nvSpPr>
          <p:cNvPr id="4" name="Rectangle 3">
            <a:extLst>
              <a:ext uri="{FF2B5EF4-FFF2-40B4-BE49-F238E27FC236}">
                <a16:creationId xmlns:a16="http://schemas.microsoft.com/office/drawing/2014/main" id="{1FC100C6-8D10-488B-BB8B-402DE0EF55B4}"/>
              </a:ext>
            </a:extLst>
          </p:cNvPr>
          <p:cNvSpPr/>
          <p:nvPr/>
        </p:nvSpPr>
        <p:spPr>
          <a:xfrm>
            <a:off x="166129" y="1005126"/>
            <a:ext cx="12018251" cy="2246769"/>
          </a:xfrm>
          <a:prstGeom prst="rect">
            <a:avLst/>
          </a:prstGeom>
        </p:spPr>
        <p:txBody>
          <a:bodyPr wrap="square">
            <a:spAutoFit/>
          </a:bodyPr>
          <a:lstStyle/>
          <a:p>
            <a:r>
              <a:rPr lang="en-US" sz="2800" dirty="0">
                <a:latin typeface="TimesNewRomanPS"/>
              </a:rPr>
              <a:t>4. Based on past data, the probability that a customer at a certain Noodles &amp; Company restaurant will order a dessert (event </a:t>
            </a:r>
            <a:r>
              <a:rPr lang="en-US" sz="2800" i="1" dirty="0">
                <a:latin typeface="TimesNewRomanPS-Italic"/>
              </a:rPr>
              <a:t>D</a:t>
            </a:r>
            <a:r>
              <a:rPr lang="en-US" sz="2800" dirty="0">
                <a:latin typeface="TimesNewRomanPS"/>
              </a:rPr>
              <a:t>) with the meal is .08. </a:t>
            </a:r>
          </a:p>
          <a:p>
            <a:r>
              <a:rPr lang="en-US" sz="2800" dirty="0">
                <a:latin typeface="TimesNewRomanPS"/>
              </a:rPr>
              <a:t>The probability that a customer will order a bottled beverage (event </a:t>
            </a:r>
            <a:r>
              <a:rPr lang="en-US" sz="2800" i="1" dirty="0">
                <a:latin typeface="TimesNewRomanPS-Italic"/>
              </a:rPr>
              <a:t>B</a:t>
            </a:r>
            <a:r>
              <a:rPr lang="en-US" sz="2800" dirty="0">
                <a:latin typeface="TimesNewRomanPS"/>
              </a:rPr>
              <a:t>) is .14.</a:t>
            </a:r>
          </a:p>
          <a:p>
            <a:r>
              <a:rPr lang="en-US" sz="2800" dirty="0">
                <a:latin typeface="TimesNewRomanPS"/>
              </a:rPr>
              <a:t> The probability that a customer will order both a dessert </a:t>
            </a:r>
            <a:r>
              <a:rPr lang="en-US" sz="2800" i="1" dirty="0">
                <a:latin typeface="TimesNewRomanPS-Italic"/>
              </a:rPr>
              <a:t>and </a:t>
            </a:r>
            <a:r>
              <a:rPr lang="en-US" sz="2800" dirty="0">
                <a:latin typeface="TimesNewRomanPS"/>
              </a:rPr>
              <a:t>a bottled beverage is .0112. </a:t>
            </a:r>
            <a:r>
              <a:rPr lang="en-US" sz="2800" i="1" dirty="0">
                <a:latin typeface="TimesNewRomanPS"/>
              </a:rPr>
              <a:t>Is ordering a dessert independent of ordering a bottled beverage?</a:t>
            </a:r>
            <a:endParaRPr lang="en-US" sz="2800" i="1" dirty="0"/>
          </a:p>
        </p:txBody>
      </p:sp>
      <p:sp>
        <p:nvSpPr>
          <p:cNvPr id="6" name="Rectangle 5">
            <a:extLst>
              <a:ext uri="{FF2B5EF4-FFF2-40B4-BE49-F238E27FC236}">
                <a16:creationId xmlns:a16="http://schemas.microsoft.com/office/drawing/2014/main" id="{28C7BAA3-062D-41F6-913B-4FD15C87A839}"/>
              </a:ext>
            </a:extLst>
          </p:cNvPr>
          <p:cNvSpPr/>
          <p:nvPr/>
        </p:nvSpPr>
        <p:spPr>
          <a:xfrm>
            <a:off x="188989" y="3919896"/>
            <a:ext cx="11685270" cy="2246769"/>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5. </a:t>
            </a:r>
            <a:r>
              <a:rPr lang="en-US" sz="2800" dirty="0">
                <a:latin typeface="Times New Roman" panose="02020603050405020304" pitchFamily="18" charset="0"/>
                <a:cs typeface="Times New Roman" panose="02020603050405020304" pitchFamily="18" charset="0"/>
              </a:rPr>
              <a:t>Suppose that a shuttle’s launch depends on three key devices that operate independently of each other and malfunction with probabilities 0.01, 0.02, and 0.02, respectively. If any of the key device malfunctions, the launch will be postponed. Compute the probability for the shuttle to be launched on time, according to its schedule.</a:t>
            </a:r>
          </a:p>
        </p:txBody>
      </p:sp>
      <p:sp>
        <p:nvSpPr>
          <p:cNvPr id="3" name="Date Placeholder 2">
            <a:extLst>
              <a:ext uri="{FF2B5EF4-FFF2-40B4-BE49-F238E27FC236}">
                <a16:creationId xmlns:a16="http://schemas.microsoft.com/office/drawing/2014/main" id="{8E8C0203-53C8-45FA-B31B-E9D5F5309728}"/>
              </a:ext>
            </a:extLst>
          </p:cNvPr>
          <p:cNvSpPr>
            <a:spLocks noGrp="1"/>
          </p:cNvSpPr>
          <p:nvPr>
            <p:ph type="dt" sz="half" idx="10"/>
          </p:nvPr>
        </p:nvSpPr>
        <p:spPr/>
        <p:txBody>
          <a:bodyPr/>
          <a:lstStyle/>
          <a:p>
            <a:fld id="{B7A037CD-2F89-43C4-96F4-5942FFC9DD53}" type="datetime1">
              <a:rPr lang="en-US" smtClean="0"/>
              <a:t>2/27/24</a:t>
            </a:fld>
            <a:endParaRPr lang="en-US"/>
          </a:p>
        </p:txBody>
      </p:sp>
      <p:sp>
        <p:nvSpPr>
          <p:cNvPr id="5" name="Footer Placeholder 4">
            <a:extLst>
              <a:ext uri="{FF2B5EF4-FFF2-40B4-BE49-F238E27FC236}">
                <a16:creationId xmlns:a16="http://schemas.microsoft.com/office/drawing/2014/main" id="{B8F1E72B-2E22-4C66-9296-14F718092F54}"/>
              </a:ext>
            </a:extLst>
          </p:cNvPr>
          <p:cNvSpPr>
            <a:spLocks noGrp="1"/>
          </p:cNvSpPr>
          <p:nvPr>
            <p:ph type="ftr" sz="quarter" idx="11"/>
          </p:nvPr>
        </p:nvSpPr>
        <p:spPr/>
        <p:txBody>
          <a:bodyPr/>
          <a:lstStyle/>
          <a:p>
            <a:r>
              <a:rPr lang="en-US"/>
              <a:t>Dr. Nguyễn Ngọc Ái Vân</a:t>
            </a:r>
            <a:endParaRPr lang="en-US" dirty="0"/>
          </a:p>
        </p:txBody>
      </p:sp>
      <p:sp>
        <p:nvSpPr>
          <p:cNvPr id="7" name="Slide Number Placeholder 6">
            <a:extLst>
              <a:ext uri="{FF2B5EF4-FFF2-40B4-BE49-F238E27FC236}">
                <a16:creationId xmlns:a16="http://schemas.microsoft.com/office/drawing/2014/main" id="{323887D3-058A-4BC0-B1BC-4B333EF550F8}"/>
              </a:ext>
            </a:extLst>
          </p:cNvPr>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3206415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4A4A3-BC27-898B-6F68-3AC543F6C5EE}"/>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8BF07552-611E-6B96-B767-EFBB61D8F09C}"/>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994A8437-153D-9B59-BCEF-A487BECF3E24}"/>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6D6BA2B1-FD9A-5795-861F-8146FDB4E70B}"/>
              </a:ext>
            </a:extLst>
          </p:cNvPr>
          <p:cNvSpPr>
            <a:spLocks noGrp="1"/>
          </p:cNvSpPr>
          <p:nvPr>
            <p:ph type="sldNum" sz="quarter" idx="12"/>
          </p:nvPr>
        </p:nvSpPr>
        <p:spPr/>
        <p:txBody>
          <a:bodyPr/>
          <a:lstStyle/>
          <a:p>
            <a:fld id="{B6F15528-21DE-4FAA-801E-634DDDAF4B2B}" type="slidenum">
              <a:rPr lang="en-US" smtClean="0"/>
              <a:pPr/>
              <a:t>37</a:t>
            </a:fld>
            <a:endParaRPr lang="en-US"/>
          </a:p>
        </p:txBody>
      </p:sp>
      <p:pic>
        <p:nvPicPr>
          <p:cNvPr id="8" name="Picture 7">
            <a:extLst>
              <a:ext uri="{FF2B5EF4-FFF2-40B4-BE49-F238E27FC236}">
                <a16:creationId xmlns:a16="http://schemas.microsoft.com/office/drawing/2014/main" id="{CB64060E-64BD-9129-D2BD-8F3F2D13FA63}"/>
              </a:ext>
            </a:extLst>
          </p:cNvPr>
          <p:cNvPicPr>
            <a:picLocks noChangeAspect="1"/>
          </p:cNvPicPr>
          <p:nvPr/>
        </p:nvPicPr>
        <p:blipFill>
          <a:blip r:embed="rId2"/>
          <a:stretch>
            <a:fillRect/>
          </a:stretch>
        </p:blipFill>
        <p:spPr>
          <a:xfrm>
            <a:off x="-3081" y="1440872"/>
            <a:ext cx="11943149" cy="3893128"/>
          </a:xfrm>
          <a:prstGeom prst="rect">
            <a:avLst/>
          </a:prstGeom>
        </p:spPr>
      </p:pic>
    </p:spTree>
    <p:extLst>
      <p:ext uri="{BB962C8B-B14F-4D97-AF65-F5344CB8AC3E}">
        <p14:creationId xmlns:p14="http://schemas.microsoft.com/office/powerpoint/2010/main" val="470817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D8287-005A-A4D0-B4FD-75CC734599D2}"/>
              </a:ext>
            </a:extLst>
          </p:cNvPr>
          <p:cNvSpPr>
            <a:spLocks noGrp="1"/>
          </p:cNvSpPr>
          <p:nvPr>
            <p:ph type="title"/>
          </p:nvPr>
        </p:nvSpPr>
        <p:spPr/>
        <p:txBody>
          <a:bodyPr/>
          <a:lstStyle/>
          <a:p>
            <a:r>
              <a:rPr lang="en-US" dirty="0"/>
              <a:t>Bayes’ theorem</a:t>
            </a:r>
          </a:p>
        </p:txBody>
      </p:sp>
      <p:pic>
        <p:nvPicPr>
          <p:cNvPr id="7" name="Content Placeholder 6">
            <a:extLst>
              <a:ext uri="{FF2B5EF4-FFF2-40B4-BE49-F238E27FC236}">
                <a16:creationId xmlns:a16="http://schemas.microsoft.com/office/drawing/2014/main" id="{07B36E32-1349-9D2E-A6BF-9DC762044325}"/>
              </a:ext>
            </a:extLst>
          </p:cNvPr>
          <p:cNvPicPr>
            <a:picLocks noGrp="1" noChangeAspect="1"/>
          </p:cNvPicPr>
          <p:nvPr>
            <p:ph idx="1"/>
          </p:nvPr>
        </p:nvPicPr>
        <p:blipFill>
          <a:blip r:embed="rId2"/>
          <a:stretch>
            <a:fillRect/>
          </a:stretch>
        </p:blipFill>
        <p:spPr>
          <a:xfrm>
            <a:off x="0" y="1218524"/>
            <a:ext cx="10972800" cy="4902535"/>
          </a:xfrm>
          <a:prstGeom prst="rect">
            <a:avLst/>
          </a:prstGeom>
        </p:spPr>
      </p:pic>
      <p:sp>
        <p:nvSpPr>
          <p:cNvPr id="4" name="Date Placeholder 3">
            <a:extLst>
              <a:ext uri="{FF2B5EF4-FFF2-40B4-BE49-F238E27FC236}">
                <a16:creationId xmlns:a16="http://schemas.microsoft.com/office/drawing/2014/main" id="{BDD4DE9B-A773-F304-D269-CBBF7A50201C}"/>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478B08A9-4C18-A9EB-D3C7-537A50A6B0C3}"/>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87C4077B-D50D-3AE9-6448-0C5C1A22B589}"/>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458713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D5F7-DA11-04AB-237E-35962D7CDD75}"/>
              </a:ext>
            </a:extLst>
          </p:cNvPr>
          <p:cNvSpPr>
            <a:spLocks noGrp="1"/>
          </p:cNvSpPr>
          <p:nvPr>
            <p:ph type="title"/>
          </p:nvPr>
        </p:nvSpPr>
        <p:spPr/>
        <p:txBody>
          <a:bodyPr/>
          <a:lstStyle/>
          <a:p>
            <a:endParaRPr lang="en-US" dirty="0"/>
          </a:p>
        </p:txBody>
      </p:sp>
      <p:sp>
        <p:nvSpPr>
          <p:cNvPr id="4" name="Date Placeholder 3">
            <a:extLst>
              <a:ext uri="{FF2B5EF4-FFF2-40B4-BE49-F238E27FC236}">
                <a16:creationId xmlns:a16="http://schemas.microsoft.com/office/drawing/2014/main" id="{17D946DD-97AE-D8AA-0C65-C582CA81390B}"/>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C35A47D0-1B98-51E6-ECC7-E38708C52851}"/>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01FD92C3-4838-A67F-D2A1-ABBEC4D2DE27}"/>
              </a:ext>
            </a:extLst>
          </p:cNvPr>
          <p:cNvSpPr>
            <a:spLocks noGrp="1"/>
          </p:cNvSpPr>
          <p:nvPr>
            <p:ph type="sldNum" sz="quarter" idx="12"/>
          </p:nvPr>
        </p:nvSpPr>
        <p:spPr/>
        <p:txBody>
          <a:bodyPr/>
          <a:lstStyle/>
          <a:p>
            <a:fld id="{B6F15528-21DE-4FAA-801E-634DDDAF4B2B}" type="slidenum">
              <a:rPr lang="en-US" smtClean="0"/>
              <a:pPr/>
              <a:t>39</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B257D1F-BAD1-51C4-8ED3-7F2D5A98A5F9}"/>
                  </a:ext>
                </a:extLst>
              </p:cNvPr>
              <p:cNvSpPr txBox="1"/>
              <p:nvPr/>
            </p:nvSpPr>
            <p:spPr>
              <a:xfrm>
                <a:off x="874042" y="1674896"/>
                <a:ext cx="6150212" cy="882486"/>
              </a:xfrm>
              <a:prstGeom prst="rect">
                <a:avLst/>
              </a:prstGeom>
              <a:noFill/>
            </p:spPr>
            <p:txBody>
              <a:bodyPr wrap="square" lIns="0" tIns="0" rIns="0" bIns="0" rtlCol="0">
                <a:spAutoFit/>
              </a:bodyPr>
              <a:lstStyle/>
              <a:p>
                <a:r>
                  <a:rPr lang="en-US" sz="2800" dirty="0"/>
                  <a:t>P</a:t>
                </a:r>
                <a14:m>
                  <m:oMath xmlns:m="http://schemas.openxmlformats.org/officeDocument/2006/math">
                    <m:r>
                      <a:rPr lang="vi-VN" sz="2800" b="0" i="1" smtClean="0">
                        <a:latin typeface="Cambria Math" panose="02040503050406030204" pitchFamily="18" charset="0"/>
                      </a:rPr>
                      <m:t>(</m:t>
                    </m:r>
                    <m:r>
                      <m:rPr>
                        <m:sty m:val="p"/>
                      </m:rPr>
                      <a:rPr lang="vi-VN" sz="2800" i="1">
                        <a:latin typeface="Cambria Math" panose="02040503050406030204" pitchFamily="18" charset="0"/>
                      </a:rPr>
                      <m:t>B</m:t>
                    </m:r>
                    <m:r>
                      <a:rPr lang="vi-VN" sz="2800" b="0" i="1" smtClean="0">
                        <a:latin typeface="Cambria Math" panose="02040503050406030204" pitchFamily="18" charset="0"/>
                      </a:rPr>
                      <m:t>|</m:t>
                    </m:r>
                    <m:r>
                      <m:rPr>
                        <m:sty m:val="p"/>
                      </m:rPr>
                      <a:rPr lang="vi-VN" sz="2800" i="1">
                        <a:latin typeface="Cambria Math" panose="02040503050406030204" pitchFamily="18" charset="0"/>
                      </a:rPr>
                      <m:t>A</m:t>
                    </m:r>
                    <m:r>
                      <a:rPr lang="vi-VN" sz="2800" b="0" i="1" smtClean="0">
                        <a:latin typeface="Cambria Math" panose="02040503050406030204" pitchFamily="18" charset="0"/>
                      </a:rPr>
                      <m:t>)</m:t>
                    </m:r>
                  </m:oMath>
                </a14:m>
                <a:r>
                  <a:rPr lang="en-US" sz="3600" dirty="0"/>
                  <a:t>= </a:t>
                </a:r>
                <a14:m>
                  <m:oMath xmlns:m="http://schemas.openxmlformats.org/officeDocument/2006/math">
                    <m:f>
                      <m:fPr>
                        <m:ctrlPr>
                          <a:rPr lang="en-US" sz="3600" i="1" smtClean="0">
                            <a:latin typeface="Cambria Math" panose="02040503050406030204" pitchFamily="18" charset="0"/>
                          </a:rPr>
                        </m:ctrlPr>
                      </m:fPr>
                      <m:num>
                        <m:r>
                          <m:rPr>
                            <m:sty m:val="p"/>
                          </m:rPr>
                          <a:rPr lang="en-US" sz="3600" i="1">
                            <a:latin typeface="Cambria Math" panose="02040503050406030204" pitchFamily="18" charset="0"/>
                          </a:rPr>
                          <m:t>P</m:t>
                        </m:r>
                        <m:r>
                          <a:rPr lang="vi-VN" sz="3600" b="0" i="1" smtClean="0">
                            <a:latin typeface="Cambria Math" panose="02040503050406030204" pitchFamily="18" charset="0"/>
                          </a:rPr>
                          <m:t>(</m:t>
                        </m:r>
                        <m:r>
                          <m:rPr>
                            <m:sty m:val="p"/>
                          </m:rPr>
                          <a:rPr lang="vi-VN" sz="3600" i="1">
                            <a:latin typeface="Cambria Math" panose="02040503050406030204" pitchFamily="18" charset="0"/>
                          </a:rPr>
                          <m:t>A</m:t>
                        </m:r>
                        <m:r>
                          <a:rPr lang="vi-VN" sz="3600" b="0" i="1" smtClean="0">
                            <a:latin typeface="Cambria Math" panose="02040503050406030204" pitchFamily="18" charset="0"/>
                          </a:rPr>
                          <m:t>|</m:t>
                        </m:r>
                        <m:r>
                          <m:rPr>
                            <m:sty m:val="p"/>
                          </m:rPr>
                          <a:rPr lang="vi-VN" sz="3600" i="1">
                            <a:latin typeface="Cambria Math" panose="02040503050406030204" pitchFamily="18" charset="0"/>
                          </a:rPr>
                          <m:t>B</m:t>
                        </m:r>
                        <m:r>
                          <a:rPr lang="vi-VN" sz="3600" b="0" i="1" smtClean="0">
                            <a:latin typeface="Cambria Math" panose="02040503050406030204" pitchFamily="18" charset="0"/>
                          </a:rPr>
                          <m:t>)</m:t>
                        </m:r>
                        <m:r>
                          <m:rPr>
                            <m:sty m:val="p"/>
                          </m:rPr>
                          <a:rPr lang="vi-VN" sz="3600" i="1">
                            <a:latin typeface="Cambria Math" panose="02040503050406030204" pitchFamily="18" charset="0"/>
                          </a:rPr>
                          <m:t>P</m:t>
                        </m:r>
                        <m:r>
                          <a:rPr lang="vi-VN" sz="3600" b="0" i="1" smtClean="0">
                            <a:latin typeface="Cambria Math" panose="02040503050406030204" pitchFamily="18" charset="0"/>
                          </a:rPr>
                          <m:t>(</m:t>
                        </m:r>
                        <m:r>
                          <m:rPr>
                            <m:sty m:val="p"/>
                          </m:rPr>
                          <a:rPr lang="vi-VN" sz="3600" i="1">
                            <a:latin typeface="Cambria Math" panose="02040503050406030204" pitchFamily="18" charset="0"/>
                          </a:rPr>
                          <m:t>B</m:t>
                        </m:r>
                        <m:r>
                          <a:rPr lang="vi-VN" sz="3600" b="0" i="1" smtClean="0">
                            <a:latin typeface="Cambria Math" panose="02040503050406030204" pitchFamily="18" charset="0"/>
                          </a:rPr>
                          <m:t>)</m:t>
                        </m:r>
                      </m:num>
                      <m:den>
                        <m:r>
                          <m:rPr>
                            <m:sty m:val="p"/>
                          </m:rPr>
                          <a:rPr lang="en-US" sz="3600" i="1">
                            <a:latin typeface="Cambria Math" panose="02040503050406030204" pitchFamily="18" charset="0"/>
                          </a:rPr>
                          <m:t>P</m:t>
                        </m:r>
                        <m:r>
                          <a:rPr lang="vi-VN" sz="3600" b="0" i="1" smtClean="0">
                            <a:latin typeface="Cambria Math" panose="02040503050406030204" pitchFamily="18" charset="0"/>
                          </a:rPr>
                          <m:t>(</m:t>
                        </m:r>
                        <m:r>
                          <m:rPr>
                            <m:sty m:val="p"/>
                          </m:rPr>
                          <a:rPr lang="vi-VN" sz="3600" i="1">
                            <a:latin typeface="Cambria Math" panose="02040503050406030204" pitchFamily="18" charset="0"/>
                          </a:rPr>
                          <m:t>A</m:t>
                        </m:r>
                        <m:r>
                          <a:rPr lang="vi-VN" sz="3600" b="0" i="1" smtClean="0">
                            <a:latin typeface="Cambria Math" panose="02040503050406030204" pitchFamily="18" charset="0"/>
                          </a:rPr>
                          <m:t>|</m:t>
                        </m:r>
                        <m:r>
                          <m:rPr>
                            <m:sty m:val="p"/>
                          </m:rPr>
                          <a:rPr lang="vi-VN" sz="3600" i="1">
                            <a:latin typeface="Cambria Math" panose="02040503050406030204" pitchFamily="18" charset="0"/>
                          </a:rPr>
                          <m:t>B</m:t>
                        </m:r>
                        <m:r>
                          <a:rPr lang="vi-VN" sz="3600" b="0" i="1" smtClean="0">
                            <a:latin typeface="Cambria Math" panose="02040503050406030204" pitchFamily="18" charset="0"/>
                          </a:rPr>
                          <m:t>)</m:t>
                        </m:r>
                        <m:r>
                          <m:rPr>
                            <m:sty m:val="p"/>
                          </m:rPr>
                          <a:rPr lang="vi-VN" sz="3600" i="1">
                            <a:latin typeface="Cambria Math" panose="02040503050406030204" pitchFamily="18" charset="0"/>
                          </a:rPr>
                          <m:t>P</m:t>
                        </m:r>
                        <m:d>
                          <m:dPr>
                            <m:ctrlPr>
                              <a:rPr lang="vi-VN" sz="3600" b="0" i="1" smtClean="0">
                                <a:latin typeface="Cambria Math" panose="02040503050406030204" pitchFamily="18" charset="0"/>
                              </a:rPr>
                            </m:ctrlPr>
                          </m:dPr>
                          <m:e>
                            <m:r>
                              <m:rPr>
                                <m:sty m:val="p"/>
                              </m:rPr>
                              <a:rPr lang="vi-VN" sz="3600" i="1">
                                <a:latin typeface="Cambria Math" panose="02040503050406030204" pitchFamily="18" charset="0"/>
                              </a:rPr>
                              <m:t>B</m:t>
                            </m:r>
                          </m:e>
                        </m:d>
                        <m:r>
                          <a:rPr lang="vi-VN" sz="3600" b="0" i="1" smtClean="0">
                            <a:latin typeface="Cambria Math" panose="02040503050406030204" pitchFamily="18" charset="0"/>
                          </a:rPr>
                          <m:t>+</m:t>
                        </m:r>
                        <m:r>
                          <m:rPr>
                            <m:sty m:val="p"/>
                          </m:rPr>
                          <a:rPr lang="vi-VN" sz="3600" i="1">
                            <a:latin typeface="Cambria Math" panose="02040503050406030204" pitchFamily="18" charset="0"/>
                          </a:rPr>
                          <m:t>P</m:t>
                        </m:r>
                        <m:r>
                          <a:rPr lang="vi-VN" sz="3600" b="0" i="1" smtClean="0">
                            <a:latin typeface="Cambria Math" panose="02040503050406030204" pitchFamily="18" charset="0"/>
                          </a:rPr>
                          <m:t>(</m:t>
                        </m:r>
                        <m:r>
                          <m:rPr>
                            <m:sty m:val="p"/>
                          </m:rPr>
                          <a:rPr lang="vi-VN" sz="3600" i="1">
                            <a:latin typeface="Cambria Math" panose="02040503050406030204" pitchFamily="18" charset="0"/>
                          </a:rPr>
                          <m:t>A</m:t>
                        </m:r>
                        <m:r>
                          <a:rPr lang="vi-VN" sz="3600" b="0" i="1" smtClean="0">
                            <a:latin typeface="Cambria Math" panose="02040503050406030204" pitchFamily="18" charset="0"/>
                          </a:rPr>
                          <m:t>|</m:t>
                        </m:r>
                        <m:acc>
                          <m:accPr>
                            <m:chr m:val="̅"/>
                            <m:ctrlPr>
                              <a:rPr lang="vi-VN" sz="3600" b="0" i="1" smtClean="0">
                                <a:latin typeface="Cambria Math" panose="02040503050406030204" pitchFamily="18" charset="0"/>
                              </a:rPr>
                            </m:ctrlPr>
                          </m:accPr>
                          <m:e>
                            <m:r>
                              <m:rPr>
                                <m:sty m:val="p"/>
                              </m:rPr>
                              <a:rPr lang="en-US" sz="3600" i="1">
                                <a:latin typeface="Cambria Math" panose="02040503050406030204" pitchFamily="18" charset="0"/>
                              </a:rPr>
                              <m:t>B</m:t>
                            </m:r>
                          </m:e>
                        </m:acc>
                        <m:r>
                          <a:rPr lang="vi-VN" sz="3600" b="0" i="1" smtClean="0">
                            <a:latin typeface="Cambria Math" panose="02040503050406030204" pitchFamily="18" charset="0"/>
                          </a:rPr>
                          <m:t>)</m:t>
                        </m:r>
                        <m:r>
                          <m:rPr>
                            <m:sty m:val="p"/>
                          </m:rPr>
                          <a:rPr lang="vi-VN" sz="3600" i="1">
                            <a:latin typeface="Cambria Math" panose="02040503050406030204" pitchFamily="18" charset="0"/>
                          </a:rPr>
                          <m:t>P</m:t>
                        </m:r>
                        <m:r>
                          <a:rPr lang="vi-VN" sz="3600" i="1">
                            <a:latin typeface="Cambria Math" panose="02040503050406030204" pitchFamily="18" charset="0"/>
                          </a:rPr>
                          <m:t>(</m:t>
                        </m:r>
                        <m:acc>
                          <m:accPr>
                            <m:chr m:val="̅"/>
                            <m:ctrlPr>
                              <a:rPr lang="vi-VN" sz="3600" i="1" smtClean="0">
                                <a:latin typeface="Cambria Math" panose="02040503050406030204" pitchFamily="18" charset="0"/>
                              </a:rPr>
                            </m:ctrlPr>
                          </m:accPr>
                          <m:e>
                            <m:r>
                              <m:rPr>
                                <m:sty m:val="p"/>
                              </m:rPr>
                              <a:rPr lang="en-US" sz="3600" i="1">
                                <a:latin typeface="Cambria Math" panose="02040503050406030204" pitchFamily="18" charset="0"/>
                              </a:rPr>
                              <m:t>B</m:t>
                            </m:r>
                          </m:e>
                        </m:acc>
                        <m:r>
                          <a:rPr lang="vi-VN" sz="3600" b="0" i="1" smtClean="0">
                            <a:latin typeface="Cambria Math" panose="02040503050406030204" pitchFamily="18" charset="0"/>
                          </a:rPr>
                          <m:t>)</m:t>
                        </m:r>
                      </m:den>
                    </m:f>
                  </m:oMath>
                </a14:m>
                <a:endParaRPr lang="en-US" sz="3600" dirty="0"/>
              </a:p>
            </p:txBody>
          </p:sp>
        </mc:Choice>
        <mc:Fallback xmlns="">
          <p:sp>
            <p:nvSpPr>
              <p:cNvPr id="7" name="TextBox 6">
                <a:extLst>
                  <a:ext uri="{FF2B5EF4-FFF2-40B4-BE49-F238E27FC236}">
                    <a16:creationId xmlns:a16="http://schemas.microsoft.com/office/drawing/2014/main" id="{4B257D1F-BAD1-51C4-8ED3-7F2D5A98A5F9}"/>
                  </a:ext>
                </a:extLst>
              </p:cNvPr>
              <p:cNvSpPr txBox="1">
                <a:spLocks noRot="1" noChangeAspect="1" noMove="1" noResize="1" noEditPoints="1" noAdjustHandles="1" noChangeArrowheads="1" noChangeShapeType="1" noTextEdit="1"/>
              </p:cNvSpPr>
              <p:nvPr/>
            </p:nvSpPr>
            <p:spPr>
              <a:xfrm>
                <a:off x="874042" y="1674896"/>
                <a:ext cx="6150212" cy="882486"/>
              </a:xfrm>
              <a:prstGeom prst="rect">
                <a:avLst/>
              </a:prstGeom>
              <a:blipFill>
                <a:blip r:embed="rId2"/>
                <a:stretch>
                  <a:fillRect l="-3505" t="-1429" b="-17143"/>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9B3A825-DCEA-2F61-9F19-5F76346EBC98}"/>
              </a:ext>
            </a:extLst>
          </p:cNvPr>
          <p:cNvPicPr>
            <a:picLocks noChangeAspect="1"/>
          </p:cNvPicPr>
          <p:nvPr/>
        </p:nvPicPr>
        <p:blipFill>
          <a:blip r:embed="rId3"/>
          <a:stretch>
            <a:fillRect/>
          </a:stretch>
        </p:blipFill>
        <p:spPr>
          <a:xfrm>
            <a:off x="874042" y="4148060"/>
            <a:ext cx="9309158" cy="146026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8090C7-CF8A-0574-0C7C-E9F4258B629E}"/>
                  </a:ext>
                </a:extLst>
              </p:cNvPr>
              <p:cNvSpPr txBox="1"/>
              <p:nvPr/>
            </p:nvSpPr>
            <p:spPr>
              <a:xfrm>
                <a:off x="581573" y="3470278"/>
                <a:ext cx="9339021" cy="470835"/>
              </a:xfrm>
              <a:prstGeom prst="rect">
                <a:avLst/>
              </a:prstGeom>
              <a:noFill/>
            </p:spPr>
            <p:txBody>
              <a:bodyPr wrap="square" lIns="0" tIns="0" rIns="0" bIns="0" rtlCol="0">
                <a:spAutoFit/>
              </a:bodyPr>
              <a:lstStyle/>
              <a:p>
                <a14:m>
                  <m:oMath xmlns:m="http://schemas.openxmlformats.org/officeDocument/2006/math">
                    <m:sSub>
                      <m:sSubPr>
                        <m:ctrlPr>
                          <a:rPr lang="en-US" sz="2800" i="1" smtClean="0">
                            <a:latin typeface="Cambria Math" panose="02040503050406030204" pitchFamily="18" charset="0"/>
                          </a:rPr>
                        </m:ctrlPr>
                      </m:sSubPr>
                      <m:e>
                        <m:r>
                          <m:rPr>
                            <m:sty m:val="p"/>
                          </m:rPr>
                          <a:rPr lang="en-US" sz="2800" i="1">
                            <a:latin typeface="Cambria Math" panose="02040503050406030204" pitchFamily="18" charset="0"/>
                          </a:rPr>
                          <m:t>If</m:t>
                        </m:r>
                        <m:r>
                          <a:rPr lang="vi-VN" sz="2800" b="0" i="1" smtClean="0">
                            <a:latin typeface="Cambria Math" panose="02040503050406030204" pitchFamily="18" charset="0"/>
                          </a:rPr>
                          <m:t> </m:t>
                        </m:r>
                        <m:r>
                          <m:rPr>
                            <m:sty m:val="p"/>
                          </m:rPr>
                          <a:rPr lang="en-US" sz="2800" i="1">
                            <a:latin typeface="Cambria Math" panose="02040503050406030204" pitchFamily="18" charset="0"/>
                          </a:rPr>
                          <m:t>B</m:t>
                        </m:r>
                      </m:e>
                      <m:sub>
                        <m:r>
                          <a:rPr lang="en-US" sz="2800" i="1">
                            <a:latin typeface="Cambria Math" panose="02040503050406030204" pitchFamily="18" charset="0"/>
                          </a:rPr>
                          <m:t>1</m:t>
                        </m:r>
                      </m:sub>
                    </m:sSub>
                    <m:r>
                      <a:rPr lang="vi-VN" sz="2800" i="1">
                        <a:latin typeface="Cambria Math" panose="02040503050406030204" pitchFamily="18" charset="0"/>
                        <a:ea typeface="Cambria Math" panose="02040503050406030204" pitchFamily="18" charset="0"/>
                      </a:rPr>
                      <m:t>∪</m:t>
                    </m:r>
                    <m:sSub>
                      <m:sSubPr>
                        <m:ctrlPr>
                          <a:rPr lang="vi-VN" sz="2800" i="1" smtClean="0">
                            <a:latin typeface="Cambria Math" panose="02040503050406030204" pitchFamily="18" charset="0"/>
                            <a:ea typeface="Cambria Math" panose="02040503050406030204" pitchFamily="18" charset="0"/>
                          </a:rPr>
                        </m:ctrlPr>
                      </m:sSubPr>
                      <m:e>
                        <m:r>
                          <m:rPr>
                            <m:sty m:val="p"/>
                          </m:rPr>
                          <a:rPr lang="vi-VN" sz="2800" i="1">
                            <a:latin typeface="Cambria Math" panose="02040503050406030204" pitchFamily="18" charset="0"/>
                            <a:ea typeface="Cambria Math" panose="02040503050406030204" pitchFamily="18" charset="0"/>
                          </a:rPr>
                          <m:t>B</m:t>
                        </m:r>
                      </m:e>
                      <m:sub>
                        <m:r>
                          <a:rPr lang="vi-VN" sz="2800" i="1">
                            <a:latin typeface="Cambria Math" panose="02040503050406030204" pitchFamily="18" charset="0"/>
                            <a:ea typeface="Cambria Math" panose="02040503050406030204" pitchFamily="18" charset="0"/>
                          </a:rPr>
                          <m:t>2</m:t>
                        </m:r>
                      </m:sub>
                    </m:sSub>
                    <m:r>
                      <a:rPr lang="vi-VN" sz="2800" i="1" smtClean="0">
                        <a:latin typeface="Cambria Math" panose="02040503050406030204" pitchFamily="18" charset="0"/>
                        <a:ea typeface="Cambria Math" panose="02040503050406030204" pitchFamily="18" charset="0"/>
                      </a:rPr>
                      <m:t>∪</m:t>
                    </m:r>
                    <m:r>
                      <a:rPr lang="vi-VN" sz="2800" b="0" i="1" smtClean="0">
                        <a:latin typeface="Cambria Math" panose="02040503050406030204" pitchFamily="18" charset="0"/>
                        <a:ea typeface="Cambria Math" panose="02040503050406030204" pitchFamily="18" charset="0"/>
                      </a:rPr>
                      <m:t>…∪</m:t>
                    </m:r>
                    <m:sSub>
                      <m:sSubPr>
                        <m:ctrlPr>
                          <a:rPr lang="vi-VN" sz="2800" b="0" i="1" smtClean="0">
                            <a:latin typeface="Cambria Math" panose="02040503050406030204" pitchFamily="18" charset="0"/>
                            <a:ea typeface="Cambria Math" panose="02040503050406030204" pitchFamily="18" charset="0"/>
                          </a:rPr>
                        </m:ctrlPr>
                      </m:sSubPr>
                      <m:e>
                        <m:r>
                          <m:rPr>
                            <m:sty m:val="p"/>
                          </m:rPr>
                          <a:rPr lang="vi-VN" sz="2800" i="1">
                            <a:latin typeface="Cambria Math" panose="02040503050406030204" pitchFamily="18" charset="0"/>
                            <a:ea typeface="Cambria Math" panose="02040503050406030204" pitchFamily="18" charset="0"/>
                          </a:rPr>
                          <m:t>B</m:t>
                        </m:r>
                      </m:e>
                      <m:sub>
                        <m:r>
                          <m:rPr>
                            <m:sty m:val="p"/>
                          </m:rPr>
                          <a:rPr lang="vi-VN" sz="2800" i="1">
                            <a:latin typeface="Cambria Math" panose="02040503050406030204" pitchFamily="18" charset="0"/>
                            <a:ea typeface="Cambria Math" panose="02040503050406030204" pitchFamily="18" charset="0"/>
                          </a:rPr>
                          <m:t>n</m:t>
                        </m:r>
                      </m:sub>
                    </m:sSub>
                    <m:r>
                      <a:rPr lang="vi-VN" sz="2800" b="0" i="1" smtClean="0">
                        <a:latin typeface="Cambria Math" panose="02040503050406030204" pitchFamily="18" charset="0"/>
                        <a:ea typeface="Cambria Math" panose="02040503050406030204" pitchFamily="18" charset="0"/>
                      </a:rPr>
                      <m:t>= </m:t>
                    </m:r>
                    <m:r>
                      <m:rPr>
                        <m:sty m:val="p"/>
                      </m:rPr>
                      <a:rPr lang="vi-VN" sz="2800" i="1">
                        <a:latin typeface="Cambria Math" panose="02040503050406030204" pitchFamily="18" charset="0"/>
                        <a:ea typeface="Cambria Math" panose="02040503050406030204" pitchFamily="18" charset="0"/>
                      </a:rPr>
                      <m:t>S</m:t>
                    </m:r>
                    <m:r>
                      <a:rPr lang="vi-VN" sz="2800" b="0" i="0" smtClean="0">
                        <a:latin typeface="Cambria Math" panose="02040503050406030204" pitchFamily="18" charset="0"/>
                        <a:ea typeface="Cambria Math" panose="02040503050406030204" pitchFamily="18" charset="0"/>
                      </a:rPr>
                      <m:t>  </m:t>
                    </m:r>
                    <m:r>
                      <m:rPr>
                        <m:sty m:val="p"/>
                      </m:rPr>
                      <a:rPr lang="vi-VN" sz="2800" i="1">
                        <a:latin typeface="Cambria Math" panose="02040503050406030204" pitchFamily="18" charset="0"/>
                        <a:ea typeface="Cambria Math" panose="02040503050406030204" pitchFamily="18" charset="0"/>
                      </a:rPr>
                      <m:t>and</m:t>
                    </m:r>
                    <m:r>
                      <a:rPr lang="vi-VN" sz="2800" b="0" i="1" smtClean="0">
                        <a:latin typeface="Cambria Math" panose="02040503050406030204" pitchFamily="18" charset="0"/>
                        <a:ea typeface="Cambria Math" panose="02040503050406030204" pitchFamily="18" charset="0"/>
                      </a:rPr>
                      <m:t> </m:t>
                    </m:r>
                    <m:sSub>
                      <m:sSubPr>
                        <m:ctrlPr>
                          <a:rPr lang="en-US" sz="2800" i="1" smtClean="0">
                            <a:latin typeface="Cambria Math" panose="02040503050406030204" pitchFamily="18" charset="0"/>
                          </a:rPr>
                        </m:ctrlPr>
                      </m:sSubPr>
                      <m:e>
                        <m:r>
                          <m:rPr>
                            <m:sty m:val="p"/>
                          </m:rPr>
                          <a:rPr lang="en-US" sz="2800" i="1">
                            <a:latin typeface="Cambria Math" panose="02040503050406030204" pitchFamily="18" charset="0"/>
                          </a:rPr>
                          <m:t>B</m:t>
                        </m:r>
                      </m:e>
                      <m:sub>
                        <m:r>
                          <m:rPr>
                            <m:sty m:val="p"/>
                          </m:rPr>
                          <a:rPr lang="en-US" sz="2800" i="1">
                            <a:latin typeface="Cambria Math" panose="02040503050406030204" pitchFamily="18" charset="0"/>
                          </a:rPr>
                          <m:t>i</m:t>
                        </m:r>
                      </m:sub>
                    </m:sSub>
                    <m:r>
                      <a:rPr lang="en-US" sz="2800" i="1" smtClean="0">
                        <a:latin typeface="Cambria Math" panose="02040503050406030204" pitchFamily="18" charset="0"/>
                        <a:ea typeface="Cambria Math" panose="02040503050406030204" pitchFamily="18" charset="0"/>
                      </a:rPr>
                      <m:t>∩</m:t>
                    </m:r>
                    <m:sSub>
                      <m:sSubPr>
                        <m:ctrlPr>
                          <a:rPr lang="en-US" sz="2800" i="1" smtClean="0">
                            <a:latin typeface="Cambria Math" panose="02040503050406030204" pitchFamily="18" charset="0"/>
                            <a:ea typeface="Cambria Math" panose="02040503050406030204" pitchFamily="18" charset="0"/>
                          </a:rPr>
                        </m:ctrlPr>
                      </m:sSubPr>
                      <m:e>
                        <m:r>
                          <m:rPr>
                            <m:sty m:val="p"/>
                          </m:rPr>
                          <a:rPr lang="en-US" sz="2800" i="1">
                            <a:latin typeface="Cambria Math" panose="02040503050406030204" pitchFamily="18" charset="0"/>
                            <a:ea typeface="Cambria Math" panose="02040503050406030204" pitchFamily="18" charset="0"/>
                          </a:rPr>
                          <m:t>B</m:t>
                        </m:r>
                      </m:e>
                      <m:sub>
                        <m:r>
                          <m:rPr>
                            <m:sty m:val="p"/>
                          </m:rPr>
                          <a:rPr lang="en-US" sz="2800" i="1">
                            <a:latin typeface="Cambria Math" panose="02040503050406030204" pitchFamily="18" charset="0"/>
                            <a:ea typeface="Cambria Math" panose="02040503050406030204" pitchFamily="18" charset="0"/>
                          </a:rPr>
                          <m:t>j</m:t>
                        </m:r>
                      </m:sub>
                    </m:sSub>
                    <m:r>
                      <a:rPr lang="vi-VN" sz="2800" b="0" i="1" smtClean="0">
                        <a:latin typeface="Cambria Math" panose="02040503050406030204" pitchFamily="18" charset="0"/>
                        <a:ea typeface="Cambria Math" panose="02040503050406030204" pitchFamily="18" charset="0"/>
                      </a:rPr>
                      <m:t>=∅     ∀</m:t>
                    </m:r>
                  </m:oMath>
                </a14:m>
                <a:r>
                  <a:rPr lang="en-US" sz="2800" dirty="0"/>
                  <a:t> i</a:t>
                </a:r>
                <a14:m>
                  <m:oMath xmlns:m="http://schemas.openxmlformats.org/officeDocument/2006/math">
                    <m:r>
                      <a:rPr lang="en-US" sz="2800" i="1" dirty="0" smtClean="0">
                        <a:latin typeface="Cambria Math" panose="02040503050406030204" pitchFamily="18" charset="0"/>
                        <a:ea typeface="Cambria Math" panose="02040503050406030204" pitchFamily="18" charset="0"/>
                      </a:rPr>
                      <m:t>≠</m:t>
                    </m:r>
                    <m:r>
                      <m:rPr>
                        <m:sty m:val="p"/>
                      </m:rPr>
                      <a:rPr lang="en-US" sz="2800" i="1" dirty="0">
                        <a:latin typeface="Cambria Math" panose="02040503050406030204" pitchFamily="18" charset="0"/>
                        <a:ea typeface="Cambria Math" panose="02040503050406030204" pitchFamily="18" charset="0"/>
                      </a:rPr>
                      <m:t>j</m:t>
                    </m:r>
                    <m:r>
                      <a:rPr lang="vi-VN" sz="2800" b="0" i="1" dirty="0" smtClean="0">
                        <a:latin typeface="Cambria Math" panose="02040503050406030204" pitchFamily="18" charset="0"/>
                        <a:ea typeface="Cambria Math" panose="02040503050406030204" pitchFamily="18" charset="0"/>
                      </a:rPr>
                      <m:t> </m:t>
                    </m:r>
                  </m:oMath>
                </a14:m>
                <a:r>
                  <a:rPr lang="en-US" sz="2800" dirty="0"/>
                  <a:t>  then</a:t>
                </a:r>
              </a:p>
            </p:txBody>
          </p:sp>
        </mc:Choice>
        <mc:Fallback xmlns="">
          <p:sp>
            <p:nvSpPr>
              <p:cNvPr id="11" name="TextBox 10">
                <a:extLst>
                  <a:ext uri="{FF2B5EF4-FFF2-40B4-BE49-F238E27FC236}">
                    <a16:creationId xmlns:a16="http://schemas.microsoft.com/office/drawing/2014/main" id="{588090C7-CF8A-0574-0C7C-E9F4258B629E}"/>
                  </a:ext>
                </a:extLst>
              </p:cNvPr>
              <p:cNvSpPr txBox="1">
                <a:spLocks noRot="1" noChangeAspect="1" noMove="1" noResize="1" noEditPoints="1" noAdjustHandles="1" noChangeArrowheads="1" noChangeShapeType="1" noTextEdit="1"/>
              </p:cNvSpPr>
              <p:nvPr/>
            </p:nvSpPr>
            <p:spPr>
              <a:xfrm>
                <a:off x="581573" y="3470278"/>
                <a:ext cx="9339021" cy="470835"/>
              </a:xfrm>
              <a:prstGeom prst="rect">
                <a:avLst/>
              </a:prstGeom>
              <a:blipFill>
                <a:blip r:embed="rId4"/>
                <a:stretch>
                  <a:fillRect l="-1359" t="-21053" b="-36842"/>
                </a:stretch>
              </a:blipFill>
            </p:spPr>
            <p:txBody>
              <a:bodyPr/>
              <a:lstStyle/>
              <a:p>
                <a:r>
                  <a:rPr lang="en-US">
                    <a:noFill/>
                  </a:rPr>
                  <a:t> </a:t>
                </a:r>
              </a:p>
            </p:txBody>
          </p:sp>
        </mc:Fallback>
      </mc:AlternateContent>
    </p:spTree>
    <p:extLst>
      <p:ext uri="{BB962C8B-B14F-4D97-AF65-F5344CB8AC3E}">
        <p14:creationId xmlns:p14="http://schemas.microsoft.com/office/powerpoint/2010/main" val="2721195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B636-726F-48B5-A351-8242FC063623}"/>
              </a:ext>
            </a:extLst>
          </p:cNvPr>
          <p:cNvSpPr>
            <a:spLocks noGrp="1"/>
          </p:cNvSpPr>
          <p:nvPr>
            <p:ph type="title"/>
          </p:nvPr>
        </p:nvSpPr>
        <p:spPr/>
        <p:txBody>
          <a:bodyPr/>
          <a:lstStyle/>
          <a:p>
            <a:r>
              <a:rPr lang="en-US" b="1" dirty="0"/>
              <a:t>Example</a:t>
            </a:r>
          </a:p>
        </p:txBody>
      </p:sp>
      <p:sp>
        <p:nvSpPr>
          <p:cNvPr id="4" name="Date Placeholder 3">
            <a:extLst>
              <a:ext uri="{FF2B5EF4-FFF2-40B4-BE49-F238E27FC236}">
                <a16:creationId xmlns:a16="http://schemas.microsoft.com/office/drawing/2014/main" id="{B42D88F5-F89F-4FE3-A7E7-2652E7A6068F}"/>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54E6E8C0-1A27-4A14-AAD1-16FE055417C0}"/>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E482218C-D158-4A89-8E57-B484BD15F871}"/>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7" name="Rectangle 6">
            <a:extLst>
              <a:ext uri="{FF2B5EF4-FFF2-40B4-BE49-F238E27FC236}">
                <a16:creationId xmlns:a16="http://schemas.microsoft.com/office/drawing/2014/main" id="{A9E362DB-8568-4CE8-A668-BDD03C52DC72}"/>
              </a:ext>
            </a:extLst>
          </p:cNvPr>
          <p:cNvSpPr/>
          <p:nvPr/>
        </p:nvSpPr>
        <p:spPr>
          <a:xfrm>
            <a:off x="1126274" y="1067277"/>
            <a:ext cx="10270272" cy="3785652"/>
          </a:xfrm>
          <a:prstGeom prst="rect">
            <a:avLst/>
          </a:prstGeom>
        </p:spPr>
        <p:txBody>
          <a:bodyPr wrap="square">
            <a:spAutoFit/>
          </a:bodyPr>
          <a:lstStyle/>
          <a:p>
            <a:r>
              <a:rPr lang="en-US" sz="2400" dirty="0">
                <a:solidFill>
                  <a:srgbClr val="000000"/>
                </a:solidFill>
                <a:latin typeface="Arial" panose="020B0604020202020204" pitchFamily="34" charset="0"/>
              </a:rPr>
              <a:t>There are 8 red balls and 2 yellow balls in Bag 1.</a:t>
            </a:r>
          </a:p>
          <a:p>
            <a:r>
              <a:rPr lang="en-US" sz="2400" dirty="0">
                <a:solidFill>
                  <a:srgbClr val="000000"/>
                </a:solidFill>
                <a:latin typeface="Arial" panose="020B0604020202020204" pitchFamily="34" charset="0"/>
              </a:rPr>
              <a:t>There are 4 red balls and 6 yellow balls in Bag 2.</a:t>
            </a:r>
          </a:p>
          <a:p>
            <a:r>
              <a:rPr lang="en-US" sz="2400" dirty="0">
                <a:solidFill>
                  <a:srgbClr val="000000"/>
                </a:solidFill>
                <a:latin typeface="Arial" panose="020B0604020202020204" pitchFamily="34" charset="0"/>
              </a:rPr>
              <a:t> </a:t>
            </a:r>
          </a:p>
          <a:p>
            <a:r>
              <a:rPr lang="en-US" sz="2400" dirty="0">
                <a:solidFill>
                  <a:srgbClr val="000000"/>
                </a:solidFill>
                <a:latin typeface="Arial" panose="020B0604020202020204" pitchFamily="34" charset="0"/>
              </a:rPr>
              <a:t>Question 1:</a:t>
            </a:r>
          </a:p>
          <a:p>
            <a:r>
              <a:rPr lang="en-US" sz="2400" dirty="0">
                <a:solidFill>
                  <a:srgbClr val="000000"/>
                </a:solidFill>
                <a:latin typeface="Arial" panose="020B0604020202020204" pitchFamily="34" charset="0"/>
              </a:rPr>
              <a:t>Take one ball from Bag 1 and then one ball from Bag 2.</a:t>
            </a:r>
          </a:p>
          <a:p>
            <a:r>
              <a:rPr lang="en-US" sz="2400" dirty="0">
                <a:solidFill>
                  <a:srgbClr val="000000"/>
                </a:solidFill>
                <a:latin typeface="Arial" panose="020B0604020202020204" pitchFamily="34" charset="0"/>
              </a:rPr>
              <a:t>What is the probability of choosing two red balls.</a:t>
            </a:r>
          </a:p>
          <a:p>
            <a:endParaRPr lang="en-US" sz="2400" b="0" i="0" dirty="0">
              <a:solidFill>
                <a:srgbClr val="000000"/>
              </a:solidFill>
              <a:effectLst/>
              <a:latin typeface="Arial" panose="020B0604020202020204" pitchFamily="34" charset="0"/>
            </a:endParaRPr>
          </a:p>
          <a:p>
            <a:r>
              <a:rPr lang="en-US" sz="2400" dirty="0">
                <a:solidFill>
                  <a:srgbClr val="000000"/>
                </a:solidFill>
                <a:latin typeface="Arial" panose="020B0604020202020204" pitchFamily="34" charset="0"/>
              </a:rPr>
              <a:t>Question 2:</a:t>
            </a:r>
          </a:p>
          <a:p>
            <a:r>
              <a:rPr lang="en-US" sz="2400" b="0" i="0" dirty="0">
                <a:solidFill>
                  <a:srgbClr val="000000"/>
                </a:solidFill>
                <a:effectLst/>
                <a:latin typeface="Arial" panose="020B0604020202020204" pitchFamily="34" charset="0"/>
              </a:rPr>
              <a:t>Take one of the bags randomly, then take one ball randomly from this bag. </a:t>
            </a:r>
          </a:p>
          <a:p>
            <a:r>
              <a:rPr lang="en-US" sz="2400" dirty="0">
                <a:solidFill>
                  <a:srgbClr val="000000"/>
                </a:solidFill>
                <a:latin typeface="Arial" panose="020B0604020202020204" pitchFamily="34" charset="0"/>
              </a:rPr>
              <a:t>If the ball taken is red, what is the probability that Bag 1 is chosen ?</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606588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E9888-1CFC-4929-88FC-B9350C147E6F}"/>
              </a:ext>
            </a:extLst>
          </p:cNvPr>
          <p:cNvSpPr>
            <a:spLocks noGrp="1"/>
          </p:cNvSpPr>
          <p:nvPr>
            <p:ph type="title"/>
          </p:nvPr>
        </p:nvSpPr>
        <p:spPr/>
        <p:txBody>
          <a:bodyPr/>
          <a:lstStyle/>
          <a:p>
            <a:r>
              <a:rPr lang="en-US" b="1" dirty="0"/>
              <a:t>Example</a:t>
            </a:r>
          </a:p>
        </p:txBody>
      </p:sp>
      <p:sp>
        <p:nvSpPr>
          <p:cNvPr id="4" name="Date Placeholder 3">
            <a:extLst>
              <a:ext uri="{FF2B5EF4-FFF2-40B4-BE49-F238E27FC236}">
                <a16:creationId xmlns:a16="http://schemas.microsoft.com/office/drawing/2014/main" id="{3838D492-4DB6-48B9-96F8-941F71F28413}"/>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02A6A793-56F6-40B6-9318-A1965C47F01D}"/>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6238C712-D87D-44B5-9896-E686881FE2D8}"/>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7" name="Rectangle 6">
            <a:extLst>
              <a:ext uri="{FF2B5EF4-FFF2-40B4-BE49-F238E27FC236}">
                <a16:creationId xmlns:a16="http://schemas.microsoft.com/office/drawing/2014/main" id="{7C39670F-FEB8-409D-9E58-3CE73219CD4A}"/>
              </a:ext>
            </a:extLst>
          </p:cNvPr>
          <p:cNvSpPr/>
          <p:nvPr/>
        </p:nvSpPr>
        <p:spPr>
          <a:xfrm>
            <a:off x="29210" y="1077783"/>
            <a:ext cx="11572240" cy="4832092"/>
          </a:xfrm>
          <a:prstGeom prst="rect">
            <a:avLst/>
          </a:prstGeom>
        </p:spPr>
        <p:txBody>
          <a:bodyPr wrap="square">
            <a:spAutoFit/>
          </a:bodyPr>
          <a:lstStyle/>
          <a:p>
            <a:r>
              <a:rPr lang="en-US" sz="2800" dirty="0">
                <a:latin typeface="TimesNewRomanPS"/>
              </a:rPr>
              <a:t>Suppose that 10% of the women who purchase over-the-counter pregnancy testing kits are actually pregnant. For a particular brand of kit, if a woman is pregnant, the test will yield a positive result 96% of the time and a negative result 4% of the time. </a:t>
            </a:r>
          </a:p>
          <a:p>
            <a:r>
              <a:rPr lang="en-US" sz="2800" dirty="0">
                <a:latin typeface="TimesNewRomanPS"/>
              </a:rPr>
              <a:t>If she is not pregnant, the test will</a:t>
            </a:r>
          </a:p>
          <a:p>
            <a:r>
              <a:rPr lang="en-US" sz="2800" dirty="0">
                <a:latin typeface="TimesNewRomanPS"/>
              </a:rPr>
              <a:t>yield a positive result 5% of the time </a:t>
            </a:r>
          </a:p>
          <a:p>
            <a:r>
              <a:rPr lang="en-US" sz="2800" dirty="0">
                <a:latin typeface="TimesNewRomanPS"/>
              </a:rPr>
              <a:t>and a negative result 95% of the time.</a:t>
            </a:r>
          </a:p>
          <a:p>
            <a:endParaRPr lang="en-US" sz="2800" dirty="0">
              <a:latin typeface="TimesNewRomanPS"/>
            </a:endParaRPr>
          </a:p>
          <a:p>
            <a:r>
              <a:rPr lang="en-US" sz="2800" dirty="0">
                <a:latin typeface="TimesNewRomanPS"/>
              </a:rPr>
              <a:t>Suppose the test comes up positive.</a:t>
            </a:r>
          </a:p>
          <a:p>
            <a:r>
              <a:rPr lang="en-US" sz="2800" dirty="0">
                <a:latin typeface="TimesNewRomanPS"/>
              </a:rPr>
              <a:t>What is the probability that</a:t>
            </a:r>
          </a:p>
          <a:p>
            <a:r>
              <a:rPr lang="en-US" sz="2800" dirty="0">
                <a:latin typeface="TimesNewRomanPS"/>
              </a:rPr>
              <a:t> she is really pregnant ?</a:t>
            </a:r>
          </a:p>
        </p:txBody>
      </p:sp>
      <p:pic>
        <p:nvPicPr>
          <p:cNvPr id="8" name="Picture 7">
            <a:extLst>
              <a:ext uri="{FF2B5EF4-FFF2-40B4-BE49-F238E27FC236}">
                <a16:creationId xmlns:a16="http://schemas.microsoft.com/office/drawing/2014/main" id="{160F3DC4-BAD7-4839-A31E-0B89A25C7A18}"/>
              </a:ext>
            </a:extLst>
          </p:cNvPr>
          <p:cNvPicPr>
            <a:picLocks noChangeAspect="1"/>
          </p:cNvPicPr>
          <p:nvPr/>
        </p:nvPicPr>
        <p:blipFill>
          <a:blip r:embed="rId2"/>
          <a:stretch>
            <a:fillRect/>
          </a:stretch>
        </p:blipFill>
        <p:spPr>
          <a:xfrm>
            <a:off x="5695922" y="2582332"/>
            <a:ext cx="6242740" cy="3327543"/>
          </a:xfrm>
          <a:prstGeom prst="rect">
            <a:avLst/>
          </a:prstGeom>
        </p:spPr>
      </p:pic>
    </p:spTree>
    <p:extLst>
      <p:ext uri="{BB962C8B-B14F-4D97-AF65-F5344CB8AC3E}">
        <p14:creationId xmlns:p14="http://schemas.microsoft.com/office/powerpoint/2010/main" val="4039676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24F7-C770-418F-A983-ADBFECD1B363}"/>
              </a:ext>
            </a:extLst>
          </p:cNvPr>
          <p:cNvSpPr>
            <a:spLocks noGrp="1"/>
          </p:cNvSpPr>
          <p:nvPr>
            <p:ph type="title"/>
          </p:nvPr>
        </p:nvSpPr>
        <p:spPr>
          <a:xfrm>
            <a:off x="581573" y="76200"/>
            <a:ext cx="11204027" cy="685800"/>
          </a:xfrm>
        </p:spPr>
        <p:txBody>
          <a:bodyPr/>
          <a:lstStyle/>
          <a:p>
            <a:r>
              <a:rPr lang="en-US" b="1"/>
              <a:t>Example</a:t>
            </a:r>
            <a:endParaRPr lang="en-US" b="1" dirty="0"/>
          </a:p>
        </p:txBody>
      </p:sp>
      <p:sp>
        <p:nvSpPr>
          <p:cNvPr id="4" name="Date Placeholder 3">
            <a:extLst>
              <a:ext uri="{FF2B5EF4-FFF2-40B4-BE49-F238E27FC236}">
                <a16:creationId xmlns:a16="http://schemas.microsoft.com/office/drawing/2014/main" id="{1A661EF7-F9E4-43A0-87A5-DFC317EBCA1C}"/>
              </a:ext>
            </a:extLst>
          </p:cNvPr>
          <p:cNvSpPr>
            <a:spLocks noGrp="1"/>
          </p:cNvSpPr>
          <p:nvPr>
            <p:ph type="dt" sz="half" idx="10"/>
          </p:nvPr>
        </p:nvSpPr>
        <p:spPr>
          <a:xfrm>
            <a:off x="609600" y="6553200"/>
            <a:ext cx="2844800" cy="304800"/>
          </a:xfrm>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CE968DB0-2E6A-4250-A454-DBBA3E6F5C19}"/>
              </a:ext>
            </a:extLst>
          </p:cNvPr>
          <p:cNvSpPr>
            <a:spLocks noGrp="1"/>
          </p:cNvSpPr>
          <p:nvPr>
            <p:ph type="ftr" sz="quarter" idx="11"/>
          </p:nvPr>
        </p:nvSpPr>
        <p:spPr>
          <a:xfrm>
            <a:off x="4165600" y="6553200"/>
            <a:ext cx="3860800" cy="304800"/>
          </a:xfrm>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0E97EBD5-66D3-4029-823E-673239957171}"/>
              </a:ext>
            </a:extLst>
          </p:cNvPr>
          <p:cNvSpPr>
            <a:spLocks noGrp="1"/>
          </p:cNvSpPr>
          <p:nvPr>
            <p:ph type="sldNum" sz="quarter" idx="12"/>
          </p:nvPr>
        </p:nvSpPr>
        <p:spPr>
          <a:xfrm>
            <a:off x="8737600" y="6553200"/>
            <a:ext cx="2844800" cy="304800"/>
          </a:xfrm>
        </p:spPr>
        <p:txBody>
          <a:bodyPr/>
          <a:lstStyle/>
          <a:p>
            <a:fld id="{B6F15528-21DE-4FAA-801E-634DDDAF4B2B}" type="slidenum">
              <a:rPr lang="en-US" smtClean="0"/>
              <a:pPr/>
              <a:t>42</a:t>
            </a:fld>
            <a:endParaRPr lang="en-US"/>
          </a:p>
        </p:txBody>
      </p:sp>
      <p:pic>
        <p:nvPicPr>
          <p:cNvPr id="9" name="Picture 8">
            <a:extLst>
              <a:ext uri="{FF2B5EF4-FFF2-40B4-BE49-F238E27FC236}">
                <a16:creationId xmlns:a16="http://schemas.microsoft.com/office/drawing/2014/main" id="{073CCF7A-9678-45A0-94DC-FEA367CAEEFB}"/>
              </a:ext>
            </a:extLst>
          </p:cNvPr>
          <p:cNvPicPr>
            <a:picLocks noChangeAspect="1"/>
          </p:cNvPicPr>
          <p:nvPr/>
        </p:nvPicPr>
        <p:blipFill>
          <a:blip r:embed="rId2"/>
          <a:stretch>
            <a:fillRect/>
          </a:stretch>
        </p:blipFill>
        <p:spPr>
          <a:xfrm>
            <a:off x="6477770" y="1936938"/>
            <a:ext cx="5104630" cy="3434714"/>
          </a:xfrm>
          <a:prstGeom prst="rect">
            <a:avLst/>
          </a:prstGeom>
        </p:spPr>
      </p:pic>
      <p:pic>
        <p:nvPicPr>
          <p:cNvPr id="10" name="Picture 9">
            <a:extLst>
              <a:ext uri="{FF2B5EF4-FFF2-40B4-BE49-F238E27FC236}">
                <a16:creationId xmlns:a16="http://schemas.microsoft.com/office/drawing/2014/main" id="{C75D6CB0-4468-4A38-9E9D-179C4929C3A9}"/>
              </a:ext>
            </a:extLst>
          </p:cNvPr>
          <p:cNvPicPr>
            <a:picLocks noChangeAspect="1"/>
          </p:cNvPicPr>
          <p:nvPr/>
        </p:nvPicPr>
        <p:blipFill>
          <a:blip r:embed="rId3"/>
          <a:stretch>
            <a:fillRect/>
          </a:stretch>
        </p:blipFill>
        <p:spPr>
          <a:xfrm>
            <a:off x="18567" y="1423989"/>
            <a:ext cx="5710604" cy="4124325"/>
          </a:xfrm>
          <a:prstGeom prst="rect">
            <a:avLst/>
          </a:prstGeom>
        </p:spPr>
      </p:pic>
    </p:spTree>
    <p:extLst>
      <p:ext uri="{BB962C8B-B14F-4D97-AF65-F5344CB8AC3E}">
        <p14:creationId xmlns:p14="http://schemas.microsoft.com/office/powerpoint/2010/main" val="752403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DEF3F-F973-D40F-155D-FB61E3A033E8}"/>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DB02C3EB-F3E7-DDB2-687B-CB39589B5B26}"/>
              </a:ext>
            </a:extLst>
          </p:cNvPr>
          <p:cNvPicPr>
            <a:picLocks noGrp="1" noChangeAspect="1"/>
          </p:cNvPicPr>
          <p:nvPr>
            <p:ph idx="1"/>
          </p:nvPr>
        </p:nvPicPr>
        <p:blipFill>
          <a:blip r:embed="rId2"/>
          <a:stretch>
            <a:fillRect/>
          </a:stretch>
        </p:blipFill>
        <p:spPr>
          <a:xfrm>
            <a:off x="332509" y="1243776"/>
            <a:ext cx="10972800" cy="2413823"/>
          </a:xfrm>
          <a:prstGeom prst="rect">
            <a:avLst/>
          </a:prstGeom>
        </p:spPr>
      </p:pic>
      <p:sp>
        <p:nvSpPr>
          <p:cNvPr id="4" name="Date Placeholder 3">
            <a:extLst>
              <a:ext uri="{FF2B5EF4-FFF2-40B4-BE49-F238E27FC236}">
                <a16:creationId xmlns:a16="http://schemas.microsoft.com/office/drawing/2014/main" id="{20A7ABD3-AC28-80FE-5CDA-DAE2DF61F92A}"/>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DEC85456-579D-991F-98E6-A95067208A1B}"/>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FB71E23A-C647-261D-D4C0-FF93399F670E}"/>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996374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D78E013-A38E-8D0D-EEF2-23CFD6F4054B}"/>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B5D717B3-3645-5D9C-C848-36D814D3A878}"/>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0C502794-79C1-6F68-C692-8435C2A1F428}"/>
              </a:ext>
            </a:extLst>
          </p:cNvPr>
          <p:cNvSpPr>
            <a:spLocks noGrp="1"/>
          </p:cNvSpPr>
          <p:nvPr>
            <p:ph type="sldNum" sz="quarter" idx="12"/>
          </p:nvPr>
        </p:nvSpPr>
        <p:spPr/>
        <p:txBody>
          <a:bodyPr/>
          <a:lstStyle/>
          <a:p>
            <a:fld id="{B6F15528-21DE-4FAA-801E-634DDDAF4B2B}" type="slidenum">
              <a:rPr lang="en-US" smtClean="0"/>
              <a:pPr/>
              <a:t>44</a:t>
            </a:fld>
            <a:endParaRPr lang="en-US"/>
          </a:p>
        </p:txBody>
      </p:sp>
      <p:pic>
        <p:nvPicPr>
          <p:cNvPr id="8" name="Picture 7">
            <a:extLst>
              <a:ext uri="{FF2B5EF4-FFF2-40B4-BE49-F238E27FC236}">
                <a16:creationId xmlns:a16="http://schemas.microsoft.com/office/drawing/2014/main" id="{BE99747B-8967-D91E-C245-07AF26C9F6B1}"/>
              </a:ext>
            </a:extLst>
          </p:cNvPr>
          <p:cNvPicPr>
            <a:picLocks noChangeAspect="1"/>
          </p:cNvPicPr>
          <p:nvPr/>
        </p:nvPicPr>
        <p:blipFill>
          <a:blip r:embed="rId2"/>
          <a:stretch>
            <a:fillRect/>
          </a:stretch>
        </p:blipFill>
        <p:spPr>
          <a:xfrm>
            <a:off x="83130" y="314057"/>
            <a:ext cx="12025745" cy="5730680"/>
          </a:xfrm>
          <a:prstGeom prst="rect">
            <a:avLst/>
          </a:prstGeom>
        </p:spPr>
      </p:pic>
    </p:spTree>
    <p:extLst>
      <p:ext uri="{BB962C8B-B14F-4D97-AF65-F5344CB8AC3E}">
        <p14:creationId xmlns:p14="http://schemas.microsoft.com/office/powerpoint/2010/main" val="2141028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EB3FB-48D8-7950-A810-B2B1F86B3DFE}"/>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5CAD6B44-7133-6CDA-6F48-5F2F2440D770}"/>
              </a:ext>
            </a:extLst>
          </p:cNvPr>
          <p:cNvSpPr>
            <a:spLocks noGrp="1"/>
          </p:cNvSpPr>
          <p:nvPr>
            <p:ph type="dt" sz="half" idx="10"/>
          </p:nvPr>
        </p:nvSpPr>
        <p:spPr/>
        <p:txBody>
          <a:bodyPr/>
          <a:lstStyle/>
          <a:p>
            <a:fld id="{92C0E061-6953-49B4-8B78-3C633BEBEEF9}" type="datetime1">
              <a:rPr lang="en-US" smtClean="0"/>
              <a:t>2/27/24</a:t>
            </a:fld>
            <a:endParaRPr lang="en-US"/>
          </a:p>
        </p:txBody>
      </p:sp>
      <p:sp>
        <p:nvSpPr>
          <p:cNvPr id="5" name="Footer Placeholder 4">
            <a:extLst>
              <a:ext uri="{FF2B5EF4-FFF2-40B4-BE49-F238E27FC236}">
                <a16:creationId xmlns:a16="http://schemas.microsoft.com/office/drawing/2014/main" id="{D1AD619C-B06C-A98E-3FB9-7F4DC89F8C78}"/>
              </a:ext>
            </a:extLst>
          </p:cNvPr>
          <p:cNvSpPr>
            <a:spLocks noGrp="1"/>
          </p:cNvSpPr>
          <p:nvPr>
            <p:ph type="ftr" sz="quarter" idx="11"/>
          </p:nvPr>
        </p:nvSpPr>
        <p:spPr/>
        <p:txBody>
          <a:bodyPr/>
          <a:lstStyle/>
          <a:p>
            <a:r>
              <a:rPr lang="en-US"/>
              <a:t>Dr. Nguyễn Ngọc Ái Vân</a:t>
            </a:r>
            <a:endParaRPr lang="en-US" dirty="0"/>
          </a:p>
        </p:txBody>
      </p:sp>
      <p:sp>
        <p:nvSpPr>
          <p:cNvPr id="6" name="Slide Number Placeholder 5">
            <a:extLst>
              <a:ext uri="{FF2B5EF4-FFF2-40B4-BE49-F238E27FC236}">
                <a16:creationId xmlns:a16="http://schemas.microsoft.com/office/drawing/2014/main" id="{3BCD0ED3-EB65-C86E-195B-61C8A6FC154F}"/>
              </a:ext>
            </a:extLst>
          </p:cNvPr>
          <p:cNvSpPr>
            <a:spLocks noGrp="1"/>
          </p:cNvSpPr>
          <p:nvPr>
            <p:ph type="sldNum" sz="quarter" idx="12"/>
          </p:nvPr>
        </p:nvSpPr>
        <p:spPr/>
        <p:txBody>
          <a:bodyPr/>
          <a:lstStyle/>
          <a:p>
            <a:fld id="{B6F15528-21DE-4FAA-801E-634DDDAF4B2B}" type="slidenum">
              <a:rPr lang="en-US" smtClean="0"/>
              <a:pPr/>
              <a:t>45</a:t>
            </a:fld>
            <a:endParaRPr lang="en-US"/>
          </a:p>
        </p:txBody>
      </p:sp>
      <p:pic>
        <p:nvPicPr>
          <p:cNvPr id="8" name="Picture 7">
            <a:extLst>
              <a:ext uri="{FF2B5EF4-FFF2-40B4-BE49-F238E27FC236}">
                <a16:creationId xmlns:a16="http://schemas.microsoft.com/office/drawing/2014/main" id="{2F36C9E6-64C7-6FD7-C322-B03B7B661FBD}"/>
              </a:ext>
            </a:extLst>
          </p:cNvPr>
          <p:cNvPicPr>
            <a:picLocks noChangeAspect="1"/>
          </p:cNvPicPr>
          <p:nvPr/>
        </p:nvPicPr>
        <p:blipFill>
          <a:blip r:embed="rId2"/>
          <a:stretch>
            <a:fillRect/>
          </a:stretch>
        </p:blipFill>
        <p:spPr>
          <a:xfrm>
            <a:off x="168349" y="1607127"/>
            <a:ext cx="11584836" cy="3560617"/>
          </a:xfrm>
          <a:prstGeom prst="rect">
            <a:avLst/>
          </a:prstGeom>
        </p:spPr>
      </p:pic>
    </p:spTree>
    <p:extLst>
      <p:ext uri="{BB962C8B-B14F-4D97-AF65-F5344CB8AC3E}">
        <p14:creationId xmlns:p14="http://schemas.microsoft.com/office/powerpoint/2010/main" val="3975327666"/>
      </p:ext>
    </p:extLst>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5F7174"/>
      </a:dk2>
      <a:lt2>
        <a:srgbClr val="CFF6CF"/>
      </a:lt2>
      <a:accent1>
        <a:srgbClr val="69888C"/>
      </a:accent1>
      <a:accent2>
        <a:srgbClr val="5F7174"/>
      </a:accent2>
      <a:accent3>
        <a:srgbClr val="A5E659"/>
      </a:accent3>
      <a:accent4>
        <a:srgbClr val="00A6C0"/>
      </a:accent4>
      <a:accent5>
        <a:srgbClr val="32D9CB"/>
      </a:accent5>
      <a:accent6>
        <a:srgbClr val="99ECE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imated title lightsTF22379321.potx" id="{E47A6584-1525-42B7-A9D1-D187969D1108}" vid="{3A6B0949-BD4D-4762-BAFE-376776AC0D56}"/>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imated title lightsTF22379321.potx" id="{E47A6584-1525-42B7-A9D1-D187969D1108}" vid="{4965553D-ABDD-4D07-94F3-EED39193384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Animated title lights</Template>
  <TotalTime>0</TotalTime>
  <Words>2949</Words>
  <Application>Microsoft Macintosh PowerPoint</Application>
  <PresentationFormat>Widescreen</PresentationFormat>
  <Paragraphs>353</Paragraphs>
  <Slides>45</Slides>
  <Notes>3</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45</vt:i4>
      </vt:variant>
    </vt:vector>
  </HeadingPairs>
  <TitlesOfParts>
    <vt:vector size="62" baseType="lpstr">
      <vt:lpstr>Arial</vt:lpstr>
      <vt:lpstr>Calibri</vt:lpstr>
      <vt:lpstr>Calibri Light</vt:lpstr>
      <vt:lpstr>Cambria Math</vt:lpstr>
      <vt:lpstr>CMBX10</vt:lpstr>
      <vt:lpstr>CMMI10</vt:lpstr>
      <vt:lpstr>CMR10</vt:lpstr>
      <vt:lpstr>CMSL10</vt:lpstr>
      <vt:lpstr>MTSY</vt:lpstr>
      <vt:lpstr>RMTMI</vt:lpstr>
      <vt:lpstr>Times New Roman</vt:lpstr>
      <vt:lpstr>TimesNewRomanPS</vt:lpstr>
      <vt:lpstr>TimesNewRomanPS-Bold</vt:lpstr>
      <vt:lpstr>TimesNewRomanPS-Italic</vt:lpstr>
      <vt:lpstr>Office Theme</vt:lpstr>
      <vt:lpstr>1_Office Theme</vt:lpstr>
      <vt:lpstr>Equation</vt:lpstr>
      <vt:lpstr>  Probability &amp; Statistics                </vt:lpstr>
      <vt:lpstr> Part 1           Probability          </vt:lpstr>
      <vt:lpstr>Why study Probability ?</vt:lpstr>
      <vt:lpstr>1. Set operation</vt:lpstr>
      <vt:lpstr>1. Set operation</vt:lpstr>
      <vt:lpstr>1. Set operation</vt:lpstr>
      <vt:lpstr>1. Set operation</vt:lpstr>
      <vt:lpstr>Exercises</vt:lpstr>
      <vt:lpstr>2. Probability Concepts</vt:lpstr>
      <vt:lpstr>PowerPoint Presentation</vt:lpstr>
      <vt:lpstr>PowerPoint Presentation</vt:lpstr>
      <vt:lpstr>Event</vt:lpstr>
      <vt:lpstr>PowerPoint Presentation</vt:lpstr>
      <vt:lpstr>Set operation</vt:lpstr>
      <vt:lpstr>PowerPoint Presentation</vt:lpstr>
      <vt:lpstr>PowerPoint Presentation</vt:lpstr>
      <vt:lpstr>PowerPoint Presentation</vt:lpstr>
      <vt:lpstr>PowerPoint Presentation</vt:lpstr>
      <vt:lpstr>Exercises</vt:lpstr>
      <vt:lpstr>Probability in everyday life</vt:lpstr>
      <vt:lpstr>Probability in everyday life</vt:lpstr>
      <vt:lpstr>PowerPoint Presentation</vt:lpstr>
      <vt:lpstr>Definitions of probability  </vt:lpstr>
      <vt:lpstr>Probability in discrete sample spaces</vt:lpstr>
      <vt:lpstr>Empirical probability - Relative frequency approach</vt:lpstr>
      <vt:lpstr>Classical Approach</vt:lpstr>
      <vt:lpstr>PowerPoint Presentation</vt:lpstr>
      <vt:lpstr>Rules of probability  </vt:lpstr>
      <vt:lpstr>PowerPoint Presentation</vt:lpstr>
      <vt:lpstr>PowerPoint Presentation</vt:lpstr>
      <vt:lpstr>PowerPoint Presentation</vt:lpstr>
      <vt:lpstr>Conditional Probability</vt:lpstr>
      <vt:lpstr>Conditional Probability</vt:lpstr>
      <vt:lpstr>Independent events </vt:lpstr>
      <vt:lpstr>Example</vt:lpstr>
      <vt:lpstr>Example</vt:lpstr>
      <vt:lpstr>PowerPoint Presentation</vt:lpstr>
      <vt:lpstr>Bayes’ theorem</vt:lpstr>
      <vt:lpstr>PowerPoint Presentation</vt:lpstr>
      <vt:lpstr>Example</vt:lpstr>
      <vt:lpstr>Example</vt:lpstr>
      <vt:lpstr>Example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2019-01-10T13:05:23Z</dcterms:created>
  <dcterms:modified xsi:type="dcterms:W3CDTF">2024-02-27T06:11:28Z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2018-08-15T22:28:49.1215696Z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