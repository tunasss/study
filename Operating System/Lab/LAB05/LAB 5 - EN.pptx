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01" r:id="rId1"/>
  </p:sldMasterIdLst>
  <p:notesMasterIdLst>
    <p:notesMasterId r:id="rId27"/>
  </p:notesMasterIdLst>
  <p:handoutMasterIdLst>
    <p:handoutMasterId r:id="rId28"/>
  </p:handoutMasterIdLst>
  <p:sldIdLst>
    <p:sldId id="262" r:id="rId2"/>
    <p:sldId id="395" r:id="rId3"/>
    <p:sldId id="412" r:id="rId4"/>
    <p:sldId id="413" r:id="rId5"/>
    <p:sldId id="414" r:id="rId6"/>
    <p:sldId id="415" r:id="rId7"/>
    <p:sldId id="416" r:id="rId8"/>
    <p:sldId id="417" r:id="rId9"/>
    <p:sldId id="418" r:id="rId10"/>
    <p:sldId id="419" r:id="rId11"/>
    <p:sldId id="420" r:id="rId12"/>
    <p:sldId id="421" r:id="rId13"/>
    <p:sldId id="422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0" r:id="rId22"/>
    <p:sldId id="431" r:id="rId23"/>
    <p:sldId id="435" r:id="rId24"/>
    <p:sldId id="433" r:id="rId25"/>
    <p:sldId id="434" r:id="rId26"/>
  </p:sldIdLst>
  <p:sldSz cx="9144000" cy="5143500" type="screen16x9"/>
  <p:notesSz cx="6858000" cy="9144000"/>
  <p:embeddedFontLst>
    <p:embeddedFont>
      <p:font typeface="JetBrains Mono" panose="02000009000000000000" pitchFamily="49" charset="0"/>
      <p:regular r:id="rId29"/>
      <p:bold r:id="rId30"/>
      <p:italic r:id="rId31"/>
      <p:boldItalic r:id="rId32"/>
    </p:embeddedFont>
  </p:embeddedFontLst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FF"/>
    <a:srgbClr val="00C6FF"/>
    <a:srgbClr val="CDEAFF"/>
    <a:srgbClr val="FF0066"/>
    <a:srgbClr val="FF99CC"/>
    <a:srgbClr val="FF99FF"/>
    <a:srgbClr val="9BD4FF"/>
    <a:srgbClr val="FF9933"/>
    <a:srgbClr val="FF6699"/>
    <a:srgbClr val="414B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34" autoAdjust="0"/>
    <p:restoredTop sz="81626" autoAdjust="0"/>
  </p:normalViewPr>
  <p:slideViewPr>
    <p:cSldViewPr>
      <p:cViewPr varScale="1">
        <p:scale>
          <a:sx n="165" d="100"/>
          <a:sy n="165" d="100"/>
        </p:scale>
        <p:origin x="21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045" y="-101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1815E-765A-40A8-99C6-F127D7A12C4B}" type="datetimeFigureOut">
              <a:rPr kumimoji="1" lang="ja-JP" altLang="en-US" smtClean="0"/>
              <a:t>2024/8/13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E1689-3E24-4715-81AA-F8F7237FC6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257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C1322-60E5-4FB1-AE3F-C5810C4969C1}" type="datetimeFigureOut">
              <a:rPr kumimoji="1" lang="ja-JP" altLang="en-US" smtClean="0"/>
              <a:pPr/>
              <a:t>2024/8/13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D7235-7D46-4FEA-A007-68D1C591E28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752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D7235-7D46-4FEA-A007-68D1C591E286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9628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D7235-7D46-4FEA-A007-68D1C591E286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8261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D7235-7D46-4FEA-A007-68D1C591E286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1099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D7235-7D46-4FEA-A007-68D1C591E286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648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D7235-7D46-4FEA-A007-68D1C591E286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8994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D7235-7D46-4FEA-A007-68D1C591E286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4709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D7235-7D46-4FEA-A007-68D1C591E286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658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5260" y="4860472"/>
            <a:ext cx="3216077" cy="177578"/>
          </a:xfrm>
        </p:spPr>
        <p:txBody>
          <a:bodyPr/>
          <a:lstStyle>
            <a:lvl1pPr algn="l">
              <a:defRPr sz="825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/>
        </p:nvSpPr>
        <p:spPr>
          <a:xfrm rot="10800000">
            <a:off x="0" y="1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/>
        </p:nvGrpSpPr>
        <p:grpSpPr>
          <a:xfrm>
            <a:off x="43896" y="30709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/>
        </p:nvSpPr>
        <p:spPr>
          <a:xfrm rot="10800000" flipH="1" flipV="1">
            <a:off x="8607288" y="4680817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/>
        </p:nvGrpSpPr>
        <p:grpSpPr>
          <a:xfrm flipH="1" flipV="1">
            <a:off x="6947777" y="3940258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135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/>
        </p:nvSpPr>
        <p:spPr>
          <a:xfrm flipV="1">
            <a:off x="1" y="4914900"/>
            <a:ext cx="5063243" cy="2286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1350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479" y="271978"/>
            <a:ext cx="408216" cy="3376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/>
        </p:nvSpPr>
        <p:spPr>
          <a:xfrm>
            <a:off x="717695" y="233058"/>
            <a:ext cx="3042821" cy="4154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05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05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79377" y="4953218"/>
            <a:ext cx="175437" cy="1754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56703" y="4940664"/>
            <a:ext cx="218700" cy="218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525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8106" y="1656119"/>
            <a:ext cx="6367790" cy="522124"/>
          </a:xfrm>
        </p:spPr>
        <p:txBody>
          <a:bodyPr anchor="ctr">
            <a:normAutofit/>
          </a:bodyPr>
          <a:lstStyle>
            <a:lvl1pPr marL="0" indent="0" algn="ctr" defTabSz="685800" rtl="0" eaLnBrk="1" latinLnBrk="0" hangingPunct="1">
              <a:buNone/>
              <a:defRPr lang="en-VN" sz="3300" b="1" kern="1200" dirty="0">
                <a:ln>
                  <a:noFill/>
                </a:ln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5400000" scaled="1"/>
                </a:gra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7744" y="2279592"/>
            <a:ext cx="7828514" cy="344585"/>
          </a:xfr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buNone/>
              <a:defRPr lang="en-VN" sz="2100" b="1" kern="1200" dirty="0"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10727" y="3722286"/>
            <a:ext cx="2122544" cy="258754"/>
          </a:xfr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05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8BC0B81-9708-34C0-3CBB-EA50270B9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8106" y="2723108"/>
            <a:ext cx="6367790" cy="4831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 spc="113" baseline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(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): 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5075855" y="4857750"/>
            <a:ext cx="1871922" cy="177572"/>
          </a:xfrm>
        </p:spPr>
        <p:txBody>
          <a:bodyPr/>
          <a:lstStyle>
            <a:lvl1pPr marL="0" algn="ctr" defTabSz="685800" rtl="0" eaLnBrk="1" latinLnBrk="0" hangingPunct="1">
              <a:defRPr lang="en-US" sz="825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5A7BFC94-9272-BA4F-A8D9-B14A146478B5}" type="datetime1">
              <a:rPr kumimoji="1" lang="en-US" altLang="ja-JP" smtClean="0"/>
              <a:t>8/13/24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70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9144001" cy="51411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/>
        </p:nvSpPr>
        <p:spPr>
          <a:xfrm>
            <a:off x="-1" y="-2335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350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/>
        </p:nvSpPr>
        <p:spPr>
          <a:xfrm rot="10800000">
            <a:off x="0" y="1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/>
        </p:nvGrpSpPr>
        <p:grpSpPr>
          <a:xfrm>
            <a:off x="43896" y="30709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/>
        </p:nvSpPr>
        <p:spPr>
          <a:xfrm rot="10800000" flipH="1" flipV="1">
            <a:off x="8607288" y="4680817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/>
        </p:nvGrpSpPr>
        <p:grpSpPr>
          <a:xfrm flipH="1" flipV="1">
            <a:off x="6947777" y="3940258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/>
        </p:nvSpPr>
        <p:spPr>
          <a:xfrm>
            <a:off x="8692153" y="79409"/>
            <a:ext cx="366980" cy="303866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 sz="135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4545225" y="4861235"/>
            <a:ext cx="1567574" cy="179871"/>
          </a:xfrm>
        </p:spPr>
        <p:txBody>
          <a:bodyPr/>
          <a:lstStyle>
            <a:lvl1pPr marL="0" algn="ctr" defTabSz="685800" rtl="0" eaLnBrk="1" latinLnBrk="0" hangingPunct="1">
              <a:defRPr lang="en-US" sz="825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062C247B-7CBB-5C4C-BD0B-BCA1F553C9E7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28650" y="4861235"/>
            <a:ext cx="3356942" cy="179871"/>
          </a:xfrm>
        </p:spPr>
        <p:txBody>
          <a:bodyPr/>
          <a:lstStyle>
            <a:lvl1pPr marL="0" algn="ctr" defTabSz="685800" rtl="0" eaLnBrk="1" latinLnBrk="0" hangingPunct="1">
              <a:defRPr lang="vi-VN" sz="825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71406" y="4937363"/>
            <a:ext cx="175437" cy="1754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397" y="4906662"/>
            <a:ext cx="219456" cy="236838"/>
          </a:xfrm>
        </p:spPr>
        <p:txBody>
          <a:bodyPr/>
          <a:lstStyle>
            <a:lvl1pPr marL="0" algn="ctr" defTabSz="685800" rtl="0" eaLnBrk="1" latinLnBrk="0" hangingPunct="1">
              <a:defRPr lang="en-VN" sz="52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8082" y="2264375"/>
            <a:ext cx="3437900" cy="1079444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000125" indent="0">
              <a:buNone/>
              <a:tabLst/>
              <a:defRPr sz="15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/>
        </p:nvGrpSpPr>
        <p:grpSpPr>
          <a:xfrm>
            <a:off x="0" y="3343818"/>
            <a:ext cx="6485327" cy="498386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/>
        </p:nvSpPr>
        <p:spPr>
          <a:xfrm>
            <a:off x="597017" y="2052285"/>
            <a:ext cx="1514700" cy="15147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517745" y="2046747"/>
            <a:ext cx="1515666" cy="15147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33411" y="1697815"/>
            <a:ext cx="2682571" cy="4665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2700" b="1" kern="1200" spc="75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71567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/>
        </p:nvSpPr>
        <p:spPr>
          <a:xfrm rot="10800000" flipH="1" flipV="1">
            <a:off x="8607288" y="4680817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/>
        </p:nvGrpSpPr>
        <p:grpSpPr>
          <a:xfrm flipH="1" flipV="1">
            <a:off x="6947777" y="4447903"/>
            <a:ext cx="2152328" cy="66488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9082" y="4849586"/>
            <a:ext cx="3945836" cy="191521"/>
          </a:xfrm>
        </p:spPr>
        <p:txBody>
          <a:bodyPr/>
          <a:lstStyle>
            <a:lvl1pPr>
              <a:defRPr sz="825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/>
        </p:nvGrpSpPr>
        <p:grpSpPr>
          <a:xfrm>
            <a:off x="-1742645" y="841043"/>
            <a:ext cx="3630966" cy="37905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/>
        </p:nvGrpSpPr>
        <p:grpSpPr>
          <a:xfrm flipH="1">
            <a:off x="7255680" y="841043"/>
            <a:ext cx="3630966" cy="37905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/>
        </p:nvSpPr>
        <p:spPr>
          <a:xfrm>
            <a:off x="62039" y="4937355"/>
            <a:ext cx="175437" cy="175437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7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895" y="4924800"/>
            <a:ext cx="218700" cy="218700"/>
          </a:xfrm>
        </p:spPr>
        <p:txBody>
          <a:bodyPr/>
          <a:lstStyle>
            <a:lvl1pPr algn="ctr">
              <a:defRPr lang="en-VN" sz="525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/>
        </p:nvSpPr>
        <p:spPr>
          <a:xfrm>
            <a:off x="3526972" y="468520"/>
            <a:ext cx="2271617" cy="5078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27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5424" y="1169261"/>
            <a:ext cx="6093153" cy="3115248"/>
          </a:xfrm>
        </p:spPr>
        <p:txBody>
          <a:bodyPr anchor="ctr">
            <a:normAutofit/>
          </a:bodyPr>
          <a:lstStyle>
            <a:lvl1pPr marL="385763" indent="-385763"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buFont typeface="+mj-lt"/>
              <a:buAutoNum type="arabicPeriod"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28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5875" indent="-257175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28775" indent="-257175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/>
        </p:nvSpPr>
        <p:spPr>
          <a:xfrm rot="10800000">
            <a:off x="0" y="1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/>
        </p:nvGrpSpPr>
        <p:grpSpPr>
          <a:xfrm>
            <a:off x="43896" y="30709"/>
            <a:ext cx="2152328" cy="66488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97017" y="4840976"/>
            <a:ext cx="1599207" cy="200130"/>
          </a:xfrm>
        </p:spPr>
        <p:txBody>
          <a:bodyPr/>
          <a:lstStyle>
            <a:lvl1pPr>
              <a:defRPr lang="en-US" sz="825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4E12EEB-0F7C-2F41-A4C6-657CC7E4E06F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44797" y="550985"/>
            <a:ext cx="2035969" cy="342900"/>
          </a:xfrm>
        </p:spPr>
        <p:txBody>
          <a:bodyPr anchor="ctr">
            <a:noAutofit/>
          </a:bodyPr>
          <a:lstStyle>
            <a:lvl1pPr marL="0" indent="0" algn="ctr">
              <a:buNone/>
              <a:defRPr sz="27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/>
        </p:nvSpPr>
        <p:spPr>
          <a:xfrm>
            <a:off x="8692153" y="79409"/>
            <a:ext cx="366980" cy="303866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 sz="1350"/>
          </a:p>
        </p:txBody>
      </p:sp>
    </p:spTree>
    <p:extLst>
      <p:ext uri="{BB962C8B-B14F-4D97-AF65-F5344CB8AC3E}">
        <p14:creationId xmlns:p14="http://schemas.microsoft.com/office/powerpoint/2010/main" val="2487548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9144001" cy="51411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/>
        </p:nvSpPr>
        <p:spPr>
          <a:xfrm>
            <a:off x="-1" y="-2335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350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/>
        </p:nvSpPr>
        <p:spPr>
          <a:xfrm rot="10800000">
            <a:off x="0" y="1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/>
        </p:nvGrpSpPr>
        <p:grpSpPr>
          <a:xfrm>
            <a:off x="43896" y="30709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/>
        </p:nvSpPr>
        <p:spPr>
          <a:xfrm rot="10800000" flipH="1" flipV="1">
            <a:off x="8607288" y="4680817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/>
        </p:nvGrpSpPr>
        <p:grpSpPr>
          <a:xfrm flipH="1" flipV="1">
            <a:off x="6947777" y="3940258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/>
        </p:nvSpPr>
        <p:spPr>
          <a:xfrm>
            <a:off x="8692153" y="79409"/>
            <a:ext cx="366980" cy="303866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 sz="135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3197" y="1571270"/>
            <a:ext cx="7455803" cy="663492"/>
          </a:xfr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buNone/>
              <a:defRPr lang="en-VN" sz="3300" b="1" kern="1200" spc="75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197" y="2376870"/>
            <a:ext cx="7455803" cy="521381"/>
          </a:xfr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buNone/>
              <a:defRPr lang="en-VN" sz="2100" b="1" kern="1200" spc="75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3197" y="3103048"/>
            <a:ext cx="5360273" cy="687524"/>
          </a:xfrm>
        </p:spPr>
        <p:txBody>
          <a:bodyPr anchor="t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buNone/>
              <a:defRPr lang="en-US" sz="750" kern="1200" spc="75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2432" y="3923927"/>
            <a:ext cx="1890960" cy="1183364"/>
          </a:xfrm>
        </p:spPr>
        <p:txBody>
          <a:bodyPr>
            <a:normAutofit/>
          </a:bodyPr>
          <a:lstStyle>
            <a:lvl1pPr marL="0" indent="0" algn="r" defTabSz="685800" rtl="0" eaLnBrk="1" latinLnBrk="0" hangingPunct="1">
              <a:buNone/>
              <a:defRPr lang="en-VN" sz="9000" b="1" kern="1200" spc="75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/>
        </p:nvCxnSpPr>
        <p:spPr>
          <a:xfrm>
            <a:off x="1180618" y="2234762"/>
            <a:ext cx="2673752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4545225" y="4861235"/>
            <a:ext cx="1567574" cy="179871"/>
          </a:xfrm>
        </p:spPr>
        <p:txBody>
          <a:bodyPr/>
          <a:lstStyle>
            <a:lvl1pPr marL="0" algn="ctr" defTabSz="685800" rtl="0" eaLnBrk="1" latinLnBrk="0" hangingPunct="1">
              <a:defRPr lang="en-US" sz="825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044CC862-04B1-AB40-B0B3-80A31BA8317C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28650" y="4861235"/>
            <a:ext cx="3356942" cy="179871"/>
          </a:xfrm>
        </p:spPr>
        <p:txBody>
          <a:bodyPr/>
          <a:lstStyle>
            <a:lvl1pPr marL="0" algn="ctr" defTabSz="685800" rtl="0" eaLnBrk="1" latinLnBrk="0" hangingPunct="1">
              <a:defRPr lang="vi-VN" sz="825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/>
        </p:nvGrpSpPr>
        <p:grpSpPr>
          <a:xfrm>
            <a:off x="12019" y="3471967"/>
            <a:ext cx="325763" cy="1671533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71406" y="4937363"/>
            <a:ext cx="175437" cy="1754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397" y="4906662"/>
            <a:ext cx="219456" cy="236838"/>
          </a:xfrm>
        </p:spPr>
        <p:txBody>
          <a:bodyPr/>
          <a:lstStyle>
            <a:lvl1pPr marL="0" algn="ctr" defTabSz="685800" rtl="0" eaLnBrk="1" latinLnBrk="0" hangingPunct="1">
              <a:defRPr lang="en-VN" sz="52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52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9144000" cy="51435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1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43896" y="40720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8607288" y="4680817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609" y="167972"/>
            <a:ext cx="7934741" cy="833554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150"/>
              </a:spcBef>
              <a:spcAft>
                <a:spcPts val="15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610" y="4856715"/>
            <a:ext cx="3233841" cy="197333"/>
          </a:xfrm>
        </p:spPr>
        <p:txBody>
          <a:bodyPr/>
          <a:lstStyle>
            <a:lvl1pPr marL="0" algn="l" defTabSz="685800" rtl="0" eaLnBrk="1" latinLnBrk="0" hangingPunct="1">
              <a:defRPr lang="en-VN" sz="825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2019" y="3471967"/>
            <a:ext cx="325763" cy="1671533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4835584" y="4856715"/>
            <a:ext cx="1567574" cy="197333"/>
          </a:xfrm>
        </p:spPr>
        <p:txBody>
          <a:bodyPr/>
          <a:lstStyle>
            <a:lvl1pPr marL="0" algn="ctr" defTabSz="685800" rtl="0" eaLnBrk="1" latinLnBrk="0" hangingPunct="1">
              <a:defRPr lang="en-US" sz="825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C5B2B66-B15D-6246-A907-B84795D56A58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8692153" y="79409"/>
            <a:ext cx="366980" cy="303866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 sz="13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69722" y="4907206"/>
            <a:ext cx="210357" cy="2103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785" y="4881268"/>
            <a:ext cx="262232" cy="262232"/>
          </a:xfrm>
        </p:spPr>
        <p:txBody>
          <a:bodyPr/>
          <a:lstStyle>
            <a:lvl1pPr algn="ctr">
              <a:defRPr lang="en-VN" sz="52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6949023" y="3934534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5083C8E-9193-C87F-1551-0E2EEF35AC2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1025" y="1123952"/>
            <a:ext cx="7934325" cy="345502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755390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9144000" cy="51435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1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43896" y="40720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8607288" y="4680817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608" y="1051751"/>
            <a:ext cx="3901500" cy="3580971"/>
          </a:xfrm>
        </p:spPr>
        <p:txBody>
          <a:bodyPr>
            <a:normAutofit/>
          </a:bodyPr>
          <a:lstStyle>
            <a:lvl1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610" y="4856715"/>
            <a:ext cx="3233841" cy="197333"/>
          </a:xfrm>
        </p:spPr>
        <p:txBody>
          <a:bodyPr/>
          <a:lstStyle>
            <a:lvl1pPr marL="0" algn="l" defTabSz="685800" rtl="0" eaLnBrk="1" latinLnBrk="0" hangingPunct="1">
              <a:defRPr lang="en-VN" sz="825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2019" y="3471967"/>
            <a:ext cx="325763" cy="1671533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4835584" y="4856715"/>
            <a:ext cx="1567574" cy="197333"/>
          </a:xfrm>
        </p:spPr>
        <p:txBody>
          <a:bodyPr/>
          <a:lstStyle>
            <a:lvl1pPr marL="0" algn="ctr" defTabSz="685800" rtl="0" eaLnBrk="1" latinLnBrk="0" hangingPunct="1">
              <a:defRPr lang="en-US" sz="825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9BBB71F6-1564-0D4E-A132-B93C96F157E4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8692153" y="79409"/>
            <a:ext cx="366980" cy="303866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 sz="13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69722" y="4907206"/>
            <a:ext cx="210357" cy="2103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785" y="4881268"/>
            <a:ext cx="262232" cy="262232"/>
          </a:xfrm>
        </p:spPr>
        <p:txBody>
          <a:bodyPr/>
          <a:lstStyle>
            <a:lvl1pPr algn="ctr">
              <a:defRPr lang="en-VN" sz="52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6949023" y="3934534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613850" y="1047750"/>
            <a:ext cx="3901500" cy="3580971"/>
          </a:xfrm>
        </p:spPr>
        <p:txBody>
          <a:bodyPr>
            <a:normAutofit/>
          </a:bodyPr>
          <a:lstStyle>
            <a:lvl1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609" y="167972"/>
            <a:ext cx="7934741" cy="702405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150"/>
              </a:spcBef>
              <a:spcAft>
                <a:spcPts val="15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93927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9144000" cy="51435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1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43896" y="40720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8607288" y="4680817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608" y="1471962"/>
            <a:ext cx="3901500" cy="3160762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610" y="4856715"/>
            <a:ext cx="3233841" cy="197333"/>
          </a:xfrm>
        </p:spPr>
        <p:txBody>
          <a:bodyPr/>
          <a:lstStyle>
            <a:lvl1pPr marL="0" algn="l" defTabSz="685800" rtl="0" eaLnBrk="1" latinLnBrk="0" hangingPunct="1">
              <a:defRPr lang="en-VN" sz="825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2019" y="3471967"/>
            <a:ext cx="325763" cy="1671533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4835584" y="4856715"/>
            <a:ext cx="1567574" cy="197333"/>
          </a:xfrm>
        </p:spPr>
        <p:txBody>
          <a:bodyPr/>
          <a:lstStyle>
            <a:lvl1pPr marL="0" algn="ctr" defTabSz="685800" rtl="0" eaLnBrk="1" latinLnBrk="0" hangingPunct="1">
              <a:defRPr lang="en-US" sz="825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242E3C5-5B5E-C049-B2F3-0E8F0417AD3A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8692153" y="79409"/>
            <a:ext cx="366980" cy="303866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 sz="13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69722" y="4907206"/>
            <a:ext cx="210357" cy="2103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785" y="4881268"/>
            <a:ext cx="262232" cy="262232"/>
          </a:xfrm>
        </p:spPr>
        <p:txBody>
          <a:bodyPr/>
          <a:lstStyle>
            <a:lvl1pPr algn="ctr">
              <a:defRPr lang="en-VN" sz="52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6949023" y="3934534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613850" y="1467960"/>
            <a:ext cx="3901500" cy="3160762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0608" y="925369"/>
            <a:ext cx="3902096" cy="378619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150"/>
              </a:spcBef>
              <a:spcAft>
                <a:spcPts val="150"/>
              </a:spcAft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13254" y="925369"/>
            <a:ext cx="3902096" cy="378619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150"/>
              </a:spcBef>
              <a:spcAft>
                <a:spcPts val="150"/>
              </a:spcAft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609" y="167973"/>
            <a:ext cx="7934741" cy="589422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150"/>
              </a:spcBef>
              <a:spcAft>
                <a:spcPts val="15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35980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9144000" cy="51435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1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43896" y="40720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8607288" y="4680817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610" y="151507"/>
            <a:ext cx="2949170" cy="1273532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150"/>
              </a:spcBef>
              <a:spcAft>
                <a:spcPts val="150"/>
              </a:spcAft>
              <a:defRPr sz="3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609" y="1585356"/>
            <a:ext cx="2949170" cy="3047367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610" y="4856715"/>
            <a:ext cx="3233841" cy="197333"/>
          </a:xfrm>
        </p:spPr>
        <p:txBody>
          <a:bodyPr/>
          <a:lstStyle>
            <a:lvl1pPr marL="0" algn="l" defTabSz="685800" rtl="0" eaLnBrk="1" latinLnBrk="0" hangingPunct="1">
              <a:defRPr lang="en-VN" sz="825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2019" y="3471967"/>
            <a:ext cx="325763" cy="1671533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4835584" y="4856715"/>
            <a:ext cx="1567574" cy="197333"/>
          </a:xfrm>
        </p:spPr>
        <p:txBody>
          <a:bodyPr/>
          <a:lstStyle>
            <a:lvl1pPr marL="0" algn="ctr" defTabSz="685800" rtl="0" eaLnBrk="1" latinLnBrk="0" hangingPunct="1">
              <a:defRPr lang="en-US" sz="825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B2FF9E78-DF45-5C44-959A-678A1EC221D1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8692153" y="79409"/>
            <a:ext cx="366980" cy="303866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 sz="13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69722" y="4907206"/>
            <a:ext cx="210357" cy="2103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785" y="4881268"/>
            <a:ext cx="262232" cy="262232"/>
          </a:xfrm>
        </p:spPr>
        <p:txBody>
          <a:bodyPr/>
          <a:lstStyle>
            <a:lvl1pPr algn="ctr">
              <a:defRPr lang="en-VN" sz="52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6949023" y="3934534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814450" y="151507"/>
            <a:ext cx="4700900" cy="4477215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7544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9144000" cy="51435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1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43896" y="40720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8607288" y="4680817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610" y="151507"/>
            <a:ext cx="2949170" cy="1273532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150"/>
              </a:spcBef>
              <a:spcAft>
                <a:spcPts val="150"/>
              </a:spcAft>
              <a:defRPr sz="3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609" y="1585356"/>
            <a:ext cx="2949170" cy="3047367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610" y="4856715"/>
            <a:ext cx="3233841" cy="197333"/>
          </a:xfrm>
        </p:spPr>
        <p:txBody>
          <a:bodyPr/>
          <a:lstStyle>
            <a:lvl1pPr marL="0" algn="l" defTabSz="685800" rtl="0" eaLnBrk="1" latinLnBrk="0" hangingPunct="1">
              <a:defRPr lang="en-VN" sz="825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2019" y="3471967"/>
            <a:ext cx="325763" cy="1671533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4835584" y="4856715"/>
            <a:ext cx="1567574" cy="197333"/>
          </a:xfrm>
        </p:spPr>
        <p:txBody>
          <a:bodyPr/>
          <a:lstStyle>
            <a:lvl1pPr marL="0" algn="ctr" defTabSz="685800" rtl="0" eaLnBrk="1" latinLnBrk="0" hangingPunct="1">
              <a:defRPr lang="en-US" sz="825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9A68CC43-ABF2-7842-AA3A-ECE94F37818B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8692153" y="79409"/>
            <a:ext cx="366980" cy="303866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 sz="13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69722" y="4907206"/>
            <a:ext cx="210357" cy="2103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785" y="4881268"/>
            <a:ext cx="262232" cy="262232"/>
          </a:xfrm>
        </p:spPr>
        <p:txBody>
          <a:bodyPr/>
          <a:lstStyle>
            <a:lvl1pPr algn="ctr">
              <a:defRPr lang="en-VN" sz="52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6949023" y="3934534"/>
            <a:ext cx="2152328" cy="1172534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70280" y="151507"/>
            <a:ext cx="4677946" cy="448274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225"/>
              </a:spcBef>
              <a:spcAft>
                <a:spcPts val="225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86264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/>
        </p:nvSpPr>
        <p:spPr>
          <a:xfrm rot="10800000" flipH="1" flipV="1">
            <a:off x="8607288" y="4680817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/>
        </p:nvGrpSpPr>
        <p:grpSpPr>
          <a:xfrm flipH="1" flipV="1">
            <a:off x="6947777" y="4447903"/>
            <a:ext cx="2152328" cy="66488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/>
        </p:nvSpPr>
        <p:spPr>
          <a:xfrm>
            <a:off x="16640" y="4937355"/>
            <a:ext cx="175437" cy="175437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7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504" y="4924800"/>
            <a:ext cx="218700" cy="218700"/>
          </a:xfrm>
        </p:spPr>
        <p:txBody>
          <a:bodyPr/>
          <a:lstStyle>
            <a:lvl1pPr algn="ctr">
              <a:defRPr lang="en-VN" sz="525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/>
        </p:nvSpPr>
        <p:spPr>
          <a:xfrm rot="10800000">
            <a:off x="0" y="1"/>
            <a:ext cx="536713" cy="462683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/>
        </p:nvGrpSpPr>
        <p:grpSpPr>
          <a:xfrm>
            <a:off x="43896" y="30709"/>
            <a:ext cx="2152328" cy="66488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/>
        </p:nvSpPr>
        <p:spPr>
          <a:xfrm>
            <a:off x="8692153" y="79409"/>
            <a:ext cx="366980" cy="303866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 sz="1350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610" y="4856715"/>
            <a:ext cx="3233841" cy="197333"/>
          </a:xfrm>
        </p:spPr>
        <p:txBody>
          <a:bodyPr/>
          <a:lstStyle>
            <a:lvl1pPr marL="0" algn="l" defTabSz="685800" rtl="0" eaLnBrk="1" latinLnBrk="0" hangingPunct="1">
              <a:defRPr lang="en-VN" sz="825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4835584" y="4856715"/>
            <a:ext cx="1567574" cy="197333"/>
          </a:xfrm>
        </p:spPr>
        <p:txBody>
          <a:bodyPr/>
          <a:lstStyle>
            <a:lvl1pPr marL="0" algn="ctr" defTabSz="685800" rtl="0" eaLnBrk="1" latinLnBrk="0" hangingPunct="1">
              <a:defRPr lang="en-US" sz="825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C3743FC9-7F9F-904A-8FF5-25923EA1C898}" type="datetime1">
              <a:rPr kumimoji="1" lang="en-US" altLang="ja-JP" smtClean="0"/>
              <a:t>8/13/24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7225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/>
        </p:nvSpPr>
        <p:spPr>
          <a:xfrm>
            <a:off x="16640" y="4937355"/>
            <a:ext cx="175437" cy="175437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7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504" y="4924800"/>
            <a:ext cx="218700" cy="218700"/>
          </a:xfrm>
        </p:spPr>
        <p:txBody>
          <a:bodyPr/>
          <a:lstStyle>
            <a:lvl1pPr algn="ctr">
              <a:defRPr lang="en-VN" sz="525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1000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227F-9FF9-7B49-8E13-81C17A3A90E7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2101" y="4893470"/>
            <a:ext cx="5618212" cy="216694"/>
          </a:xfrm>
        </p:spPr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1976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altLang="ja-JP" dirty="0"/>
              <a:t>Master Slide Title Format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 hasCustomPrompt="1"/>
          </p:nvPr>
        </p:nvSpPr>
        <p:spPr>
          <a:xfrm>
            <a:off x="468313" y="1221583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 baseline="0"/>
            </a:lvl2pPr>
            <a:lvl3pPr>
              <a:defRPr sz="1500" baseline="0"/>
            </a:lvl3pPr>
            <a:lvl4pPr>
              <a:defRPr sz="1350" baseline="0"/>
            </a:lvl4pPr>
            <a:lvl5pPr>
              <a:defRPr sz="1350" baseline="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  <a:p>
            <a:pPr lvl="1"/>
            <a:r>
              <a:rPr lang="en-US" altLang="ja-JP" dirty="0"/>
              <a:t>Level 2</a:t>
            </a:r>
            <a:endParaRPr lang="ja-JP" altLang="en-US" dirty="0"/>
          </a:p>
          <a:p>
            <a:pPr lvl="2"/>
            <a:r>
              <a:rPr lang="en-US" altLang="ja-JP" dirty="0"/>
              <a:t>Level 3</a:t>
            </a:r>
            <a:endParaRPr lang="ja-JP" altLang="en-US" dirty="0"/>
          </a:p>
          <a:p>
            <a:pPr lvl="3"/>
            <a:r>
              <a:rPr lang="en-US" altLang="ja-JP" dirty="0"/>
              <a:t>Level 4</a:t>
            </a:r>
            <a:endParaRPr lang="ja-JP" altLang="en-US" dirty="0"/>
          </a:p>
          <a:p>
            <a:pPr lvl="4"/>
            <a:r>
              <a:rPr lang="en-US" altLang="ja-JP" dirty="0"/>
              <a:t>Level 5</a:t>
            </a:r>
            <a:endParaRPr lang="ja-JP" altLang="en-US" dirty="0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9AFDB9-9935-3E47-8FD5-BBF5E467286F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コンテンツ プレースホルダ 2"/>
          <p:cNvSpPr>
            <a:spLocks noGrp="1"/>
          </p:cNvSpPr>
          <p:nvPr>
            <p:ph sz="half" idx="13" hasCustomPrompt="1"/>
          </p:nvPr>
        </p:nvSpPr>
        <p:spPr>
          <a:xfrm>
            <a:off x="4709864" y="1221600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 baseline="0"/>
            </a:lvl2pPr>
            <a:lvl3pPr>
              <a:defRPr sz="1500" baseline="0"/>
            </a:lvl3pPr>
            <a:lvl4pPr>
              <a:defRPr sz="1350" baseline="0"/>
            </a:lvl4pPr>
            <a:lvl5pPr>
              <a:defRPr sz="1350" baseline="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  <a:p>
            <a:pPr lvl="1"/>
            <a:r>
              <a:rPr lang="en-US" altLang="ja-JP" dirty="0"/>
              <a:t>Level 2</a:t>
            </a:r>
            <a:endParaRPr lang="ja-JP" altLang="en-US" dirty="0"/>
          </a:p>
          <a:p>
            <a:pPr lvl="2"/>
            <a:r>
              <a:rPr lang="en-US" altLang="ja-JP" dirty="0"/>
              <a:t>Level 3</a:t>
            </a:r>
            <a:endParaRPr lang="ja-JP" altLang="en-US" dirty="0"/>
          </a:p>
          <a:p>
            <a:pPr lvl="3"/>
            <a:r>
              <a:rPr lang="en-US" altLang="ja-JP" dirty="0"/>
              <a:t>Level 4</a:t>
            </a:r>
            <a:endParaRPr lang="ja-JP" altLang="en-US" dirty="0"/>
          </a:p>
          <a:p>
            <a:pPr lvl="4"/>
            <a:r>
              <a:rPr lang="en-US" altLang="ja-JP" dirty="0"/>
              <a:t>Level 5</a:t>
            </a:r>
            <a:endParaRPr lang="ja-JP" altLang="en-US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2101" y="4893470"/>
            <a:ext cx="5618212" cy="216694"/>
          </a:xfrm>
        </p:spPr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4428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8B36-ADAA-9D43-B484-2625D1A9130E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2101" y="4893469"/>
            <a:ext cx="5618212" cy="216694"/>
          </a:xfrm>
        </p:spPr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77760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altLang="ja-JP" dirty="0"/>
              <a:t>Master Slide Title Format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 hasCustomPrompt="1"/>
          </p:nvPr>
        </p:nvSpPr>
        <p:spPr>
          <a:xfrm>
            <a:off x="468313" y="1221582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 baseline="0"/>
            </a:lvl2pPr>
            <a:lvl3pPr>
              <a:defRPr sz="1500" baseline="0"/>
            </a:lvl3pPr>
            <a:lvl4pPr>
              <a:defRPr sz="1350" baseline="0"/>
            </a:lvl4pPr>
            <a:lvl5pPr>
              <a:defRPr sz="1350" baseline="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  <a:p>
            <a:pPr lvl="1"/>
            <a:r>
              <a:rPr lang="en-US" altLang="ja-JP" dirty="0"/>
              <a:t>Level 2</a:t>
            </a:r>
            <a:endParaRPr lang="ja-JP" altLang="en-US" dirty="0"/>
          </a:p>
          <a:p>
            <a:pPr lvl="2"/>
            <a:r>
              <a:rPr lang="en-US" altLang="ja-JP" dirty="0"/>
              <a:t>Level 3</a:t>
            </a:r>
            <a:endParaRPr lang="ja-JP" altLang="en-US" dirty="0"/>
          </a:p>
          <a:p>
            <a:pPr lvl="3"/>
            <a:r>
              <a:rPr lang="en-US" altLang="ja-JP" dirty="0"/>
              <a:t>Level 4</a:t>
            </a:r>
            <a:endParaRPr lang="ja-JP" altLang="en-US" dirty="0"/>
          </a:p>
          <a:p>
            <a:pPr lvl="4"/>
            <a:r>
              <a:rPr lang="en-US" altLang="ja-JP" dirty="0"/>
              <a:t>Level 5</a:t>
            </a:r>
            <a:endParaRPr lang="ja-JP" altLang="en-US" dirty="0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4576C8-895A-9444-B6B3-0CB9F72A1DB2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コンテンツ プレースホルダ 2"/>
          <p:cNvSpPr>
            <a:spLocks noGrp="1"/>
          </p:cNvSpPr>
          <p:nvPr>
            <p:ph sz="half" idx="13" hasCustomPrompt="1"/>
          </p:nvPr>
        </p:nvSpPr>
        <p:spPr>
          <a:xfrm>
            <a:off x="4709864" y="1221600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 baseline="0"/>
            </a:lvl2pPr>
            <a:lvl3pPr>
              <a:defRPr sz="1500" baseline="0"/>
            </a:lvl3pPr>
            <a:lvl4pPr>
              <a:defRPr sz="1350" baseline="0"/>
            </a:lvl4pPr>
            <a:lvl5pPr>
              <a:defRPr sz="1350" baseline="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  <a:p>
            <a:pPr lvl="1"/>
            <a:r>
              <a:rPr lang="en-US" altLang="ja-JP" dirty="0"/>
              <a:t>Level 2</a:t>
            </a:r>
            <a:endParaRPr lang="ja-JP" altLang="en-US" dirty="0"/>
          </a:p>
          <a:p>
            <a:pPr lvl="2"/>
            <a:r>
              <a:rPr lang="en-US" altLang="ja-JP" dirty="0"/>
              <a:t>Level 3</a:t>
            </a:r>
            <a:endParaRPr lang="ja-JP" altLang="en-US" dirty="0"/>
          </a:p>
          <a:p>
            <a:pPr lvl="3"/>
            <a:r>
              <a:rPr lang="en-US" altLang="ja-JP" dirty="0"/>
              <a:t>Level 4</a:t>
            </a:r>
            <a:endParaRPr lang="ja-JP" altLang="en-US" dirty="0"/>
          </a:p>
          <a:p>
            <a:pPr lvl="4"/>
            <a:r>
              <a:rPr lang="en-US" altLang="ja-JP" dirty="0"/>
              <a:t>Level 5</a:t>
            </a:r>
            <a:endParaRPr lang="ja-JP" altLang="en-US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2101" y="4893469"/>
            <a:ext cx="5618212" cy="216694"/>
          </a:xfrm>
        </p:spPr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2083A-03A6-1245-A652-62725572C5BE}" type="datetime1">
              <a:rPr kumimoji="1" lang="en-US" altLang="ja-JP" smtClean="0"/>
              <a:t>8/13/24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451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672" r:id="rId14"/>
    <p:sldLayoutId id="2147483664" r:id="rId1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effectLst>
            <a:innerShdw blurRad="114300">
              <a:schemeClr val="bg1"/>
            </a:inn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33_apBZl6igYBkbsQX_0Aov5zx8dhZrZ?usp=sharing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jmkE0tj9jajZUshZr7rkrqzewSxzrCR0#scrollTo=XoU76vNELDVH" TargetMode="External"/><Relationship Id="rId2" Type="http://schemas.openxmlformats.org/officeDocument/2006/relationships/hyperlink" Target="https://colab.research.google.com/drive/133_apBZl6igYBkbsQX_0Aov5zx8dhZrZ#scrollTo=rifyRT2tFNCf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33_apBZl6igYBkbsQX_0Aov5zx8dhZrZ#scrollTo=rifyRT2tFNCf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33_apBZl6igYBkbsQX_0Aov5zx8dhZrZ#scrollTo=rifyRT2tFNCf" TargetMode="Externa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33_apBZl6igYBkbsQX_0Aov5zx8dhZrZ#scrollTo=rifyRT2tFNC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33_apBZl6igYBkbsQX_0Aov5zx8dhZrZ#scrollTo=rifyRT2tFNC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1765260" y="4860472"/>
            <a:ext cx="3263940" cy="177578"/>
          </a:xfrm>
        </p:spPr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ja-JP" dirty="0"/>
              <a:t>OPERATING SYSTEM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CE8776-B90B-C292-BBB6-A30A35C50B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2376425"/>
            <a:ext cx="7696200" cy="901758"/>
          </a:xfrm>
        </p:spPr>
        <p:txBody>
          <a:bodyPr/>
          <a:lstStyle/>
          <a:p>
            <a:pPr defTabSz="914400">
              <a:spcBef>
                <a:spcPts val="1000"/>
              </a:spcBef>
            </a:pPr>
            <a:r>
              <a:rPr lang="en-VN" sz="2800" dirty="0">
                <a:gradFill flip="none" rotWithShape="1">
                  <a:gsLst>
                    <a:gs pos="0">
                      <a:schemeClr val="accent5"/>
                    </a:gs>
                    <a:gs pos="100000">
                      <a:schemeClr val="accent3"/>
                    </a:gs>
                  </a:gsLst>
                  <a:lin ang="5400000" scaled="1"/>
                  <a:tileRect/>
                </a:gradFill>
              </a:rPr>
              <a:t>LAB 05 | PROCESS SYNCHRONIZATION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3D3D10-3950-EB43-C1BF-327F9D322A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8106" y="3181351"/>
            <a:ext cx="6367790" cy="685800"/>
          </a:xfrm>
        </p:spPr>
        <p:txBody>
          <a:bodyPr/>
          <a:lstStyle/>
          <a:p>
            <a:r>
              <a:rPr lang="en-US" dirty="0"/>
              <a:t>Learn about multi-threaded programming, and use two popular synchronization techniques including</a:t>
            </a:r>
            <a:br>
              <a:rPr lang="en-US" dirty="0"/>
            </a:br>
            <a:r>
              <a:rPr lang="en-US" dirty="0"/>
              <a:t>Mutex Locks and Semaphore to solve synchronization problems</a:t>
            </a:r>
            <a:endParaRPr lang="en-V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A3DD55-22A3-899E-F5E1-4255E1ADF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0630BC-30C1-9B66-DD29-242A37EF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2DF02-DD5E-A9E8-A61E-618B6EAA37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05201" y="550985"/>
            <a:ext cx="2315162" cy="342900"/>
          </a:xfrm>
        </p:spPr>
        <p:txBody>
          <a:bodyPr/>
          <a:lstStyle/>
          <a:p>
            <a:r>
              <a:rPr lang="en-US" dirty="0"/>
              <a:t>OUTCOMES</a:t>
            </a:r>
            <a:endParaRPr lang="en-V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FE74DD-A22D-0BB0-D64B-83C20E2B40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0" y="1200150"/>
            <a:ext cx="6096000" cy="307069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200" b="1" dirty="0"/>
              <a:t>After this LAB, students will be able to:</a:t>
            </a:r>
          </a:p>
          <a:p>
            <a:pPr algn="l"/>
            <a:r>
              <a:rPr lang="en-US" sz="2600" dirty="0"/>
              <a:t>Implement multi-threaded processes including the following operations: creating a thread, stopping a program, and merging threads
Apply mutex locks to ensure mutual exclusion
Apply semaphores to solve complex synchronization problems</a:t>
            </a:r>
            <a:endParaRPr lang="en-VN" sz="2600" dirty="0"/>
          </a:p>
        </p:txBody>
      </p:sp>
    </p:spTree>
    <p:extLst>
      <p:ext uri="{BB962C8B-B14F-4D97-AF65-F5344CB8AC3E}">
        <p14:creationId xmlns:p14="http://schemas.microsoft.com/office/powerpoint/2010/main" val="3971906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752FCE-0E6D-D595-4632-4E6DDADF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43B5C3-91A8-2F6E-FF64-BCA027EC0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A44C2-CDD7-DFF0-3262-B814DF2C3D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5424" y="1905645"/>
            <a:ext cx="6093153" cy="2686869"/>
          </a:xfrm>
        </p:spPr>
        <p:txBody>
          <a:bodyPr anchor="t">
            <a:normAutofit/>
          </a:bodyPr>
          <a:lstStyle/>
          <a:p>
            <a:r>
              <a:rPr lang="en-VN" sz="2400" dirty="0"/>
              <a:t>Multi-threaded programming
Mutex locks</a:t>
            </a:r>
          </a:p>
          <a:p>
            <a:r>
              <a:rPr lang="en-VN" sz="2400" dirty="0"/>
              <a:t>Semaphores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CF94C0-23A0-59A6-EE61-A84F817DE5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VN" sz="2400" dirty="0"/>
              <a:t>CONTENTS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FDA73-0FBD-F0FA-C1A1-753E1B8F4F32}"/>
              </a:ext>
            </a:extLst>
          </p:cNvPr>
          <p:cNvSpPr/>
          <p:nvPr/>
        </p:nvSpPr>
        <p:spPr>
          <a:xfrm>
            <a:off x="1600200" y="1352550"/>
            <a:ext cx="2590800" cy="457200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5"/>
              </a:gs>
            </a:gsLst>
            <a:lin ang="2700000" scaled="1"/>
            <a:tileRect/>
          </a:gradFill>
          <a:ln>
            <a:noFill/>
          </a:ln>
          <a:effectLst>
            <a:innerShdw blurRad="105188">
              <a:schemeClr val="bg1"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endParaRPr lang="en-V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683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05849D-89E3-D8FE-7089-FD6C492D4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MULTI-THREADED PROGRAMMING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90864-7A65-8478-EFE6-EF21AAAB7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VN" dirty="0">
              <a:ea typeface="JetBrains Mono" panose="02000009000000000000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2898A-52D3-8373-0AB9-D124A2BD7D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47AE0-FA55-40BB-F6E6-F11CA43EB7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VN" dirty="0"/>
              <a:t>01.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9915E-8A1C-DEEB-283E-DE2F7A1F747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45D33-9CC8-65C6-EAC2-92EB206A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381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2B82-F8D6-2907-F985-91BFB5218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1. Multi-threaded programming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E5727-F72B-450A-D95A-200A25F0D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4730B-6E80-671A-68DD-31A1C77E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624D54-9542-E1C3-00F3-BDF2698F4BC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VN" dirty="0"/>
              <a:t>We can create mutiple threads inside a process </a:t>
            </a:r>
            <a:r>
              <a:rPr lang="en-VN" dirty="0">
                <a:sym typeface="Wingdings" pitchFamily="2" charset="2"/>
              </a:rPr>
              <a:t> Multi-threaded process</a:t>
            </a:r>
          </a:p>
          <a:p>
            <a:r>
              <a:rPr lang="en-VN" dirty="0">
                <a:sym typeface="Wingdings" pitchFamily="2" charset="2"/>
              </a:rPr>
              <a:t>Each thread may handle a sep</a:t>
            </a:r>
            <a:r>
              <a:rPr lang="en-US" dirty="0">
                <a:sym typeface="Wingdings" pitchFamily="2" charset="2"/>
              </a:rPr>
              <a:t>a</a:t>
            </a:r>
            <a:r>
              <a:rPr lang="en-VN" dirty="0">
                <a:sym typeface="Wingdings" pitchFamily="2" charset="2"/>
              </a:rPr>
              <a:t>rate task and can run simultaneosly</a:t>
            </a:r>
          </a:p>
        </p:txBody>
      </p:sp>
    </p:spTree>
    <p:extLst>
      <p:ext uri="{BB962C8B-B14F-4D97-AF65-F5344CB8AC3E}">
        <p14:creationId xmlns:p14="http://schemas.microsoft.com/office/powerpoint/2010/main" val="2395979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2B82-F8D6-2907-F985-91BFB5218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1. Multi-threaded programming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E5727-F72B-450A-D95A-200A25F0D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4730B-6E80-671A-68DD-31A1C77E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20FC95-FE32-0438-BE3C-A2B58651479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1025" y="1123952"/>
            <a:ext cx="3838576" cy="2438398"/>
          </a:xfrm>
        </p:spPr>
        <p:txBody>
          <a:bodyPr>
            <a:normAutofit/>
          </a:bodyPr>
          <a:lstStyle/>
          <a:p>
            <a:r>
              <a:rPr lang="en-VN" sz="2400" b="1" dirty="0"/>
              <a:t>Threads can share</a:t>
            </a:r>
            <a:r>
              <a:rPr lang="en-VN" sz="2400" dirty="0"/>
              <a:t>:</a:t>
            </a:r>
          </a:p>
          <a:p>
            <a:pPr lvl="1"/>
            <a:r>
              <a:rPr lang="en-VN" sz="2000" dirty="0"/>
              <a:t>Code</a:t>
            </a:r>
          </a:p>
          <a:p>
            <a:pPr lvl="1"/>
            <a:r>
              <a:rPr lang="en-VN" sz="2000" b="1" dirty="0"/>
              <a:t>Data </a:t>
            </a:r>
            <a:r>
              <a:rPr lang="en-VN" sz="2000" b="1" dirty="0">
                <a:sym typeface="Wingdings" pitchFamily="2" charset="2"/>
              </a:rPr>
              <a:t> Global variables</a:t>
            </a:r>
            <a:endParaRPr lang="en-VN" sz="2000" b="1" dirty="0"/>
          </a:p>
          <a:p>
            <a:pPr lvl="1"/>
            <a:r>
              <a:rPr lang="en-VN" sz="2000" dirty="0"/>
              <a:t>Files</a:t>
            </a:r>
          </a:p>
        </p:txBody>
      </p:sp>
      <p:pic>
        <p:nvPicPr>
          <p:cNvPr id="8" name="Picture 1" descr="4_01.pdf">
            <a:extLst>
              <a:ext uri="{FF2B5EF4-FFF2-40B4-BE49-F238E27FC236}">
                <a16:creationId xmlns:a16="http://schemas.microsoft.com/office/drawing/2014/main" id="{DC21E25A-5E9F-F0C6-AF51-2704794FD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123953"/>
            <a:ext cx="4025409" cy="2613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2A58EBB0-5F1E-0EAF-824C-D13CDD038C08}"/>
              </a:ext>
            </a:extLst>
          </p:cNvPr>
          <p:cNvSpPr txBox="1">
            <a:spLocks/>
          </p:cNvSpPr>
          <p:nvPr/>
        </p:nvSpPr>
        <p:spPr>
          <a:xfrm>
            <a:off x="581025" y="3859659"/>
            <a:ext cx="7934325" cy="984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VN" sz="2400" dirty="0"/>
              <a:t>Threads in processes can </a:t>
            </a:r>
            <a:r>
              <a:rPr lang="en-VN" sz="2400" b="1" dirty="0"/>
              <a:t>easily</a:t>
            </a:r>
            <a:r>
              <a:rPr lang="en-VN" sz="2400" dirty="0"/>
              <a:t> and </a:t>
            </a:r>
            <a:r>
              <a:rPr lang="en-VN" sz="2400" b="1" dirty="0"/>
              <a:t>quickly</a:t>
            </a:r>
            <a:r>
              <a:rPr lang="en-VN" sz="2400" dirty="0"/>
              <a:t> share data with each</a:t>
            </a:r>
            <a:endParaRPr lang="en-VN" sz="2000" b="1" dirty="0"/>
          </a:p>
        </p:txBody>
      </p:sp>
    </p:spTree>
    <p:extLst>
      <p:ext uri="{BB962C8B-B14F-4D97-AF65-F5344CB8AC3E}">
        <p14:creationId xmlns:p14="http://schemas.microsoft.com/office/powerpoint/2010/main" val="6602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05849D-89E3-D8FE-7089-FD6C492D4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MULTI-THREADED PROGRAMMING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90864-7A65-8478-EFE6-EF21AAAB7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VN" dirty="0">
                <a:ea typeface="JetBrains Mono" panose="02000009000000000000" pitchFamily="49" charset="0"/>
              </a:rPr>
              <a:t>1.1. Create threads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2898A-52D3-8373-0AB9-D124A2BD7D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47AE0-FA55-40BB-F6E6-F11CA43EB7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VN" dirty="0"/>
              <a:t>01.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9915E-8A1C-DEEB-283E-DE2F7A1F747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45D33-9CC8-65C6-EAC2-92EB206A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8060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726F-AC50-3709-32AD-38BD3DC5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1.1. Create threads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D599A-FC34-F1AE-3DE6-63BACBDB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906B1-895C-FB8A-9077-E30D8C96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5C0A38-9774-1666-C2BC-95DC6E88BE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1025" y="1962150"/>
            <a:ext cx="7934325" cy="2616822"/>
          </a:xfrm>
        </p:spPr>
        <p:txBody>
          <a:bodyPr>
            <a:normAutofit/>
          </a:bodyPr>
          <a:lstStyle/>
          <a:p>
            <a:r>
              <a:rPr lang="en-VN" sz="2400" dirty="0"/>
              <a:t>Use </a:t>
            </a:r>
            <a:r>
              <a:rPr lang="en-VN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pthread.h</a:t>
            </a:r>
            <a:r>
              <a:rPr lang="en-VN" sz="2400" dirty="0"/>
              <a:t> library</a:t>
            </a:r>
          </a:p>
          <a:p>
            <a:r>
              <a:rPr lang="en-VN" sz="2400" dirty="0"/>
              <a:t>Include </a:t>
            </a:r>
            <a:r>
              <a:rPr lang="en-VN" sz="2400" b="1" dirty="0"/>
              <a:t>3 steps</a:t>
            </a:r>
            <a:r>
              <a:rPr lang="en-VN" sz="2400" dirty="0"/>
              <a:t>:</a:t>
            </a:r>
          </a:p>
          <a:p>
            <a:pPr lvl="1"/>
            <a:r>
              <a:rPr lang="en-VN" sz="2000" dirty="0"/>
              <a:t>Define thread’s task through function pointer</a:t>
            </a:r>
          </a:p>
          <a:p>
            <a:pPr lvl="1"/>
            <a:r>
              <a:rPr lang="en-VN" sz="2000" dirty="0"/>
              <a:t>Declare threads</a:t>
            </a:r>
          </a:p>
          <a:p>
            <a:pPr lvl="1"/>
            <a:r>
              <a:rPr lang="en-VN" sz="2000" dirty="0"/>
              <a:t>Initialize threads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E394B69-8089-5B57-3464-9EC450A7BFF7}"/>
              </a:ext>
            </a:extLst>
          </p:cNvPr>
          <p:cNvSpPr/>
          <p:nvPr/>
        </p:nvSpPr>
        <p:spPr>
          <a:xfrm>
            <a:off x="685800" y="1198671"/>
            <a:ext cx="4800600" cy="533400"/>
          </a:xfrm>
          <a:prstGeom prst="roundRect">
            <a:avLst>
              <a:gd name="adj" fmla="val 50000"/>
            </a:avLst>
          </a:prstGeom>
          <a:noFill/>
          <a:ln w="19050">
            <a:gradFill flip="none" rotWithShape="1"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Section: </a:t>
            </a:r>
            <a:r>
              <a:rPr lang="en-VN" sz="20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1.1. Create threads</a:t>
            </a:r>
            <a:endParaRPr lang="en-VN" sz="2000" b="1" dirty="0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2700000" scaled="1"/>
              </a:gra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468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726F-AC50-3709-32AD-38BD3DC5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1.1. Create threads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D599A-FC34-F1AE-3DE6-63BACBDB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906B1-895C-FB8A-9077-E30D8C96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E70775C-02BB-1E55-A134-B8F3F93DAED4}"/>
              </a:ext>
            </a:extLst>
          </p:cNvPr>
          <p:cNvSpPr txBox="1">
            <a:spLocks/>
          </p:cNvSpPr>
          <p:nvPr/>
        </p:nvSpPr>
        <p:spPr>
          <a:xfrm>
            <a:off x="685801" y="2000556"/>
            <a:ext cx="5029200" cy="27214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>
            <a:normAutofit/>
          </a:bodyPr>
          <a:lstStyle>
            <a:lvl1pPr marL="1714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800" dirty="0">
                <a:solidFill>
                  <a:srgbClr val="0072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lang="en-US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dirty="0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54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</a:t>
            </a:r>
            <a:r>
              <a:rPr lang="en-US" sz="1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job_name</a:t>
            </a:r>
            <a:r>
              <a:rPr lang="en-US" sz="1800" dirty="0">
                <a:solidFill>
                  <a:srgbClr val="0072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(void </a:t>
            </a:r>
            <a:r>
              <a:rPr lang="en-US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*message</a:t>
            </a:r>
            <a:r>
              <a:rPr lang="en-US" sz="1800" dirty="0">
                <a:solidFill>
                  <a:srgbClr val="0072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n-US" sz="1800" dirty="0">
                <a:solidFill>
                  <a:srgbClr val="0072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</a:t>
            </a:r>
            <a:r>
              <a:rPr lang="en-US" sz="1800" dirty="0">
                <a:solidFill>
                  <a:schemeClr val="accent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(1)</a:t>
            </a:r>
            <a:r>
              <a:rPr lang="en-US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	</a:t>
            </a: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Thread’s job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}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FBB9A8-D398-560F-3A91-9B04F03DAC77}"/>
              </a:ext>
            </a:extLst>
          </p:cNvPr>
          <p:cNvSpPr txBox="1"/>
          <p:nvPr/>
        </p:nvSpPr>
        <p:spPr>
          <a:xfrm>
            <a:off x="580610" y="930606"/>
            <a:ext cx="5134392" cy="1002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Define thread’s task through </a:t>
            </a:r>
            <a:r>
              <a:rPr lang="en-VN" sz="2400" b="1" dirty="0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function pointer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868018-B1ED-F6A4-369A-27D818F689BD}"/>
              </a:ext>
            </a:extLst>
          </p:cNvPr>
          <p:cNvSpPr txBox="1"/>
          <p:nvPr/>
        </p:nvSpPr>
        <p:spPr>
          <a:xfrm>
            <a:off x="5943600" y="2000556"/>
            <a:ext cx="2571750" cy="1662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VN" sz="2000" dirty="0">
                <a:latin typeface="Arial" panose="020B0604020202020204" pitchFamily="34" charset="0"/>
                <a:cs typeface="Arial" panose="020B0604020202020204" pitchFamily="34" charset="0"/>
              </a:rPr>
              <a:t>If the task run continously, we can put it in </a:t>
            </a:r>
            <a:r>
              <a:rPr lang="en-VN" sz="2000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while(1)</a:t>
            </a:r>
          </a:p>
        </p:txBody>
      </p:sp>
    </p:spTree>
    <p:extLst>
      <p:ext uri="{BB962C8B-B14F-4D97-AF65-F5344CB8AC3E}">
        <p14:creationId xmlns:p14="http://schemas.microsoft.com/office/powerpoint/2010/main" val="147779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726F-AC50-3709-32AD-38BD3DC5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1.1. Create threads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D599A-FC34-F1AE-3DE6-63BACBDB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906B1-895C-FB8A-9077-E30D8C96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E70775C-02BB-1E55-A134-B8F3F93DAED4}"/>
              </a:ext>
            </a:extLst>
          </p:cNvPr>
          <p:cNvSpPr txBox="1">
            <a:spLocks/>
          </p:cNvSpPr>
          <p:nvPr/>
        </p:nvSpPr>
        <p:spPr>
          <a:xfrm>
            <a:off x="5867400" y="2000556"/>
            <a:ext cx="2578557" cy="28807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>
            <a:noAutofit/>
          </a:bodyPr>
          <a:lstStyle>
            <a:lvl1pPr marL="1714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b="1" dirty="0" err="1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pthread_create</a:t>
            </a:r>
            <a:endParaRPr lang="en-US" sz="1600" b="1" dirty="0">
              <a:gradFill>
                <a:gsLst>
                  <a:gs pos="0">
                    <a:srgbClr val="00C6FF"/>
                  </a:gs>
                  <a:gs pos="100000">
                    <a:srgbClr val="0072FF"/>
                  </a:gs>
                </a:gsLst>
                <a:lin ang="2700000" scaled="1"/>
              </a:gra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&amp;</a:t>
            </a:r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thread_name</a:t>
            </a: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NULL,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&amp;</a:t>
            </a:r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thread_print</a:t>
            </a: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NULL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FBB9A8-D398-560F-3A91-9B04F03DAC77}"/>
              </a:ext>
            </a:extLst>
          </p:cNvPr>
          <p:cNvSpPr txBox="1"/>
          <p:nvPr/>
        </p:nvSpPr>
        <p:spPr>
          <a:xfrm>
            <a:off x="580609" y="1123950"/>
            <a:ext cx="2565126" cy="522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Declare thread(s)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813A4-72E8-850B-A5D6-43ACA858183B}"/>
              </a:ext>
            </a:extLst>
          </p:cNvPr>
          <p:cNvSpPr txBox="1"/>
          <p:nvPr/>
        </p:nvSpPr>
        <p:spPr>
          <a:xfrm>
            <a:off x="5867400" y="1276350"/>
            <a:ext cx="1568656" cy="537609"/>
          </a:xfrm>
          <a:prstGeom prst="roundRect">
            <a:avLst>
              <a:gd name="adj" fmla="val 5942"/>
            </a:avLst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V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62200E7-782E-8DE6-6BD5-9FC9255ECB20}"/>
              </a:ext>
            </a:extLst>
          </p:cNvPr>
          <p:cNvSpPr/>
          <p:nvPr/>
        </p:nvSpPr>
        <p:spPr>
          <a:xfrm>
            <a:off x="580608" y="1703725"/>
            <a:ext cx="3838991" cy="533400"/>
          </a:xfrm>
          <a:prstGeom prst="roundRect">
            <a:avLst>
              <a:gd name="adj" fmla="val 50000"/>
            </a:avLst>
          </a:prstGeom>
          <a:noFill/>
          <a:ln w="19050">
            <a:gradFill flip="none" rotWithShape="1"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pthread_t</a:t>
            </a:r>
            <a:r>
              <a:rPr lang="en-US" sz="20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b="1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thread_name</a:t>
            </a:r>
            <a:r>
              <a:rPr lang="en-US" sz="20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lang="en-VN" sz="2000" b="1" dirty="0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2700000" scaled="1"/>
              </a:gra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DFF403-0647-314C-417C-462AADDF9659}"/>
              </a:ext>
            </a:extLst>
          </p:cNvPr>
          <p:cNvSpPr txBox="1"/>
          <p:nvPr/>
        </p:nvSpPr>
        <p:spPr>
          <a:xfrm>
            <a:off x="580609" y="2348600"/>
            <a:ext cx="2411238" cy="522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Initialize threads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F28E1-1C41-20A4-E67B-94C980E1F2B6}"/>
              </a:ext>
            </a:extLst>
          </p:cNvPr>
          <p:cNvSpPr txBox="1"/>
          <p:nvPr/>
        </p:nvSpPr>
        <p:spPr>
          <a:xfrm>
            <a:off x="580608" y="2928375"/>
            <a:ext cx="4600992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lang="en-US" sz="1600" b="1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pthread_create</a:t>
            </a:r>
            <a:endParaRPr lang="en-US" sz="1600" b="1" dirty="0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2700000" scaled="1"/>
              </a:gra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b="1" dirty="0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n-US" sz="1600" b="1" dirty="0" err="1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pthread_t</a:t>
            </a:r>
            <a:r>
              <a:rPr lang="en-US" sz="1600" b="1" dirty="0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thread, 	</a:t>
            </a:r>
            <a:r>
              <a:rPr lang="en-US" sz="1600" b="1" dirty="0" err="1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pthread_attr_t</a:t>
            </a:r>
            <a:r>
              <a:rPr lang="en-US" sz="1600" b="1" dirty="0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</a:t>
            </a:r>
            <a:r>
              <a:rPr lang="en-US" sz="1600" b="1" dirty="0" err="1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attr</a:t>
            </a:r>
            <a:r>
              <a:rPr lang="en-US" sz="1600" b="1" dirty="0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b="1" dirty="0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void * (*</a:t>
            </a:r>
            <a:r>
              <a:rPr lang="en-US" sz="1600" b="1" dirty="0" err="1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start_routine</a:t>
            </a:r>
            <a:r>
              <a:rPr lang="en-US" sz="1600" b="1" dirty="0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)(void *),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b="1" dirty="0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void * </a:t>
            </a:r>
            <a:r>
              <a:rPr lang="en-US" sz="1600" b="1" dirty="0" err="1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endParaRPr lang="en-US" sz="1600" b="1" dirty="0">
              <a:gradFill>
                <a:gsLst>
                  <a:gs pos="0">
                    <a:srgbClr val="00C6FF"/>
                  </a:gs>
                  <a:gs pos="100000">
                    <a:srgbClr val="0072FF"/>
                  </a:gs>
                </a:gsLst>
                <a:lin ang="2700000" scaled="1"/>
              </a:gra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6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r>
              <a:rPr lang="en-US" sz="1600" b="1" dirty="0">
                <a:gradFill>
                  <a:gsLst>
                    <a:gs pos="0">
                      <a:srgbClr val="00C6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8136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05849D-89E3-D8FE-7089-FD6C492D4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LẬP TRÌNH ĐA TIỂU TRÌNH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90864-7A65-8478-EFE6-EF21AAAB7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VN" dirty="0">
                <a:ea typeface="JetBrains Mono" panose="02000009000000000000" pitchFamily="49" charset="0"/>
              </a:rPr>
              <a:t>1.2. Stop threads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2898A-52D3-8373-0AB9-D124A2BD7D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47AE0-FA55-40BB-F6E6-F11CA43EB7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VN" dirty="0"/>
              <a:t>01.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9915E-8A1C-DEEB-283E-DE2F7A1F747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45D33-9CC8-65C6-EAC2-92EB206A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6972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1AA86-B245-FF68-1C25-E9A6B9CA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1.2. Stop thread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4340B1-14C7-0545-967E-4362DFADE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BF6FB-5801-0937-8F92-4B834C72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3C0C03-38B0-8654-0679-E7C81BCCD7B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In order to stop a thread, we can use </a:t>
            </a:r>
            <a:r>
              <a:rPr lang="en-US" b="1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pthread_exit</a:t>
            </a:r>
            <a:r>
              <a:rPr lang="en-US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lvl="1"/>
            <a:r>
              <a:rPr lang="en-US" dirty="0"/>
              <a:t>Call outside of main(): stop the thread calling this function;</a:t>
            </a:r>
          </a:p>
          <a:p>
            <a:pPr lvl="1"/>
            <a:r>
              <a:rPr lang="en-US" dirty="0"/>
              <a:t>Call inside main(): wait for other child threads stops and stop main</a:t>
            </a:r>
            <a:r>
              <a:rPr lang="en-VN" dirty="0"/>
              <a:t>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EF0149-6FB6-86C9-9289-2482388D6310}"/>
              </a:ext>
            </a:extLst>
          </p:cNvPr>
          <p:cNvSpPr/>
          <p:nvPr/>
        </p:nvSpPr>
        <p:spPr>
          <a:xfrm>
            <a:off x="3276600" y="4052353"/>
            <a:ext cx="4800600" cy="533400"/>
          </a:xfrm>
          <a:prstGeom prst="roundRect">
            <a:avLst>
              <a:gd name="adj" fmla="val 50000"/>
            </a:avLst>
          </a:prstGeom>
          <a:noFill/>
          <a:ln w="19050">
            <a:gradFill flip="none" rotWithShape="1"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Phần</a:t>
            </a:r>
            <a:r>
              <a:rPr lang="en-US" sz="20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VN" sz="20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1.2. Huỷ tiểu trình</a:t>
            </a:r>
            <a:r>
              <a:rPr lang="en-VN" sz="20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VN" sz="2000" b="1" dirty="0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2700000" scaled="1"/>
              </a:gra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010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05849D-89E3-D8FE-7089-FD6C492D4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MULTI-THREADED PROGRAMMING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90864-7A65-8478-EFE6-EF21AAAB7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VN" dirty="0">
                <a:ea typeface="JetBrains Mono" panose="02000009000000000000" pitchFamily="49" charset="0"/>
              </a:rPr>
              <a:t>1.3. Merge threads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2898A-52D3-8373-0AB9-D124A2BD7D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47AE0-FA55-40BB-F6E6-F11CA43EB7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VN" dirty="0"/>
              <a:t>01.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9915E-8A1C-DEEB-283E-DE2F7A1F747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45D33-9CC8-65C6-EAC2-92EB206A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672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B2BB8-5489-345B-1B2B-12992189F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1.3. Merge threads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6D59B8-4C67-8E70-EB04-CC40366CD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391B0-7FA9-FFC5-18A5-53029A8D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143D58-7C0F-8CB0-CEE3-D8C72EDA66C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order to merge threads (running as one thread), we can use function </a:t>
            </a:r>
            <a:r>
              <a:rPr lang="en-US" b="1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pthread_join</a:t>
            </a:r>
            <a:r>
              <a:rPr lang="en-US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b="1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threadid</a:t>
            </a:r>
            <a:r>
              <a:rPr lang="en-US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status)</a:t>
            </a:r>
          </a:p>
          <a:p>
            <a:r>
              <a:rPr lang="en-US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pthread_join</a:t>
            </a:r>
            <a:r>
              <a:rPr lang="en-US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US" dirty="0"/>
              <a:t> will pause </a:t>
            </a:r>
            <a:r>
              <a:rPr lang="en-US" dirty="0" err="1"/>
              <a:t>pthread</a:t>
            </a:r>
            <a:r>
              <a:rPr lang="en-US" dirty="0"/>
              <a:t> which calls it until threaded finish its job.</a:t>
            </a:r>
          </a:p>
          <a:p>
            <a:r>
              <a:rPr lang="en-US" dirty="0"/>
              <a:t>When </a:t>
            </a:r>
            <a:r>
              <a:rPr lang="en-US" dirty="0" err="1"/>
              <a:t>pthread</a:t>
            </a:r>
            <a:r>
              <a:rPr lang="en-US" dirty="0"/>
              <a:t> finishes its job, </a:t>
            </a:r>
            <a:r>
              <a:rPr lang="en-US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pthread_join</a:t>
            </a:r>
            <a:r>
              <a:rPr lang="en-US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</a:t>
            </a:r>
            <a:r>
              <a:rPr lang="en-US" dirty="0"/>
              <a:t>returns 0.</a:t>
            </a:r>
            <a:endParaRPr lang="en-VN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B84EE44-A915-6EBA-2385-9167F7223BCD}"/>
              </a:ext>
            </a:extLst>
          </p:cNvPr>
          <p:cNvSpPr/>
          <p:nvPr/>
        </p:nvSpPr>
        <p:spPr>
          <a:xfrm>
            <a:off x="3505200" y="4143973"/>
            <a:ext cx="4800600" cy="533400"/>
          </a:xfrm>
          <a:prstGeom prst="roundRect">
            <a:avLst>
              <a:gd name="adj" fmla="val 50000"/>
            </a:avLst>
          </a:prstGeom>
          <a:noFill/>
          <a:ln w="19050">
            <a:gradFill flip="none" rotWithShape="1"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Section: </a:t>
            </a:r>
            <a:r>
              <a:rPr lang="en-VN" sz="20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1.3. Merge threads</a:t>
            </a:r>
            <a:endParaRPr lang="en-VN" sz="2000" b="1" dirty="0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2700000" scaled="1"/>
              </a:gra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551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05849D-89E3-D8FE-7089-FD6C492D4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MULTI-THREADED PROGRAMMING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90864-7A65-8478-EFE6-EF21AAAB7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VN" dirty="0">
                <a:ea typeface="JetBrains Mono" panose="02000009000000000000" pitchFamily="49" charset="0"/>
              </a:rPr>
              <a:t>1.4. Send arguments to thread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2898A-52D3-8373-0AB9-D124A2BD7D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47AE0-FA55-40BB-F6E6-F11CA43EB7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VN" dirty="0"/>
              <a:t>01.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9915E-8A1C-DEEB-283E-DE2F7A1F747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45D33-9CC8-65C6-EAC2-92EB206A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4495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04B4-9A66-FDF5-564D-18FB2C07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1.4. Send arguments to thread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9B85E4-46E7-83DB-ECB1-669EA22DF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A4355-6F89-ABD5-BBEA-640B76D8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E84738-EBEF-1762-29DF-2A259C600B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1025" y="1123952"/>
            <a:ext cx="7934325" cy="1523998"/>
          </a:xfrm>
        </p:spPr>
        <p:txBody>
          <a:bodyPr>
            <a:normAutofit/>
          </a:bodyPr>
          <a:lstStyle/>
          <a:p>
            <a:r>
              <a:rPr lang="en-US" sz="2400" dirty="0"/>
              <a:t>The last parameter of </a:t>
            </a:r>
            <a:r>
              <a:rPr lang="en-US" sz="2400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pthread_create</a:t>
            </a:r>
            <a:r>
              <a:rPr lang="en-US" sz="24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US" sz="2400" dirty="0"/>
              <a:t> is an argument pointer for the procedure which the thread handle.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CDC88441-2521-0B11-3A98-74D58433ED70}"/>
              </a:ext>
            </a:extLst>
          </p:cNvPr>
          <p:cNvSpPr txBox="1">
            <a:spLocks/>
          </p:cNvSpPr>
          <p:nvPr/>
        </p:nvSpPr>
        <p:spPr>
          <a:xfrm>
            <a:off x="3657600" y="2770376"/>
            <a:ext cx="4648199" cy="20111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>
            <a:noAutofit/>
          </a:bodyPr>
          <a:lstStyle>
            <a:lvl1pPr marL="1714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void *</a:t>
            </a:r>
            <a:r>
              <a:rPr lang="en-US" sz="1300" dirty="0" err="1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thread_print</a:t>
            </a:r>
            <a:r>
              <a:rPr lang="en-US" sz="1300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sz="13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void *</a:t>
            </a:r>
            <a:r>
              <a:rPr lang="en-US" sz="1300" b="1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threadid</a:t>
            </a:r>
            <a:r>
              <a:rPr lang="en-US" sz="1300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long </a:t>
            </a:r>
            <a:r>
              <a:rPr lang="en-US" sz="13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tid</a:t>
            </a: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n-US" sz="1300" b="1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tid</a:t>
            </a:r>
            <a:r>
              <a:rPr lang="en-US" sz="13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(long)</a:t>
            </a:r>
            <a:r>
              <a:rPr lang="en-US" sz="1300" b="1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threadid</a:t>
            </a:r>
            <a:r>
              <a:rPr lang="en-US" sz="13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n-US" sz="13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("Hello IT007! I'm Thread #%</a:t>
            </a:r>
            <a:r>
              <a:rPr lang="en-US" sz="13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ld</a:t>
            </a: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!\n", 			</a:t>
            </a:r>
            <a:r>
              <a:rPr lang="en-US" sz="13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tid</a:t>
            </a: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n-US" sz="13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pthread_exit</a:t>
            </a: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(NULL);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B99876A1-150A-C334-273F-E1316581E27E}"/>
              </a:ext>
            </a:extLst>
          </p:cNvPr>
          <p:cNvSpPr txBox="1">
            <a:spLocks/>
          </p:cNvSpPr>
          <p:nvPr/>
        </p:nvSpPr>
        <p:spPr>
          <a:xfrm>
            <a:off x="685801" y="2770376"/>
            <a:ext cx="2057400" cy="20111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numCol="1" rtlCol="0">
            <a:noAutofit/>
          </a:bodyPr>
          <a:lstStyle>
            <a:lvl1pPr marL="1714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long </a:t>
            </a:r>
            <a:r>
              <a:rPr lang="en-US" sz="1300" b="1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tID</a:t>
            </a:r>
            <a:r>
              <a:rPr lang="en-US" sz="13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0;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 err="1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pthread_create</a:t>
            </a: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&amp;threads[</a:t>
            </a:r>
            <a:r>
              <a:rPr lang="en-US" sz="13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tID</a:t>
            </a: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],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NULL,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&amp;</a:t>
            </a:r>
            <a:r>
              <a:rPr lang="en-US" sz="13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thread_print</a:t>
            </a: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n-US" sz="13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(void *)</a:t>
            </a:r>
            <a:r>
              <a:rPr lang="en-US" sz="1300" b="1" dirty="0" err="1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tID</a:t>
            </a:r>
            <a:endParaRPr lang="en-US" sz="1300" b="1" dirty="0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2700000" scaled="1"/>
              </a:gra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None/>
              <a:tabLst>
                <a:tab pos="354013" algn="l"/>
                <a:tab pos="708025" algn="l"/>
                <a:tab pos="1062038" algn="l"/>
              </a:tabLst>
            </a:pPr>
            <a:r>
              <a:rPr lang="en-US" sz="1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3CC7ED5C-DE74-2D9D-E5A2-334C2AC9E66C}"/>
              </a:ext>
            </a:extLst>
          </p:cNvPr>
          <p:cNvCxnSpPr/>
          <p:nvPr/>
        </p:nvCxnSpPr>
        <p:spPr>
          <a:xfrm flipV="1">
            <a:off x="2438400" y="2266950"/>
            <a:ext cx="2057400" cy="1905000"/>
          </a:xfrm>
          <a:prstGeom prst="bentConnector3">
            <a:avLst/>
          </a:prstGeom>
          <a:ln w="19050">
            <a:solidFill>
              <a:schemeClr val="accent5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129CCEB0-C314-CA95-42A4-7D375B445BF3}"/>
              </a:ext>
            </a:extLst>
          </p:cNvPr>
          <p:cNvCxnSpPr>
            <a:cxnSpLocks/>
          </p:cNvCxnSpPr>
          <p:nvPr/>
        </p:nvCxnSpPr>
        <p:spPr>
          <a:xfrm>
            <a:off x="4495800" y="2266950"/>
            <a:ext cx="1981200" cy="381000"/>
          </a:xfrm>
          <a:prstGeom prst="bentConnector3">
            <a:avLst>
              <a:gd name="adj1" fmla="val 100065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738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04B4-9A66-FDF5-564D-18FB2C07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1.4. Truyền tham số cho tiểu trình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9B85E4-46E7-83DB-ECB1-669EA22DF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A4355-6F89-ABD5-BBEA-640B76D8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E84738-EBEF-1762-29DF-2A259C600B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1025" y="1123952"/>
            <a:ext cx="8258175" cy="2362198"/>
          </a:xfrm>
        </p:spPr>
        <p:txBody>
          <a:bodyPr>
            <a:normAutofit/>
          </a:bodyPr>
          <a:lstStyle/>
          <a:p>
            <a:r>
              <a:rPr lang="en-US" sz="2400" dirty="0"/>
              <a:t>In order to pass complex argument, we can use </a:t>
            </a:r>
            <a:r>
              <a:rPr lang="en-US" sz="24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struct</a:t>
            </a:r>
            <a:endParaRPr lang="en-US" sz="2400" dirty="0"/>
          </a:p>
          <a:p>
            <a:pPr lvl="1"/>
            <a:r>
              <a:rPr lang="en-US" sz="2000" dirty="0"/>
              <a:t>Create argument struct for complex data which you want to send</a:t>
            </a:r>
          </a:p>
          <a:p>
            <a:pPr lvl="1"/>
            <a:r>
              <a:rPr lang="en-US" sz="2000" dirty="0"/>
              <a:t>Forcefully turn the data from struct to </a:t>
            </a:r>
            <a:r>
              <a:rPr lang="en-US" sz="20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void* </a:t>
            </a:r>
            <a:r>
              <a:rPr lang="en-US" sz="2000" dirty="0"/>
              <a:t>to send to procedure</a:t>
            </a:r>
          </a:p>
          <a:p>
            <a:pPr lvl="1"/>
            <a:r>
              <a:rPr lang="en-US" sz="2000" dirty="0"/>
              <a:t>When the procedure receives argument, it will turn </a:t>
            </a:r>
            <a:r>
              <a:rPr lang="en-US" sz="20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void* </a:t>
            </a:r>
            <a:r>
              <a:rPr lang="en-US" sz="2000" dirty="0"/>
              <a:t>back to </a:t>
            </a:r>
            <a:r>
              <a:rPr lang="en-US" sz="20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struct</a:t>
            </a:r>
            <a:r>
              <a:rPr lang="en-US" sz="2000" dirty="0"/>
              <a:t> and get the data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9943D40-BD4E-3398-7BA3-2F3B81C3AB9A}"/>
              </a:ext>
            </a:extLst>
          </p:cNvPr>
          <p:cNvSpPr/>
          <p:nvPr/>
        </p:nvSpPr>
        <p:spPr>
          <a:xfrm>
            <a:off x="580608" y="3752848"/>
            <a:ext cx="7039392" cy="533400"/>
          </a:xfrm>
          <a:prstGeom prst="roundRect">
            <a:avLst>
              <a:gd name="adj" fmla="val 50000"/>
            </a:avLst>
          </a:prstGeom>
          <a:noFill/>
          <a:ln w="19050">
            <a:gradFill flip="none" rotWithShape="1"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Section: </a:t>
            </a:r>
            <a:r>
              <a:rPr lang="en-VN" sz="2000" b="1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1.4. Truyền tham số cho tiểu trình</a:t>
            </a:r>
            <a:endParaRPr lang="en-VN" sz="2000" b="1" dirty="0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2700000" scaled="1"/>
              </a:gra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023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05849D-89E3-D8FE-7089-FD6C492D4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MUTEX LOCKS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90864-7A65-8478-EFE6-EF21AAAB7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VN" dirty="0">
                <a:ea typeface="JetBrains Mono" panose="02000009000000000000" pitchFamily="49" charset="0"/>
              </a:rPr>
              <a:t>Implement </a:t>
            </a:r>
            <a:r>
              <a:rPr lang="en-VN" i="1" dirty="0">
                <a:ea typeface="JetBrains Mono" panose="02000009000000000000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Section 2: Mutex Locks</a:t>
            </a:r>
            <a:endParaRPr lang="en-VN" i="1" dirty="0">
              <a:ea typeface="JetBrains Mono" panose="02000009000000000000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2898A-52D3-8373-0AB9-D124A2BD7D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47AE0-FA55-40BB-F6E6-F11CA43EB7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VN" dirty="0"/>
              <a:t>02.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9915E-8A1C-DEEB-283E-DE2F7A1F747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45D33-9CC8-65C6-EAC2-92EB206A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097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05849D-89E3-D8FE-7089-FD6C492D4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SEMAPHORES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90864-7A65-8478-EFE6-EF21AAAB7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VN" dirty="0">
                <a:ea typeface="JetBrains Mono" panose="02000009000000000000" pitchFamily="49" charset="0"/>
              </a:rPr>
              <a:t>Implement </a:t>
            </a:r>
            <a:r>
              <a:rPr lang="en-VN" i="1" dirty="0">
                <a:ea typeface="JetBrains Mono" panose="02000009000000000000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Section 3: Semaphores</a:t>
            </a:r>
            <a:endParaRPr lang="en-VN" i="1" dirty="0">
              <a:ea typeface="JetBrains Mono" panose="02000009000000000000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2898A-52D3-8373-0AB9-D124A2BD7D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47AE0-FA55-40BB-F6E6-F11CA43EB7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VN" dirty="0"/>
              <a:t>03.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9915E-8A1C-DEEB-283E-DE2F7A1F747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45D33-9CC8-65C6-EAC2-92EB206A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4252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AD378D-A11B-F911-ED2E-9E717C8D7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3BE26-82B4-28DF-5B64-1D6C358339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DABF6-5D93-BD6B-C962-CCBF4427BA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A9B7B6-3909-6399-8D9F-A289890E93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VN" dirty="0"/>
              <a:t>04.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93DF6-BC3E-D2F6-ADDA-96C82AA7E09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28-C4B3-9DC2-6330-1B94DCA1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6106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9A38C-5812-DFD8-04C6-F2DBB816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4. Exercises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7F118A-5414-A6A2-D7F7-2B7A2E1E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E55C4-F315-0F32-3B5C-17013E5C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21</a:t>
            </a:fld>
            <a:endParaRPr kumimoji="1" lang="ja-JP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77CA236-7951-8E3F-0AD0-3FD444552C83}"/>
              </a:ext>
            </a:extLst>
          </p:cNvPr>
          <p:cNvGrpSpPr/>
          <p:nvPr/>
        </p:nvGrpSpPr>
        <p:grpSpPr>
          <a:xfrm>
            <a:off x="580609" y="1123949"/>
            <a:ext cx="7906582" cy="1676401"/>
            <a:chOff x="580609" y="1168180"/>
            <a:chExt cx="7906582" cy="16764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ADE842-F6A6-3E4F-FBFF-6F8FAE3D8FE4}"/>
                </a:ext>
              </a:extLst>
            </p:cNvPr>
            <p:cNvSpPr/>
            <p:nvPr/>
          </p:nvSpPr>
          <p:spPr>
            <a:xfrm>
              <a:off x="580609" y="1168180"/>
              <a:ext cx="7906582" cy="1676401"/>
            </a:xfrm>
            <a:prstGeom prst="rect">
              <a:avLst/>
            </a:prstGeom>
            <a:noFill/>
            <a:ln w="19050" cap="rnd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D0450D-CB39-8446-6819-FC659468AA65}"/>
                </a:ext>
              </a:extLst>
            </p:cNvPr>
            <p:cNvSpPr/>
            <p:nvPr/>
          </p:nvSpPr>
          <p:spPr>
            <a:xfrm>
              <a:off x="656808" y="1244383"/>
              <a:ext cx="2391191" cy="381000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VN" b="1" dirty="0">
                  <a:latin typeface="Arial" panose="020B0604020202020204" pitchFamily="34" charset="0"/>
                  <a:cs typeface="Arial" panose="020B0604020202020204" pitchFamily="34" charset="0"/>
                </a:rPr>
                <a:t>Exercise: 01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DC3593-CCB8-C45F-F597-9CC1EC61729D}"/>
                </a:ext>
              </a:extLst>
            </p:cNvPr>
            <p:cNvSpPr txBox="1"/>
            <p:nvPr/>
          </p:nvSpPr>
          <p:spPr>
            <a:xfrm>
              <a:off x="656809" y="1752608"/>
              <a:ext cx="7648991" cy="825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sz="2000" dirty="0">
                  <a:solidFill>
                    <a:srgbClr val="0E0E0E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Implement the consume and produce</a:t>
              </a:r>
              <a:endParaRPr lang="en-US" sz="2000" dirty="0">
                <a:solidFill>
                  <a:srgbClr val="0E0E0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5"/>
                      </a:gs>
                    </a:gsLst>
                    <a:lin ang="2700000" scaled="1"/>
                  </a:gra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sells &lt;= products &lt;= sells + &lt;4 last digit of SID&gt;</a:t>
              </a:r>
              <a:endParaRPr lang="en-VN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8460E6-F9EA-FBC0-4697-CC27C61AC279}"/>
              </a:ext>
            </a:extLst>
          </p:cNvPr>
          <p:cNvGrpSpPr/>
          <p:nvPr/>
        </p:nvGrpSpPr>
        <p:grpSpPr>
          <a:xfrm>
            <a:off x="580609" y="3057891"/>
            <a:ext cx="7906582" cy="1723659"/>
            <a:chOff x="580609" y="1168180"/>
            <a:chExt cx="7906582" cy="172365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3BCE7B-500D-720E-1663-E01C1BC700D1}"/>
                </a:ext>
              </a:extLst>
            </p:cNvPr>
            <p:cNvSpPr/>
            <p:nvPr/>
          </p:nvSpPr>
          <p:spPr>
            <a:xfrm>
              <a:off x="580609" y="1168180"/>
              <a:ext cx="7906582" cy="1723659"/>
            </a:xfrm>
            <a:prstGeom prst="rect">
              <a:avLst/>
            </a:prstGeom>
            <a:noFill/>
            <a:ln w="19050" cap="rnd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9ABE85-C111-71D4-86DA-9518C9B8EED8}"/>
                </a:ext>
              </a:extLst>
            </p:cNvPr>
            <p:cNvSpPr/>
            <p:nvPr/>
          </p:nvSpPr>
          <p:spPr>
            <a:xfrm>
              <a:off x="656808" y="1244383"/>
              <a:ext cx="2391191" cy="381000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VN" b="1" dirty="0">
                  <a:latin typeface="Arial" panose="020B0604020202020204" pitchFamily="34" charset="0"/>
                  <a:cs typeface="Arial" panose="020B0604020202020204" pitchFamily="34" charset="0"/>
                </a:rPr>
                <a:t>Exercise: 02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7D87D31-EED9-796A-C771-3DECBC0228DC}"/>
                </a:ext>
              </a:extLst>
            </p:cNvPr>
            <p:cNvSpPr txBox="1"/>
            <p:nvPr/>
          </p:nvSpPr>
          <p:spPr>
            <a:xfrm>
              <a:off x="656809" y="1752608"/>
              <a:ext cx="6163291" cy="9587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sz="1600" dirty="0">
                  <a:solidFill>
                    <a:srgbClr val="0E0E0E"/>
                  </a:solidFill>
                  <a:latin typeface="Arial" panose="020B0604020202020204" pitchFamily="34" charset="0"/>
                  <a:ea typeface="JetBrains Mono" panose="02000009000000000000" pitchFamily="49" charset="0"/>
                  <a:cs typeface="Arial" panose="020B0604020202020204" pitchFamily="34" charset="0"/>
                </a:rPr>
                <a:t>Given</a:t>
              </a:r>
              <a:r>
                <a:rPr lang="en-US" sz="1600" dirty="0">
                  <a:solidFill>
                    <a:srgbClr val="0E0E0E"/>
                  </a:solidFill>
                  <a:effectLst/>
                  <a:latin typeface="Arial" panose="020B0604020202020204" pitchFamily="34" charset="0"/>
                  <a:ea typeface="JetBrains Mono" panose="02000009000000000000" pitchFamily="49" charset="0"/>
                  <a:cs typeface="Arial" panose="020B0604020202020204" pitchFamily="34" charset="0"/>
                </a:rPr>
                <a:t> 4 threads </a:t>
              </a:r>
              <a:r>
                <a:rPr lang="en-US" sz="1600" dirty="0">
                  <a:solidFill>
                    <a:srgbClr val="0E0E0E"/>
                  </a:solidFill>
                  <a:latin typeface="Arial" panose="020B0604020202020204" pitchFamily="34" charset="0"/>
                  <a:ea typeface="JetBrains Mono" panose="02000009000000000000" pitchFamily="49" charset="0"/>
                  <a:cs typeface="Arial" panose="020B0604020202020204" pitchFamily="34" charset="0"/>
                </a:rPr>
                <a:t>T1, T2, T3, T4, whose jobs are print their name, running simultaneously. Let’s implement the process/thread synchronization for these 4 threads using the diagram beside.</a:t>
              </a:r>
              <a:endParaRPr lang="en-VN" sz="16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2700000" scaled="1"/>
                </a:gra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4920D0-CCE1-892C-D2D0-9CA448E76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252844"/>
            <a:ext cx="1591291" cy="1195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559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9A38C-5812-DFD8-04C6-F2DBB816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4. Exercises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7F118A-5414-A6A2-D7F7-2B7A2E1E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E55C4-F315-0F32-3B5C-17013E5C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22</a:t>
            </a:fld>
            <a:endParaRPr kumimoji="1" lang="ja-JP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77CA236-7951-8E3F-0AD0-3FD444552C83}"/>
              </a:ext>
            </a:extLst>
          </p:cNvPr>
          <p:cNvGrpSpPr/>
          <p:nvPr/>
        </p:nvGrpSpPr>
        <p:grpSpPr>
          <a:xfrm>
            <a:off x="580609" y="1123949"/>
            <a:ext cx="7906582" cy="3581401"/>
            <a:chOff x="580609" y="1168180"/>
            <a:chExt cx="7906582" cy="35814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ADE842-F6A6-3E4F-FBFF-6F8FAE3D8FE4}"/>
                </a:ext>
              </a:extLst>
            </p:cNvPr>
            <p:cNvSpPr/>
            <p:nvPr/>
          </p:nvSpPr>
          <p:spPr>
            <a:xfrm>
              <a:off x="580609" y="1168180"/>
              <a:ext cx="7906582" cy="3581401"/>
            </a:xfrm>
            <a:prstGeom prst="rect">
              <a:avLst/>
            </a:prstGeom>
            <a:noFill/>
            <a:ln w="19050" cap="rnd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D0450D-CB39-8446-6819-FC659468AA65}"/>
                </a:ext>
              </a:extLst>
            </p:cNvPr>
            <p:cNvSpPr/>
            <p:nvPr/>
          </p:nvSpPr>
          <p:spPr>
            <a:xfrm>
              <a:off x="656808" y="1244383"/>
              <a:ext cx="2391191" cy="381000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VN" b="1" dirty="0">
                  <a:latin typeface="Arial" panose="020B0604020202020204" pitchFamily="34" charset="0"/>
                  <a:cs typeface="Arial" panose="020B0604020202020204" pitchFamily="34" charset="0"/>
                </a:rPr>
                <a:t>Exercise: 03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DC3593-CCB8-C45F-F597-9CC1EC61729D}"/>
                </a:ext>
              </a:extLst>
            </p:cNvPr>
            <p:cNvSpPr txBox="1"/>
            <p:nvPr/>
          </p:nvSpPr>
          <p:spPr>
            <a:xfrm>
              <a:off x="656809" y="1752608"/>
              <a:ext cx="7648991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E0E0E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Given an array a declared as an integer array with n elements, a is declared as a global variable. Write a program that includes 2 threads running concurrently:</a:t>
              </a:r>
            </a:p>
            <a:p>
              <a:r>
                <a:rPr lang="en-US" b="1" dirty="0">
                  <a:solidFill>
                    <a:srgbClr val="0E0E0E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Thread 1:</a:t>
              </a:r>
              <a:r>
                <a:rPr lang="en-US" dirty="0">
                  <a:solidFill>
                    <a:srgbClr val="0E0E0E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performs the task of generating random integers, then adding them to array a. After adding, it counts and outputs the number of elements in a immediately after insertion</a:t>
              </a:r>
            </a:p>
            <a:p>
              <a:r>
                <a:rPr lang="en-US" b="1" dirty="0">
                  <a:solidFill>
                    <a:srgbClr val="0E0E0E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Thread 2:</a:t>
              </a:r>
              <a:r>
                <a:rPr lang="en-US" dirty="0">
                  <a:solidFill>
                    <a:srgbClr val="0E0E0E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takes an element from array a (any element, depending on the implementation), then counts and outputs the number of elements in a immediately after removal. If there are no elements left in a, it should display “Nothing in array a”.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1200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9A38C-5812-DFD8-04C6-F2DBB816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4. Exercises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7F118A-5414-A6A2-D7F7-2B7A2E1E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E55C4-F315-0F32-3B5C-17013E5C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77CA236-7951-8E3F-0AD0-3FD444552C83}"/>
              </a:ext>
            </a:extLst>
          </p:cNvPr>
          <p:cNvGrpSpPr/>
          <p:nvPr/>
        </p:nvGrpSpPr>
        <p:grpSpPr>
          <a:xfrm>
            <a:off x="580609" y="1123949"/>
            <a:ext cx="7906582" cy="1676401"/>
            <a:chOff x="580609" y="1168180"/>
            <a:chExt cx="7906582" cy="16764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ADE842-F6A6-3E4F-FBFF-6F8FAE3D8FE4}"/>
                </a:ext>
              </a:extLst>
            </p:cNvPr>
            <p:cNvSpPr/>
            <p:nvPr/>
          </p:nvSpPr>
          <p:spPr>
            <a:xfrm>
              <a:off x="580609" y="1168180"/>
              <a:ext cx="7906582" cy="1676401"/>
            </a:xfrm>
            <a:prstGeom prst="rect">
              <a:avLst/>
            </a:prstGeom>
            <a:noFill/>
            <a:ln w="19050" cap="rnd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D0450D-CB39-8446-6819-FC659468AA65}"/>
                </a:ext>
              </a:extLst>
            </p:cNvPr>
            <p:cNvSpPr/>
            <p:nvPr/>
          </p:nvSpPr>
          <p:spPr>
            <a:xfrm>
              <a:off x="656808" y="1244383"/>
              <a:ext cx="2391191" cy="381000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VN" b="1" dirty="0">
                  <a:latin typeface="Arial" panose="020B0604020202020204" pitchFamily="34" charset="0"/>
                  <a:cs typeface="Arial" panose="020B0604020202020204" pitchFamily="34" charset="0"/>
                </a:rPr>
                <a:t>Exercise: 03 (cont.)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DC3593-CCB8-C45F-F597-9CC1EC61729D}"/>
                </a:ext>
              </a:extLst>
            </p:cNvPr>
            <p:cNvSpPr txBox="1"/>
            <p:nvPr/>
          </p:nvSpPr>
          <p:spPr>
            <a:xfrm>
              <a:off x="656809" y="1752608"/>
              <a:ext cx="764899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E0E0E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Test the program and identify any errors when running the program without synchronization. Implement synchronization using semaphores and mutexes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5380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9A38C-5812-DFD8-04C6-F2DBB816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4. Exercises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7F118A-5414-A6A2-D7F7-2B7A2E1E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E55C4-F315-0F32-3B5C-17013E5C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24</a:t>
            </a:fld>
            <a:endParaRPr kumimoji="1" lang="ja-JP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77CA236-7951-8E3F-0AD0-3FD444552C83}"/>
              </a:ext>
            </a:extLst>
          </p:cNvPr>
          <p:cNvGrpSpPr/>
          <p:nvPr/>
        </p:nvGrpSpPr>
        <p:grpSpPr>
          <a:xfrm>
            <a:off x="580609" y="1123949"/>
            <a:ext cx="7906582" cy="3581401"/>
            <a:chOff x="580609" y="1168180"/>
            <a:chExt cx="7906582" cy="35814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ADE842-F6A6-3E4F-FBFF-6F8FAE3D8FE4}"/>
                </a:ext>
              </a:extLst>
            </p:cNvPr>
            <p:cNvSpPr/>
            <p:nvPr/>
          </p:nvSpPr>
          <p:spPr>
            <a:xfrm>
              <a:off x="580609" y="1168180"/>
              <a:ext cx="7906582" cy="3581401"/>
            </a:xfrm>
            <a:prstGeom prst="rect">
              <a:avLst/>
            </a:prstGeom>
            <a:noFill/>
            <a:ln w="19050" cap="rnd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D0450D-CB39-8446-6819-FC659468AA65}"/>
                </a:ext>
              </a:extLst>
            </p:cNvPr>
            <p:cNvSpPr/>
            <p:nvPr/>
          </p:nvSpPr>
          <p:spPr>
            <a:xfrm>
              <a:off x="656808" y="1244383"/>
              <a:ext cx="2391191" cy="381000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VN" b="1" dirty="0">
                  <a:latin typeface="Arial" panose="020B0604020202020204" pitchFamily="34" charset="0"/>
                  <a:cs typeface="Arial" panose="020B0604020202020204" pitchFamily="34" charset="0"/>
                </a:rPr>
                <a:t>Bonus: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DC3593-CCB8-C45F-F597-9CC1EC61729D}"/>
                </a:ext>
              </a:extLst>
            </p:cNvPr>
            <p:cNvSpPr txBox="1"/>
            <p:nvPr/>
          </p:nvSpPr>
          <p:spPr>
            <a:xfrm>
              <a:off x="656809" y="1752608"/>
              <a:ext cx="7648991" cy="734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You can calculate </a:t>
              </a:r>
              <a:r>
                <a:rPr lang="en-US" sz="1800" b="1" dirty="0" err="1"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ans</a:t>
              </a:r>
              <a:r>
                <a:rPr lang="en-US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from </a:t>
              </a:r>
              <a:r>
                <a:rPr lang="en-US" sz="1800" dirty="0"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x1, x2, x3, x4, x5, x6 where each variable may be calculated from below formulas</a:t>
              </a:r>
              <a:r>
                <a:rPr lang="en-US" dirty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: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E904356-C84C-8FD1-4995-204CF948404D}"/>
              </a:ext>
            </a:extLst>
          </p:cNvPr>
          <p:cNvSpPr txBox="1"/>
          <p:nvPr/>
        </p:nvSpPr>
        <p:spPr>
          <a:xfrm>
            <a:off x="656808" y="2443065"/>
            <a:ext cx="7648992" cy="1687920"/>
          </a:xfrm>
          <a:prstGeom prst="rect">
            <a:avLst/>
          </a:prstGeom>
          <a:noFill/>
        </p:spPr>
        <p:txBody>
          <a:bodyPr wrap="square" numCol="2">
            <a:noAutofit/>
          </a:bodyPr>
          <a:lstStyle/>
          <a:p>
            <a:pPr lvl="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 = x1 * x2; (a)</a:t>
            </a:r>
            <a:endParaRPr lang="en-V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lvl="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 = x3 * x4; (b)</a:t>
            </a:r>
            <a:endParaRPr lang="en-V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lvl="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= v * x5; (c)</a:t>
            </a:r>
            <a:endParaRPr lang="en-V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lvl="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 = v * x6; (d)</a:t>
            </a:r>
            <a:endParaRPr lang="en-V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lvl="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= w * y; (e)</a:t>
            </a:r>
            <a:endParaRPr lang="en-V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lvl="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 = w * z; (f)</a:t>
            </a:r>
            <a:endParaRPr lang="en-V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lvl="0"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 err="1"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ans</a:t>
            </a:r>
            <a:r>
              <a:rPr lang="en-US" sz="1800" dirty="0"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y + z; (g)</a:t>
            </a:r>
            <a:endParaRPr lang="en-V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790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9A38C-5812-DFD8-04C6-F2DBB816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4. Exercises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7F118A-5414-A6A2-D7F7-2B7A2E1E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vi-VN" altLang="ja-JP"/>
              <a:t>Copyrights 2023 CE-UIT. All Rights Reserved.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E55C4-F315-0F32-3B5C-17013E5C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25</a:t>
            </a:fld>
            <a:endParaRPr kumimoji="1" lang="ja-JP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77CA236-7951-8E3F-0AD0-3FD444552C83}"/>
              </a:ext>
            </a:extLst>
          </p:cNvPr>
          <p:cNvGrpSpPr/>
          <p:nvPr/>
        </p:nvGrpSpPr>
        <p:grpSpPr>
          <a:xfrm>
            <a:off x="580609" y="1123949"/>
            <a:ext cx="7906582" cy="3276601"/>
            <a:chOff x="580609" y="1168180"/>
            <a:chExt cx="7906582" cy="32766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ADE842-F6A6-3E4F-FBFF-6F8FAE3D8FE4}"/>
                </a:ext>
              </a:extLst>
            </p:cNvPr>
            <p:cNvSpPr/>
            <p:nvPr/>
          </p:nvSpPr>
          <p:spPr>
            <a:xfrm>
              <a:off x="580609" y="1168180"/>
              <a:ext cx="7906582" cy="3276601"/>
            </a:xfrm>
            <a:prstGeom prst="rect">
              <a:avLst/>
            </a:prstGeom>
            <a:noFill/>
            <a:ln w="19050" cap="rnd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D0450D-CB39-8446-6819-FC659468AA65}"/>
                </a:ext>
              </a:extLst>
            </p:cNvPr>
            <p:cNvSpPr/>
            <p:nvPr/>
          </p:nvSpPr>
          <p:spPr>
            <a:xfrm>
              <a:off x="656808" y="1244383"/>
              <a:ext cx="2391191" cy="381000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VN" b="1" dirty="0">
                  <a:latin typeface="Arial" panose="020B0604020202020204" pitchFamily="34" charset="0"/>
                  <a:cs typeface="Arial" panose="020B0604020202020204" pitchFamily="34" charset="0"/>
                </a:rPr>
                <a:t>Bonus (tt):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DC3593-CCB8-C45F-F597-9CC1EC61729D}"/>
                </a:ext>
              </a:extLst>
            </p:cNvPr>
            <p:cNvSpPr txBox="1"/>
            <p:nvPr/>
          </p:nvSpPr>
          <p:spPr>
            <a:xfrm>
              <a:off x="656809" y="1752608"/>
              <a:ext cx="7648991" cy="2210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Assume the commands from (a) to (g) are in threads running concurrently. Write a program to simulate and synchronize these commands in C on the Linux operating system in the following order:</a:t>
              </a:r>
            </a:p>
            <a:p>
              <a:pPr lvl="0" algn="just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• (c), (d) can only be executed after x is calculated.</a:t>
              </a:r>
            </a:p>
            <a:p>
              <a:pPr lvl="0" algn="just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• (e) can only be executed after w and y are calculated.</a:t>
              </a:r>
            </a:p>
            <a:p>
              <a:pPr lvl="0" algn="just">
                <a:lnSpc>
                  <a:spcPct val="12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• (g) can only be executed after y and z are calculated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792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30000"/>
          </a:lnSpc>
          <a:spcBef>
            <a:spcPts val="300"/>
          </a:spcBef>
          <a:spcAft>
            <a:spcPts val="300"/>
          </a:spcAft>
          <a:defRPr sz="24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#Week01-Chapter1 2023</Template>
  <TotalTime>5923</TotalTime>
  <Words>1272</Words>
  <Application>Microsoft Macintosh PowerPoint</Application>
  <PresentationFormat>On-screen Show (16:9)</PresentationFormat>
  <Paragraphs>194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Calibri</vt:lpstr>
      <vt:lpstr>Wingdings</vt:lpstr>
      <vt:lpstr>JetBrains Mono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1. Multi-threaded programming</vt:lpstr>
      <vt:lpstr>1. Multi-threaded programming</vt:lpstr>
      <vt:lpstr>PowerPoint Presentation</vt:lpstr>
      <vt:lpstr>1.1. Create threads</vt:lpstr>
      <vt:lpstr>1.1. Create threads</vt:lpstr>
      <vt:lpstr>1.1. Create threads</vt:lpstr>
      <vt:lpstr>PowerPoint Presentation</vt:lpstr>
      <vt:lpstr>1.2. Stop thread</vt:lpstr>
      <vt:lpstr>PowerPoint Presentation</vt:lpstr>
      <vt:lpstr>1.3. Merge threads</vt:lpstr>
      <vt:lpstr>PowerPoint Presentation</vt:lpstr>
      <vt:lpstr>1.4. Send arguments to thread</vt:lpstr>
      <vt:lpstr>1.4. Truyền tham số cho tiểu trình</vt:lpstr>
      <vt:lpstr>PowerPoint Presentation</vt:lpstr>
      <vt:lpstr>PowerPoint Presentation</vt:lpstr>
      <vt:lpstr>PowerPoint Presentation</vt:lpstr>
      <vt:lpstr>4. Exercises</vt:lpstr>
      <vt:lpstr>4. Exercises</vt:lpstr>
      <vt:lpstr>4. Exercises</vt:lpstr>
      <vt:lpstr>4. Exercises</vt:lpstr>
      <vt:lpstr>4. 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ĐIỀU HÀNH Chương 0  Giới thiệu môn học</dc:title>
  <dc:creator>ntthien</dc:creator>
  <cp:lastModifiedBy>Trần Hoàng Lộc</cp:lastModifiedBy>
  <cp:revision>807</cp:revision>
  <dcterms:created xsi:type="dcterms:W3CDTF">2020-03-08T03:18:37Z</dcterms:created>
  <dcterms:modified xsi:type="dcterms:W3CDTF">2024-08-13T08:20:56Z</dcterms:modified>
</cp:coreProperties>
</file>